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13b89765624eb6" /><Relationship Type="http://schemas.openxmlformats.org/officeDocument/2006/relationships/extended-properties" Target="/docProps/app.xml" Id="R7ddd6628f2064fb9" /><Relationship Type="http://schemas.openxmlformats.org/officeDocument/2006/relationships/officeDocument" Target="/ppt/presentation.xml" Id="R4a4600dfe54943b2" /></Relationships>
</file>

<file path=ppt/presentation.xml><?xml version="1.0" encoding="utf-8"?>
<p:presentation xmlns:p="http://schemas.openxmlformats.org/presentationml/2006/main">
  <p:sldMasterIdLst>
    <p:sldMasterId xmlns:r="http://schemas.openxmlformats.org/officeDocument/2006/relationships" id="2147483648" r:id="Rd20d0d6c0b374ae6"/>
  </p:sldMasterIdLst>
  <p:notesMasterIdLst>
    <p:notesMasterId xmlns:r="http://schemas.openxmlformats.org/officeDocument/2006/relationships" r:id="Rd1aa1a1e62034568"/>
  </p:notesMasterIdLst>
  <p:sldIdLst>
    <p:sldId xmlns:r="http://schemas.openxmlformats.org/officeDocument/2006/relationships" id="256" r:id="R7c3658cd4d0f4637"/>
    <p:sldId xmlns:r="http://schemas.openxmlformats.org/officeDocument/2006/relationships" id="257" r:id="R500bb0303c584215"/>
    <p:sldId xmlns:r="http://schemas.openxmlformats.org/officeDocument/2006/relationships" id="258" r:id="R3b62307e4ea84bde"/>
    <p:sldId xmlns:r="http://schemas.openxmlformats.org/officeDocument/2006/relationships" id="259" r:id="R2927a1bfe0b342cc"/>
    <p:sldId xmlns:r="http://schemas.openxmlformats.org/officeDocument/2006/relationships" id="260" r:id="R62d70f8c26b4440d"/>
    <p:sldId xmlns:r="http://schemas.openxmlformats.org/officeDocument/2006/relationships" id="261" r:id="R1863543deae348c8"/>
    <p:sldId xmlns:r="http://schemas.openxmlformats.org/officeDocument/2006/relationships" id="262" r:id="R7383df7368204520"/>
    <p:sldId xmlns:r="http://schemas.openxmlformats.org/officeDocument/2006/relationships" id="263" r:id="R2b70c547b07a4e9a"/>
    <p:sldId xmlns:r="http://schemas.openxmlformats.org/officeDocument/2006/relationships" id="264" r:id="R5e7ea5faf5c34cf8"/>
    <p:sldId xmlns:r="http://schemas.openxmlformats.org/officeDocument/2006/relationships" id="265" r:id="Rf3735f83a1af4584"/>
    <p:sldId xmlns:r="http://schemas.openxmlformats.org/officeDocument/2006/relationships" id="266" r:id="R4f5153fa06cb45cd"/>
    <p:sldId xmlns:r="http://schemas.openxmlformats.org/officeDocument/2006/relationships" id="267" r:id="Rc6bb090be3fe402d"/>
    <p:sldId xmlns:r="http://schemas.openxmlformats.org/officeDocument/2006/relationships" id="268" r:id="Rebd0cc1b003c4088"/>
    <p:sldId xmlns:r="http://schemas.openxmlformats.org/officeDocument/2006/relationships" id="269" r:id="Rb0ce9475065a4879"/>
    <p:sldId xmlns:r="http://schemas.openxmlformats.org/officeDocument/2006/relationships" id="270" r:id="R5f822e071cfd4a2a"/>
    <p:sldId xmlns:r="http://schemas.openxmlformats.org/officeDocument/2006/relationships" id="271" r:id="R7ce1e37676b84b46"/>
    <p:sldId xmlns:r="http://schemas.openxmlformats.org/officeDocument/2006/relationships" id="272" r:id="Re321b5eaaf2f46f5"/>
    <p:sldId xmlns:r="http://schemas.openxmlformats.org/officeDocument/2006/relationships" id="273" r:id="R0bbd0f1dde07436a"/>
    <p:sldId xmlns:r="http://schemas.openxmlformats.org/officeDocument/2006/relationships" id="274" r:id="R94035d51af294d8c"/>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7bb8afe36c4498e" /><Relationship Type="http://schemas.openxmlformats.org/officeDocument/2006/relationships/slideMaster" Target="/ppt/slideMasters/slideMaster1.xml" Id="Rd20d0d6c0b374ae6" /><Relationship Type="http://schemas.openxmlformats.org/officeDocument/2006/relationships/notesMaster" Target="/ppt/notesMasters/notesMaster1.xml" Id="Rd1aa1a1e62034568" /><Relationship Type="http://schemas.openxmlformats.org/officeDocument/2006/relationships/presProps" Target="/ppt/presProps.xml" Id="Rf315a3db07904c1e" /><Relationship Type="http://schemas.openxmlformats.org/officeDocument/2006/relationships/viewProps" Target="/ppt/viewProps.xml" Id="Rbb8f409ed6e1416f" /><Relationship Type="http://schemas.openxmlformats.org/officeDocument/2006/relationships/tableStyles" Target="/ppt/tableStyles.xml" Id="Rb3acac2edfef4cf0" /><Relationship Type="http://schemas.openxmlformats.org/officeDocument/2006/relationships/slide" Target="/ppt/slides/slide1.xml" Id="R7c3658cd4d0f4637" /><Relationship Type="http://schemas.openxmlformats.org/officeDocument/2006/relationships/slide" Target="/ppt/slides/slide2.xml" Id="R500bb0303c584215" /><Relationship Type="http://schemas.openxmlformats.org/officeDocument/2006/relationships/slide" Target="/ppt/slides/slide3.xml" Id="R3b62307e4ea84bde" /><Relationship Type="http://schemas.openxmlformats.org/officeDocument/2006/relationships/slide" Target="/ppt/slides/slide4.xml" Id="R2927a1bfe0b342cc" /><Relationship Type="http://schemas.openxmlformats.org/officeDocument/2006/relationships/slide" Target="/ppt/slides/slide5.xml" Id="R62d70f8c26b4440d" /><Relationship Type="http://schemas.openxmlformats.org/officeDocument/2006/relationships/slide" Target="/ppt/slides/slide6.xml" Id="R1863543deae348c8" /><Relationship Type="http://schemas.openxmlformats.org/officeDocument/2006/relationships/slide" Target="/ppt/slides/slide7.xml" Id="R7383df7368204520" /><Relationship Type="http://schemas.openxmlformats.org/officeDocument/2006/relationships/slide" Target="/ppt/slides/slide8.xml" Id="R2b70c547b07a4e9a" /><Relationship Type="http://schemas.openxmlformats.org/officeDocument/2006/relationships/slide" Target="/ppt/slides/slide9.xml" Id="R5e7ea5faf5c34cf8" /><Relationship Type="http://schemas.openxmlformats.org/officeDocument/2006/relationships/slide" Target="/ppt/slides/slide10.xml" Id="Rf3735f83a1af4584" /><Relationship Type="http://schemas.openxmlformats.org/officeDocument/2006/relationships/slide" Target="/ppt/slides/slide11.xml" Id="R4f5153fa06cb45cd" /><Relationship Type="http://schemas.openxmlformats.org/officeDocument/2006/relationships/slide" Target="/ppt/slides/slide12.xml" Id="Rc6bb090be3fe402d" /><Relationship Type="http://schemas.openxmlformats.org/officeDocument/2006/relationships/slide" Target="/ppt/slides/slide13.xml" Id="Rebd0cc1b003c4088" /><Relationship Type="http://schemas.openxmlformats.org/officeDocument/2006/relationships/slide" Target="/ppt/slides/slide14.xml" Id="Rb0ce9475065a4879" /><Relationship Type="http://schemas.openxmlformats.org/officeDocument/2006/relationships/slide" Target="/ppt/slides/slide15.xml" Id="R5f822e071cfd4a2a" /><Relationship Type="http://schemas.openxmlformats.org/officeDocument/2006/relationships/slide" Target="/ppt/slides/slide16.xml" Id="R7ce1e37676b84b46" /><Relationship Type="http://schemas.openxmlformats.org/officeDocument/2006/relationships/slide" Target="/ppt/slides/slide17.xml" Id="Re321b5eaaf2f46f5" /><Relationship Type="http://schemas.openxmlformats.org/officeDocument/2006/relationships/slide" Target="/ppt/slides/slide18.xml" Id="R0bbd0f1dde07436a" /><Relationship Type="http://schemas.openxmlformats.org/officeDocument/2006/relationships/slide" Target="/ppt/slides/slide19.xml" Id="R94035d51af294d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edd3eddde149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f386458c934def" /><Relationship Type="http://schemas.openxmlformats.org/officeDocument/2006/relationships/notesMaster" Target="/ppt/notesMasters/notesMaster1.xml" Id="R32b02349aeaa4a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78c4e10d3c44ee" /><Relationship Type="http://schemas.openxmlformats.org/officeDocument/2006/relationships/notesMaster" Target="/ppt/notesMasters/notesMaster1.xml" Id="R684d872df2d74a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f9f2d810e04945" /><Relationship Type="http://schemas.openxmlformats.org/officeDocument/2006/relationships/notesMaster" Target="/ppt/notesMasters/notesMaster1.xml" Id="Rb48c14b1a09742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b9a499e14347c3" /><Relationship Type="http://schemas.openxmlformats.org/officeDocument/2006/relationships/notesMaster" Target="/ppt/notesMasters/notesMaster1.xml" Id="R3f16d2fe2ea641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24086e71794adb" /><Relationship Type="http://schemas.openxmlformats.org/officeDocument/2006/relationships/notesMaster" Target="/ppt/notesMasters/notesMaster1.xml" Id="R18addc1ce41b4f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6f8be68af9477d" /><Relationship Type="http://schemas.openxmlformats.org/officeDocument/2006/relationships/notesMaster" Target="/ppt/notesMasters/notesMaster1.xml" Id="R0cb408d1c55141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1a23c6b106483f" /><Relationship Type="http://schemas.openxmlformats.org/officeDocument/2006/relationships/notesMaster" Target="/ppt/notesMasters/notesMaster1.xml" Id="R07c144c10c454c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a95e5061944ae0" /><Relationship Type="http://schemas.openxmlformats.org/officeDocument/2006/relationships/notesMaster" Target="/ppt/notesMasters/notesMaster1.xml" Id="R6e1f3eb6c99a4c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870cfc480549db" /><Relationship Type="http://schemas.openxmlformats.org/officeDocument/2006/relationships/notesMaster" Target="/ppt/notesMasters/notesMaster1.xml" Id="R47d6e8cf0acd4c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8b6038cd404fbd" /><Relationship Type="http://schemas.openxmlformats.org/officeDocument/2006/relationships/notesMaster" Target="/ppt/notesMasters/notesMaster1.xml" Id="R4a6260790c5e4c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2010ce373045d5" /><Relationship Type="http://schemas.openxmlformats.org/officeDocument/2006/relationships/notesMaster" Target="/ppt/notesMasters/notesMaster1.xml" Id="Re2cf7c4d69174c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9987457f82417e" /><Relationship Type="http://schemas.openxmlformats.org/officeDocument/2006/relationships/notesMaster" Target="/ppt/notesMasters/notesMaster1.xml" Id="R8f75e0e0e6da46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a91b64a74c412c" /><Relationship Type="http://schemas.openxmlformats.org/officeDocument/2006/relationships/notesMaster" Target="/ppt/notesMasters/notesMaster1.xml" Id="R1417b0e59a9c49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cd859fa1cf44ac" /><Relationship Type="http://schemas.openxmlformats.org/officeDocument/2006/relationships/notesMaster" Target="/ppt/notesMasters/notesMaster1.xml" Id="Rd98fb03d62b04d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2728ffadc34eb0" /><Relationship Type="http://schemas.openxmlformats.org/officeDocument/2006/relationships/notesMaster" Target="/ppt/notesMasters/notesMaster1.xml" Id="Re65898670ad94a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49d5600cea14166" /><Relationship Type="http://schemas.openxmlformats.org/officeDocument/2006/relationships/notesMaster" Target="/ppt/notesMasters/notesMaster1.xml" Id="Re1c8573abed343e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bb84aab51a48d4" /><Relationship Type="http://schemas.openxmlformats.org/officeDocument/2006/relationships/notesMaster" Target="/ppt/notesMasters/notesMaster1.xml" Id="R0dc07db95f114c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6f5bdf5450d49ad" /><Relationship Type="http://schemas.openxmlformats.org/officeDocument/2006/relationships/notesMaster" Target="/ppt/notesMasters/notesMaster1.xml" Id="R5065643c0eb44a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ad9a3aa02c846fd" /><Relationship Type="http://schemas.openxmlformats.org/officeDocument/2006/relationships/notesMaster" Target="/ppt/notesMasters/notesMaster1.xml" Id="R8f1972e1120548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afternoon. We are Group 21 — Xinyu Wang and Wu Hanming — presenting our capstone on an AI-based student dropout early warning system.
Our project reproduces a published modelling approach on the UCI Portuguese dataset and then evaluates the same leakage-aware workflow separately on the OULAD dataset. We did not train on one dataset and test on the other, so this is a comparative evaluation, not a direct transfer.
Two headline numbers sit on the right: ROC-AUC of 0.911 for the UCI Logistic Regression and 0.885 for the OULAD XGBoost. Per one thousand students, the models identify roughly 263 and 224 true at-risk students respectively.
Our recommendation, at the bottom, is deliberately cautious: use these models to support a small human-in-the-loop advisor pilot. The break-even figure is a planning assumption, not an observed institutional outcome. We will walk through how we got here over the next 20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 sections, following Activity 7 order. Data and EDA is the biggest block on this pass — four minutes across three slides — because the professor asked us to slow down and explain what the data actually shows. Methodology is compressed to three minutes; we merge tuning and threshold discussion. Detailed error counts moved into the robustness slide, detailed assumptions into an appendix. Total 17 spoken slides plus two appendix slides that stay out of the talk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Institutions collect a lot of information about students very early — grades, tuition status, engagement logs — but withdrawal decisions are often only acted on after the fact. That is the gap we are trying to close.
Our specific objective, in the highlighted card, is to reproduce a published UCI early-warning approach and then apply the same leakage-aware workflow separately to OULAD, which is a very different behavioural dataset. We compare how the two settings behave — we do not train on one and test on the other, so this is a cross-context evaluation, not a transfer test.
The dark right-hand panel gives you the scale: 4,424 records in UCI and 32,593 student-module rows in OULAD, evaluated within the first 75 days on OULAD and using first-semester curricular units on UCI. The output we deliver is a decision-support prototype and a proposed pilot plan, not an operational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problem in one line: advisors want to identify at-risk students earlier and more consistently. Three bullets on the left summarise why manual review alone is not enough.
Stakeholders are on the left card. Students first — they are the people the model is about. Then academic advisors, student-success offices, and IT/data-governance teams, because any pilot would run through them.
Constraints matter and I want to be honest about them: we worked from public historical datasets only, with no access to a live SIS or LMS, on limited local compute, and — critically — we have no causal evidence that advisor interventions actually improve retention. That constraint is why we recommend evaluating in a pilot rather than deploying.
On the right, the translation to a supervised binary classification task with dataset-specific target definitions. UCI predicts Dropout versus Enrolled or Graduate. OULAD predicts Withdrawn versus Pass, Distinction, or Fail.
The bottom strip lists the four kinds of evidence we look at — statistical, operational, fairness, robustness — before recommending anything.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of three EDA slides — the data profile.
Class balance is comparable across the two datasets — about a third dropout on UCI, about a third withdrawn on OULAD. Manageable with class-weight adjustment rather than resampling.
The dark strip is the important part on this slide. On UCI: zero missing values, zero duplicate rows. Enrolled stays in the non-dropout class of the binary task — it is a valid outcome, not a hidden missing bucket. On the OULAD final modelling table: zero duplicate rows; imd_band has 3.41 percent missing values, and date_registration and registration_lead_days each have 0.14 percent missing. Everything else is complete on this table.
On the right, how we handled it. Missing values are handled inside the modelling pipeline — imputation happens after the train/validation/test split so nothing leaks. Numeric outliers were not deleted; they were clipped at the 1st and 99th percentiles, and those percentile thresholds were estimated from training data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Second EDA slide, focused on UCI.
Left chart: first-semester approved units broken out by final outcome. The pattern is clear — Dropout students have a median of about two approved units, while Graduate students have about six. Enrolled students sit in between. This is the single strongest exploratory signal on UCI, and it drives most of what the model later learns.
Right chart: a correlation heatmap over selected numeric variables. Explicitly labelled as exploratory — correlation is not causation. Two things are visible. First, first-semester and second-semester academic variables are very strongly correlated, around 0.9. That is a leakage risk for an early-warning model, because second-semester data would not be available at the moment we want to predict. Second, macroeconomic variables — unemployment, inflation, GDP — correlate weakly with academic variables, so we did not expect them to carry much predictive weight.
Modelling implication, in the dark strip: we retained first-semester variables and removed second-semester variables. That is a deliberate leakage-prevention choice, not an accuracy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Third EDA slide, focused on OULAD.
Left chart: log-transformed Virtual Learning Environment click counts, broken out by final result. Withdrawn students cluster at the low end — many at effectively zero activity. Pass and especially Distinction students cluster much higher.
Right chart: mean assessment score by final result. Distinction students separate cleanly at the high end. Withdrawn students have a wide distribution that reaches all the way down to zero. Important methodological point in the amber note: students without recorded assessment activity were coded as zero for this descriptive EDA. Those zeros represent no recorded activity — they may include students who did not submit assessments at all. We do not claim they definitely stopped submitting; we only observe that no activity was recorded.
Two things to notice. First, the association is real but noisy — distributions overlap heavily, so no single measure is enough on its own. That is why we build a combined feature set rather than relying on one signal. Second, and important: this EDA looks at full-course patterns to identify candidate signals. The predictive model itself uses only activity from the first 75 days — otherwise it would leak information from the future into the prediction moment.
Modelling implication, in the dark strip: these patterns motivated the early assessment and VLE engagement features that show up as the strongest signals in the SHAP analysis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pipeline runs twice, once per dataset. Six steps.
Step 1 is data prep — we remove leakage-prone columns, build the binary target, and take a stratified 60/20/20 split. Step 2 is feature engineering: one-hot encoding, standard scaling, and on OULAD, restricting behavioural features to the first 75 days.
Steps 3 and 4: we evaluated Decision Tree, Random Forest, Gradient Boosting, Logistic Regression, and XGBoost as baselines, then focused hyperparameter tuning on the two that were consistently strongest. Selection happens on the validation split with F1 or macro-F1 as the objective. Five-fold cross-validation summaries were computed afterwards, as stability evidence — not for selection.
Step 5: we tune the classification threshold on validation F1, and use recall and balanced accuracy as tie-breakers. Step 6: the test set stays untouched until the final model is locked, and only then do we compute SHAP and run robustness checks.
On the bottom left: why Logistic Regression on UCI and XGBoost on OULAD. UCI's signal is mostly linear, so LogReg matches XGBoost while staying interpretable. OULAD has non-linear interactions between clicks and submission ratios, and XGBoost was consistently ahead.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decisions rolled onto one slide: hyperparameter tuning and threshold selection.
Left table: baseline versus tuned F1 on the held-out test set. Two of the four tuned runs improved. UCI Logistic Regression moved from 0.783 to 0.793, OULAD XGBoost from 0.729 to 0.738. UCI binary XGBoost and the multiclass reproduction task regressed — so we did not carry the multiclass version forward. All changes are small (about one F1 point) and we have not shown them statistically significant.
Below the table, threshold selection — which we do on the validation set only. The three cutoffs, 0.50, 0.46, and 0.60, were each picked as the value that maximised validation F1, then applied once on the held-out test set. The right-hand chart shows the OULAD threshold sweep on validation; F1 peaks near 0.60. Bottom right lists the winning hyperparameter settings — all narrow grids, depth under 6, learning rate at 0.07 or below.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headline numbers on the held-out test set — kept fully untouched during tuning. UCI Logistic Regression: ROC-AUC 0.911, F1 0.793, recall 0.820, precision 0.766. OULAD XGBoost: ROC-AUC 0.885, F1 0.738, recall 0.719, precision 0.758. Terminology note: we use ‘validation set’ only for model and threshold selection, and ‘held-out test set’ for the final reported numbers on this slide. Both models retain useful discrimination on genuinely unseen data, but the framing stays cautious. UCI is a small dataset, OULAD has about 88 false negatives per 1,000 test observations, and neither model has been shown to be operationally stable across academic cycles. Errors and operational constraints still need human review — which is what our recommended pilot design is set up to provide.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corrected SHAP feature-family chart. Every family present in either model is now shown — nothing is quietly missing.
The pattern is very different between datasets. On UCI, Early academic progress accounts for about 44 percent of the total SHAP magnitude, followed by Financial support at 20 percent. On OULAD, Early academic progress is even more dominant at about 55 percent, but Early engagement — which is essentially zero on UCI — accounts for 19 percent. Program setup matters more on OULAD too.
Methodology note in the amber strip: we use XGBoost on both datasets so the explanations are apples-to-apples. The final selected UCI model is Logistic Regression, and this SHAP comparison is not presented as an explanation of that final UCI model — it explains how signal families shift across datasets. SHAP does not prove causality.
On the right, the top individual features translate directly into support actions: academic advising, tutoring, financial referral, and engagement outreach. Demographic variables are used for fairness monitoring only, never for punitive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combines two related pieces of evidence.
Left: robustness. The chart shows F1 under three stress conditions. Five percent numeric noise barely moves either model — half a point of F1 or less. Ten percent random missingness matters more, especially for UCI: F1 drops from 0.793 to 0.753 and about 5 percent of predictions flip. OULAD is more stable across repeated splits at 0.738 with standard deviation 0.005; UCI is wider at 0.776 with 0.023 because the dataset is smaller.
Right: error analysis, normalized to 1,000 held-out test observations so the two models are comparable despite very different test-set sizes. UCI gets 263 true positives, 80 false positives, 58 missed, 599 correct rejections; OULAD gets 224, 72, 88, 617.
The dark strip is the interesting finding. On UCI, missed cases had an average of about six approved units — comparable to Graduate students — versus about two for correctly-identified at-risk cases. On OULAD, missed cases had a submission ratio near 0.89 versus 0.13 for true positives. Missed cases look academically fine on the observed features, so any pilot needs advisor judgement in the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where we translate model output into what advisors would actually experience. The chart on the left shows the four numbers that matter operationally, per 1,000 students: alerts raised, true at-risk identified, false alerts, and missed at-risk cases.
For UCI, we would raise 344 alerts and correctly find 263 at-risk students; 58 would be missed. For OULAD, 295 alerts, 224 correct, 88 missed. That advisor workload — right-hand card, top — comes to about 13.7 advisor-weeks per 1,000 students on UCI and 11.8 on OULAD, based on a planning assumption of 25 alerts per advisor per week.
The dark card at the bottom right is a purely illustrative economic sketch. A $100 outreach cost and a $6,000 retained-student value are planning assumptions, not audited institutional numbers. Under those assumptions, retaining just 5-6 additional students per 1,000 would offset the alert cost. But that is not a guaranteed ROI — it depends on whether the advisor intervention actually improves retention, and that has to be tested prospectively.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caveats we would state clearly to any faculty audience before recommending action.
Top left, external comparability. Our OULAD model predicts Withdrawn versus everything else using the first 75 days. The commonly-referenced GitHub project uses roughly the first 14 days, drops Withdrawn students entirely from its dataset, and effectively predicts Fail versus Pass or Distinction. So our numbers cannot be ranked head-to-head against theirs — different target definitions, different windows, different populations. Citations [7] and [8] in the appendix.
Top right, data quality. UCI is complete and Enrolled students stay in the non-dropout class — that is a data reality, not a design choice we made to hide anything. But our 10 percent MCAR simulation shows how institutional data quality could realistically degrade performance.
Bottom left, fairness. Risk scores are probabilities. Use them for support outreach, monitor subgroup recall, restrict access.
Bottom right, scope. Two public datasets are not every institution. Feature semantics do not travel, and any new institution should re-train and re-calibrate — never re-use these weights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timeline is a proposed pilot — not something that is currently deployed. Four phases across four terms: prepare the data pipeline, run silently in shadow, launch a limited advisor-facing pilot on one or two modules, and then review, retrain, and decide whether to expand scope.
Left column: what we would monitor weekly during the pilot. Alert volume, precision and recall drift, subgroup recall, score-distribution shift, and advisor overrides.
Middle column: retrain cadence is term-scoped, with rollback if metrics regress and version-controlled model and data snapshots for audit.
Right column: future work. The most important item is the last one — evaluating the intervention, not just the prediction. Getting the model right is only half the problem; whether the advisor action actually improves retention has to be measured prospectively.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takeaways, plus one explicit statement of what this project actually contributes.
The dark ribbon in the middle: the project contribution is a common leakage-aware evaluation framework that compares feature-family shifts, robustness, and advisor workload across a record-based dataset — UCI — and a behavioural learning dataset — OULAD. That is a methodological and applied contribution, not a new algorithm or a breakthrough.
Takeaway one: signals shift across educational contexts. UCI leans on academic and financial records; OULAD leans on assessment progress and engagement. We compared the two contexts side by side; we did not directly test cross-dataset transfer.
Takeaway two: tuning gains are modest and operational value is still hypothetical. F1 moved by about one point, and we have not shown that statistically significant. Any business value depends on whether the advisor intervention actually improves retention — a claim we cannot make from this evidence alone.
Takeaway three: the model is only step one. Prediction is easier than intervention. The next question — which support action actually changes a student's trajectory — needs to be evaluated prospectively, and that is arguably its own 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We're happy to take questions. Suggested topics on the slide — methodology, threshold choice, explainability, fairness, pilot assumptions, and limitations — but genuinely open to anything.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2d03deec89436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1f8fae77254858" /><Relationship Type="http://schemas.openxmlformats.org/officeDocument/2006/relationships/slideLayout" Target="/ppt/slideLayouts/slideLayout1.xml" Id="Rfa9746eadb0e44d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9746eadb0e44d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2b7262d5104741" /><Relationship Type="http://schemas.openxmlformats.org/officeDocument/2006/relationships/image" Target="/ppt/media/image.png" Id="R4203d2a0b8dd4bcb" /><Relationship Type="http://schemas.openxmlformats.org/officeDocument/2006/relationships/image" Target="/ppt/media/image2.png" Id="R04c24718b867422b" /><Relationship Type="http://schemas.openxmlformats.org/officeDocument/2006/relationships/image" Target="/ppt/media/image3.png" Id="Rf6039c4899834033" /><Relationship Type="http://schemas.openxmlformats.org/officeDocument/2006/relationships/image" Target="/ppt/media/image4.png" Id="R30778971645646a0" /><Relationship Type="http://schemas.openxmlformats.org/officeDocument/2006/relationships/notesSlide" Target="/ppt/notesSlides/notesSlide1.xml" Id="Ra484baed2adb49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27dd8f29e54ee2" /><Relationship Type="http://schemas.openxmlformats.org/officeDocument/2006/relationships/image" Target="/ppt/media/image5.png" Id="Rbc7b9fd8af444b28" /><Relationship Type="http://schemas.openxmlformats.org/officeDocument/2006/relationships/notesSlide" Target="/ppt/notesSlides/notesSlide2.xml" Id="R898310f01caa43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4d359dd2284fe1" /><Relationship Type="http://schemas.openxmlformats.org/officeDocument/2006/relationships/image" Target="/ppt/media/image6.png" Id="R726619136c384b01" /><Relationship Type="http://schemas.openxmlformats.org/officeDocument/2006/relationships/image" Target="/ppt/media/image7.png" Id="Redbd67a39e68425a" /><Relationship Type="http://schemas.openxmlformats.org/officeDocument/2006/relationships/notesSlide" Target="/ppt/notesSlides/notesSlide3.xml" Id="R9b3034e0e7eb4b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509e429d724ebe" /><Relationship Type="http://schemas.openxmlformats.org/officeDocument/2006/relationships/image" Target="/ppt/media/image8.png" Id="R59f5176d5d29471f" /><Relationship Type="http://schemas.openxmlformats.org/officeDocument/2006/relationships/image" Target="/ppt/media/image9.png" Id="R44b91dbf80c844f0" /><Relationship Type="http://schemas.openxmlformats.org/officeDocument/2006/relationships/image" Target="/ppt/media/image10.png" Id="Rf7c52ebaa5c74e88" /><Relationship Type="http://schemas.openxmlformats.org/officeDocument/2006/relationships/image" Target="/ppt/media/image11.png" Id="Re5274758ba804796" /><Relationship Type="http://schemas.openxmlformats.org/officeDocument/2006/relationships/notesSlide" Target="/ppt/notesSlides/notesSlide4.xml" Id="R3d6ee412f9ba44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dc11a708994cbe" /><Relationship Type="http://schemas.openxmlformats.org/officeDocument/2006/relationships/image" Target="/ppt/media/image12.png" Id="R81c98d2f067948a2" /><Relationship Type="http://schemas.openxmlformats.org/officeDocument/2006/relationships/image" Target="/ppt/media/image.jpeg" Id="R6186566eb86a4c2a" /><Relationship Type="http://schemas.openxmlformats.org/officeDocument/2006/relationships/image" Target="/ppt/media/image2.jpeg" Id="R6235e7b02b3c46c8" /><Relationship Type="http://schemas.openxmlformats.org/officeDocument/2006/relationships/image" Target="/ppt/media/image13.png" Id="R3b6c361bd91f4d60" /><Relationship Type="http://schemas.openxmlformats.org/officeDocument/2006/relationships/notesSlide" Target="/ppt/notesSlides/notesSlide5.xml" Id="R32e56900403341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fc4b627f204693" /><Relationship Type="http://schemas.openxmlformats.org/officeDocument/2006/relationships/image" Target="/ppt/media/image14.png" Id="Rf04a4df85e4e4d82" /><Relationship Type="http://schemas.openxmlformats.org/officeDocument/2006/relationships/image" Target="/ppt/media/image3.jpeg" Id="R3c44689ace5648d1" /><Relationship Type="http://schemas.openxmlformats.org/officeDocument/2006/relationships/image" Target="/ppt/media/image4.jpeg" Id="R23c78168e1b44403" /><Relationship Type="http://schemas.openxmlformats.org/officeDocument/2006/relationships/notesSlide" Target="/ppt/notesSlides/notesSlide6.xml" Id="Rc49975b2b90e45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50e38249024950" /><Relationship Type="http://schemas.openxmlformats.org/officeDocument/2006/relationships/image" Target="/ppt/media/image15.png" Id="Raba3157e34154e63" /><Relationship Type="http://schemas.openxmlformats.org/officeDocument/2006/relationships/image" Target="/ppt/media/image5.jpeg" Id="R066a327204ec4e59" /><Relationship Type="http://schemas.openxmlformats.org/officeDocument/2006/relationships/image" Target="/ppt/media/image6.jpeg" Id="Rbcbeaf8e1df8420e" /><Relationship Type="http://schemas.openxmlformats.org/officeDocument/2006/relationships/notesSlide" Target="/ppt/notesSlides/notesSlide7.xml" Id="Rc4bc675f7f4c4c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4e08d3e3534291" /><Relationship Type="http://schemas.openxmlformats.org/officeDocument/2006/relationships/image" Target="/ppt/media/image16.png" Id="R586c8ce1fb5e4c83" /><Relationship Type="http://schemas.openxmlformats.org/officeDocument/2006/relationships/notesSlide" Target="/ppt/notesSlides/notesSlide8.xml" Id="R9a4a9a08665444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ebccb69893b4f6d" /><Relationship Type="http://schemas.openxmlformats.org/officeDocument/2006/relationships/image" Target="/ppt/media/image17.png" Id="R3538da4636334c97" /><Relationship Type="http://schemas.openxmlformats.org/officeDocument/2006/relationships/image" Target="/ppt/media/image7.jpeg" Id="R7cd220839a534bcd" /><Relationship Type="http://schemas.openxmlformats.org/officeDocument/2006/relationships/notesSlide" Target="/ppt/notesSlides/notesSlide9.xml" Id="R1a234e7f90324b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d0ca01ac524581" /><Relationship Type="http://schemas.openxmlformats.org/officeDocument/2006/relationships/image" Target="/ppt/media/image18.png" Id="Rcd2c1525495c448a" /><Relationship Type="http://schemas.openxmlformats.org/officeDocument/2006/relationships/image" Target="/ppt/media/image8.jpeg" Id="Re10ef8e64c364fbe" /><Relationship Type="http://schemas.openxmlformats.org/officeDocument/2006/relationships/notesSlide" Target="/ppt/notesSlides/notesSlide10.xml" Id="Rf53d073e95ad45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9ff6a44ddcf4be2" /><Relationship Type="http://schemas.openxmlformats.org/officeDocument/2006/relationships/image" Target="/ppt/media/image19.png" Id="R9e36b17ea7024f74" /><Relationship Type="http://schemas.openxmlformats.org/officeDocument/2006/relationships/image" Target="/ppt/media/image9.jpeg" Id="Rd7bf41059be84580" /><Relationship Type="http://schemas.openxmlformats.org/officeDocument/2006/relationships/notesSlide" Target="/ppt/notesSlides/notesSlide11.xml" Id="Rbb627d1f92434e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96e315e98e64740" /><Relationship Type="http://schemas.openxmlformats.org/officeDocument/2006/relationships/image" Target="/ppt/media/image20.png" Id="Rbc7a82b884b84739" /><Relationship Type="http://schemas.openxmlformats.org/officeDocument/2006/relationships/image" Target="/ppt/media/image10.jpeg" Id="Rd9b3b55fed244215" /><Relationship Type="http://schemas.openxmlformats.org/officeDocument/2006/relationships/image" Target="/ppt/media/image11.jpeg" Id="Rbacb79aa2b3a4738" /><Relationship Type="http://schemas.openxmlformats.org/officeDocument/2006/relationships/notesSlide" Target="/ppt/notesSlides/notesSlide12.xml" Id="Re9c57cccce3246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9e1c46ff6784e14" /><Relationship Type="http://schemas.openxmlformats.org/officeDocument/2006/relationships/image" Target="/ppt/media/image21.png" Id="Rd42285e50bcb4bb3" /><Relationship Type="http://schemas.openxmlformats.org/officeDocument/2006/relationships/image" Target="/ppt/media/image12.jpeg" Id="R499d200b763d4faa" /><Relationship Type="http://schemas.openxmlformats.org/officeDocument/2006/relationships/notesSlide" Target="/ppt/notesSlides/notesSlide13.xml" Id="R358edb106b3345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7f0f81f936342f8" /><Relationship Type="http://schemas.openxmlformats.org/officeDocument/2006/relationships/image" Target="/ppt/media/image22.png" Id="R3646daefff1441bf" /><Relationship Type="http://schemas.openxmlformats.org/officeDocument/2006/relationships/notesSlide" Target="/ppt/notesSlides/notesSlide14.xml" Id="R3a37435fb49b41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7180189ed5b4938" /><Relationship Type="http://schemas.openxmlformats.org/officeDocument/2006/relationships/image" Target="/ppt/media/image23.png" Id="Rcf7475e13ab544f9" /><Relationship Type="http://schemas.openxmlformats.org/officeDocument/2006/relationships/image" Target="/ppt/media/image24.png" Id="R0aabaa4d11af4a43" /><Relationship Type="http://schemas.openxmlformats.org/officeDocument/2006/relationships/notesSlide" Target="/ppt/notesSlides/notesSlide15.xml" Id="Rdfe4df56f85743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4a3c2fc54ed476f" /><Relationship Type="http://schemas.openxmlformats.org/officeDocument/2006/relationships/image" Target="/ppt/media/image25.png" Id="R62352d196a7c4b69" /><Relationship Type="http://schemas.openxmlformats.org/officeDocument/2006/relationships/image" Target="/ppt/media/image26.png" Id="Rebbfb1cd766d40e4" /><Relationship Type="http://schemas.openxmlformats.org/officeDocument/2006/relationships/notesSlide" Target="/ppt/notesSlides/notesSlide16.xml" Id="R9810c92b52a741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3bb550f2e434537" /><Relationship Type="http://schemas.openxmlformats.org/officeDocument/2006/relationships/image" Target="/ppt/media/image27.png" Id="R377f8f247b01408b" /><Relationship Type="http://schemas.openxmlformats.org/officeDocument/2006/relationships/image" Target="/ppt/media/image28.png" Id="R04fa29131fd940fc" /><Relationship Type="http://schemas.openxmlformats.org/officeDocument/2006/relationships/image" Target="/ppt/media/image29.png" Id="Rf79df1fcdb414cc3" /><Relationship Type="http://schemas.openxmlformats.org/officeDocument/2006/relationships/notesSlide" Target="/ppt/notesSlides/notesSlide17.xml" Id="R3b71a0dda9c546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434a2d9d99a43fa" /><Relationship Type="http://schemas.openxmlformats.org/officeDocument/2006/relationships/image" Target="/ppt/media/image30.png" Id="R0012c14734ff4d6a" /><Relationship Type="http://schemas.openxmlformats.org/officeDocument/2006/relationships/notesSlide" Target="/ppt/notesSlides/notesSlide18.xml" Id="R03c6741755c3487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fb083d030024ed7" /><Relationship Type="http://schemas.openxmlformats.org/officeDocument/2006/relationships/image" Target="/ppt/media/image31.png" Id="Rcd81441b3ca04003" /><Relationship Type="http://schemas.openxmlformats.org/officeDocument/2006/relationships/notesSlide" Target="/ppt/notesSlides/notesSlide19.xml" Id="R84e894a6a9664fb2" /></Relationships>
</file>

<file path=ppt/slides/slide1.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4203d2a0b8dd4bcb"/>
          <a:srcRect xmlns:a="http://schemas.openxmlformats.org/drawingml/2006/main" l="-2" t="0" r="-2" b="0"/>
          <a:stretch xmlns:a="http://schemas.openxmlformats.org/drawingml/2006/main"/>
        </p:blipFill>
        <p:spPr>
          <a:xfrm xmlns:a="http://schemas.openxmlformats.org/drawingml/2006/main">
            <a:off x="0" y="0"/>
            <a:ext cx="7810805" cy="10287000"/>
          </a:xfrm>
          <a:prstGeom xmlns:a="http://schemas.openxmlformats.org/drawingml/2006/main" prst="rect">
            <a:avLst/>
          </a:prstGeom>
        </p:spPr>
      </p:pic>
      <p:pic>
        <p:nvPicPr>
          <p:cNvPr id="44" name="Image 1"/>
          <p:cNvPicPr>
            <a:picLocks xmlns:a="http://schemas.openxmlformats.org/drawingml/2006/main" noChangeAspect="1"/>
          </p:cNvPicPr>
          <p:nvPr/>
        </p:nvPicPr>
        <p:blipFill>
          <a:blip xmlns:r="http://schemas.openxmlformats.org/officeDocument/2006/relationships" xmlns:a="http://schemas.openxmlformats.org/drawingml/2006/main" r:embed="R04c24718b867422b"/>
          <a:srcRect xmlns:a="http://schemas.openxmlformats.org/drawingml/2006/main" l="0" t="-201" r="0" b="-201"/>
          <a:stretch xmlns:a="http://schemas.openxmlformats.org/drawingml/2006/main"/>
        </p:blipFill>
        <p:spPr>
          <a:xfrm xmlns:a="http://schemas.openxmlformats.org/drawingml/2006/main">
            <a:off x="7810805" y="0"/>
            <a:ext cx="75895" cy="10287000"/>
          </a:xfrm>
          <a:prstGeom xmlns:a="http://schemas.openxmlformats.org/drawingml/2006/main" prst="rect">
            <a:avLst/>
          </a:prstGeom>
        </p:spPr>
      </p:pic>
      <p:sp>
        <p:nvSpPr>
          <p:cNvPr id="5" name="Shape 0">
            <a:extLst xmlns:a="http://schemas.openxmlformats.org/drawingml/2006/main">
              <a:ext uri="{FF2B5EF4-FFF2-40B4-BE49-F238E27FC236}">
                <a16:creationId xmlns:a16="http://schemas.microsoft.com/office/drawing/2014/main" id="{9CC1D203-C276-4DAD-BAF0-9D4370D8B67E}"/>
              </a:ext>
            </a:extLst>
          </p:cNvPr>
          <p:cNvSpPr>
            <a:spLocks xmlns:a="http://schemas.openxmlformats.org/drawingml/2006/main" noGrp="1"/>
          </p:cNvSpPr>
          <p:nvPr/>
        </p:nvSpPr>
        <p:spPr>
          <a:xfrm xmlns:a="http://schemas.openxmlformats.org/drawingml/2006/main">
            <a:off x="8572500" y="1714500"/>
            <a:ext cx="8781898" cy="2686507"/>
          </a:xfrm>
          <a:prstGeom xmlns:a="http://schemas.openxmlformats.org/drawingml/2006/main" prst="roundRect">
            <a:avLst>
              <a:gd name="adj" fmla="val 715"/>
            </a:avLst>
          </a:prstGeom>
          <a:solidFill xmlns:a="http://schemas.openxmlformats.org/drawingml/2006/main">
            <a:srgbClr val="FFFFFF"/>
          </a:solidFill>
          <a:ln xmlns:a="http://schemas.openxmlformats.org/drawingml/2006/main" w="12700">
            <a:solidFill>
              <a:srgbClr val="E4E5EF"/>
            </a:solidFill>
            <a:prstDash val="solid"/>
          </a:ln>
        </p:spPr>
      </p:sp>
      <p:sp>
        <p:nvSpPr>
          <p:cNvPr id="6" name="Shape 1">
            <a:extLst xmlns:a="http://schemas.openxmlformats.org/drawingml/2006/main">
              <a:ext uri="{FF2B5EF4-FFF2-40B4-BE49-F238E27FC236}">
                <a16:creationId xmlns:a16="http://schemas.microsoft.com/office/drawing/2014/main" id="{CE9DE7E3-D65C-4F0D-87C1-EA4602AF3E2C}"/>
              </a:ext>
            </a:extLst>
          </p:cNvPr>
          <p:cNvSpPr>
            <a:spLocks xmlns:a="http://schemas.openxmlformats.org/drawingml/2006/main" noGrp="1"/>
          </p:cNvSpPr>
          <p:nvPr/>
        </p:nvSpPr>
        <p:spPr>
          <a:xfrm xmlns:a="http://schemas.openxmlformats.org/drawingml/2006/main">
            <a:off x="8572500" y="4762195"/>
            <a:ext cx="4257446" cy="2115007"/>
          </a:xfrm>
          <a:prstGeom xmlns:a="http://schemas.openxmlformats.org/drawingml/2006/main" prst="roundRect">
            <a:avLst>
              <a:gd name="adj" fmla="val 908"/>
            </a:avLst>
          </a:prstGeom>
          <a:solidFill xmlns:a="http://schemas.openxmlformats.org/drawingml/2006/main">
            <a:srgbClr val="FFFFFF"/>
          </a:solidFill>
          <a:ln xmlns:a="http://schemas.openxmlformats.org/drawingml/2006/main" w="12700">
            <a:solidFill>
              <a:srgbClr val="E4E5EF"/>
            </a:solidFill>
            <a:prstDash val="solid"/>
          </a:ln>
        </p:spPr>
      </p:sp>
      <p:sp>
        <p:nvSpPr>
          <p:cNvPr id="7" name="Shape 2">
            <a:extLst xmlns:a="http://schemas.openxmlformats.org/drawingml/2006/main">
              <a:ext uri="{FF2B5EF4-FFF2-40B4-BE49-F238E27FC236}">
                <a16:creationId xmlns:a16="http://schemas.microsoft.com/office/drawing/2014/main" id="{90A2FE41-EE1A-423B-8102-88D88639CFE1}"/>
              </a:ext>
            </a:extLst>
          </p:cNvPr>
          <p:cNvSpPr>
            <a:spLocks xmlns:a="http://schemas.openxmlformats.org/drawingml/2006/main" noGrp="1"/>
          </p:cNvSpPr>
          <p:nvPr/>
        </p:nvSpPr>
        <p:spPr>
          <a:xfrm xmlns:a="http://schemas.openxmlformats.org/drawingml/2006/main">
            <a:off x="13096951" y="4762195"/>
            <a:ext cx="4257446" cy="2115007"/>
          </a:xfrm>
          <a:prstGeom xmlns:a="http://schemas.openxmlformats.org/drawingml/2006/main" prst="roundRect">
            <a:avLst>
              <a:gd name="adj" fmla="val 908"/>
            </a:avLst>
          </a:prstGeom>
          <a:solidFill xmlns:a="http://schemas.openxmlformats.org/drawingml/2006/main">
            <a:srgbClr val="FFFFFF"/>
          </a:solidFill>
          <a:ln xmlns:a="http://schemas.openxmlformats.org/drawingml/2006/main" w="12700">
            <a:solidFill>
              <a:srgbClr val="E4E5EF"/>
            </a:solidFill>
            <a:prstDash val="solid"/>
          </a:ln>
        </p:spPr>
      </p:sp>
      <p:sp>
        <p:nvSpPr>
          <p:cNvPr id="8" name="Shape 3">
            <a:extLst xmlns:a="http://schemas.openxmlformats.org/drawingml/2006/main">
              <a:ext uri="{FF2B5EF4-FFF2-40B4-BE49-F238E27FC236}">
                <a16:creationId xmlns:a16="http://schemas.microsoft.com/office/drawing/2014/main" id="{AA5CC052-9A25-4527-96B6-06EBCE455EC9}"/>
              </a:ext>
            </a:extLst>
          </p:cNvPr>
          <p:cNvSpPr>
            <a:spLocks xmlns:a="http://schemas.openxmlformats.org/drawingml/2006/main" noGrp="1"/>
          </p:cNvSpPr>
          <p:nvPr/>
        </p:nvSpPr>
        <p:spPr>
          <a:xfrm xmlns:a="http://schemas.openxmlformats.org/drawingml/2006/main">
            <a:off x="8572500" y="7239305"/>
            <a:ext cx="8781898" cy="1923898"/>
          </a:xfrm>
          <a:prstGeom xmlns:a="http://schemas.openxmlformats.org/drawingml/2006/main" prst="roundRect">
            <a:avLst>
              <a:gd name="adj" fmla="val 998"/>
            </a:avLst>
          </a:prstGeom>
          <a:solidFill xmlns:a="http://schemas.openxmlformats.org/drawingml/2006/main">
            <a:srgbClr val="FFFFFF"/>
          </a:solidFill>
          <a:ln xmlns:a="http://schemas.openxmlformats.org/drawingml/2006/main" w="12700">
            <a:solidFill>
              <a:srgbClr val="E4E5EF"/>
            </a:solidFill>
            <a:prstDash val="solid"/>
          </a:ln>
        </p:spPr>
      </p:sp>
      <p:pic>
        <p:nvPicPr>
          <p:cNvPr id="49" name="Image 2"/>
          <p:cNvPicPr>
            <a:picLocks xmlns:a="http://schemas.openxmlformats.org/drawingml/2006/main" noChangeAspect="1"/>
          </p:cNvPicPr>
          <p:nvPr/>
        </p:nvPicPr>
        <p:blipFill>
          <a:blip xmlns:r="http://schemas.openxmlformats.org/officeDocument/2006/relationships" xmlns:a="http://schemas.openxmlformats.org/drawingml/2006/main" r:embed="Rf6039c4899834033"/>
          <a:srcRect xmlns:a="http://schemas.openxmlformats.org/drawingml/2006/main" l="0" t="-2100" r="0" b="-2100"/>
          <a:stretch xmlns:a="http://schemas.openxmlformats.org/drawingml/2006/main"/>
        </p:blipFill>
        <p:spPr>
          <a:xfrm xmlns:a="http://schemas.openxmlformats.org/drawingml/2006/main">
            <a:off x="13334695" y="2476195"/>
            <a:ext cx="9144" cy="1429207"/>
          </a:xfrm>
          <a:prstGeom xmlns:a="http://schemas.openxmlformats.org/drawingml/2006/main" prst="rect">
            <a:avLst/>
          </a:prstGeom>
        </p:spPr>
      </p:pic>
      <p:pic>
        <p:nvPicPr>
          <p:cNvPr id="50" name="Image 3"/>
          <p:cNvPicPr>
            <a:picLocks xmlns:a="http://schemas.openxmlformats.org/drawingml/2006/main" noChangeAspect="1"/>
          </p:cNvPicPr>
          <p:nvPr/>
        </p:nvPicPr>
        <p:blipFill>
          <a:blip xmlns:r="http://schemas.openxmlformats.org/officeDocument/2006/relationships" xmlns:a="http://schemas.openxmlformats.org/drawingml/2006/main" r:embed="R30778971645646a0"/>
          <a:srcRect xmlns:a="http://schemas.openxmlformats.org/drawingml/2006/main" l="-2083" t="0" r="-2083" b="0"/>
          <a:stretch xmlns:a="http://schemas.openxmlformats.org/drawingml/2006/main"/>
        </p:blipFill>
        <p:spPr>
          <a:xfrm xmlns:a="http://schemas.openxmlformats.org/drawingml/2006/main">
            <a:off x="7810805" y="9715500"/>
            <a:ext cx="10477195" cy="9144"/>
          </a:xfrm>
          <a:prstGeom xmlns:a="http://schemas.openxmlformats.org/drawingml/2006/main" prst="rect">
            <a:avLst/>
          </a:prstGeom>
        </p:spPr>
      </p:pic>
      <p:sp>
        <p:nvSpPr>
          <p:cNvPr id="11" name="Text 4">
            <a:extLst xmlns:a="http://schemas.openxmlformats.org/drawingml/2006/main">
              <a:ext uri="{FF2B5EF4-FFF2-40B4-BE49-F238E27FC236}">
                <a16:creationId xmlns:a16="http://schemas.microsoft.com/office/drawing/2014/main" id="{C4E9E62F-1639-48E7-AADE-90A3BF5182F6}"/>
              </a:ext>
            </a:extLst>
          </p:cNvPr>
          <p:cNvSpPr>
            <a:spLocks xmlns:a="http://schemas.openxmlformats.org/drawingml/2006/main" noGrp="1"/>
          </p:cNvSpPr>
          <p:nvPr/>
        </p:nvSpPr>
        <p:spPr>
          <a:xfrm xmlns:a="http://schemas.openxmlformats.org/drawingml/2006/main">
            <a:off x="952805" y="1047902"/>
            <a:ext cx="6096305"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FFFFFF">
                    <a:alpha val="55000"/>
                  </a:srgbClr>
                </a:solidFill>
                <a:latin typeface="JetBrains Mono"/>
                <a:ea typeface="JetBrains Mono"/>
                <a:cs typeface="JetBrains Mono"/>
              </a:rPr>
              <a:t>MBAI 5600G · CAPSTONE · MILESTONE 7</a:t>
            </a:r>
          </a:p>
        </p:txBody>
      </p:sp>
      <p:sp>
        <p:nvSpPr>
          <p:cNvPr id="12" name="Text 5">
            <a:extLst xmlns:a="http://schemas.openxmlformats.org/drawingml/2006/main">
              <a:ext uri="{FF2B5EF4-FFF2-40B4-BE49-F238E27FC236}">
                <a16:creationId xmlns:a16="http://schemas.microsoft.com/office/drawing/2014/main" id="{B33F1B22-AC55-4697-ABEB-35C23FC65F2F}"/>
              </a:ext>
            </a:extLst>
          </p:cNvPr>
          <p:cNvSpPr>
            <a:spLocks xmlns:a="http://schemas.openxmlformats.org/drawingml/2006/main" noGrp="1"/>
          </p:cNvSpPr>
          <p:nvPr/>
        </p:nvSpPr>
        <p:spPr>
          <a:xfrm xmlns:a="http://schemas.openxmlformats.org/drawingml/2006/main">
            <a:off x="952805" y="1619402"/>
            <a:ext cx="6096305"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alpha val="40000"/>
                  </a:srgbClr>
                </a:solidFill>
                <a:latin typeface="JetBrains Mono"/>
                <a:ea typeface="JetBrains Mono"/>
                <a:cs typeface="JetBrains Mono"/>
              </a:rPr>
              <a:t>/ project · dropout-ews · v7</a:t>
            </a:r>
          </a:p>
        </p:txBody>
      </p:sp>
      <p:sp>
        <p:nvSpPr>
          <p:cNvPr id="13" name="Text 6">
            <a:extLst xmlns:a="http://schemas.openxmlformats.org/drawingml/2006/main">
              <a:ext uri="{FF2B5EF4-FFF2-40B4-BE49-F238E27FC236}">
                <a16:creationId xmlns:a16="http://schemas.microsoft.com/office/drawing/2014/main" id="{E1D06B86-FE4E-45C2-8323-B83CCF34FD45}"/>
              </a:ext>
            </a:extLst>
          </p:cNvPr>
          <p:cNvSpPr>
            <a:spLocks xmlns:a="http://schemas.openxmlformats.org/drawingml/2006/main" noGrp="1"/>
          </p:cNvSpPr>
          <p:nvPr/>
        </p:nvSpPr>
        <p:spPr>
          <a:xfrm xmlns:a="http://schemas.openxmlformats.org/drawingml/2006/main">
            <a:off x="952805" y="2952598"/>
            <a:ext cx="6286500" cy="19248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4800" b="1">
                <a:solidFill>
                  <a:srgbClr val="FFFFFF"/>
                </a:solidFill>
                <a:latin typeface="Inter"/>
                <a:ea typeface="Inter"/>
                <a:cs typeface="Inter"/>
              </a:rPr>
              <a:t>AI-Based Student</a:t>
            </a:r>
          </a:p>
          <a:p xmlns:a="http://schemas.openxmlformats.org/drawingml/2006/main">
            <a:pPr marL="0" indent="0" algn="l">
              <a:buNone/>
            </a:pPr>
            <a:r>
              <a:rPr sz="4800" b="1">
                <a:solidFill>
                  <a:srgbClr val="FFFFFF"/>
                </a:solidFill>
                <a:latin typeface="Inter"/>
                <a:ea typeface="Inter"/>
                <a:cs typeface="Inter"/>
              </a:rPr>
              <a:t>Dropout Early</a:t>
            </a:r>
          </a:p>
          <a:p xmlns:a="http://schemas.openxmlformats.org/drawingml/2006/main">
            <a:pPr marL="0" indent="0" algn="l">
              <a:buNone/>
            </a:pPr>
            <a:r>
              <a:rPr sz="4800" b="1">
                <a:solidFill>
                  <a:srgbClr val="FFFFFF"/>
                </a:solidFill>
                <a:latin typeface="Inter"/>
                <a:ea typeface="Inter"/>
                <a:cs typeface="Inter"/>
              </a:rPr>
              <a:t>Warning System</a:t>
            </a:r>
          </a:p>
        </p:txBody>
      </p:sp>
      <p:sp>
        <p:nvSpPr>
          <p:cNvPr id="14" name="Text 7">
            <a:extLst xmlns:a="http://schemas.openxmlformats.org/drawingml/2006/main">
              <a:ext uri="{FF2B5EF4-FFF2-40B4-BE49-F238E27FC236}">
                <a16:creationId xmlns:a16="http://schemas.microsoft.com/office/drawing/2014/main" id="{012688D6-BAF5-4BC2-9873-1DAA70C0C25F}"/>
              </a:ext>
            </a:extLst>
          </p:cNvPr>
          <p:cNvSpPr>
            <a:spLocks xmlns:a="http://schemas.openxmlformats.org/drawingml/2006/main" noGrp="1"/>
          </p:cNvSpPr>
          <p:nvPr/>
        </p:nvSpPr>
        <p:spPr>
          <a:xfrm xmlns:a="http://schemas.openxmlformats.org/drawingml/2006/main">
            <a:off x="952805" y="6261811"/>
            <a:ext cx="6286500" cy="72054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730"/>
              </a:lnSpc>
              <a:buNone/>
            </a:pPr>
            <a:r>
              <a:rPr sz="1900" i="1">
                <a:solidFill>
                  <a:srgbClr val="FFFFFF">
                    <a:alpha val="85000"/>
                  </a:srgbClr>
                </a:solidFill>
                <a:latin typeface="Source Serif Pro"/>
                <a:ea typeface="Source Serif Pro"/>
                <a:cs typeface="Source Serif Pro"/>
              </a:rPr>
              <a:t>Reproduction and Cross-Context</a:t>
            </a:r>
          </a:p>
          <a:p xmlns:a="http://schemas.openxmlformats.org/drawingml/2006/main">
            <a:pPr marL="0" indent="0" algn="l">
              <a:lnSpc>
                <a:spcPts val="2730"/>
              </a:lnSpc>
              <a:buNone/>
            </a:pPr>
            <a:r>
              <a:rPr sz="1900" i="1">
                <a:solidFill>
                  <a:srgbClr val="FFFFFF">
                    <a:alpha val="85000"/>
                  </a:srgbClr>
                </a:solidFill>
                <a:latin typeface="Source Serif Pro"/>
                <a:ea typeface="Source Serif Pro"/>
                <a:cs typeface="Source Serif Pro"/>
              </a:rPr>
              <a:t>Evaluation on UCI and OULAD</a:t>
            </a:r>
          </a:p>
        </p:txBody>
      </p:sp>
      <p:sp>
        <p:nvSpPr>
          <p:cNvPr id="15" name="Text 8">
            <a:extLst xmlns:a="http://schemas.openxmlformats.org/drawingml/2006/main">
              <a:ext uri="{FF2B5EF4-FFF2-40B4-BE49-F238E27FC236}">
                <a16:creationId xmlns:a16="http://schemas.microsoft.com/office/drawing/2014/main" id="{0186ADE0-9B1B-44FF-AFBF-76003491975E}"/>
              </a:ext>
            </a:extLst>
          </p:cNvPr>
          <p:cNvSpPr>
            <a:spLocks xmlns:a="http://schemas.openxmlformats.org/drawingml/2006/main" noGrp="1"/>
          </p:cNvSpPr>
          <p:nvPr/>
        </p:nvSpPr>
        <p:spPr>
          <a:xfrm xmlns:a="http://schemas.openxmlformats.org/drawingml/2006/main">
            <a:off x="952805" y="8572500"/>
            <a:ext cx="6096305"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alpha val="50000"/>
                  </a:srgbClr>
                </a:solidFill>
                <a:latin typeface="JetBrains Mono"/>
                <a:ea typeface="JetBrains Mono"/>
                <a:cs typeface="JetBrains Mono"/>
              </a:rPr>
              <a:t>Group 21 · Oral Presentation</a:t>
            </a:r>
          </a:p>
        </p:txBody>
      </p:sp>
      <p:sp>
        <p:nvSpPr>
          <p:cNvPr id="16" name="Text 9">
            <a:extLst xmlns:a="http://schemas.openxmlformats.org/drawingml/2006/main">
              <a:ext uri="{FF2B5EF4-FFF2-40B4-BE49-F238E27FC236}">
                <a16:creationId xmlns:a16="http://schemas.microsoft.com/office/drawing/2014/main" id="{8A94C4EE-73D7-408B-B123-C839097DFBD9}"/>
              </a:ext>
            </a:extLst>
          </p:cNvPr>
          <p:cNvSpPr>
            <a:spLocks xmlns:a="http://schemas.openxmlformats.org/drawingml/2006/main" noGrp="1"/>
          </p:cNvSpPr>
          <p:nvPr/>
        </p:nvSpPr>
        <p:spPr>
          <a:xfrm xmlns:a="http://schemas.openxmlformats.org/drawingml/2006/main">
            <a:off x="952805" y="8820302"/>
            <a:ext cx="6096305"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a:solidFill>
                  <a:srgbClr val="FFFFFF"/>
                </a:solidFill>
                <a:latin typeface="Inter"/>
                <a:ea typeface="Inter"/>
                <a:cs typeface="Inter"/>
              </a:rPr>
              <a:t>Xinyu Wang · Wu Hanming</a:t>
            </a:r>
          </a:p>
        </p:txBody>
      </p:sp>
      <p:sp>
        <p:nvSpPr>
          <p:cNvPr id="17" name="Text 10">
            <a:extLst xmlns:a="http://schemas.openxmlformats.org/drawingml/2006/main">
              <a:ext uri="{FF2B5EF4-FFF2-40B4-BE49-F238E27FC236}">
                <a16:creationId xmlns:a16="http://schemas.microsoft.com/office/drawing/2014/main" id="{C489C127-1981-4FBB-B564-4BE26D445E46}"/>
              </a:ext>
            </a:extLst>
          </p:cNvPr>
          <p:cNvSpPr>
            <a:spLocks xmlns:a="http://schemas.openxmlformats.org/drawingml/2006/main" noGrp="1"/>
          </p:cNvSpPr>
          <p:nvPr/>
        </p:nvSpPr>
        <p:spPr>
          <a:xfrm xmlns:a="http://schemas.openxmlformats.org/drawingml/2006/main">
            <a:off x="952805" y="9144000"/>
            <a:ext cx="6096305"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alpha val="50000"/>
                  </a:srgbClr>
                </a:solidFill>
                <a:latin typeface="JetBrains Mono"/>
                <a:ea typeface="JetBrains Mono"/>
                <a:cs typeface="JetBrains Mono"/>
              </a:rPr>
              <a:t>2026-08-10 / Faculty of Business and IT</a:t>
            </a:r>
          </a:p>
        </p:txBody>
      </p:sp>
      <p:sp>
        <p:nvSpPr>
          <p:cNvPr id="18" name="Text 11">
            <a:extLst xmlns:a="http://schemas.openxmlformats.org/drawingml/2006/main">
              <a:ext uri="{FF2B5EF4-FFF2-40B4-BE49-F238E27FC236}">
                <a16:creationId xmlns:a16="http://schemas.microsoft.com/office/drawing/2014/main" id="{CB6807BE-7F91-4752-B06D-6BB1A195544D}"/>
              </a:ext>
            </a:extLst>
          </p:cNvPr>
          <p:cNvSpPr>
            <a:spLocks xmlns:a="http://schemas.openxmlformats.org/drawingml/2006/main" noGrp="1"/>
          </p:cNvSpPr>
          <p:nvPr/>
        </p:nvSpPr>
        <p:spPr>
          <a:xfrm xmlns:a="http://schemas.openxmlformats.org/drawingml/2006/main">
            <a:off x="8953805" y="2000707"/>
            <a:ext cx="8001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E4237A"/>
                </a:solidFill>
                <a:latin typeface="JetBrains Mono"/>
                <a:ea typeface="JetBrains Mono"/>
                <a:cs typeface="JetBrains Mono"/>
              </a:rPr>
              <a:t>FINAL HELD-OUT PERFORMANCE</a:t>
            </a:r>
          </a:p>
        </p:txBody>
      </p:sp>
      <p:sp>
        <p:nvSpPr>
          <p:cNvPr id="19" name="Text 12">
            <a:extLst xmlns:a="http://schemas.openxmlformats.org/drawingml/2006/main">
              <a:ext uri="{FF2B5EF4-FFF2-40B4-BE49-F238E27FC236}">
                <a16:creationId xmlns:a16="http://schemas.microsoft.com/office/drawing/2014/main" id="{C6356918-6BCF-4DE2-98D9-DDEC42C284C7}"/>
              </a:ext>
            </a:extLst>
          </p:cNvPr>
          <p:cNvSpPr>
            <a:spLocks xmlns:a="http://schemas.openxmlformats.org/drawingml/2006/main" noGrp="1"/>
          </p:cNvSpPr>
          <p:nvPr/>
        </p:nvSpPr>
        <p:spPr>
          <a:xfrm xmlns:a="http://schemas.openxmlformats.org/drawingml/2006/main">
            <a:off x="8953805" y="2476195"/>
            <a:ext cx="3810305"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UCI · Logistic Regression</a:t>
            </a:r>
          </a:p>
        </p:txBody>
      </p:sp>
      <p:sp>
        <p:nvSpPr>
          <p:cNvPr id="20" name="Text 13">
            <a:extLst xmlns:a="http://schemas.openxmlformats.org/drawingml/2006/main">
              <a:ext uri="{FF2B5EF4-FFF2-40B4-BE49-F238E27FC236}">
                <a16:creationId xmlns:a16="http://schemas.microsoft.com/office/drawing/2014/main" id="{F51CF628-0245-4123-855F-F3F698AB1483}"/>
              </a:ext>
            </a:extLst>
          </p:cNvPr>
          <p:cNvSpPr>
            <a:spLocks xmlns:a="http://schemas.openxmlformats.org/drawingml/2006/main" noGrp="1"/>
          </p:cNvSpPr>
          <p:nvPr/>
        </p:nvSpPr>
        <p:spPr>
          <a:xfrm xmlns:a="http://schemas.openxmlformats.org/drawingml/2006/main">
            <a:off x="8953805" y="2714854"/>
            <a:ext cx="2067458" cy="6858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5400" b="1">
                <a:solidFill>
                  <a:srgbClr val="2A2E7A"/>
                </a:solidFill>
                <a:latin typeface="JetBrains Mono"/>
                <a:ea typeface="JetBrains Mono"/>
                <a:cs typeface="JetBrains Mono"/>
              </a:rPr>
              <a:t>0.911</a:t>
            </a:r>
          </a:p>
        </p:txBody>
      </p:sp>
      <p:sp>
        <p:nvSpPr>
          <p:cNvPr id="21" name="Text 14">
            <a:extLst xmlns:a="http://schemas.openxmlformats.org/drawingml/2006/main">
              <a:ext uri="{FF2B5EF4-FFF2-40B4-BE49-F238E27FC236}">
                <a16:creationId xmlns:a16="http://schemas.microsoft.com/office/drawing/2014/main" id="{DC9977EE-6471-4237-A021-E80AB2DF3CF7}"/>
              </a:ext>
            </a:extLst>
          </p:cNvPr>
          <p:cNvSpPr>
            <a:spLocks xmlns:a="http://schemas.openxmlformats.org/drawingml/2006/main" noGrp="1"/>
          </p:cNvSpPr>
          <p:nvPr/>
        </p:nvSpPr>
        <p:spPr>
          <a:xfrm xmlns:a="http://schemas.openxmlformats.org/drawingml/2006/main">
            <a:off x="11144707" y="3133649"/>
            <a:ext cx="724205"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6A6F8C"/>
                </a:solidFill>
                <a:latin typeface="Inter"/>
                <a:ea typeface="Inter"/>
                <a:cs typeface="Inter"/>
              </a:rPr>
              <a:t>ROC-AUC</a:t>
            </a:r>
          </a:p>
        </p:txBody>
      </p:sp>
      <p:sp>
        <p:nvSpPr>
          <p:cNvPr id="22" name="Text 15">
            <a:extLst xmlns:a="http://schemas.openxmlformats.org/drawingml/2006/main">
              <a:ext uri="{FF2B5EF4-FFF2-40B4-BE49-F238E27FC236}">
                <a16:creationId xmlns:a16="http://schemas.microsoft.com/office/drawing/2014/main" id="{91332028-442E-48AF-B0FB-B8862FBBEF54}"/>
              </a:ext>
            </a:extLst>
          </p:cNvPr>
          <p:cNvSpPr>
            <a:spLocks xmlns:a="http://schemas.openxmlformats.org/drawingml/2006/main" noGrp="1"/>
          </p:cNvSpPr>
          <p:nvPr/>
        </p:nvSpPr>
        <p:spPr>
          <a:xfrm xmlns:a="http://schemas.openxmlformats.org/drawingml/2006/main">
            <a:off x="8953805" y="3534156"/>
            <a:ext cx="3810305"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2A2E4B"/>
                </a:solidFill>
                <a:latin typeface="JetBrains Mono"/>
                <a:ea typeface="JetBrains Mono"/>
                <a:cs typeface="JetBrains Mono"/>
              </a:rPr>
              <a:t>F1 </a:t>
            </a:r>
            <a:r>
              <a:rPr sz="1200">
                <a:solidFill>
                  <a:srgbClr val="0F1226"/>
                </a:solidFill>
                <a:latin typeface="JetBrains Mono"/>
                <a:ea typeface="JetBrains Mono"/>
                <a:cs typeface="JetBrains Mono"/>
              </a:rPr>
              <a:t>0.793</a:t>
            </a:r>
            <a:r>
              <a:rPr sz="1200">
                <a:solidFill>
                  <a:srgbClr val="2A2E4B"/>
                </a:solidFill>
                <a:latin typeface="JetBrains Mono"/>
                <a:ea typeface="JetBrains Mono"/>
                <a:cs typeface="JetBrains Mono"/>
              </a:rPr>
              <a:t> · Recall </a:t>
            </a:r>
            <a:r>
              <a:rPr sz="1200">
                <a:solidFill>
                  <a:srgbClr val="0F1226"/>
                </a:solidFill>
                <a:latin typeface="JetBrains Mono"/>
                <a:ea typeface="JetBrains Mono"/>
                <a:cs typeface="JetBrains Mono"/>
              </a:rPr>
              <a:t>0.820</a:t>
            </a:r>
          </a:p>
        </p:txBody>
      </p:sp>
      <p:sp>
        <p:nvSpPr>
          <p:cNvPr id="23" name="Text 16">
            <a:extLst xmlns:a="http://schemas.openxmlformats.org/drawingml/2006/main">
              <a:ext uri="{FF2B5EF4-FFF2-40B4-BE49-F238E27FC236}">
                <a16:creationId xmlns:a16="http://schemas.microsoft.com/office/drawing/2014/main" id="{6B27BD43-EE30-4C4B-A85B-13B834F8B9DA}"/>
              </a:ext>
            </a:extLst>
          </p:cNvPr>
          <p:cNvSpPr>
            <a:spLocks xmlns:a="http://schemas.openxmlformats.org/drawingml/2006/main" noGrp="1"/>
          </p:cNvSpPr>
          <p:nvPr/>
        </p:nvSpPr>
        <p:spPr>
          <a:xfrm xmlns:a="http://schemas.openxmlformats.org/drawingml/2006/main">
            <a:off x="13716000" y="2476195"/>
            <a:ext cx="3238805"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OULAD · XGBoost</a:t>
            </a:r>
          </a:p>
        </p:txBody>
      </p:sp>
      <p:sp>
        <p:nvSpPr>
          <p:cNvPr id="24" name="Text 17">
            <a:extLst xmlns:a="http://schemas.openxmlformats.org/drawingml/2006/main">
              <a:ext uri="{FF2B5EF4-FFF2-40B4-BE49-F238E27FC236}">
                <a16:creationId xmlns:a16="http://schemas.microsoft.com/office/drawing/2014/main" id="{AE5EDE2D-9CE3-4178-A7F1-3C4F20AFEF92}"/>
              </a:ext>
            </a:extLst>
          </p:cNvPr>
          <p:cNvSpPr>
            <a:spLocks xmlns:a="http://schemas.openxmlformats.org/drawingml/2006/main" noGrp="1"/>
          </p:cNvSpPr>
          <p:nvPr/>
        </p:nvSpPr>
        <p:spPr>
          <a:xfrm xmlns:a="http://schemas.openxmlformats.org/drawingml/2006/main">
            <a:off x="13716000" y="2714854"/>
            <a:ext cx="2067458" cy="6858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5400" b="1">
                <a:solidFill>
                  <a:srgbClr val="2A2E7A"/>
                </a:solidFill>
                <a:latin typeface="JetBrains Mono"/>
                <a:ea typeface="JetBrains Mono"/>
                <a:cs typeface="JetBrains Mono"/>
              </a:rPr>
              <a:t>0.885</a:t>
            </a:r>
          </a:p>
        </p:txBody>
      </p:sp>
      <p:sp>
        <p:nvSpPr>
          <p:cNvPr id="25" name="Text 18">
            <a:extLst xmlns:a="http://schemas.openxmlformats.org/drawingml/2006/main">
              <a:ext uri="{FF2B5EF4-FFF2-40B4-BE49-F238E27FC236}">
                <a16:creationId xmlns:a16="http://schemas.microsoft.com/office/drawing/2014/main" id="{A96C6437-4C37-42DA-9809-5B65527DBA22}"/>
              </a:ext>
            </a:extLst>
          </p:cNvPr>
          <p:cNvSpPr>
            <a:spLocks xmlns:a="http://schemas.openxmlformats.org/drawingml/2006/main" noGrp="1"/>
          </p:cNvSpPr>
          <p:nvPr/>
        </p:nvSpPr>
        <p:spPr>
          <a:xfrm xmlns:a="http://schemas.openxmlformats.org/drawingml/2006/main">
            <a:off x="15906902" y="3133649"/>
            <a:ext cx="724205"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6A6F8C"/>
                </a:solidFill>
                <a:latin typeface="Inter"/>
                <a:ea typeface="Inter"/>
                <a:cs typeface="Inter"/>
              </a:rPr>
              <a:t>ROC-AUC</a:t>
            </a:r>
          </a:p>
        </p:txBody>
      </p:sp>
      <p:sp>
        <p:nvSpPr>
          <p:cNvPr id="26" name="Text 19">
            <a:extLst xmlns:a="http://schemas.openxmlformats.org/drawingml/2006/main">
              <a:ext uri="{FF2B5EF4-FFF2-40B4-BE49-F238E27FC236}">
                <a16:creationId xmlns:a16="http://schemas.microsoft.com/office/drawing/2014/main" id="{F84E70CD-9A5E-49A5-8248-5DD8169A0DB5}"/>
              </a:ext>
            </a:extLst>
          </p:cNvPr>
          <p:cNvSpPr>
            <a:spLocks xmlns:a="http://schemas.openxmlformats.org/drawingml/2006/main" noGrp="1"/>
          </p:cNvSpPr>
          <p:nvPr/>
        </p:nvSpPr>
        <p:spPr>
          <a:xfrm xmlns:a="http://schemas.openxmlformats.org/drawingml/2006/main">
            <a:off x="13716000" y="3534156"/>
            <a:ext cx="3238805"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2A2E4B"/>
                </a:solidFill>
                <a:latin typeface="JetBrains Mono"/>
                <a:ea typeface="JetBrains Mono"/>
                <a:cs typeface="JetBrains Mono"/>
              </a:rPr>
              <a:t>F1 </a:t>
            </a:r>
            <a:r>
              <a:rPr sz="1200">
                <a:solidFill>
                  <a:srgbClr val="0F1226"/>
                </a:solidFill>
                <a:latin typeface="JetBrains Mono"/>
                <a:ea typeface="JetBrains Mono"/>
                <a:cs typeface="JetBrains Mono"/>
              </a:rPr>
              <a:t>0.738</a:t>
            </a:r>
            <a:r>
              <a:rPr sz="1200">
                <a:solidFill>
                  <a:srgbClr val="2A2E4B"/>
                </a:solidFill>
                <a:latin typeface="JetBrains Mono"/>
                <a:ea typeface="JetBrains Mono"/>
                <a:cs typeface="JetBrains Mono"/>
              </a:rPr>
              <a:t> · Recall </a:t>
            </a:r>
            <a:r>
              <a:rPr sz="1200">
                <a:solidFill>
                  <a:srgbClr val="0F1226"/>
                </a:solidFill>
                <a:latin typeface="JetBrains Mono"/>
                <a:ea typeface="JetBrains Mono"/>
                <a:cs typeface="JetBrains Mono"/>
              </a:rPr>
              <a:t>0.719</a:t>
            </a:r>
          </a:p>
        </p:txBody>
      </p:sp>
      <p:sp>
        <p:nvSpPr>
          <p:cNvPr id="27" name="Text 20">
            <a:extLst xmlns:a="http://schemas.openxmlformats.org/drawingml/2006/main">
              <a:ext uri="{FF2B5EF4-FFF2-40B4-BE49-F238E27FC236}">
                <a16:creationId xmlns:a16="http://schemas.microsoft.com/office/drawing/2014/main" id="{8F99F50B-4DA5-4727-9F90-9BFFB1B64280}"/>
              </a:ext>
            </a:extLst>
          </p:cNvPr>
          <p:cNvSpPr>
            <a:spLocks xmlns:a="http://schemas.openxmlformats.org/drawingml/2006/main" noGrp="1"/>
          </p:cNvSpPr>
          <p:nvPr/>
        </p:nvSpPr>
        <p:spPr>
          <a:xfrm xmlns:a="http://schemas.openxmlformats.org/drawingml/2006/main">
            <a:off x="8858707" y="5000854"/>
            <a:ext cx="3715207"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6A6F8C"/>
                </a:solidFill>
                <a:latin typeface="JetBrains Mono"/>
                <a:ea typeface="JetBrains Mono"/>
                <a:cs typeface="JetBrains Mono"/>
              </a:rPr>
              <a:t>Per 1,000 students · UCI</a:t>
            </a:r>
          </a:p>
        </p:txBody>
      </p:sp>
      <p:sp>
        <p:nvSpPr>
          <p:cNvPr id="28" name="Text 21">
            <a:extLst xmlns:a="http://schemas.openxmlformats.org/drawingml/2006/main">
              <a:ext uri="{FF2B5EF4-FFF2-40B4-BE49-F238E27FC236}">
                <a16:creationId xmlns:a16="http://schemas.microsoft.com/office/drawing/2014/main" id="{131E24FA-5EE0-4D94-945F-234C033BCE5D}"/>
              </a:ext>
            </a:extLst>
          </p:cNvPr>
          <p:cNvSpPr>
            <a:spLocks xmlns:a="http://schemas.openxmlformats.org/drawingml/2006/main" noGrp="1"/>
          </p:cNvSpPr>
          <p:nvPr/>
        </p:nvSpPr>
        <p:spPr>
          <a:xfrm xmlns:a="http://schemas.openxmlformats.org/drawingml/2006/main">
            <a:off x="8858707" y="5257800"/>
            <a:ext cx="3715207" cy="5907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4200" b="1">
                <a:solidFill>
                  <a:srgbClr val="2A2E7A"/>
                </a:solidFill>
                <a:latin typeface="JetBrains Mono"/>
                <a:ea typeface="JetBrains Mono"/>
                <a:cs typeface="JetBrains Mono"/>
              </a:rPr>
              <a:t>263</a:t>
            </a:r>
          </a:p>
        </p:txBody>
      </p:sp>
      <p:sp>
        <p:nvSpPr>
          <p:cNvPr id="29" name="Text 22">
            <a:extLst xmlns:a="http://schemas.openxmlformats.org/drawingml/2006/main">
              <a:ext uri="{FF2B5EF4-FFF2-40B4-BE49-F238E27FC236}">
                <a16:creationId xmlns:a16="http://schemas.microsoft.com/office/drawing/2014/main" id="{9158B5CD-F8C5-4D12-BEFC-D1E64FD74518}"/>
              </a:ext>
            </a:extLst>
          </p:cNvPr>
          <p:cNvSpPr>
            <a:spLocks xmlns:a="http://schemas.openxmlformats.org/drawingml/2006/main" noGrp="1"/>
          </p:cNvSpPr>
          <p:nvPr/>
        </p:nvSpPr>
        <p:spPr>
          <a:xfrm xmlns:a="http://schemas.openxmlformats.org/drawingml/2006/main">
            <a:off x="8858707" y="5901538"/>
            <a:ext cx="3715207"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true at-risk identified</a:t>
            </a:r>
          </a:p>
        </p:txBody>
      </p:sp>
      <p:sp>
        <p:nvSpPr>
          <p:cNvPr id="30" name="Text 23">
            <a:extLst xmlns:a="http://schemas.openxmlformats.org/drawingml/2006/main">
              <a:ext uri="{FF2B5EF4-FFF2-40B4-BE49-F238E27FC236}">
                <a16:creationId xmlns:a16="http://schemas.microsoft.com/office/drawing/2014/main" id="{9F8CB18A-908B-424C-96B7-FF0FF66DB7B6}"/>
              </a:ext>
            </a:extLst>
          </p:cNvPr>
          <p:cNvSpPr>
            <a:spLocks xmlns:a="http://schemas.openxmlformats.org/drawingml/2006/main" noGrp="1"/>
          </p:cNvSpPr>
          <p:nvPr/>
        </p:nvSpPr>
        <p:spPr>
          <a:xfrm xmlns:a="http://schemas.openxmlformats.org/drawingml/2006/main">
            <a:off x="8858707" y="6225235"/>
            <a:ext cx="3715207"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alerts </a:t>
            </a:r>
            <a:r>
              <a:rPr sz="1000">
                <a:solidFill>
                  <a:srgbClr val="2A2E4B"/>
                </a:solidFill>
                <a:latin typeface="JetBrains Mono"/>
                <a:ea typeface="JetBrains Mono"/>
                <a:cs typeface="JetBrains Mono"/>
              </a:rPr>
              <a:t>344</a:t>
            </a:r>
            <a:r>
              <a:rPr sz="1000">
                <a:solidFill>
                  <a:srgbClr val="6A6F8C"/>
                </a:solidFill>
                <a:latin typeface="JetBrains Mono"/>
                <a:ea typeface="JetBrains Mono"/>
                <a:cs typeface="JetBrains Mono"/>
              </a:rPr>
              <a:t> · missed </a:t>
            </a:r>
            <a:r>
              <a:rPr sz="1000">
                <a:solidFill>
                  <a:srgbClr val="2A2E4B"/>
                </a:solidFill>
                <a:latin typeface="JetBrains Mono"/>
                <a:ea typeface="JetBrains Mono"/>
                <a:cs typeface="JetBrains Mono"/>
              </a:rPr>
              <a:t>58</a:t>
            </a:r>
          </a:p>
        </p:txBody>
      </p:sp>
      <p:sp>
        <p:nvSpPr>
          <p:cNvPr id="31" name="Text 24">
            <a:extLst xmlns:a="http://schemas.openxmlformats.org/drawingml/2006/main">
              <a:ext uri="{FF2B5EF4-FFF2-40B4-BE49-F238E27FC236}">
                <a16:creationId xmlns:a16="http://schemas.microsoft.com/office/drawing/2014/main" id="{FF38C41B-6D66-49D6-AFFB-73EC77B53A70}"/>
              </a:ext>
            </a:extLst>
          </p:cNvPr>
          <p:cNvSpPr>
            <a:spLocks xmlns:a="http://schemas.openxmlformats.org/drawingml/2006/main" noGrp="1"/>
          </p:cNvSpPr>
          <p:nvPr/>
        </p:nvSpPr>
        <p:spPr>
          <a:xfrm xmlns:a="http://schemas.openxmlformats.org/drawingml/2006/main">
            <a:off x="13382244" y="5000854"/>
            <a:ext cx="3715207"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6A6F8C"/>
                </a:solidFill>
                <a:latin typeface="JetBrains Mono"/>
                <a:ea typeface="JetBrains Mono"/>
                <a:cs typeface="JetBrains Mono"/>
              </a:rPr>
              <a:t>Per 1,000 students · OULAD</a:t>
            </a:r>
          </a:p>
        </p:txBody>
      </p:sp>
      <p:sp>
        <p:nvSpPr>
          <p:cNvPr id="32" name="Text 25">
            <a:extLst xmlns:a="http://schemas.openxmlformats.org/drawingml/2006/main">
              <a:ext uri="{FF2B5EF4-FFF2-40B4-BE49-F238E27FC236}">
                <a16:creationId xmlns:a16="http://schemas.microsoft.com/office/drawing/2014/main" id="{AB8AC009-7263-44F4-92B2-D7213198E88E}"/>
              </a:ext>
            </a:extLst>
          </p:cNvPr>
          <p:cNvSpPr>
            <a:spLocks xmlns:a="http://schemas.openxmlformats.org/drawingml/2006/main" noGrp="1"/>
          </p:cNvSpPr>
          <p:nvPr/>
        </p:nvSpPr>
        <p:spPr>
          <a:xfrm xmlns:a="http://schemas.openxmlformats.org/drawingml/2006/main">
            <a:off x="13382244" y="5257800"/>
            <a:ext cx="3715207" cy="5907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4200" b="1">
                <a:solidFill>
                  <a:srgbClr val="2A2E7A"/>
                </a:solidFill>
                <a:latin typeface="JetBrains Mono"/>
                <a:ea typeface="JetBrains Mono"/>
                <a:cs typeface="JetBrains Mono"/>
              </a:rPr>
              <a:t>224</a:t>
            </a:r>
          </a:p>
        </p:txBody>
      </p:sp>
      <p:sp>
        <p:nvSpPr>
          <p:cNvPr id="33" name="Text 26">
            <a:extLst xmlns:a="http://schemas.openxmlformats.org/drawingml/2006/main">
              <a:ext uri="{FF2B5EF4-FFF2-40B4-BE49-F238E27FC236}">
                <a16:creationId xmlns:a16="http://schemas.microsoft.com/office/drawing/2014/main" id="{D8AA4493-746E-461B-B95B-A9E710F01840}"/>
              </a:ext>
            </a:extLst>
          </p:cNvPr>
          <p:cNvSpPr>
            <a:spLocks xmlns:a="http://schemas.openxmlformats.org/drawingml/2006/main" noGrp="1"/>
          </p:cNvSpPr>
          <p:nvPr/>
        </p:nvSpPr>
        <p:spPr>
          <a:xfrm xmlns:a="http://schemas.openxmlformats.org/drawingml/2006/main">
            <a:off x="13382244" y="5901538"/>
            <a:ext cx="3715207"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true at-risk identified</a:t>
            </a:r>
          </a:p>
        </p:txBody>
      </p:sp>
      <p:sp>
        <p:nvSpPr>
          <p:cNvPr id="34" name="Text 27">
            <a:extLst xmlns:a="http://schemas.openxmlformats.org/drawingml/2006/main">
              <a:ext uri="{FF2B5EF4-FFF2-40B4-BE49-F238E27FC236}">
                <a16:creationId xmlns:a16="http://schemas.microsoft.com/office/drawing/2014/main" id="{77C5139C-D4AB-4F88-9764-D675D63F0C7C}"/>
              </a:ext>
            </a:extLst>
          </p:cNvPr>
          <p:cNvSpPr>
            <a:spLocks xmlns:a="http://schemas.openxmlformats.org/drawingml/2006/main" noGrp="1"/>
          </p:cNvSpPr>
          <p:nvPr/>
        </p:nvSpPr>
        <p:spPr>
          <a:xfrm xmlns:a="http://schemas.openxmlformats.org/drawingml/2006/main">
            <a:off x="13382244" y="6225235"/>
            <a:ext cx="3715207"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alerts </a:t>
            </a:r>
            <a:r>
              <a:rPr sz="1000">
                <a:solidFill>
                  <a:srgbClr val="2A2E4B"/>
                </a:solidFill>
                <a:latin typeface="JetBrains Mono"/>
                <a:ea typeface="JetBrains Mono"/>
                <a:cs typeface="JetBrains Mono"/>
              </a:rPr>
              <a:t>295</a:t>
            </a:r>
            <a:r>
              <a:rPr sz="1000">
                <a:solidFill>
                  <a:srgbClr val="6A6F8C"/>
                </a:solidFill>
                <a:latin typeface="JetBrains Mono"/>
                <a:ea typeface="JetBrains Mono"/>
                <a:cs typeface="JetBrains Mono"/>
              </a:rPr>
              <a:t> · missed </a:t>
            </a:r>
            <a:r>
              <a:rPr sz="1000">
                <a:solidFill>
                  <a:srgbClr val="2A2E4B"/>
                </a:solidFill>
                <a:latin typeface="JetBrains Mono"/>
                <a:ea typeface="JetBrains Mono"/>
                <a:cs typeface="JetBrains Mono"/>
              </a:rPr>
              <a:t>88</a:t>
            </a:r>
          </a:p>
        </p:txBody>
      </p:sp>
      <p:sp>
        <p:nvSpPr>
          <p:cNvPr id="35" name="Text 28">
            <a:extLst xmlns:a="http://schemas.openxmlformats.org/drawingml/2006/main">
              <a:ext uri="{FF2B5EF4-FFF2-40B4-BE49-F238E27FC236}">
                <a16:creationId xmlns:a16="http://schemas.microsoft.com/office/drawing/2014/main" id="{968D3FAE-3EF2-4CD8-9C5B-953DE367A2C5}"/>
              </a:ext>
            </a:extLst>
          </p:cNvPr>
          <p:cNvSpPr>
            <a:spLocks xmlns:a="http://schemas.openxmlformats.org/drawingml/2006/main" noGrp="1"/>
          </p:cNvSpPr>
          <p:nvPr/>
        </p:nvSpPr>
        <p:spPr>
          <a:xfrm xmlns:a="http://schemas.openxmlformats.org/drawingml/2006/main">
            <a:off x="8953805" y="7477049"/>
            <a:ext cx="8001000"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E4237A"/>
                </a:solidFill>
                <a:latin typeface="JetBrains Mono"/>
                <a:ea typeface="JetBrains Mono"/>
                <a:cs typeface="JetBrains Mono"/>
              </a:rPr>
              <a:t>RECOMMENDATION</a:t>
            </a:r>
          </a:p>
        </p:txBody>
      </p:sp>
      <p:sp>
        <p:nvSpPr>
          <p:cNvPr id="36" name="Text 29">
            <a:extLst xmlns:a="http://schemas.openxmlformats.org/drawingml/2006/main">
              <a:ext uri="{FF2B5EF4-FFF2-40B4-BE49-F238E27FC236}">
                <a16:creationId xmlns:a16="http://schemas.microsoft.com/office/drawing/2014/main" id="{C2950F5B-CC80-476D-B23A-5F8ED1D19254}"/>
              </a:ext>
            </a:extLst>
          </p:cNvPr>
          <p:cNvSpPr>
            <a:spLocks xmlns:a="http://schemas.openxmlformats.org/drawingml/2006/main" noGrp="1"/>
          </p:cNvSpPr>
          <p:nvPr/>
        </p:nvSpPr>
        <p:spPr>
          <a:xfrm xmlns:a="http://schemas.openxmlformats.org/drawingml/2006/main">
            <a:off x="8953805" y="7715707"/>
            <a:ext cx="8001000" cy="7242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100">
                <a:solidFill>
                  <a:srgbClr val="0F1226"/>
                </a:solidFill>
                <a:latin typeface="Source Serif Pro"/>
                <a:ea typeface="Source Serif Pro"/>
                <a:cs typeface="Source Serif Pro"/>
              </a:rPr>
              <a:t>Evaluate the models through a </a:t>
            </a:r>
            <a:r>
              <a:rPr sz="2100">
                <a:solidFill>
                  <a:srgbClr val="E4237A"/>
                </a:solidFill>
                <a:latin typeface="Source Serif Pro"/>
                <a:ea typeface="Source Serif Pro"/>
                <a:cs typeface="Source Serif Pro"/>
              </a:rPr>
              <a:t>limited human-in-the-loop</a:t>
            </a:r>
            <a:r>
              <a:rPr sz="2100">
                <a:solidFill>
                  <a:srgbClr val="0F1226"/>
                </a:solidFill>
                <a:latin typeface="Source Serif Pro"/>
                <a:ea typeface="Source Serif Pro"/>
                <a:cs typeface="Source Serif Pro"/>
              </a:rPr>
              <a:t> advisor-support pilot.</a:t>
            </a:r>
          </a:p>
        </p:txBody>
      </p:sp>
      <p:sp>
        <p:nvSpPr>
          <p:cNvPr id="37" name="Text 30">
            <a:extLst xmlns:a="http://schemas.openxmlformats.org/drawingml/2006/main">
              <a:ext uri="{FF2B5EF4-FFF2-40B4-BE49-F238E27FC236}">
                <a16:creationId xmlns:a16="http://schemas.microsoft.com/office/drawing/2014/main" id="{D8A53AE7-E873-4590-8954-063C81A2BFED}"/>
              </a:ext>
            </a:extLst>
          </p:cNvPr>
          <p:cNvSpPr>
            <a:spLocks xmlns:a="http://schemas.openxmlformats.org/drawingml/2006/main" noGrp="1"/>
          </p:cNvSpPr>
          <p:nvPr/>
        </p:nvSpPr>
        <p:spPr>
          <a:xfrm xmlns:a="http://schemas.openxmlformats.org/drawingml/2006/main">
            <a:off x="8953805" y="8568842"/>
            <a:ext cx="8001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8A93A"/>
                </a:solidFill>
                <a:latin typeface="JetBrains Mono"/>
                <a:ea typeface="JetBrains Mono"/>
                <a:cs typeface="JetBrains Mono"/>
              </a:rPr>
              <a:t>⚠ Break-even ≈ 5–6 retained students per 1,000 · illustrative planning assumption only</a:t>
            </a:r>
          </a:p>
        </p:txBody>
      </p:sp>
      <p:sp>
        <p:nvSpPr>
          <p:cNvPr id="38" name="Text 31">
            <a:extLst xmlns:a="http://schemas.openxmlformats.org/drawingml/2006/main">
              <a:ext uri="{FF2B5EF4-FFF2-40B4-BE49-F238E27FC236}">
                <a16:creationId xmlns:a16="http://schemas.microsoft.com/office/drawing/2014/main" id="{C1BFE0A0-62FC-46D7-BC63-AFDEC87F6886}"/>
              </a:ext>
            </a:extLst>
          </p:cNvPr>
          <p:cNvSpPr>
            <a:spLocks xmlns:a="http://schemas.openxmlformats.org/drawingml/2006/main" noGrp="1"/>
          </p:cNvSpPr>
          <p:nvPr/>
        </p:nvSpPr>
        <p:spPr>
          <a:xfrm xmlns:a="http://schemas.openxmlformats.org/drawingml/2006/main">
            <a:off x="8572500" y="9858146"/>
            <a:ext cx="9525305"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01 / 19 · Cover</a:t>
            </a:r>
          </a:p>
        </p:txBody>
      </p:sp>
    </p:spTree>
    <p:extLst>
      <p:ext uri="{BB962C8B-B14F-4D97-AF65-F5344CB8AC3E}">
        <p14:creationId xmlns:p14="http://schemas.microsoft.com/office/powerpoint/2010/main" val="1162803196"/>
      </p:ext>
    </p:extLst>
  </p:cSld>
</p:sld>
</file>

<file path=ppt/slides/slide2.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55" name="Image 0"/>
          <p:cNvPicPr>
            <a:picLocks xmlns:a="http://schemas.openxmlformats.org/drawingml/2006/main" noChangeAspect="1"/>
          </p:cNvPicPr>
          <p:nvPr/>
        </p:nvPicPr>
        <p:blipFill>
          <a:blip xmlns:r="http://schemas.openxmlformats.org/officeDocument/2006/relationships" xmlns:a="http://schemas.openxmlformats.org/drawingml/2006/main" r:embed="Rbc7b9fd8af444b28"/>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pic>
        <p:nvPicPr>
          <p:cNvPr id="56" name="Image 1"/>
          <p:cNvPicPr>
            <a:picLocks xmlns:a="http://schemas.openxmlformats.org/drawingml/2006/main" noChangeAspect="1"/>
          </p:cNvPicPr>
          <p:nvPr/>
        </p:nvPicPr>
        <p:blipFill>
          <a:blip xmlns:r="http://schemas.openxmlformats.org/officeDocument/2006/relationships" xmlns:a="http://schemas.openxmlformats.org/drawingml/2006/main" r:embed="Rbc7b9fd8af444b28"/>
          <a:srcRect xmlns:a="http://schemas.openxmlformats.org/drawingml/2006/main" l="-2083" t="0" r="-2083" b="0"/>
          <a:stretch xmlns:a="http://schemas.openxmlformats.org/drawingml/2006/main"/>
        </p:blipFill>
        <p:spPr>
          <a:xfrm xmlns:a="http://schemas.openxmlformats.org/drawingml/2006/main">
            <a:off x="761695" y="9144000"/>
            <a:ext cx="16763695" cy="9144"/>
          </a:xfrm>
          <a:prstGeom xmlns:a="http://schemas.openxmlformats.org/drawingml/2006/main" prst="rect">
            <a:avLst/>
          </a:prstGeom>
        </p:spPr>
      </p:pic>
      <p:sp>
        <p:nvSpPr>
          <p:cNvPr id="5" name="Text 0">
            <a:extLst xmlns:a="http://schemas.openxmlformats.org/drawingml/2006/main">
              <a:ext uri="{FF2B5EF4-FFF2-40B4-BE49-F238E27FC236}">
                <a16:creationId xmlns:a16="http://schemas.microsoft.com/office/drawing/2014/main" id="{8DBD2D02-2985-421D-B93C-C468929E6339}"/>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00 · Agenda</a:t>
            </a:r>
          </a:p>
        </p:txBody>
      </p:sp>
      <p:sp>
        <p:nvSpPr>
          <p:cNvPr id="6" name="Text 1">
            <a:extLst xmlns:a="http://schemas.openxmlformats.org/drawingml/2006/main">
              <a:ext uri="{FF2B5EF4-FFF2-40B4-BE49-F238E27FC236}">
                <a16:creationId xmlns:a16="http://schemas.microsoft.com/office/drawing/2014/main" id="{E2E63C8D-BED1-40A3-BEA9-1531C9BCB59F}"/>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02 / 19</a:t>
            </a:r>
          </a:p>
        </p:txBody>
      </p:sp>
      <p:sp>
        <p:nvSpPr>
          <p:cNvPr id="7" name="Text 2">
            <a:extLst xmlns:a="http://schemas.openxmlformats.org/drawingml/2006/main">
              <a:ext uri="{FF2B5EF4-FFF2-40B4-BE49-F238E27FC236}">
                <a16:creationId xmlns:a16="http://schemas.microsoft.com/office/drawing/2014/main" id="{2131F6FD-6147-460D-9F45-89C2EEF11685}"/>
              </a:ext>
            </a:extLst>
          </p:cNvPr>
          <p:cNvSpPr>
            <a:spLocks xmlns:a="http://schemas.openxmlformats.org/drawingml/2006/main" noGrp="1"/>
          </p:cNvSpPr>
          <p:nvPr/>
        </p:nvSpPr>
        <p:spPr>
          <a:xfrm xmlns:a="http://schemas.openxmlformats.org/drawingml/2006/main">
            <a:off x="761695" y="1238098"/>
            <a:ext cx="11430000" cy="66751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5200" b="1">
                <a:solidFill>
                  <a:srgbClr val="0F1226"/>
                </a:solidFill>
                <a:latin typeface="Inter"/>
                <a:ea typeface="Inter"/>
                <a:cs typeface="Inter"/>
              </a:rPr>
              <a:t>What we'll cover</a:t>
            </a:r>
          </a:p>
        </p:txBody>
      </p:sp>
      <p:sp>
        <p:nvSpPr>
          <p:cNvPr id="8" name="Text 3">
            <a:extLst xmlns:a="http://schemas.openxmlformats.org/drawingml/2006/main">
              <a:ext uri="{FF2B5EF4-FFF2-40B4-BE49-F238E27FC236}">
                <a16:creationId xmlns:a16="http://schemas.microsoft.com/office/drawing/2014/main" id="{88708CE1-3117-4552-832C-B69B8F4191D5}"/>
              </a:ext>
            </a:extLst>
          </p:cNvPr>
          <p:cNvSpPr>
            <a:spLocks xmlns:a="http://schemas.openxmlformats.org/drawingml/2006/main" noGrp="1"/>
          </p:cNvSpPr>
          <p:nvPr/>
        </p:nvSpPr>
        <p:spPr>
          <a:xfrm xmlns:a="http://schemas.openxmlformats.org/drawingml/2006/main">
            <a:off x="761695" y="2057400"/>
            <a:ext cx="11430000" cy="2386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i="1">
                <a:solidFill>
                  <a:srgbClr val="6A6F8C"/>
                </a:solidFill>
                <a:latin typeface="Source Serif Pro"/>
                <a:ea typeface="Source Serif Pro"/>
                <a:cs typeface="Source Serif Pro"/>
              </a:rPr>
              <a:t>Ten sections · 20 minutes talk · 5 minutes Q&amp;A</a:t>
            </a:r>
          </a:p>
        </p:txBody>
      </p:sp>
      <p:sp>
        <p:nvSpPr>
          <p:cNvPr id="9" name="Text 4">
            <a:extLst xmlns:a="http://schemas.openxmlformats.org/drawingml/2006/main">
              <a:ext uri="{FF2B5EF4-FFF2-40B4-BE49-F238E27FC236}">
                <a16:creationId xmlns:a16="http://schemas.microsoft.com/office/drawing/2014/main" id="{4AA5644B-BE61-44A1-8347-5FC66E64C074}"/>
              </a:ext>
            </a:extLst>
          </p:cNvPr>
          <p:cNvSpPr>
            <a:spLocks xmlns:a="http://schemas.openxmlformats.org/drawingml/2006/main" noGrp="1"/>
          </p:cNvSpPr>
          <p:nvPr/>
        </p:nvSpPr>
        <p:spPr>
          <a:xfrm xmlns:a="http://schemas.openxmlformats.org/drawingml/2006/main">
            <a:off x="761695" y="3238805"/>
            <a:ext cx="7626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E4237A"/>
                </a:solidFill>
                <a:latin typeface="JetBrains Mono"/>
                <a:ea typeface="JetBrains Mono"/>
                <a:cs typeface="JetBrains Mono"/>
              </a:rPr>
              <a:t>01</a:t>
            </a:r>
          </a:p>
        </p:txBody>
      </p:sp>
      <p:sp>
        <p:nvSpPr>
          <p:cNvPr id="10" name="Text 5">
            <a:extLst xmlns:a="http://schemas.openxmlformats.org/drawingml/2006/main">
              <a:ext uri="{FF2B5EF4-FFF2-40B4-BE49-F238E27FC236}">
                <a16:creationId xmlns:a16="http://schemas.microsoft.com/office/drawing/2014/main" id="{EBAA946B-B1B9-4B87-AC8D-B42B34A1AF98}"/>
              </a:ext>
            </a:extLst>
          </p:cNvPr>
          <p:cNvSpPr>
            <a:spLocks xmlns:a="http://schemas.openxmlformats.org/drawingml/2006/main" noGrp="1"/>
          </p:cNvSpPr>
          <p:nvPr/>
        </p:nvSpPr>
        <p:spPr>
          <a:xfrm xmlns:a="http://schemas.openxmlformats.org/drawingml/2006/main">
            <a:off x="1714500" y="3238805"/>
            <a:ext cx="5906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Introduction</a:t>
            </a:r>
          </a:p>
        </p:txBody>
      </p:sp>
      <p:sp>
        <p:nvSpPr>
          <p:cNvPr id="11" name="Text 6">
            <a:extLst xmlns:a="http://schemas.openxmlformats.org/drawingml/2006/main">
              <a:ext uri="{FF2B5EF4-FFF2-40B4-BE49-F238E27FC236}">
                <a16:creationId xmlns:a16="http://schemas.microsoft.com/office/drawing/2014/main" id="{D3085D4C-100A-4166-AEB9-EA690465E00D}"/>
              </a:ext>
            </a:extLst>
          </p:cNvPr>
          <p:cNvSpPr>
            <a:spLocks xmlns:a="http://schemas.openxmlformats.org/drawingml/2006/main" noGrp="1"/>
          </p:cNvSpPr>
          <p:nvPr/>
        </p:nvSpPr>
        <p:spPr>
          <a:xfrm xmlns:a="http://schemas.openxmlformats.org/drawingml/2006/main">
            <a:off x="1714500" y="3524098"/>
            <a:ext cx="5906110"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6A6F8C"/>
                </a:solidFill>
                <a:latin typeface="JetBrains Mono"/>
                <a:ea typeface="JetBrains Mono"/>
                <a:cs typeface="JetBrains Mono"/>
              </a:rPr>
              <a:t>Motivation &amp; objective</a:t>
            </a:r>
          </a:p>
        </p:txBody>
      </p:sp>
      <p:sp>
        <p:nvSpPr>
          <p:cNvPr id="12" name="Text 7">
            <a:extLst xmlns:a="http://schemas.openxmlformats.org/drawingml/2006/main">
              <a:ext uri="{FF2B5EF4-FFF2-40B4-BE49-F238E27FC236}">
                <a16:creationId xmlns:a16="http://schemas.microsoft.com/office/drawing/2014/main" id="{30E0E2B3-35B3-4F52-B1AE-B89A899BC9C0}"/>
              </a:ext>
            </a:extLst>
          </p:cNvPr>
          <p:cNvSpPr>
            <a:spLocks xmlns:a="http://schemas.openxmlformats.org/drawingml/2006/main" noGrp="1"/>
          </p:cNvSpPr>
          <p:nvPr/>
        </p:nvSpPr>
        <p:spPr>
          <a:xfrm xmlns:a="http://schemas.openxmlformats.org/drawingml/2006/main">
            <a:off x="7810805" y="3238805"/>
            <a:ext cx="95280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1.5 min</a:t>
            </a:r>
          </a:p>
        </p:txBody>
      </p:sp>
      <p:sp>
        <p:nvSpPr>
          <p:cNvPr id="13" name="Text 8">
            <a:extLst xmlns:a="http://schemas.openxmlformats.org/drawingml/2006/main">
              <a:ext uri="{FF2B5EF4-FFF2-40B4-BE49-F238E27FC236}">
                <a16:creationId xmlns:a16="http://schemas.microsoft.com/office/drawing/2014/main" id="{891CC6AA-F1E8-4884-BB30-D334DB2B8E94}"/>
              </a:ext>
            </a:extLst>
          </p:cNvPr>
          <p:cNvSpPr>
            <a:spLocks xmlns:a="http://schemas.openxmlformats.org/drawingml/2006/main" noGrp="1"/>
          </p:cNvSpPr>
          <p:nvPr/>
        </p:nvSpPr>
        <p:spPr>
          <a:xfrm xmlns:a="http://schemas.openxmlformats.org/drawingml/2006/main">
            <a:off x="761695" y="3886200"/>
            <a:ext cx="7626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E4237A"/>
                </a:solidFill>
                <a:latin typeface="JetBrains Mono"/>
                <a:ea typeface="JetBrains Mono"/>
                <a:cs typeface="JetBrains Mono"/>
              </a:rPr>
              <a:t>02</a:t>
            </a:r>
          </a:p>
        </p:txBody>
      </p:sp>
      <p:sp>
        <p:nvSpPr>
          <p:cNvPr id="14" name="Text 9">
            <a:extLst xmlns:a="http://schemas.openxmlformats.org/drawingml/2006/main">
              <a:ext uri="{FF2B5EF4-FFF2-40B4-BE49-F238E27FC236}">
                <a16:creationId xmlns:a16="http://schemas.microsoft.com/office/drawing/2014/main" id="{C7D0C29D-AB08-4989-82CD-A173597A4A86}"/>
              </a:ext>
            </a:extLst>
          </p:cNvPr>
          <p:cNvSpPr>
            <a:spLocks xmlns:a="http://schemas.openxmlformats.org/drawingml/2006/main" noGrp="1"/>
          </p:cNvSpPr>
          <p:nvPr/>
        </p:nvSpPr>
        <p:spPr>
          <a:xfrm xmlns:a="http://schemas.openxmlformats.org/drawingml/2006/main">
            <a:off x="1714500" y="3886200"/>
            <a:ext cx="5906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Problem Definition</a:t>
            </a:r>
          </a:p>
        </p:txBody>
      </p:sp>
      <p:sp>
        <p:nvSpPr>
          <p:cNvPr id="15" name="Text 10">
            <a:extLst xmlns:a="http://schemas.openxmlformats.org/drawingml/2006/main">
              <a:ext uri="{FF2B5EF4-FFF2-40B4-BE49-F238E27FC236}">
                <a16:creationId xmlns:a16="http://schemas.microsoft.com/office/drawing/2014/main" id="{3CD2D62D-1932-4BC3-A819-BE31CF473E88}"/>
              </a:ext>
            </a:extLst>
          </p:cNvPr>
          <p:cNvSpPr>
            <a:spLocks xmlns:a="http://schemas.openxmlformats.org/drawingml/2006/main" noGrp="1"/>
          </p:cNvSpPr>
          <p:nvPr/>
        </p:nvSpPr>
        <p:spPr>
          <a:xfrm xmlns:a="http://schemas.openxmlformats.org/drawingml/2006/main">
            <a:off x="1714500" y="4172407"/>
            <a:ext cx="5906110"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6A6F8C"/>
                </a:solidFill>
                <a:latin typeface="JetBrains Mono"/>
                <a:ea typeface="JetBrains Mono"/>
                <a:cs typeface="JetBrains Mono"/>
              </a:rPr>
              <a:t>Business → analytics · scope · assumptions</a:t>
            </a:r>
          </a:p>
        </p:txBody>
      </p:sp>
      <p:sp>
        <p:nvSpPr>
          <p:cNvPr id="16" name="Text 11">
            <a:extLst xmlns:a="http://schemas.openxmlformats.org/drawingml/2006/main">
              <a:ext uri="{FF2B5EF4-FFF2-40B4-BE49-F238E27FC236}">
                <a16:creationId xmlns:a16="http://schemas.microsoft.com/office/drawing/2014/main" id="{17139D00-A50E-4262-80B0-BFDCF0A6B7F3}"/>
              </a:ext>
            </a:extLst>
          </p:cNvPr>
          <p:cNvSpPr>
            <a:spLocks xmlns:a="http://schemas.openxmlformats.org/drawingml/2006/main" noGrp="1"/>
          </p:cNvSpPr>
          <p:nvPr/>
        </p:nvSpPr>
        <p:spPr>
          <a:xfrm xmlns:a="http://schemas.openxmlformats.org/drawingml/2006/main">
            <a:off x="7810805" y="3886200"/>
            <a:ext cx="95280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1.5 min</a:t>
            </a:r>
          </a:p>
        </p:txBody>
      </p:sp>
      <p:sp>
        <p:nvSpPr>
          <p:cNvPr id="17" name="Text 12">
            <a:extLst xmlns:a="http://schemas.openxmlformats.org/drawingml/2006/main">
              <a:ext uri="{FF2B5EF4-FFF2-40B4-BE49-F238E27FC236}">
                <a16:creationId xmlns:a16="http://schemas.microsoft.com/office/drawing/2014/main" id="{F3C2ADC2-5976-4F82-9692-68DB2F4FA593}"/>
              </a:ext>
            </a:extLst>
          </p:cNvPr>
          <p:cNvSpPr>
            <a:spLocks xmlns:a="http://schemas.openxmlformats.org/drawingml/2006/main" noGrp="1"/>
          </p:cNvSpPr>
          <p:nvPr/>
        </p:nvSpPr>
        <p:spPr>
          <a:xfrm xmlns:a="http://schemas.openxmlformats.org/drawingml/2006/main">
            <a:off x="761695" y="4533595"/>
            <a:ext cx="7626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E4237A"/>
                </a:solidFill>
                <a:latin typeface="JetBrains Mono"/>
                <a:ea typeface="JetBrains Mono"/>
                <a:cs typeface="JetBrains Mono"/>
              </a:rPr>
              <a:t>03</a:t>
            </a:r>
          </a:p>
        </p:txBody>
      </p:sp>
      <p:sp>
        <p:nvSpPr>
          <p:cNvPr id="18" name="Text 13">
            <a:extLst xmlns:a="http://schemas.openxmlformats.org/drawingml/2006/main">
              <a:ext uri="{FF2B5EF4-FFF2-40B4-BE49-F238E27FC236}">
                <a16:creationId xmlns:a16="http://schemas.microsoft.com/office/drawing/2014/main" id="{F348EA2A-1ACE-4F3B-B4D9-2A38A3754F0A}"/>
              </a:ext>
            </a:extLst>
          </p:cNvPr>
          <p:cNvSpPr>
            <a:spLocks xmlns:a="http://schemas.openxmlformats.org/drawingml/2006/main" noGrp="1"/>
          </p:cNvSpPr>
          <p:nvPr/>
        </p:nvSpPr>
        <p:spPr>
          <a:xfrm xmlns:a="http://schemas.openxmlformats.org/drawingml/2006/main">
            <a:off x="1714500" y="4533595"/>
            <a:ext cx="5906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Data &amp; EDA</a:t>
            </a:r>
          </a:p>
        </p:txBody>
      </p:sp>
      <p:sp>
        <p:nvSpPr>
          <p:cNvPr id="19" name="Text 14">
            <a:extLst xmlns:a="http://schemas.openxmlformats.org/drawingml/2006/main">
              <a:ext uri="{FF2B5EF4-FFF2-40B4-BE49-F238E27FC236}">
                <a16:creationId xmlns:a16="http://schemas.microsoft.com/office/drawing/2014/main" id="{9FDC0E5B-5841-41D6-A1C9-8EA49FC4AF63}"/>
              </a:ext>
            </a:extLst>
          </p:cNvPr>
          <p:cNvSpPr>
            <a:spLocks xmlns:a="http://schemas.openxmlformats.org/drawingml/2006/main" noGrp="1"/>
          </p:cNvSpPr>
          <p:nvPr/>
        </p:nvSpPr>
        <p:spPr>
          <a:xfrm xmlns:a="http://schemas.openxmlformats.org/drawingml/2006/main">
            <a:off x="1714500" y="4819802"/>
            <a:ext cx="5906110"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6A6F8C"/>
                </a:solidFill>
                <a:latin typeface="JetBrains Mono"/>
                <a:ea typeface="JetBrains Mono"/>
                <a:cs typeface="JetBrains Mono"/>
              </a:rPr>
              <a:t>Profile · UCI findings · OULAD findings</a:t>
            </a:r>
          </a:p>
        </p:txBody>
      </p:sp>
      <p:sp>
        <p:nvSpPr>
          <p:cNvPr id="20" name="Text 15">
            <a:extLst xmlns:a="http://schemas.openxmlformats.org/drawingml/2006/main">
              <a:ext uri="{FF2B5EF4-FFF2-40B4-BE49-F238E27FC236}">
                <a16:creationId xmlns:a16="http://schemas.microsoft.com/office/drawing/2014/main" id="{BFF2C30B-BAD8-4A75-86C3-5ECF73721B00}"/>
              </a:ext>
            </a:extLst>
          </p:cNvPr>
          <p:cNvSpPr>
            <a:spLocks xmlns:a="http://schemas.openxmlformats.org/drawingml/2006/main" noGrp="1"/>
          </p:cNvSpPr>
          <p:nvPr/>
        </p:nvSpPr>
        <p:spPr>
          <a:xfrm xmlns:a="http://schemas.openxmlformats.org/drawingml/2006/main">
            <a:off x="7810805" y="4533595"/>
            <a:ext cx="95280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E4237A"/>
                </a:solidFill>
                <a:latin typeface="JetBrains Mono"/>
                <a:ea typeface="JetBrains Mono"/>
                <a:cs typeface="JetBrains Mono"/>
              </a:rPr>
              <a:t>4 min</a:t>
            </a:r>
          </a:p>
        </p:txBody>
      </p:sp>
      <p:sp>
        <p:nvSpPr>
          <p:cNvPr id="21" name="Text 16">
            <a:extLst xmlns:a="http://schemas.openxmlformats.org/drawingml/2006/main">
              <a:ext uri="{FF2B5EF4-FFF2-40B4-BE49-F238E27FC236}">
                <a16:creationId xmlns:a16="http://schemas.microsoft.com/office/drawing/2014/main" id="{F62F6358-A91C-4957-9A70-EA2839388528}"/>
              </a:ext>
            </a:extLst>
          </p:cNvPr>
          <p:cNvSpPr>
            <a:spLocks xmlns:a="http://schemas.openxmlformats.org/drawingml/2006/main" noGrp="1"/>
          </p:cNvSpPr>
          <p:nvPr/>
        </p:nvSpPr>
        <p:spPr>
          <a:xfrm xmlns:a="http://schemas.openxmlformats.org/drawingml/2006/main">
            <a:off x="761695" y="5181905"/>
            <a:ext cx="7626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E4237A"/>
                </a:solidFill>
                <a:latin typeface="JetBrains Mono"/>
                <a:ea typeface="JetBrains Mono"/>
                <a:cs typeface="JetBrains Mono"/>
              </a:rPr>
              <a:t>04</a:t>
            </a:r>
          </a:p>
        </p:txBody>
      </p:sp>
      <p:sp>
        <p:nvSpPr>
          <p:cNvPr id="22" name="Text 17">
            <a:extLst xmlns:a="http://schemas.openxmlformats.org/drawingml/2006/main">
              <a:ext uri="{FF2B5EF4-FFF2-40B4-BE49-F238E27FC236}">
                <a16:creationId xmlns:a16="http://schemas.microsoft.com/office/drawing/2014/main" id="{CCEFC811-D392-4899-BFD1-38901B5A0A6D}"/>
              </a:ext>
            </a:extLst>
          </p:cNvPr>
          <p:cNvSpPr>
            <a:spLocks xmlns:a="http://schemas.openxmlformats.org/drawingml/2006/main" noGrp="1"/>
          </p:cNvSpPr>
          <p:nvPr/>
        </p:nvSpPr>
        <p:spPr>
          <a:xfrm xmlns:a="http://schemas.openxmlformats.org/drawingml/2006/main">
            <a:off x="1714500" y="5181905"/>
            <a:ext cx="5906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Methodology &amp; Optimization</a:t>
            </a:r>
          </a:p>
        </p:txBody>
      </p:sp>
      <p:sp>
        <p:nvSpPr>
          <p:cNvPr id="23" name="Text 18">
            <a:extLst xmlns:a="http://schemas.openxmlformats.org/drawingml/2006/main">
              <a:ext uri="{FF2B5EF4-FFF2-40B4-BE49-F238E27FC236}">
                <a16:creationId xmlns:a16="http://schemas.microsoft.com/office/drawing/2014/main" id="{A735B104-E01B-47CC-89F7-1BFD81A6B20D}"/>
              </a:ext>
            </a:extLst>
          </p:cNvPr>
          <p:cNvSpPr>
            <a:spLocks xmlns:a="http://schemas.openxmlformats.org/drawingml/2006/main" noGrp="1"/>
          </p:cNvSpPr>
          <p:nvPr/>
        </p:nvSpPr>
        <p:spPr>
          <a:xfrm xmlns:a="http://schemas.openxmlformats.org/drawingml/2006/main">
            <a:off x="1714500" y="5467198"/>
            <a:ext cx="5906110"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6A6F8C"/>
                </a:solidFill>
                <a:latin typeface="JetBrains Mono"/>
                <a:ea typeface="JetBrains Mono"/>
                <a:cs typeface="JetBrains Mono"/>
              </a:rPr>
              <a:t>Pipeline · tuning · threshold</a:t>
            </a:r>
          </a:p>
        </p:txBody>
      </p:sp>
      <p:sp>
        <p:nvSpPr>
          <p:cNvPr id="24" name="Text 19">
            <a:extLst xmlns:a="http://schemas.openxmlformats.org/drawingml/2006/main">
              <a:ext uri="{FF2B5EF4-FFF2-40B4-BE49-F238E27FC236}">
                <a16:creationId xmlns:a16="http://schemas.microsoft.com/office/drawing/2014/main" id="{74BA92F5-58D0-4757-BDFC-3CA9BA44B311}"/>
              </a:ext>
            </a:extLst>
          </p:cNvPr>
          <p:cNvSpPr>
            <a:spLocks xmlns:a="http://schemas.openxmlformats.org/drawingml/2006/main" noGrp="1"/>
          </p:cNvSpPr>
          <p:nvPr/>
        </p:nvSpPr>
        <p:spPr>
          <a:xfrm xmlns:a="http://schemas.openxmlformats.org/drawingml/2006/main">
            <a:off x="7810805" y="5181905"/>
            <a:ext cx="95280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3 min</a:t>
            </a:r>
          </a:p>
        </p:txBody>
      </p:sp>
      <p:sp>
        <p:nvSpPr>
          <p:cNvPr id="25" name="Text 20">
            <a:extLst xmlns:a="http://schemas.openxmlformats.org/drawingml/2006/main">
              <a:ext uri="{FF2B5EF4-FFF2-40B4-BE49-F238E27FC236}">
                <a16:creationId xmlns:a16="http://schemas.microsoft.com/office/drawing/2014/main" id="{F3232775-796D-42E3-B755-412A4B0D4920}"/>
              </a:ext>
            </a:extLst>
          </p:cNvPr>
          <p:cNvSpPr>
            <a:spLocks xmlns:a="http://schemas.openxmlformats.org/drawingml/2006/main" noGrp="1"/>
          </p:cNvSpPr>
          <p:nvPr/>
        </p:nvSpPr>
        <p:spPr>
          <a:xfrm xmlns:a="http://schemas.openxmlformats.org/drawingml/2006/main">
            <a:off x="761695" y="5829300"/>
            <a:ext cx="7626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E4237A"/>
                </a:solidFill>
                <a:latin typeface="JetBrains Mono"/>
                <a:ea typeface="JetBrains Mono"/>
                <a:cs typeface="JetBrains Mono"/>
              </a:rPr>
              <a:t>05</a:t>
            </a:r>
          </a:p>
        </p:txBody>
      </p:sp>
      <p:sp>
        <p:nvSpPr>
          <p:cNvPr id="26" name="Text 21">
            <a:extLst xmlns:a="http://schemas.openxmlformats.org/drawingml/2006/main">
              <a:ext uri="{FF2B5EF4-FFF2-40B4-BE49-F238E27FC236}">
                <a16:creationId xmlns:a16="http://schemas.microsoft.com/office/drawing/2014/main" id="{80CDA0EF-3C94-4358-92E0-B4331668AC84}"/>
              </a:ext>
            </a:extLst>
          </p:cNvPr>
          <p:cNvSpPr>
            <a:spLocks xmlns:a="http://schemas.openxmlformats.org/drawingml/2006/main" noGrp="1"/>
          </p:cNvSpPr>
          <p:nvPr/>
        </p:nvSpPr>
        <p:spPr>
          <a:xfrm xmlns:a="http://schemas.openxmlformats.org/drawingml/2006/main">
            <a:off x="1714500" y="5829300"/>
            <a:ext cx="5906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Results &amp; Interpretation</a:t>
            </a:r>
          </a:p>
        </p:txBody>
      </p:sp>
      <p:sp>
        <p:nvSpPr>
          <p:cNvPr id="27" name="Text 22">
            <a:extLst xmlns:a="http://schemas.openxmlformats.org/drawingml/2006/main">
              <a:ext uri="{FF2B5EF4-FFF2-40B4-BE49-F238E27FC236}">
                <a16:creationId xmlns:a16="http://schemas.microsoft.com/office/drawing/2014/main" id="{63F21DA4-E1BF-4AA4-BD12-892FE4D93168}"/>
              </a:ext>
            </a:extLst>
          </p:cNvPr>
          <p:cNvSpPr>
            <a:spLocks xmlns:a="http://schemas.openxmlformats.org/drawingml/2006/main" noGrp="1"/>
          </p:cNvSpPr>
          <p:nvPr/>
        </p:nvSpPr>
        <p:spPr>
          <a:xfrm xmlns:a="http://schemas.openxmlformats.org/drawingml/2006/main">
            <a:off x="1714500" y="6115507"/>
            <a:ext cx="5906110"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6A6F8C"/>
                </a:solidFill>
                <a:latin typeface="JetBrains Mono"/>
                <a:ea typeface="JetBrains Mono"/>
                <a:cs typeface="JetBrains Mono"/>
              </a:rPr>
              <a:t>Held-out · SHAP · robustness &amp; errors</a:t>
            </a:r>
          </a:p>
        </p:txBody>
      </p:sp>
      <p:sp>
        <p:nvSpPr>
          <p:cNvPr id="28" name="Text 23">
            <a:extLst xmlns:a="http://schemas.openxmlformats.org/drawingml/2006/main">
              <a:ext uri="{FF2B5EF4-FFF2-40B4-BE49-F238E27FC236}">
                <a16:creationId xmlns:a16="http://schemas.microsoft.com/office/drawing/2014/main" id="{572DAAF2-850D-43AC-957F-787B07371D38}"/>
              </a:ext>
            </a:extLst>
          </p:cNvPr>
          <p:cNvSpPr>
            <a:spLocks xmlns:a="http://schemas.openxmlformats.org/drawingml/2006/main" noGrp="1"/>
          </p:cNvSpPr>
          <p:nvPr/>
        </p:nvSpPr>
        <p:spPr>
          <a:xfrm xmlns:a="http://schemas.openxmlformats.org/drawingml/2006/main">
            <a:off x="7810805" y="5829300"/>
            <a:ext cx="95280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3 min</a:t>
            </a:r>
          </a:p>
        </p:txBody>
      </p:sp>
      <p:sp>
        <p:nvSpPr>
          <p:cNvPr id="29" name="Text 24">
            <a:extLst xmlns:a="http://schemas.openxmlformats.org/drawingml/2006/main">
              <a:ext uri="{FF2B5EF4-FFF2-40B4-BE49-F238E27FC236}">
                <a16:creationId xmlns:a16="http://schemas.microsoft.com/office/drawing/2014/main" id="{5B9E5A00-68AF-4D0B-9110-F1D2D0DEC36B}"/>
              </a:ext>
            </a:extLst>
          </p:cNvPr>
          <p:cNvSpPr>
            <a:spLocks xmlns:a="http://schemas.openxmlformats.org/drawingml/2006/main" noGrp="1"/>
          </p:cNvSpPr>
          <p:nvPr/>
        </p:nvSpPr>
        <p:spPr>
          <a:xfrm xmlns:a="http://schemas.openxmlformats.org/drawingml/2006/main">
            <a:off x="9525305" y="3238805"/>
            <a:ext cx="7626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E4237A"/>
                </a:solidFill>
                <a:latin typeface="JetBrains Mono"/>
                <a:ea typeface="JetBrains Mono"/>
                <a:cs typeface="JetBrains Mono"/>
              </a:rPr>
              <a:t>06</a:t>
            </a:r>
          </a:p>
        </p:txBody>
      </p:sp>
      <p:sp>
        <p:nvSpPr>
          <p:cNvPr id="30" name="Text 25">
            <a:extLst xmlns:a="http://schemas.openxmlformats.org/drawingml/2006/main">
              <a:ext uri="{FF2B5EF4-FFF2-40B4-BE49-F238E27FC236}">
                <a16:creationId xmlns:a16="http://schemas.microsoft.com/office/drawing/2014/main" id="{D331C574-F040-482A-91A4-A4CC9F1F1176}"/>
              </a:ext>
            </a:extLst>
          </p:cNvPr>
          <p:cNvSpPr>
            <a:spLocks xmlns:a="http://schemas.openxmlformats.org/drawingml/2006/main" noGrp="1"/>
          </p:cNvSpPr>
          <p:nvPr/>
        </p:nvSpPr>
        <p:spPr>
          <a:xfrm xmlns:a="http://schemas.openxmlformats.org/drawingml/2006/main">
            <a:off x="10477195" y="3238805"/>
            <a:ext cx="5906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Business Impact</a:t>
            </a:r>
          </a:p>
        </p:txBody>
      </p:sp>
      <p:sp>
        <p:nvSpPr>
          <p:cNvPr id="31" name="Text 26">
            <a:extLst xmlns:a="http://schemas.openxmlformats.org/drawingml/2006/main">
              <a:ext uri="{FF2B5EF4-FFF2-40B4-BE49-F238E27FC236}">
                <a16:creationId xmlns:a16="http://schemas.microsoft.com/office/drawing/2014/main" id="{863E7779-EF24-4CE2-810E-9E0A29E7BB8B}"/>
              </a:ext>
            </a:extLst>
          </p:cNvPr>
          <p:cNvSpPr>
            <a:spLocks xmlns:a="http://schemas.openxmlformats.org/drawingml/2006/main" noGrp="1"/>
          </p:cNvSpPr>
          <p:nvPr/>
        </p:nvSpPr>
        <p:spPr>
          <a:xfrm xmlns:a="http://schemas.openxmlformats.org/drawingml/2006/main">
            <a:off x="10477195" y="3524098"/>
            <a:ext cx="5906110"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6A6F8C"/>
                </a:solidFill>
                <a:latin typeface="JetBrains Mono"/>
                <a:ea typeface="JetBrains Mono"/>
                <a:cs typeface="JetBrains Mono"/>
              </a:rPr>
              <a:t>Illustrative per-1,000 economics</a:t>
            </a:r>
          </a:p>
        </p:txBody>
      </p:sp>
      <p:sp>
        <p:nvSpPr>
          <p:cNvPr id="32" name="Text 27">
            <a:extLst xmlns:a="http://schemas.openxmlformats.org/drawingml/2006/main">
              <a:ext uri="{FF2B5EF4-FFF2-40B4-BE49-F238E27FC236}">
                <a16:creationId xmlns:a16="http://schemas.microsoft.com/office/drawing/2014/main" id="{6ED5776D-31D1-4CDC-A83C-4DC062327BB5}"/>
              </a:ext>
            </a:extLst>
          </p:cNvPr>
          <p:cNvSpPr>
            <a:spLocks xmlns:a="http://schemas.openxmlformats.org/drawingml/2006/main" noGrp="1"/>
          </p:cNvSpPr>
          <p:nvPr/>
        </p:nvSpPr>
        <p:spPr>
          <a:xfrm xmlns:a="http://schemas.openxmlformats.org/drawingml/2006/main">
            <a:off x="16573500" y="3238805"/>
            <a:ext cx="95280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2 min</a:t>
            </a:r>
          </a:p>
        </p:txBody>
      </p:sp>
      <p:sp>
        <p:nvSpPr>
          <p:cNvPr id="33" name="Text 28">
            <a:extLst xmlns:a="http://schemas.openxmlformats.org/drawingml/2006/main">
              <a:ext uri="{FF2B5EF4-FFF2-40B4-BE49-F238E27FC236}">
                <a16:creationId xmlns:a16="http://schemas.microsoft.com/office/drawing/2014/main" id="{874FE7DF-96A6-490D-8FF9-BEEB68FF697C}"/>
              </a:ext>
            </a:extLst>
          </p:cNvPr>
          <p:cNvSpPr>
            <a:spLocks xmlns:a="http://schemas.openxmlformats.org/drawingml/2006/main" noGrp="1"/>
          </p:cNvSpPr>
          <p:nvPr/>
        </p:nvSpPr>
        <p:spPr>
          <a:xfrm xmlns:a="http://schemas.openxmlformats.org/drawingml/2006/main">
            <a:off x="9525305" y="3886200"/>
            <a:ext cx="7626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E4237A"/>
                </a:solidFill>
                <a:latin typeface="JetBrains Mono"/>
                <a:ea typeface="JetBrains Mono"/>
                <a:cs typeface="JetBrains Mono"/>
              </a:rPr>
              <a:t>07</a:t>
            </a:r>
          </a:p>
        </p:txBody>
      </p:sp>
      <p:sp>
        <p:nvSpPr>
          <p:cNvPr id="34" name="Text 29">
            <a:extLst xmlns:a="http://schemas.openxmlformats.org/drawingml/2006/main">
              <a:ext uri="{FF2B5EF4-FFF2-40B4-BE49-F238E27FC236}">
                <a16:creationId xmlns:a16="http://schemas.microsoft.com/office/drawing/2014/main" id="{41E7F215-EB0F-446D-AF45-86DCC0AF9B8B}"/>
              </a:ext>
            </a:extLst>
          </p:cNvPr>
          <p:cNvSpPr>
            <a:spLocks xmlns:a="http://schemas.openxmlformats.org/drawingml/2006/main" noGrp="1"/>
          </p:cNvSpPr>
          <p:nvPr/>
        </p:nvSpPr>
        <p:spPr>
          <a:xfrm xmlns:a="http://schemas.openxmlformats.org/drawingml/2006/main">
            <a:off x="10477195" y="3886200"/>
            <a:ext cx="5906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Limitations &amp; Ethics</a:t>
            </a:r>
          </a:p>
        </p:txBody>
      </p:sp>
      <p:sp>
        <p:nvSpPr>
          <p:cNvPr id="35" name="Text 30">
            <a:extLst xmlns:a="http://schemas.openxmlformats.org/drawingml/2006/main">
              <a:ext uri="{FF2B5EF4-FFF2-40B4-BE49-F238E27FC236}">
                <a16:creationId xmlns:a16="http://schemas.microsoft.com/office/drawing/2014/main" id="{D6BEB6CF-70E3-4FFD-9C67-DA9EB70B3EC4}"/>
              </a:ext>
            </a:extLst>
          </p:cNvPr>
          <p:cNvSpPr>
            <a:spLocks xmlns:a="http://schemas.openxmlformats.org/drawingml/2006/main" noGrp="1"/>
          </p:cNvSpPr>
          <p:nvPr/>
        </p:nvSpPr>
        <p:spPr>
          <a:xfrm xmlns:a="http://schemas.openxmlformats.org/drawingml/2006/main">
            <a:off x="10477195" y="4172407"/>
            <a:ext cx="5906110"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6A6F8C"/>
                </a:solidFill>
                <a:latin typeface="JetBrains Mono"/>
                <a:ea typeface="JetBrains Mono"/>
                <a:cs typeface="JetBrains Mono"/>
              </a:rPr>
              <a:t>Comparability · fairness · scope</a:t>
            </a:r>
          </a:p>
        </p:txBody>
      </p:sp>
      <p:sp>
        <p:nvSpPr>
          <p:cNvPr id="36" name="Text 31">
            <a:extLst xmlns:a="http://schemas.openxmlformats.org/drawingml/2006/main">
              <a:ext uri="{FF2B5EF4-FFF2-40B4-BE49-F238E27FC236}">
                <a16:creationId xmlns:a16="http://schemas.microsoft.com/office/drawing/2014/main" id="{618B3F4D-592A-4CC6-9978-875A812094F7}"/>
              </a:ext>
            </a:extLst>
          </p:cNvPr>
          <p:cNvSpPr>
            <a:spLocks xmlns:a="http://schemas.openxmlformats.org/drawingml/2006/main" noGrp="1"/>
          </p:cNvSpPr>
          <p:nvPr/>
        </p:nvSpPr>
        <p:spPr>
          <a:xfrm xmlns:a="http://schemas.openxmlformats.org/drawingml/2006/main">
            <a:off x="16573500" y="3886200"/>
            <a:ext cx="95280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1 min</a:t>
            </a:r>
          </a:p>
        </p:txBody>
      </p:sp>
      <p:sp>
        <p:nvSpPr>
          <p:cNvPr id="37" name="Text 32">
            <a:extLst xmlns:a="http://schemas.openxmlformats.org/drawingml/2006/main">
              <a:ext uri="{FF2B5EF4-FFF2-40B4-BE49-F238E27FC236}">
                <a16:creationId xmlns:a16="http://schemas.microsoft.com/office/drawing/2014/main" id="{E3B450BA-05EB-476E-9D59-BEAE7EF1A8A8}"/>
              </a:ext>
            </a:extLst>
          </p:cNvPr>
          <p:cNvSpPr>
            <a:spLocks xmlns:a="http://schemas.openxmlformats.org/drawingml/2006/main" noGrp="1"/>
          </p:cNvSpPr>
          <p:nvPr/>
        </p:nvSpPr>
        <p:spPr>
          <a:xfrm xmlns:a="http://schemas.openxmlformats.org/drawingml/2006/main">
            <a:off x="9525305" y="4533595"/>
            <a:ext cx="7626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E4237A"/>
                </a:solidFill>
                <a:latin typeface="JetBrains Mono"/>
                <a:ea typeface="JetBrains Mono"/>
                <a:cs typeface="JetBrains Mono"/>
              </a:rPr>
              <a:t>08</a:t>
            </a:r>
          </a:p>
        </p:txBody>
      </p:sp>
      <p:sp>
        <p:nvSpPr>
          <p:cNvPr id="38" name="Text 33">
            <a:extLst xmlns:a="http://schemas.openxmlformats.org/drawingml/2006/main">
              <a:ext uri="{FF2B5EF4-FFF2-40B4-BE49-F238E27FC236}">
                <a16:creationId xmlns:a16="http://schemas.microsoft.com/office/drawing/2014/main" id="{1E425F29-EFEE-45E3-B915-FAF39063933D}"/>
              </a:ext>
            </a:extLst>
          </p:cNvPr>
          <p:cNvSpPr>
            <a:spLocks xmlns:a="http://schemas.openxmlformats.org/drawingml/2006/main" noGrp="1"/>
          </p:cNvSpPr>
          <p:nvPr/>
        </p:nvSpPr>
        <p:spPr>
          <a:xfrm xmlns:a="http://schemas.openxmlformats.org/drawingml/2006/main">
            <a:off x="10477195" y="4533595"/>
            <a:ext cx="5906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Deployment &amp; Future Work</a:t>
            </a:r>
          </a:p>
        </p:txBody>
      </p:sp>
      <p:sp>
        <p:nvSpPr>
          <p:cNvPr id="39" name="Text 34">
            <a:extLst xmlns:a="http://schemas.openxmlformats.org/drawingml/2006/main">
              <a:ext uri="{FF2B5EF4-FFF2-40B4-BE49-F238E27FC236}">
                <a16:creationId xmlns:a16="http://schemas.microsoft.com/office/drawing/2014/main" id="{FF5AC14F-8EFD-4250-A4BA-FE1E85F4B9F1}"/>
              </a:ext>
            </a:extLst>
          </p:cNvPr>
          <p:cNvSpPr>
            <a:spLocks xmlns:a="http://schemas.openxmlformats.org/drawingml/2006/main" noGrp="1"/>
          </p:cNvSpPr>
          <p:nvPr/>
        </p:nvSpPr>
        <p:spPr>
          <a:xfrm xmlns:a="http://schemas.openxmlformats.org/drawingml/2006/main">
            <a:off x="10477195" y="4819802"/>
            <a:ext cx="5906110"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6A6F8C"/>
                </a:solidFill>
                <a:latin typeface="JetBrains Mono"/>
                <a:ea typeface="JetBrains Mono"/>
                <a:cs typeface="JetBrains Mono"/>
              </a:rPr>
              <a:t>Proposed pilot · monitoring · retrain</a:t>
            </a:r>
          </a:p>
        </p:txBody>
      </p:sp>
      <p:sp>
        <p:nvSpPr>
          <p:cNvPr id="40" name="Text 35">
            <a:extLst xmlns:a="http://schemas.openxmlformats.org/drawingml/2006/main">
              <a:ext uri="{FF2B5EF4-FFF2-40B4-BE49-F238E27FC236}">
                <a16:creationId xmlns:a16="http://schemas.microsoft.com/office/drawing/2014/main" id="{E6AC853A-321B-4A4D-BE41-8CCE3E695B95}"/>
              </a:ext>
            </a:extLst>
          </p:cNvPr>
          <p:cNvSpPr>
            <a:spLocks xmlns:a="http://schemas.openxmlformats.org/drawingml/2006/main" noGrp="1"/>
          </p:cNvSpPr>
          <p:nvPr/>
        </p:nvSpPr>
        <p:spPr>
          <a:xfrm xmlns:a="http://schemas.openxmlformats.org/drawingml/2006/main">
            <a:off x="16573500" y="4533595"/>
            <a:ext cx="95280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1.5 min</a:t>
            </a:r>
          </a:p>
        </p:txBody>
      </p:sp>
      <p:sp>
        <p:nvSpPr>
          <p:cNvPr id="41" name="Text 36">
            <a:extLst xmlns:a="http://schemas.openxmlformats.org/drawingml/2006/main">
              <a:ext uri="{FF2B5EF4-FFF2-40B4-BE49-F238E27FC236}">
                <a16:creationId xmlns:a16="http://schemas.microsoft.com/office/drawing/2014/main" id="{19383146-2662-4F8C-B06B-AD32F49930FF}"/>
              </a:ext>
            </a:extLst>
          </p:cNvPr>
          <p:cNvSpPr>
            <a:spLocks xmlns:a="http://schemas.openxmlformats.org/drawingml/2006/main" noGrp="1"/>
          </p:cNvSpPr>
          <p:nvPr/>
        </p:nvSpPr>
        <p:spPr>
          <a:xfrm xmlns:a="http://schemas.openxmlformats.org/drawingml/2006/main">
            <a:off x="9525305" y="5181905"/>
            <a:ext cx="7626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E4237A"/>
                </a:solidFill>
                <a:latin typeface="JetBrains Mono"/>
                <a:ea typeface="JetBrains Mono"/>
                <a:cs typeface="JetBrains Mono"/>
              </a:rPr>
              <a:t>09</a:t>
            </a:r>
          </a:p>
        </p:txBody>
      </p:sp>
      <p:sp>
        <p:nvSpPr>
          <p:cNvPr id="42" name="Text 37">
            <a:extLst xmlns:a="http://schemas.openxmlformats.org/drawingml/2006/main">
              <a:ext uri="{FF2B5EF4-FFF2-40B4-BE49-F238E27FC236}">
                <a16:creationId xmlns:a16="http://schemas.microsoft.com/office/drawing/2014/main" id="{8C0FEB75-1995-47B0-860E-58BF21D304F8}"/>
              </a:ext>
            </a:extLst>
          </p:cNvPr>
          <p:cNvSpPr>
            <a:spLocks xmlns:a="http://schemas.openxmlformats.org/drawingml/2006/main" noGrp="1"/>
          </p:cNvSpPr>
          <p:nvPr/>
        </p:nvSpPr>
        <p:spPr>
          <a:xfrm xmlns:a="http://schemas.openxmlformats.org/drawingml/2006/main">
            <a:off x="10477195" y="5181905"/>
            <a:ext cx="5906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Key Takeaways</a:t>
            </a:r>
          </a:p>
        </p:txBody>
      </p:sp>
      <p:sp>
        <p:nvSpPr>
          <p:cNvPr id="43" name="Text 38">
            <a:extLst xmlns:a="http://schemas.openxmlformats.org/drawingml/2006/main">
              <a:ext uri="{FF2B5EF4-FFF2-40B4-BE49-F238E27FC236}">
                <a16:creationId xmlns:a16="http://schemas.microsoft.com/office/drawing/2014/main" id="{8D3A2435-2E3A-44A9-AEF2-EC031F2DB779}"/>
              </a:ext>
            </a:extLst>
          </p:cNvPr>
          <p:cNvSpPr>
            <a:spLocks xmlns:a="http://schemas.openxmlformats.org/drawingml/2006/main" noGrp="1"/>
          </p:cNvSpPr>
          <p:nvPr/>
        </p:nvSpPr>
        <p:spPr>
          <a:xfrm xmlns:a="http://schemas.openxmlformats.org/drawingml/2006/main">
            <a:off x="10477195" y="5467198"/>
            <a:ext cx="5906110"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6A6F8C"/>
                </a:solidFill>
                <a:latin typeface="JetBrains Mono"/>
                <a:ea typeface="JetBrains Mono"/>
                <a:cs typeface="JetBrains Mono"/>
              </a:rPr>
              <a:t>Primary message</a:t>
            </a:r>
          </a:p>
        </p:txBody>
      </p:sp>
      <p:sp>
        <p:nvSpPr>
          <p:cNvPr id="44" name="Text 39">
            <a:extLst xmlns:a="http://schemas.openxmlformats.org/drawingml/2006/main">
              <a:ext uri="{FF2B5EF4-FFF2-40B4-BE49-F238E27FC236}">
                <a16:creationId xmlns:a16="http://schemas.microsoft.com/office/drawing/2014/main" id="{AC70BE4F-7799-4CE7-BB3E-E8D6E876A651}"/>
              </a:ext>
            </a:extLst>
          </p:cNvPr>
          <p:cNvSpPr>
            <a:spLocks xmlns:a="http://schemas.openxmlformats.org/drawingml/2006/main" noGrp="1"/>
          </p:cNvSpPr>
          <p:nvPr/>
        </p:nvSpPr>
        <p:spPr>
          <a:xfrm xmlns:a="http://schemas.openxmlformats.org/drawingml/2006/main">
            <a:off x="16573500" y="5181905"/>
            <a:ext cx="95280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0.5–1 min</a:t>
            </a:r>
          </a:p>
        </p:txBody>
      </p:sp>
      <p:sp>
        <p:nvSpPr>
          <p:cNvPr id="45" name="Text 40">
            <a:extLst xmlns:a="http://schemas.openxmlformats.org/drawingml/2006/main">
              <a:ext uri="{FF2B5EF4-FFF2-40B4-BE49-F238E27FC236}">
                <a16:creationId xmlns:a16="http://schemas.microsoft.com/office/drawing/2014/main" id="{46D83D51-E9AC-45B1-B6B9-6F9481F45D5B}"/>
              </a:ext>
            </a:extLst>
          </p:cNvPr>
          <p:cNvSpPr>
            <a:spLocks xmlns:a="http://schemas.openxmlformats.org/drawingml/2006/main" noGrp="1"/>
          </p:cNvSpPr>
          <p:nvPr/>
        </p:nvSpPr>
        <p:spPr>
          <a:xfrm xmlns:a="http://schemas.openxmlformats.org/drawingml/2006/main">
            <a:off x="9525305" y="5829300"/>
            <a:ext cx="76261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E4237A"/>
                </a:solidFill>
                <a:latin typeface="JetBrains Mono"/>
                <a:ea typeface="JetBrains Mono"/>
                <a:cs typeface="JetBrains Mono"/>
              </a:rPr>
              <a:t>10</a:t>
            </a:r>
          </a:p>
        </p:txBody>
      </p:sp>
      <p:sp>
        <p:nvSpPr>
          <p:cNvPr id="46" name="Text 41">
            <a:extLst xmlns:a="http://schemas.openxmlformats.org/drawingml/2006/main">
              <a:ext uri="{FF2B5EF4-FFF2-40B4-BE49-F238E27FC236}">
                <a16:creationId xmlns:a16="http://schemas.microsoft.com/office/drawing/2014/main" id="{9D9DCD3D-B548-4A18-A66D-84631135086A}"/>
              </a:ext>
            </a:extLst>
          </p:cNvPr>
          <p:cNvSpPr>
            <a:spLocks xmlns:a="http://schemas.openxmlformats.org/drawingml/2006/main" noGrp="1"/>
          </p:cNvSpPr>
          <p:nvPr/>
        </p:nvSpPr>
        <p:spPr>
          <a:xfrm xmlns:a="http://schemas.openxmlformats.org/drawingml/2006/main">
            <a:off x="10477195" y="5829300"/>
            <a:ext cx="5906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Questions &amp; Discussion</a:t>
            </a:r>
          </a:p>
        </p:txBody>
      </p:sp>
      <p:sp>
        <p:nvSpPr>
          <p:cNvPr id="47" name="Text 42">
            <a:extLst xmlns:a="http://schemas.openxmlformats.org/drawingml/2006/main">
              <a:ext uri="{FF2B5EF4-FFF2-40B4-BE49-F238E27FC236}">
                <a16:creationId xmlns:a16="http://schemas.microsoft.com/office/drawing/2014/main" id="{331222EA-20E3-4315-B3B7-5E2ADF86745D}"/>
              </a:ext>
            </a:extLst>
          </p:cNvPr>
          <p:cNvSpPr>
            <a:spLocks xmlns:a="http://schemas.openxmlformats.org/drawingml/2006/main" noGrp="1"/>
          </p:cNvSpPr>
          <p:nvPr/>
        </p:nvSpPr>
        <p:spPr>
          <a:xfrm xmlns:a="http://schemas.openxmlformats.org/drawingml/2006/main">
            <a:off x="10477195" y="6115507"/>
            <a:ext cx="5906110"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6A6F8C"/>
                </a:solidFill>
                <a:latin typeface="JetBrains Mono"/>
                <a:ea typeface="JetBrains Mono"/>
                <a:cs typeface="JetBrains Mono"/>
              </a:rPr>
              <a:t>Open floor · appendix + references</a:t>
            </a:r>
          </a:p>
        </p:txBody>
      </p:sp>
      <p:sp>
        <p:nvSpPr>
          <p:cNvPr id="48" name="Text 43">
            <a:extLst xmlns:a="http://schemas.openxmlformats.org/drawingml/2006/main">
              <a:ext uri="{FF2B5EF4-FFF2-40B4-BE49-F238E27FC236}">
                <a16:creationId xmlns:a16="http://schemas.microsoft.com/office/drawing/2014/main" id="{5783D835-F09E-4D4A-9BA8-D8F87F66F87B}"/>
              </a:ext>
            </a:extLst>
          </p:cNvPr>
          <p:cNvSpPr>
            <a:spLocks xmlns:a="http://schemas.openxmlformats.org/drawingml/2006/main" noGrp="1"/>
          </p:cNvSpPr>
          <p:nvPr/>
        </p:nvSpPr>
        <p:spPr>
          <a:xfrm xmlns:a="http://schemas.openxmlformats.org/drawingml/2006/main">
            <a:off x="16573500" y="5829300"/>
            <a:ext cx="95280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5 min</a:t>
            </a:r>
          </a:p>
        </p:txBody>
      </p:sp>
      <p:sp>
        <p:nvSpPr>
          <p:cNvPr id="49" name="Text 44">
            <a:extLst xmlns:a="http://schemas.openxmlformats.org/drawingml/2006/main">
              <a:ext uri="{FF2B5EF4-FFF2-40B4-BE49-F238E27FC236}">
                <a16:creationId xmlns:a16="http://schemas.microsoft.com/office/drawing/2014/main" id="{D0307994-DDD5-4EE3-8716-C5108CBC2B12}"/>
              </a:ext>
            </a:extLst>
          </p:cNvPr>
          <p:cNvSpPr>
            <a:spLocks xmlns:a="http://schemas.openxmlformats.org/drawingml/2006/main" noGrp="1"/>
          </p:cNvSpPr>
          <p:nvPr/>
        </p:nvSpPr>
        <p:spPr>
          <a:xfrm xmlns:a="http://schemas.openxmlformats.org/drawingml/2006/main">
            <a:off x="761695" y="9381744"/>
            <a:ext cx="1381658"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b="1">
                <a:solidFill>
                  <a:srgbClr val="2A2E7A"/>
                </a:solidFill>
                <a:latin typeface="JetBrains Mono"/>
                <a:ea typeface="JetBrains Mono"/>
                <a:cs typeface="JetBrains Mono"/>
              </a:rPr>
              <a:t>17</a:t>
            </a:r>
            <a:r>
              <a:rPr sz="1100">
                <a:solidFill>
                  <a:srgbClr val="6A6F8C"/>
                </a:solidFill>
                <a:latin typeface="JetBrains Mono"/>
                <a:ea typeface="JetBrains Mono"/>
                <a:cs typeface="JetBrains Mono"/>
              </a:rPr>
              <a:t> spoken slides</a:t>
            </a:r>
          </a:p>
        </p:txBody>
      </p:sp>
      <p:sp>
        <p:nvSpPr>
          <p:cNvPr id="50" name="Text 45">
            <a:extLst xmlns:a="http://schemas.openxmlformats.org/drawingml/2006/main">
              <a:ext uri="{FF2B5EF4-FFF2-40B4-BE49-F238E27FC236}">
                <a16:creationId xmlns:a16="http://schemas.microsoft.com/office/drawing/2014/main" id="{EDE0DFDB-482B-46AB-9BC7-E681FE84CD88}"/>
              </a:ext>
            </a:extLst>
          </p:cNvPr>
          <p:cNvSpPr>
            <a:spLocks xmlns:a="http://schemas.openxmlformats.org/drawingml/2006/main" noGrp="1"/>
          </p:cNvSpPr>
          <p:nvPr/>
        </p:nvSpPr>
        <p:spPr>
          <a:xfrm xmlns:a="http://schemas.openxmlformats.org/drawingml/2006/main">
            <a:off x="2667305" y="9381744"/>
            <a:ext cx="2581351"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b="1">
                <a:solidFill>
                  <a:srgbClr val="2A2E7A"/>
                </a:solidFill>
                <a:latin typeface="JetBrains Mono"/>
                <a:ea typeface="JetBrains Mono"/>
                <a:cs typeface="JetBrains Mono"/>
              </a:rPr>
              <a:t>2</a:t>
            </a:r>
            <a:r>
              <a:rPr sz="1100">
                <a:solidFill>
                  <a:srgbClr val="6A6F8C"/>
                </a:solidFill>
                <a:latin typeface="JetBrains Mono"/>
                <a:ea typeface="JetBrains Mono"/>
                <a:cs typeface="JetBrains Mono"/>
              </a:rPr>
              <a:t> appendix slides (not spoken)</a:t>
            </a:r>
          </a:p>
        </p:txBody>
      </p:sp>
      <p:sp>
        <p:nvSpPr>
          <p:cNvPr id="51" name="Text 46">
            <a:extLst xmlns:a="http://schemas.openxmlformats.org/drawingml/2006/main">
              <a:ext uri="{FF2B5EF4-FFF2-40B4-BE49-F238E27FC236}">
                <a16:creationId xmlns:a16="http://schemas.microsoft.com/office/drawing/2014/main" id="{7357E6C7-E7BA-46A3-8347-5DD80E038D73}"/>
              </a:ext>
            </a:extLst>
          </p:cNvPr>
          <p:cNvSpPr>
            <a:spLocks xmlns:a="http://schemas.openxmlformats.org/drawingml/2006/main" noGrp="1"/>
          </p:cNvSpPr>
          <p:nvPr/>
        </p:nvSpPr>
        <p:spPr>
          <a:xfrm xmlns:a="http://schemas.openxmlformats.org/drawingml/2006/main">
            <a:off x="5773522" y="9381744"/>
            <a:ext cx="1895551"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b="1">
                <a:solidFill>
                  <a:srgbClr val="2A2E7A"/>
                </a:solidFill>
                <a:latin typeface="JetBrains Mono"/>
                <a:ea typeface="JetBrains Mono"/>
                <a:cs typeface="JetBrains Mono"/>
              </a:rPr>
              <a:t>4 min</a:t>
            </a:r>
            <a:r>
              <a:rPr sz="1100">
                <a:solidFill>
                  <a:srgbClr val="6A6F8C"/>
                </a:solidFill>
                <a:latin typeface="JetBrains Mono"/>
                <a:ea typeface="JetBrains Mono"/>
                <a:cs typeface="JetBrains Mono"/>
              </a:rPr>
              <a:t> allocated to EDA</a:t>
            </a:r>
          </a:p>
        </p:txBody>
      </p:sp>
      <p:sp>
        <p:nvSpPr>
          <p:cNvPr id="52" name="Text 47">
            <a:extLst xmlns:a="http://schemas.openxmlformats.org/drawingml/2006/main">
              <a:ext uri="{FF2B5EF4-FFF2-40B4-BE49-F238E27FC236}">
                <a16:creationId xmlns:a16="http://schemas.microsoft.com/office/drawing/2014/main" id="{9D0E84F8-818A-4137-97E1-AAAFF45ADC88}"/>
              </a:ext>
            </a:extLst>
          </p:cNvPr>
          <p:cNvSpPr>
            <a:spLocks xmlns:a="http://schemas.openxmlformats.org/drawingml/2006/main" noGrp="1"/>
          </p:cNvSpPr>
          <p:nvPr/>
        </p:nvSpPr>
        <p:spPr>
          <a:xfrm xmlns:a="http://schemas.openxmlformats.org/drawingml/2006/main">
            <a:off x="8193024" y="9381744"/>
            <a:ext cx="1981505" cy="1719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b="1">
                <a:solidFill>
                  <a:srgbClr val="2A2E7A"/>
                </a:solidFill>
                <a:latin typeface="JetBrains Mono"/>
                <a:ea typeface="JetBrains Mono"/>
                <a:cs typeface="JetBrains Mono"/>
              </a:rPr>
              <a:t>20 min</a:t>
            </a:r>
            <a:r>
              <a:rPr sz="1100">
                <a:solidFill>
                  <a:srgbClr val="6A6F8C"/>
                </a:solidFill>
                <a:latin typeface="JetBrains Mono"/>
                <a:ea typeface="JetBrains Mono"/>
                <a:cs typeface="JetBrains Mono"/>
              </a:rPr>
              <a:t> talk · </a:t>
            </a:r>
            <a:r>
              <a:rPr sz="1100" b="1">
                <a:solidFill>
                  <a:srgbClr val="2A2E7A"/>
                </a:solidFill>
                <a:latin typeface="JetBrains Mono"/>
                <a:ea typeface="JetBrains Mono"/>
                <a:cs typeface="JetBrains Mono"/>
              </a:rPr>
              <a:t>5 min</a:t>
            </a:r>
            <a:r>
              <a:rPr sz="1100">
                <a:solidFill>
                  <a:srgbClr val="6A6F8C"/>
                </a:solidFill>
                <a:latin typeface="JetBrains Mono"/>
                <a:ea typeface="JetBrains Mono"/>
                <a:cs typeface="JetBrains Mono"/>
              </a:rPr>
              <a:t> Q&amp;A</a:t>
            </a:r>
          </a:p>
        </p:txBody>
      </p:sp>
    </p:spTree>
    <p:extLst>
      <p:ext uri="{BB962C8B-B14F-4D97-AF65-F5344CB8AC3E}">
        <p14:creationId xmlns:p14="http://schemas.microsoft.com/office/powerpoint/2010/main" val="1766052746"/>
      </p:ext>
    </p:extLst>
  </p:cSld>
</p:sld>
</file>

<file path=ppt/slides/slide3.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34" name="Image 0"/>
          <p:cNvPicPr>
            <a:picLocks xmlns:a="http://schemas.openxmlformats.org/drawingml/2006/main" noChangeAspect="1"/>
          </p:cNvPicPr>
          <p:nvPr/>
        </p:nvPicPr>
        <p:blipFill>
          <a:blip xmlns:r="http://schemas.openxmlformats.org/officeDocument/2006/relationships" xmlns:a="http://schemas.openxmlformats.org/drawingml/2006/main" r:embed="R726619136c384b01"/>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12505B32-BF9C-4836-99F4-CDB287587699}"/>
              </a:ext>
            </a:extLst>
          </p:cNvPr>
          <p:cNvSpPr>
            <a:spLocks xmlns:a="http://schemas.openxmlformats.org/drawingml/2006/main" noGrp="1"/>
          </p:cNvSpPr>
          <p:nvPr/>
        </p:nvSpPr>
        <p:spPr>
          <a:xfrm xmlns:a="http://schemas.openxmlformats.org/drawingml/2006/main">
            <a:off x="12287707" y="1380744"/>
            <a:ext cx="5238598" cy="8238744"/>
          </a:xfrm>
          <a:prstGeom xmlns:a="http://schemas.openxmlformats.org/drawingml/2006/main" prst="roundRect">
            <a:avLst>
              <a:gd name="adj" fmla="val 367"/>
            </a:avLst>
          </a:prstGeom>
          <a:solidFill xmlns:a="http://schemas.openxmlformats.org/drawingml/2006/main">
            <a:srgbClr val="1A1D5C"/>
          </a:solidFill>
          <a:ln xmlns:a="http://schemas.openxmlformats.org/drawingml/2006/main" w="12700">
            <a:solidFill>
              <a:srgbClr val="FFFFFF">
                <a:alpha val="0"/>
              </a:srgbClr>
            </a:solidFill>
            <a:prstDash val="solid"/>
          </a:ln>
        </p:spPr>
      </p:sp>
      <p:sp>
        <p:nvSpPr>
          <p:cNvPr id="5" name="Shape 1">
            <a:extLst xmlns:a="http://schemas.openxmlformats.org/drawingml/2006/main">
              <a:ext uri="{FF2B5EF4-FFF2-40B4-BE49-F238E27FC236}">
                <a16:creationId xmlns:a16="http://schemas.microsoft.com/office/drawing/2014/main" id="{4437CF63-DCFE-4AF2-831E-4B82FEA7EAF6}"/>
              </a:ext>
            </a:extLst>
          </p:cNvPr>
          <p:cNvSpPr>
            <a:spLocks xmlns:a="http://schemas.openxmlformats.org/drawingml/2006/main" noGrp="1"/>
          </p:cNvSpPr>
          <p:nvPr/>
        </p:nvSpPr>
        <p:spPr>
          <a:xfrm xmlns:a="http://schemas.openxmlformats.org/drawingml/2006/main">
            <a:off x="761695" y="6381598"/>
            <a:ext cx="10925251" cy="3258007"/>
          </a:xfrm>
          <a:prstGeom xmlns:a="http://schemas.openxmlformats.org/drawingml/2006/main" prst="roundRect">
            <a:avLst>
              <a:gd name="adj" fmla="val 589"/>
            </a:avLst>
          </a:prstGeom>
          <a:solidFill xmlns:a="http://schemas.openxmlformats.org/drawingml/2006/main">
            <a:srgbClr val="FFFFFF"/>
          </a:solidFill>
          <a:ln xmlns:a="http://schemas.openxmlformats.org/drawingml/2006/main" w="12700">
            <a:solidFill>
              <a:srgbClr val="E4E5EF"/>
            </a:solidFill>
            <a:prstDash val="solid"/>
          </a:ln>
        </p:spPr>
      </p:sp>
      <p:sp>
        <p:nvSpPr>
          <p:cNvPr id="6" name="Shape 2">
            <a:extLst xmlns:a="http://schemas.openxmlformats.org/drawingml/2006/main">
              <a:ext uri="{FF2B5EF4-FFF2-40B4-BE49-F238E27FC236}">
                <a16:creationId xmlns:a16="http://schemas.microsoft.com/office/drawing/2014/main" id="{D89A933D-0746-464A-B7F0-D7DD64BD29A3}"/>
              </a:ext>
            </a:extLst>
          </p:cNvPr>
          <p:cNvSpPr>
            <a:spLocks xmlns:a="http://schemas.openxmlformats.org/drawingml/2006/main" noGrp="1"/>
          </p:cNvSpPr>
          <p:nvPr/>
        </p:nvSpPr>
        <p:spPr>
          <a:xfrm xmlns:a="http://schemas.openxmlformats.org/drawingml/2006/main">
            <a:off x="761695" y="6381598"/>
            <a:ext cx="57607" cy="3258007"/>
          </a:xfrm>
          <a:prstGeom xmlns:a="http://schemas.openxmlformats.org/drawingml/2006/main" prst="roundRect">
            <a:avLst>
              <a:gd name="adj" fmla="val 33333"/>
            </a:avLst>
          </a:prstGeom>
          <a:solidFill xmlns:a="http://schemas.openxmlformats.org/drawingml/2006/main">
            <a:srgbClr val="E4237A"/>
          </a:solidFill>
          <a:ln xmlns:a="http://schemas.openxmlformats.org/drawingml/2006/main" w="12700">
            <a:solidFill>
              <a:srgbClr val="E4237A">
                <a:alpha val="0"/>
              </a:srgbClr>
            </a:solidFill>
            <a:prstDash val="solid"/>
          </a:ln>
        </p:spPr>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edbd67a39e68425a"/>
          <a:srcRect xmlns:a="http://schemas.openxmlformats.org/drawingml/2006/main" l="-2083" t="0" r="-2083" b="0"/>
          <a:stretch xmlns:a="http://schemas.openxmlformats.org/drawingml/2006/main"/>
        </p:blipFill>
        <p:spPr>
          <a:xfrm xmlns:a="http://schemas.openxmlformats.org/drawingml/2006/main">
            <a:off x="12668098" y="3905402"/>
            <a:ext cx="4476902" cy="9144"/>
          </a:xfrm>
          <a:prstGeom xmlns:a="http://schemas.openxmlformats.org/drawingml/2006/main" prst="rect">
            <a:avLst/>
          </a:prstGeom>
        </p:spPr>
      </p:pic>
      <p:pic>
        <p:nvPicPr>
          <p:cNvPr id="39" name="Image 2"/>
          <p:cNvPicPr>
            <a:picLocks xmlns:a="http://schemas.openxmlformats.org/drawingml/2006/main" noChangeAspect="1"/>
          </p:cNvPicPr>
          <p:nvPr/>
        </p:nvPicPr>
        <p:blipFill>
          <a:blip xmlns:r="http://schemas.openxmlformats.org/officeDocument/2006/relationships" xmlns:a="http://schemas.openxmlformats.org/drawingml/2006/main" r:embed="Redbd67a39e68425a"/>
          <a:srcRect xmlns:a="http://schemas.openxmlformats.org/drawingml/2006/main" l="-2083" t="0" r="-2083" b="0"/>
          <a:stretch xmlns:a="http://schemas.openxmlformats.org/drawingml/2006/main"/>
        </p:blipFill>
        <p:spPr>
          <a:xfrm xmlns:a="http://schemas.openxmlformats.org/drawingml/2006/main">
            <a:off x="12668098" y="5810098"/>
            <a:ext cx="4476902" cy="9144"/>
          </a:xfrm>
          <a:prstGeom xmlns:a="http://schemas.openxmlformats.org/drawingml/2006/main" prst="rect">
            <a:avLst/>
          </a:prstGeom>
        </p:spPr>
      </p:pic>
      <p:sp>
        <p:nvSpPr>
          <p:cNvPr id="9" name="Text 3">
            <a:extLst xmlns:a="http://schemas.openxmlformats.org/drawingml/2006/main">
              <a:ext uri="{FF2B5EF4-FFF2-40B4-BE49-F238E27FC236}">
                <a16:creationId xmlns:a16="http://schemas.microsoft.com/office/drawing/2014/main" id="{94C08DFC-82A2-458A-89E7-178940579D1A}"/>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01 · Introduction</a:t>
            </a:r>
          </a:p>
        </p:txBody>
      </p:sp>
      <p:sp>
        <p:nvSpPr>
          <p:cNvPr id="10" name="Text 4">
            <a:extLst xmlns:a="http://schemas.openxmlformats.org/drawingml/2006/main">
              <a:ext uri="{FF2B5EF4-FFF2-40B4-BE49-F238E27FC236}">
                <a16:creationId xmlns:a16="http://schemas.microsoft.com/office/drawing/2014/main" id="{526EF9C6-86B8-4B69-8C0D-B19612812624}"/>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03 / 19</a:t>
            </a:r>
          </a:p>
        </p:txBody>
      </p:sp>
      <p:sp>
        <p:nvSpPr>
          <p:cNvPr id="11" name="Text 5">
            <a:extLst xmlns:a="http://schemas.openxmlformats.org/drawingml/2006/main">
              <a:ext uri="{FF2B5EF4-FFF2-40B4-BE49-F238E27FC236}">
                <a16:creationId xmlns:a16="http://schemas.microsoft.com/office/drawing/2014/main" id="{31AF0EBB-E5B5-4238-83A8-A7A8F42FC3A8}"/>
              </a:ext>
            </a:extLst>
          </p:cNvPr>
          <p:cNvSpPr>
            <a:spLocks xmlns:a="http://schemas.openxmlformats.org/drawingml/2006/main" noGrp="1"/>
          </p:cNvSpPr>
          <p:nvPr/>
        </p:nvSpPr>
        <p:spPr>
          <a:xfrm xmlns:a="http://schemas.openxmlformats.org/drawingml/2006/main">
            <a:off x="761695" y="1380744"/>
            <a:ext cx="10858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E4237A"/>
                </a:solidFill>
                <a:latin typeface="JetBrains Mono"/>
                <a:ea typeface="JetBrains Mono"/>
                <a:cs typeface="JetBrains Mono"/>
              </a:rPr>
              <a:t>THE CONTEXT</a:t>
            </a:r>
          </a:p>
        </p:txBody>
      </p:sp>
      <p:sp>
        <p:nvSpPr>
          <p:cNvPr id="12" name="Text 6">
            <a:extLst xmlns:a="http://schemas.openxmlformats.org/drawingml/2006/main">
              <a:ext uri="{FF2B5EF4-FFF2-40B4-BE49-F238E27FC236}">
                <a16:creationId xmlns:a16="http://schemas.microsoft.com/office/drawing/2014/main" id="{02DA261D-CCC4-4366-812A-427F60DF14C5}"/>
              </a:ext>
            </a:extLst>
          </p:cNvPr>
          <p:cNvSpPr>
            <a:spLocks xmlns:a="http://schemas.openxmlformats.org/drawingml/2006/main" noGrp="1"/>
          </p:cNvSpPr>
          <p:nvPr/>
        </p:nvSpPr>
        <p:spPr>
          <a:xfrm xmlns:a="http://schemas.openxmlformats.org/drawingml/2006/main">
            <a:off x="761695" y="1762049"/>
            <a:ext cx="10858500" cy="16386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900" b="1">
                <a:solidFill>
                  <a:srgbClr val="0F1226"/>
                </a:solidFill>
                <a:latin typeface="Inter"/>
                <a:ea typeface="Inter"/>
                <a:cs typeface="Inter"/>
              </a:rPr>
              <a:t>Higher-education institutions observe students </a:t>
            </a:r>
            <a:r>
              <a:rPr sz="3900" b="1">
                <a:solidFill>
                  <a:srgbClr val="2A2E7A"/>
                </a:solidFill>
                <a:latin typeface="Inter"/>
                <a:ea typeface="Inter"/>
                <a:cs typeface="Inter"/>
              </a:rPr>
              <a:t>early</a:t>
            </a:r>
            <a:r>
              <a:rPr sz="3900" b="1">
                <a:solidFill>
                  <a:srgbClr val="0F1226"/>
                </a:solidFill>
                <a:latin typeface="Inter"/>
                <a:ea typeface="Inter"/>
                <a:cs typeface="Inter"/>
              </a:rPr>
              <a:t> — but often act on withdrawal signals </a:t>
            </a:r>
            <a:r>
              <a:rPr sz="3900" b="1">
                <a:solidFill>
                  <a:srgbClr val="E4237A"/>
                </a:solidFill>
                <a:latin typeface="Inter"/>
                <a:ea typeface="Inter"/>
                <a:cs typeface="Inter"/>
              </a:rPr>
              <a:t>late</a:t>
            </a:r>
            <a:r>
              <a:rPr sz="3900" b="1">
                <a:solidFill>
                  <a:srgbClr val="0F1226"/>
                </a:solidFill>
                <a:latin typeface="Inter"/>
                <a:ea typeface="Inter"/>
                <a:cs typeface="Inter"/>
              </a:rPr>
              <a:t>.</a:t>
            </a:r>
          </a:p>
        </p:txBody>
      </p:sp>
      <p:sp>
        <p:nvSpPr>
          <p:cNvPr id="13" name="Text 7">
            <a:extLst xmlns:a="http://schemas.openxmlformats.org/drawingml/2006/main">
              <a:ext uri="{FF2B5EF4-FFF2-40B4-BE49-F238E27FC236}">
                <a16:creationId xmlns:a16="http://schemas.microsoft.com/office/drawing/2014/main" id="{9BA98CE4-7BDE-4DC7-BC46-3E628977D6B7}"/>
              </a:ext>
            </a:extLst>
          </p:cNvPr>
          <p:cNvSpPr>
            <a:spLocks xmlns:a="http://schemas.openxmlformats.org/drawingml/2006/main" noGrp="1"/>
          </p:cNvSpPr>
          <p:nvPr/>
        </p:nvSpPr>
        <p:spPr>
          <a:xfrm xmlns:a="http://schemas.openxmlformats.org/drawingml/2006/main">
            <a:off x="761695" y="4238244"/>
            <a:ext cx="10858500" cy="9436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i="1">
                <a:solidFill>
                  <a:srgbClr val="2A2E4B"/>
                </a:solidFill>
                <a:latin typeface="Source Serif Pro"/>
                <a:ea typeface="Source Serif Pro"/>
                <a:cs typeface="Source Serif Pro"/>
              </a:rPr>
              <a:t>Student withdrawal may affect student outcomes, institutional retention, advising workload, and resource planning. Two public datasets — UCI and OULAD — expose two very different views of that early-warning signal, one built from student records and one from behavioural data.</a:t>
            </a:r>
          </a:p>
        </p:txBody>
      </p:sp>
      <p:sp>
        <p:nvSpPr>
          <p:cNvPr id="14" name="Text 8">
            <a:extLst xmlns:a="http://schemas.openxmlformats.org/drawingml/2006/main">
              <a:ext uri="{FF2B5EF4-FFF2-40B4-BE49-F238E27FC236}">
                <a16:creationId xmlns:a16="http://schemas.microsoft.com/office/drawing/2014/main" id="{C3275E84-8450-4C69-A0C6-218B9AD6C644}"/>
              </a:ext>
            </a:extLst>
          </p:cNvPr>
          <p:cNvSpPr>
            <a:spLocks xmlns:a="http://schemas.openxmlformats.org/drawingml/2006/main" noGrp="1"/>
          </p:cNvSpPr>
          <p:nvPr/>
        </p:nvSpPr>
        <p:spPr>
          <a:xfrm xmlns:a="http://schemas.openxmlformats.org/drawingml/2006/main">
            <a:off x="1143000" y="6620256"/>
            <a:ext cx="10287000"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RESEARCH OBJECTIVE</a:t>
            </a:r>
          </a:p>
        </p:txBody>
      </p:sp>
      <p:sp>
        <p:nvSpPr>
          <p:cNvPr id="15" name="Text 9">
            <a:extLst xmlns:a="http://schemas.openxmlformats.org/drawingml/2006/main">
              <a:ext uri="{FF2B5EF4-FFF2-40B4-BE49-F238E27FC236}">
                <a16:creationId xmlns:a16="http://schemas.microsoft.com/office/drawing/2014/main" id="{86064429-373A-4F0F-AE2B-3E6DF6F759E0}"/>
              </a:ext>
            </a:extLst>
          </p:cNvPr>
          <p:cNvSpPr>
            <a:spLocks xmlns:a="http://schemas.openxmlformats.org/drawingml/2006/main" noGrp="1"/>
          </p:cNvSpPr>
          <p:nvPr/>
        </p:nvSpPr>
        <p:spPr>
          <a:xfrm xmlns:a="http://schemas.openxmlformats.org/drawingml/2006/main">
            <a:off x="1143000" y="6886346"/>
            <a:ext cx="10287000" cy="108630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100" b="1">
                <a:solidFill>
                  <a:srgbClr val="0F1226"/>
                </a:solidFill>
                <a:latin typeface="Inter"/>
                <a:ea typeface="Inter"/>
                <a:cs typeface="Inter"/>
              </a:rPr>
              <a:t>Reproduce the published UCI modeling approach and evaluate the same leakage-aware early-warning workflow separately in the behaviorally different OULAD setting.</a:t>
            </a:r>
          </a:p>
        </p:txBody>
      </p:sp>
      <p:sp>
        <p:nvSpPr>
          <p:cNvPr id="16" name="Text 10">
            <a:extLst xmlns:a="http://schemas.openxmlformats.org/drawingml/2006/main">
              <a:ext uri="{FF2B5EF4-FFF2-40B4-BE49-F238E27FC236}">
                <a16:creationId xmlns:a16="http://schemas.microsoft.com/office/drawing/2014/main" id="{22D30F0D-BD71-4269-9214-776C5084C918}"/>
              </a:ext>
            </a:extLst>
          </p:cNvPr>
          <p:cNvSpPr>
            <a:spLocks xmlns:a="http://schemas.openxmlformats.org/drawingml/2006/main" noGrp="1"/>
          </p:cNvSpPr>
          <p:nvPr/>
        </p:nvSpPr>
        <p:spPr>
          <a:xfrm xmlns:a="http://schemas.openxmlformats.org/drawingml/2006/main">
            <a:off x="1143000" y="8176565"/>
            <a:ext cx="10287000" cy="52395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6A6F8C"/>
                </a:solidFill>
                <a:latin typeface="JetBrains Mono"/>
                <a:ea typeface="JetBrains Mono"/>
                <a:cs typeface="JetBrains Mono"/>
              </a:rPr>
              <a:t>· Ground truth: </a:t>
            </a:r>
            <a:r>
              <a:rPr sz="1200">
                <a:solidFill>
                  <a:srgbClr val="0F1226"/>
                </a:solidFill>
                <a:latin typeface="JetBrains Mono"/>
                <a:ea typeface="JetBrains Mono"/>
                <a:cs typeface="JetBrains Mono"/>
              </a:rPr>
              <a:t>Dropout / Withdrawn</a:t>
            </a:r>
            <a:r>
              <a:rPr sz="1200">
                <a:solidFill>
                  <a:srgbClr val="6A6F8C"/>
                </a:solidFill>
                <a:latin typeface="JetBrains Mono"/>
                <a:ea typeface="JetBrains Mono"/>
                <a:cs typeface="JetBrains Mono"/>
              </a:rPr>
              <a:t> vs. rest · Two lenses: </a:t>
            </a:r>
            <a:r>
              <a:rPr sz="1200">
                <a:solidFill>
                  <a:srgbClr val="0F1226"/>
                </a:solidFill>
                <a:latin typeface="JetBrains Mono"/>
                <a:ea typeface="JetBrains Mono"/>
                <a:cs typeface="JetBrains Mono"/>
              </a:rPr>
              <a:t>records</a:t>
            </a:r>
            <a:r>
              <a:rPr sz="1200">
                <a:solidFill>
                  <a:srgbClr val="6A6F8C"/>
                </a:solidFill>
                <a:latin typeface="JetBrains Mono"/>
                <a:ea typeface="JetBrains Mono"/>
                <a:cs typeface="JetBrains Mono"/>
              </a:rPr>
              <a:t> (UCI) + </a:t>
            </a:r>
            <a:r>
              <a:rPr sz="1200">
                <a:solidFill>
                  <a:srgbClr val="0F1226"/>
                </a:solidFill>
                <a:latin typeface="JetBrains Mono"/>
                <a:ea typeface="JetBrains Mono"/>
                <a:cs typeface="JetBrains Mono"/>
              </a:rPr>
              <a:t>behaviour</a:t>
            </a:r>
            <a:r>
              <a:rPr sz="1200">
                <a:solidFill>
                  <a:srgbClr val="6A6F8C"/>
                </a:solidFill>
                <a:latin typeface="JetBrains Mono"/>
                <a:ea typeface="JetBrains Mono"/>
                <a:cs typeface="JetBrains Mono"/>
              </a:rPr>
              <a:t> (OULAD) · End state: a </a:t>
            </a:r>
            <a:r>
              <a:rPr sz="1200">
                <a:solidFill>
                  <a:srgbClr val="0F1226"/>
                </a:solidFill>
                <a:latin typeface="JetBrains Mono"/>
                <a:ea typeface="JetBrains Mono"/>
                <a:cs typeface="JetBrains Mono"/>
              </a:rPr>
              <a:t>decision-support prototype for cautious pilot evaluation</a:t>
            </a:r>
          </a:p>
        </p:txBody>
      </p:sp>
      <p:sp>
        <p:nvSpPr>
          <p:cNvPr id="17" name="Text 11">
            <a:extLst xmlns:a="http://schemas.openxmlformats.org/drawingml/2006/main">
              <a:ext uri="{FF2B5EF4-FFF2-40B4-BE49-F238E27FC236}">
                <a16:creationId xmlns:a16="http://schemas.microsoft.com/office/drawing/2014/main" id="{5D2DB68D-80A9-4EA5-B670-3F1DF6E0F931}"/>
              </a:ext>
            </a:extLst>
          </p:cNvPr>
          <p:cNvSpPr>
            <a:spLocks xmlns:a="http://schemas.openxmlformats.org/drawingml/2006/main" noGrp="1"/>
          </p:cNvSpPr>
          <p:nvPr/>
        </p:nvSpPr>
        <p:spPr>
          <a:xfrm xmlns:a="http://schemas.openxmlformats.org/drawingml/2006/main">
            <a:off x="12668098" y="1714500"/>
            <a:ext cx="447690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FFFF">
                    <a:alpha val="50000"/>
                  </a:srgbClr>
                </a:solidFill>
                <a:latin typeface="JetBrains Mono"/>
                <a:ea typeface="JetBrains Mono"/>
                <a:cs typeface="JetBrains Mono"/>
              </a:rPr>
              <a:t>THE PROJECT AT A GLANCE</a:t>
            </a:r>
          </a:p>
        </p:txBody>
      </p:sp>
      <p:sp>
        <p:nvSpPr>
          <p:cNvPr id="18" name="Text 12">
            <a:extLst xmlns:a="http://schemas.openxmlformats.org/drawingml/2006/main">
              <a:ext uri="{FF2B5EF4-FFF2-40B4-BE49-F238E27FC236}">
                <a16:creationId xmlns:a16="http://schemas.microsoft.com/office/drawing/2014/main" id="{7F72215E-35C0-422E-99D7-7620B552C52E}"/>
              </a:ext>
            </a:extLst>
          </p:cNvPr>
          <p:cNvSpPr>
            <a:spLocks xmlns:a="http://schemas.openxmlformats.org/drawingml/2006/main" noGrp="1"/>
          </p:cNvSpPr>
          <p:nvPr/>
        </p:nvSpPr>
        <p:spPr>
          <a:xfrm xmlns:a="http://schemas.openxmlformats.org/drawingml/2006/main">
            <a:off x="12668098" y="2286000"/>
            <a:ext cx="4476902"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FFFF">
                    <a:alpha val="60000"/>
                  </a:srgbClr>
                </a:solidFill>
                <a:latin typeface="JetBrains Mono"/>
                <a:ea typeface="JetBrains Mono"/>
                <a:cs typeface="JetBrains Mono"/>
              </a:rPr>
              <a:t>UCI · Portuguese higher education institution</a:t>
            </a:r>
          </a:p>
        </p:txBody>
      </p:sp>
      <p:sp>
        <p:nvSpPr>
          <p:cNvPr id="19" name="Text 13">
            <a:extLst xmlns:a="http://schemas.openxmlformats.org/drawingml/2006/main">
              <a:ext uri="{FF2B5EF4-FFF2-40B4-BE49-F238E27FC236}">
                <a16:creationId xmlns:a16="http://schemas.microsoft.com/office/drawing/2014/main" id="{B547D20A-4449-4040-8B3A-3983968133CA}"/>
              </a:ext>
            </a:extLst>
          </p:cNvPr>
          <p:cNvSpPr>
            <a:spLocks xmlns:a="http://schemas.openxmlformats.org/drawingml/2006/main" noGrp="1"/>
          </p:cNvSpPr>
          <p:nvPr/>
        </p:nvSpPr>
        <p:spPr>
          <a:xfrm xmlns:a="http://schemas.openxmlformats.org/drawingml/2006/main">
            <a:off x="12668098" y="2542946"/>
            <a:ext cx="1724558" cy="5715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4500" b="1">
                <a:solidFill>
                  <a:srgbClr val="FFFFFF"/>
                </a:solidFill>
                <a:latin typeface="JetBrains Mono"/>
                <a:ea typeface="JetBrains Mono"/>
                <a:cs typeface="JetBrains Mono"/>
              </a:rPr>
              <a:t>4,424</a:t>
            </a:r>
          </a:p>
        </p:txBody>
      </p:sp>
      <p:sp>
        <p:nvSpPr>
          <p:cNvPr id="20" name="Text 14">
            <a:extLst xmlns:a="http://schemas.openxmlformats.org/drawingml/2006/main">
              <a:ext uri="{FF2B5EF4-FFF2-40B4-BE49-F238E27FC236}">
                <a16:creationId xmlns:a16="http://schemas.microsoft.com/office/drawing/2014/main" id="{2E8DE730-70BE-4A65-95A5-B8894C2E2ADD}"/>
              </a:ext>
            </a:extLst>
          </p:cNvPr>
          <p:cNvSpPr>
            <a:spLocks xmlns:a="http://schemas.openxmlformats.org/drawingml/2006/main" noGrp="1"/>
          </p:cNvSpPr>
          <p:nvPr/>
        </p:nvSpPr>
        <p:spPr>
          <a:xfrm xmlns:a="http://schemas.openxmlformats.org/drawingml/2006/main">
            <a:off x="14496898" y="2866644"/>
            <a:ext cx="1360627"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FFFFFF">
                    <a:alpha val="60000"/>
                  </a:srgbClr>
                </a:solidFill>
                <a:latin typeface="Inter"/>
                <a:ea typeface="Inter"/>
                <a:cs typeface="Inter"/>
              </a:rPr>
              <a:t>student records</a:t>
            </a:r>
          </a:p>
        </p:txBody>
      </p:sp>
      <p:sp>
        <p:nvSpPr>
          <p:cNvPr id="21" name="Text 15">
            <a:extLst xmlns:a="http://schemas.openxmlformats.org/drawingml/2006/main">
              <a:ext uri="{FF2B5EF4-FFF2-40B4-BE49-F238E27FC236}">
                <a16:creationId xmlns:a16="http://schemas.microsoft.com/office/drawing/2014/main" id="{61BA2D6D-66F9-4DB9-AC3E-97FD833B4A8D}"/>
              </a:ext>
            </a:extLst>
          </p:cNvPr>
          <p:cNvSpPr>
            <a:spLocks xmlns:a="http://schemas.openxmlformats.org/drawingml/2006/main" noGrp="1"/>
          </p:cNvSpPr>
          <p:nvPr/>
        </p:nvSpPr>
        <p:spPr>
          <a:xfrm xmlns:a="http://schemas.openxmlformats.org/drawingml/2006/main">
            <a:off x="12668098" y="3191256"/>
            <a:ext cx="4476902"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alpha val="55000"/>
                  </a:srgbClr>
                </a:solidFill>
                <a:latin typeface="JetBrains Mono"/>
                <a:ea typeface="JetBrains Mono"/>
                <a:cs typeface="JetBrains Mono"/>
              </a:rPr>
              <a:t>3 outcomes · Dropout / Enrolled / Graduate</a:t>
            </a:r>
          </a:p>
        </p:txBody>
      </p:sp>
      <p:sp>
        <p:nvSpPr>
          <p:cNvPr id="22" name="Text 16">
            <a:extLst xmlns:a="http://schemas.openxmlformats.org/drawingml/2006/main">
              <a:ext uri="{FF2B5EF4-FFF2-40B4-BE49-F238E27FC236}">
                <a16:creationId xmlns:a16="http://schemas.microsoft.com/office/drawing/2014/main" id="{1C1F0C2A-C301-40BD-9FE8-566CE3580325}"/>
              </a:ext>
            </a:extLst>
          </p:cNvPr>
          <p:cNvSpPr>
            <a:spLocks xmlns:a="http://schemas.openxmlformats.org/drawingml/2006/main" noGrp="1"/>
          </p:cNvSpPr>
          <p:nvPr/>
        </p:nvSpPr>
        <p:spPr>
          <a:xfrm xmlns:a="http://schemas.openxmlformats.org/drawingml/2006/main">
            <a:off x="12668098" y="4190695"/>
            <a:ext cx="4476902"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FFFF">
                    <a:alpha val="60000"/>
                  </a:srgbClr>
                </a:solidFill>
                <a:latin typeface="JetBrains Mono"/>
                <a:ea typeface="JetBrains Mono"/>
                <a:cs typeface="JetBrains Mono"/>
              </a:rPr>
              <a:t>OULAD · Open University UK</a:t>
            </a:r>
          </a:p>
        </p:txBody>
      </p:sp>
      <p:sp>
        <p:nvSpPr>
          <p:cNvPr id="23" name="Text 17">
            <a:extLst xmlns:a="http://schemas.openxmlformats.org/drawingml/2006/main">
              <a:ext uri="{FF2B5EF4-FFF2-40B4-BE49-F238E27FC236}">
                <a16:creationId xmlns:a16="http://schemas.microsoft.com/office/drawing/2014/main" id="{07C1145F-F8AF-4907-9B17-91835CA1BEB9}"/>
              </a:ext>
            </a:extLst>
          </p:cNvPr>
          <p:cNvSpPr>
            <a:spLocks xmlns:a="http://schemas.openxmlformats.org/drawingml/2006/main" noGrp="1"/>
          </p:cNvSpPr>
          <p:nvPr/>
        </p:nvSpPr>
        <p:spPr>
          <a:xfrm xmlns:a="http://schemas.openxmlformats.org/drawingml/2006/main">
            <a:off x="12668098" y="4448556"/>
            <a:ext cx="2067458" cy="5715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4500" b="1">
                <a:solidFill>
                  <a:srgbClr val="FFFFFF"/>
                </a:solidFill>
                <a:latin typeface="JetBrains Mono"/>
                <a:ea typeface="JetBrains Mono"/>
                <a:cs typeface="JetBrains Mono"/>
              </a:rPr>
              <a:t>32,593</a:t>
            </a:r>
          </a:p>
        </p:txBody>
      </p:sp>
      <p:sp>
        <p:nvSpPr>
          <p:cNvPr id="24" name="Text 18">
            <a:extLst xmlns:a="http://schemas.openxmlformats.org/drawingml/2006/main">
              <a:ext uri="{FF2B5EF4-FFF2-40B4-BE49-F238E27FC236}">
                <a16:creationId xmlns:a16="http://schemas.microsoft.com/office/drawing/2014/main" id="{78B76598-E083-4DDF-87B6-A1B6ACA985AC}"/>
              </a:ext>
            </a:extLst>
          </p:cNvPr>
          <p:cNvSpPr>
            <a:spLocks xmlns:a="http://schemas.openxmlformats.org/drawingml/2006/main" noGrp="1"/>
          </p:cNvSpPr>
          <p:nvPr/>
        </p:nvSpPr>
        <p:spPr>
          <a:xfrm xmlns:a="http://schemas.openxmlformats.org/drawingml/2006/main">
            <a:off x="14840712" y="4772254"/>
            <a:ext cx="1799539"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FFFFFF">
                    <a:alpha val="60000"/>
                  </a:srgbClr>
                </a:solidFill>
                <a:latin typeface="Inter"/>
                <a:ea typeface="Inter"/>
                <a:cs typeface="Inter"/>
              </a:rPr>
              <a:t>student-module rows</a:t>
            </a:r>
          </a:p>
        </p:txBody>
      </p:sp>
      <p:sp>
        <p:nvSpPr>
          <p:cNvPr id="25" name="Text 19">
            <a:extLst xmlns:a="http://schemas.openxmlformats.org/drawingml/2006/main">
              <a:ext uri="{FF2B5EF4-FFF2-40B4-BE49-F238E27FC236}">
                <a16:creationId xmlns:a16="http://schemas.microsoft.com/office/drawing/2014/main" id="{7410CD55-BB0D-4F92-9037-8E18783FC0B0}"/>
              </a:ext>
            </a:extLst>
          </p:cNvPr>
          <p:cNvSpPr>
            <a:spLocks xmlns:a="http://schemas.openxmlformats.org/drawingml/2006/main" noGrp="1"/>
          </p:cNvSpPr>
          <p:nvPr/>
        </p:nvSpPr>
        <p:spPr>
          <a:xfrm xmlns:a="http://schemas.openxmlformats.org/drawingml/2006/main">
            <a:off x="12668098" y="5095951"/>
            <a:ext cx="4476902"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alpha val="55000"/>
                  </a:srgbClr>
                </a:solidFill>
                <a:latin typeface="JetBrains Mono"/>
                <a:ea typeface="JetBrains Mono"/>
                <a:cs typeface="JetBrains Mono"/>
              </a:rPr>
              <a:t>4 outcomes · Pass / Distinction / Fail / Withdrawn</a:t>
            </a:r>
          </a:p>
        </p:txBody>
      </p:sp>
      <p:sp>
        <p:nvSpPr>
          <p:cNvPr id="26" name="Text 20">
            <a:extLst xmlns:a="http://schemas.openxmlformats.org/drawingml/2006/main">
              <a:ext uri="{FF2B5EF4-FFF2-40B4-BE49-F238E27FC236}">
                <a16:creationId xmlns:a16="http://schemas.microsoft.com/office/drawing/2014/main" id="{0E7ABA84-D30E-4DC0-9719-EEC4F4A072A4}"/>
              </a:ext>
            </a:extLst>
          </p:cNvPr>
          <p:cNvSpPr>
            <a:spLocks xmlns:a="http://schemas.openxmlformats.org/drawingml/2006/main" noGrp="1"/>
          </p:cNvSpPr>
          <p:nvPr/>
        </p:nvSpPr>
        <p:spPr>
          <a:xfrm xmlns:a="http://schemas.openxmlformats.org/drawingml/2006/main">
            <a:off x="12668098" y="6096305"/>
            <a:ext cx="4476902"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FFFF">
                    <a:alpha val="60000"/>
                  </a:srgbClr>
                </a:solidFill>
                <a:latin typeface="JetBrains Mono"/>
                <a:ea typeface="JetBrains Mono"/>
                <a:cs typeface="JetBrains Mono"/>
              </a:rPr>
              <a:t>Prediction window</a:t>
            </a:r>
          </a:p>
        </p:txBody>
      </p:sp>
      <p:sp>
        <p:nvSpPr>
          <p:cNvPr id="27" name="Text 21">
            <a:extLst xmlns:a="http://schemas.openxmlformats.org/drawingml/2006/main">
              <a:ext uri="{FF2B5EF4-FFF2-40B4-BE49-F238E27FC236}">
                <a16:creationId xmlns:a16="http://schemas.microsoft.com/office/drawing/2014/main" id="{DED59055-B24B-42A2-8C94-FE38A8A80A07}"/>
              </a:ext>
            </a:extLst>
          </p:cNvPr>
          <p:cNvSpPr>
            <a:spLocks xmlns:a="http://schemas.openxmlformats.org/drawingml/2006/main" noGrp="1"/>
          </p:cNvSpPr>
          <p:nvPr/>
        </p:nvSpPr>
        <p:spPr>
          <a:xfrm xmlns:a="http://schemas.openxmlformats.org/drawingml/2006/main">
            <a:off x="12668098" y="6295644"/>
            <a:ext cx="4476902" cy="4005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700" b="1">
                <a:solidFill>
                  <a:srgbClr val="FFFFFF"/>
                </a:solidFill>
                <a:latin typeface="JetBrains Mono"/>
                <a:ea typeface="JetBrains Mono"/>
                <a:cs typeface="JetBrains Mono"/>
              </a:rPr>
              <a:t>First 75 days</a:t>
            </a:r>
            <a:r>
              <a:rPr sz="2700" b="1">
                <a:solidFill>
                  <a:srgbClr val="FF5CA0"/>
                </a:solidFill>
                <a:latin typeface="JetBrains Mono"/>
                <a:ea typeface="JetBrains Mono"/>
                <a:cs typeface="JetBrains Mono"/>
              </a:rPr>
              <a:t>*</a:t>
            </a:r>
          </a:p>
        </p:txBody>
      </p:sp>
      <p:sp>
        <p:nvSpPr>
          <p:cNvPr id="28" name="Text 22">
            <a:extLst xmlns:a="http://schemas.openxmlformats.org/drawingml/2006/main">
              <a:ext uri="{FF2B5EF4-FFF2-40B4-BE49-F238E27FC236}">
                <a16:creationId xmlns:a16="http://schemas.microsoft.com/office/drawing/2014/main" id="{8C81F6A0-0BF4-4D04-B4EB-F7D15821805B}"/>
              </a:ext>
            </a:extLst>
          </p:cNvPr>
          <p:cNvSpPr>
            <a:spLocks xmlns:a="http://schemas.openxmlformats.org/drawingml/2006/main" noGrp="1"/>
          </p:cNvSpPr>
          <p:nvPr/>
        </p:nvSpPr>
        <p:spPr>
          <a:xfrm xmlns:a="http://schemas.openxmlformats.org/drawingml/2006/main">
            <a:off x="12668098" y="6772046"/>
            <a:ext cx="4476902"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i="1">
                <a:solidFill>
                  <a:srgbClr val="FFFFFF">
                    <a:alpha val="55000"/>
                  </a:srgbClr>
                </a:solidFill>
                <a:latin typeface="Inter"/>
                <a:ea typeface="Inter"/>
                <a:cs typeface="Inter"/>
              </a:rPr>
              <a:t>*OULAD; UCI uses 1st-semester curricular units</a:t>
            </a:r>
          </a:p>
        </p:txBody>
      </p:sp>
      <p:sp>
        <p:nvSpPr>
          <p:cNvPr id="29" name="Text 23">
            <a:extLst xmlns:a="http://schemas.openxmlformats.org/drawingml/2006/main">
              <a:ext uri="{FF2B5EF4-FFF2-40B4-BE49-F238E27FC236}">
                <a16:creationId xmlns:a16="http://schemas.microsoft.com/office/drawing/2014/main" id="{0A0C2713-C293-469E-BC44-0210584F8127}"/>
              </a:ext>
            </a:extLst>
          </p:cNvPr>
          <p:cNvSpPr>
            <a:spLocks xmlns:a="http://schemas.openxmlformats.org/drawingml/2006/main" noGrp="1"/>
          </p:cNvSpPr>
          <p:nvPr/>
        </p:nvSpPr>
        <p:spPr>
          <a:xfrm xmlns:a="http://schemas.openxmlformats.org/drawingml/2006/main">
            <a:off x="12668098" y="7905902"/>
            <a:ext cx="4476902"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FFFF">
                    <a:alpha val="60000"/>
                  </a:srgbClr>
                </a:solidFill>
                <a:latin typeface="JetBrains Mono"/>
                <a:ea typeface="JetBrains Mono"/>
                <a:cs typeface="JetBrains Mono"/>
              </a:rPr>
              <a:t>Deliverable</a:t>
            </a:r>
          </a:p>
        </p:txBody>
      </p:sp>
      <p:sp>
        <p:nvSpPr>
          <p:cNvPr id="30" name="Text 24">
            <a:extLst xmlns:a="http://schemas.openxmlformats.org/drawingml/2006/main">
              <a:ext uri="{FF2B5EF4-FFF2-40B4-BE49-F238E27FC236}">
                <a16:creationId xmlns:a16="http://schemas.microsoft.com/office/drawing/2014/main" id="{930D8B59-8CC1-4FAC-BF6E-3D4661916079}"/>
              </a:ext>
            </a:extLst>
          </p:cNvPr>
          <p:cNvSpPr>
            <a:spLocks xmlns:a="http://schemas.openxmlformats.org/drawingml/2006/main" noGrp="1"/>
          </p:cNvSpPr>
          <p:nvPr/>
        </p:nvSpPr>
        <p:spPr>
          <a:xfrm xmlns:a="http://schemas.openxmlformats.org/drawingml/2006/main">
            <a:off x="12668098" y="8143646"/>
            <a:ext cx="4476902" cy="5907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i="1">
                <a:solidFill>
                  <a:srgbClr val="FFFFFF"/>
                </a:solidFill>
                <a:latin typeface="Source Serif Pro"/>
                <a:ea typeface="Source Serif Pro"/>
                <a:cs typeface="Source Serif Pro"/>
              </a:rPr>
              <a:t>Two evaluated models and a proposed advisor-support pilot plan.</a:t>
            </a:r>
          </a:p>
        </p:txBody>
      </p:sp>
    </p:spTree>
    <p:extLst>
      <p:ext uri="{BB962C8B-B14F-4D97-AF65-F5344CB8AC3E}">
        <p14:creationId xmlns:p14="http://schemas.microsoft.com/office/powerpoint/2010/main" val="1287508928"/>
      </p:ext>
    </p:extLst>
  </p:cSld>
</p:sld>
</file>

<file path=ppt/slides/slide4.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59f5176d5d29471f"/>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D4501A0D-C3C6-4DFD-A5F5-1B9408378017}"/>
              </a:ext>
            </a:extLst>
          </p:cNvPr>
          <p:cNvSpPr>
            <a:spLocks xmlns:a="http://schemas.openxmlformats.org/drawingml/2006/main" noGrp="1"/>
          </p:cNvSpPr>
          <p:nvPr/>
        </p:nvSpPr>
        <p:spPr>
          <a:xfrm xmlns:a="http://schemas.openxmlformats.org/drawingml/2006/main">
            <a:off x="761695" y="2381098"/>
            <a:ext cx="5352898" cy="6877202"/>
          </a:xfrm>
          <a:prstGeom xmlns:a="http://schemas.openxmlformats.org/drawingml/2006/main" prst="roundRect">
            <a:avLst>
              <a:gd name="adj" fmla="val 359"/>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6439A774-2635-4F57-86CA-0AFEB35113A7}"/>
              </a:ext>
            </a:extLst>
          </p:cNvPr>
          <p:cNvSpPr>
            <a:spLocks xmlns:a="http://schemas.openxmlformats.org/drawingml/2006/main" noGrp="1"/>
          </p:cNvSpPr>
          <p:nvPr/>
        </p:nvSpPr>
        <p:spPr>
          <a:xfrm xmlns:a="http://schemas.openxmlformats.org/drawingml/2006/main">
            <a:off x="7048195" y="2381098"/>
            <a:ext cx="10477195" cy="6858000"/>
          </a:xfrm>
          <a:prstGeom xmlns:a="http://schemas.openxmlformats.org/drawingml/2006/main" prst="roundRect">
            <a:avLst>
              <a:gd name="adj" fmla="val 280"/>
            </a:avLst>
          </a:prstGeom>
          <a:solidFill xmlns:a="http://schemas.openxmlformats.org/drawingml/2006/main">
            <a:srgbClr val="1A1D5C"/>
          </a:solidFill>
          <a:ln xmlns:a="http://schemas.openxmlformats.org/drawingml/2006/main" w="12700">
            <a:solidFill>
              <a:srgbClr val="FFFFFF">
                <a:alpha val="0"/>
              </a:srgbClr>
            </a:solidFill>
            <a:prstDash val="solid"/>
          </a:ln>
        </p:spPr>
      </p:sp>
      <p:pic>
        <p:nvPicPr>
          <p:cNvPr id="56" name="Image 1"/>
          <p:cNvPicPr>
            <a:picLocks xmlns:a="http://schemas.openxmlformats.org/drawingml/2006/main" noChangeAspect="1"/>
          </p:cNvPicPr>
          <p:nvPr/>
        </p:nvPicPr>
        <p:blipFill>
          <a:blip xmlns:r="http://schemas.openxmlformats.org/officeDocument/2006/relationships" xmlns:a="http://schemas.openxmlformats.org/drawingml/2006/main" r:embed="R44b91dbf80c844f0"/>
          <a:srcRect xmlns:a="http://schemas.openxmlformats.org/drawingml/2006/main" l="-400" t="0" r="-400" b="0"/>
          <a:stretch xmlns:a="http://schemas.openxmlformats.org/drawingml/2006/main"/>
        </p:blipFill>
        <p:spPr>
          <a:xfrm xmlns:a="http://schemas.openxmlformats.org/drawingml/2006/main">
            <a:off x="761695" y="2381098"/>
            <a:ext cx="57607" cy="6858000"/>
          </a:xfrm>
          <a:prstGeom xmlns:a="http://schemas.openxmlformats.org/drawingml/2006/main" prst="rect">
            <a:avLst/>
          </a:prstGeom>
        </p:spPr>
      </p:pic>
      <p:pic>
        <p:nvPicPr>
          <p:cNvPr id="57" name="Image 2"/>
          <p:cNvPicPr>
            <a:picLocks xmlns:a="http://schemas.openxmlformats.org/drawingml/2006/main" noChangeAspect="1"/>
          </p:cNvPicPr>
          <p:nvPr/>
        </p:nvPicPr>
        <p:blipFill>
          <a:blip xmlns:r="http://schemas.openxmlformats.org/officeDocument/2006/relationships" xmlns:a="http://schemas.openxmlformats.org/drawingml/2006/main" r:embed="Rf7c52ebaa5c74e88"/>
          <a:srcRect xmlns:a="http://schemas.openxmlformats.org/drawingml/2006/main" l="0" t="-2078" r="0" b="-2078"/>
          <a:stretch xmlns:a="http://schemas.openxmlformats.org/drawingml/2006/main"/>
        </p:blipFill>
        <p:spPr>
          <a:xfrm xmlns:a="http://schemas.openxmlformats.org/drawingml/2006/main">
            <a:off x="12382805" y="4095598"/>
            <a:ext cx="9144" cy="3619195"/>
          </a:xfrm>
          <a:prstGeom xmlns:a="http://schemas.openxmlformats.org/drawingml/2006/main" prst="rect">
            <a:avLst/>
          </a:prstGeom>
        </p:spPr>
      </p:pic>
      <p:pic>
        <p:nvPicPr>
          <p:cNvPr id="58" name="Image 3"/>
          <p:cNvPicPr>
            <a:picLocks xmlns:a="http://schemas.openxmlformats.org/drawingml/2006/main" noChangeAspect="1"/>
          </p:cNvPicPr>
          <p:nvPr/>
        </p:nvPicPr>
        <p:blipFill>
          <a:blip xmlns:r="http://schemas.openxmlformats.org/officeDocument/2006/relationships" xmlns:a="http://schemas.openxmlformats.org/drawingml/2006/main" r:embed="Re5274758ba804796"/>
          <a:srcRect xmlns:a="http://schemas.openxmlformats.org/drawingml/2006/main" l="-2083" t="0" r="-2083" b="0"/>
          <a:stretch xmlns:a="http://schemas.openxmlformats.org/drawingml/2006/main"/>
        </p:blipFill>
        <p:spPr>
          <a:xfrm xmlns:a="http://schemas.openxmlformats.org/drawingml/2006/main">
            <a:off x="7429500" y="8143646"/>
            <a:ext cx="9715500" cy="9144"/>
          </a:xfrm>
          <a:prstGeom xmlns:a="http://schemas.openxmlformats.org/drawingml/2006/main" prst="rect">
            <a:avLst/>
          </a:prstGeom>
        </p:spPr>
      </p:pic>
      <p:sp>
        <p:nvSpPr>
          <p:cNvPr id="9" name="Text 2">
            <a:extLst xmlns:a="http://schemas.openxmlformats.org/drawingml/2006/main">
              <a:ext uri="{FF2B5EF4-FFF2-40B4-BE49-F238E27FC236}">
                <a16:creationId xmlns:a16="http://schemas.microsoft.com/office/drawing/2014/main" id="{B948EDB6-04DC-4791-9319-30EDCBE59C33}"/>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02 · Problem, scope &amp; success</a:t>
            </a:r>
          </a:p>
        </p:txBody>
      </p:sp>
      <p:sp>
        <p:nvSpPr>
          <p:cNvPr id="10" name="Text 3">
            <a:extLst xmlns:a="http://schemas.openxmlformats.org/drawingml/2006/main">
              <a:ext uri="{FF2B5EF4-FFF2-40B4-BE49-F238E27FC236}">
                <a16:creationId xmlns:a16="http://schemas.microsoft.com/office/drawing/2014/main" id="{FC5E838E-D08C-4D49-BD38-946D51FA9FEB}"/>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04 / 19</a:t>
            </a:r>
          </a:p>
        </p:txBody>
      </p:sp>
      <p:sp>
        <p:nvSpPr>
          <p:cNvPr id="11" name="Text 4">
            <a:extLst xmlns:a="http://schemas.openxmlformats.org/drawingml/2006/main">
              <a:ext uri="{FF2B5EF4-FFF2-40B4-BE49-F238E27FC236}">
                <a16:creationId xmlns:a16="http://schemas.microsoft.com/office/drawing/2014/main" id="{8CB03A6C-795F-4B47-956A-14340DC62C62}"/>
              </a:ext>
            </a:extLst>
          </p:cNvPr>
          <p:cNvSpPr>
            <a:spLocks xmlns:a="http://schemas.openxmlformats.org/drawingml/2006/main" noGrp="1"/>
          </p:cNvSpPr>
          <p:nvPr/>
        </p:nvSpPr>
        <p:spPr>
          <a:xfrm xmlns:a="http://schemas.openxmlformats.org/drawingml/2006/main">
            <a:off x="761695" y="1238098"/>
            <a:ext cx="16764610" cy="4572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300" b="1">
                <a:solidFill>
                  <a:srgbClr val="0F1226"/>
                </a:solidFill>
                <a:latin typeface="Inter"/>
                <a:ea typeface="Inter"/>
                <a:cs typeface="Inter"/>
              </a:rPr>
              <a:t>From a business worry to a labelled learning task.</a:t>
            </a:r>
          </a:p>
        </p:txBody>
      </p:sp>
      <p:sp>
        <p:nvSpPr>
          <p:cNvPr id="12" name="Text 5">
            <a:extLst xmlns:a="http://schemas.openxmlformats.org/drawingml/2006/main">
              <a:ext uri="{FF2B5EF4-FFF2-40B4-BE49-F238E27FC236}">
                <a16:creationId xmlns:a16="http://schemas.microsoft.com/office/drawing/2014/main" id="{327B59A3-7EA2-4E97-A80E-C42A938F1735}"/>
              </a:ext>
            </a:extLst>
          </p:cNvPr>
          <p:cNvSpPr>
            <a:spLocks xmlns:a="http://schemas.openxmlformats.org/drawingml/2006/main" noGrp="1"/>
          </p:cNvSpPr>
          <p:nvPr/>
        </p:nvSpPr>
        <p:spPr>
          <a:xfrm xmlns:a="http://schemas.openxmlformats.org/drawingml/2006/main">
            <a:off x="761695" y="1766621"/>
            <a:ext cx="16764610" cy="20025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300" i="1">
                <a:solidFill>
                  <a:srgbClr val="6A6F8C"/>
                </a:solidFill>
                <a:latin typeface="Source Serif Pro"/>
                <a:ea typeface="Source Serif Pro"/>
                <a:cs typeface="Source Serif Pro"/>
              </a:rPr>
              <a:t>Scope, stakeholders, constraints, targets, and evidence — one slide.</a:t>
            </a:r>
          </a:p>
        </p:txBody>
      </p:sp>
      <p:sp>
        <p:nvSpPr>
          <p:cNvPr id="13" name="Text 6">
            <a:extLst xmlns:a="http://schemas.openxmlformats.org/drawingml/2006/main">
              <a:ext uri="{FF2B5EF4-FFF2-40B4-BE49-F238E27FC236}">
                <a16:creationId xmlns:a16="http://schemas.microsoft.com/office/drawing/2014/main" id="{7A45FFE9-FA45-43D6-A4D2-543BB6966D36}"/>
              </a:ext>
            </a:extLst>
          </p:cNvPr>
          <p:cNvSpPr>
            <a:spLocks xmlns:a="http://schemas.openxmlformats.org/drawingml/2006/main" noGrp="1"/>
          </p:cNvSpPr>
          <p:nvPr/>
        </p:nvSpPr>
        <p:spPr>
          <a:xfrm xmlns:a="http://schemas.openxmlformats.org/drawingml/2006/main">
            <a:off x="1143000" y="2619756"/>
            <a:ext cx="46680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Business problem</a:t>
            </a:r>
          </a:p>
        </p:txBody>
      </p:sp>
      <p:sp>
        <p:nvSpPr>
          <p:cNvPr id="14" name="Text 7">
            <a:extLst xmlns:a="http://schemas.openxmlformats.org/drawingml/2006/main">
              <a:ext uri="{FF2B5EF4-FFF2-40B4-BE49-F238E27FC236}">
                <a16:creationId xmlns:a16="http://schemas.microsoft.com/office/drawing/2014/main" id="{FCB38353-B614-4C81-8ED6-4884C21CFE75}"/>
              </a:ext>
            </a:extLst>
          </p:cNvPr>
          <p:cNvSpPr>
            <a:spLocks xmlns:a="http://schemas.openxmlformats.org/drawingml/2006/main" noGrp="1"/>
          </p:cNvSpPr>
          <p:nvPr/>
        </p:nvSpPr>
        <p:spPr>
          <a:xfrm xmlns:a="http://schemas.openxmlformats.org/drawingml/2006/main">
            <a:off x="1143000" y="2848356"/>
            <a:ext cx="4668012" cy="6007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00" b="1">
                <a:solidFill>
                  <a:srgbClr val="0F1226"/>
                </a:solidFill>
                <a:latin typeface="Inter"/>
                <a:ea typeface="Inter"/>
                <a:cs typeface="Inter"/>
              </a:rPr>
              <a:t>Identify at-risk students earlier and more consistently.</a:t>
            </a:r>
          </a:p>
        </p:txBody>
      </p:sp>
      <p:sp>
        <p:nvSpPr>
          <p:cNvPr id="15" name="Text 8">
            <a:extLst xmlns:a="http://schemas.openxmlformats.org/drawingml/2006/main">
              <a:ext uri="{FF2B5EF4-FFF2-40B4-BE49-F238E27FC236}">
                <a16:creationId xmlns:a16="http://schemas.microsoft.com/office/drawing/2014/main" id="{0FE420B4-7049-47C2-ABD6-0718086A1FA6}"/>
              </a:ext>
            </a:extLst>
          </p:cNvPr>
          <p:cNvSpPr>
            <a:spLocks xmlns:a="http://schemas.openxmlformats.org/drawingml/2006/main" noGrp="1"/>
          </p:cNvSpPr>
          <p:nvPr/>
        </p:nvSpPr>
        <p:spPr>
          <a:xfrm xmlns:a="http://schemas.openxmlformats.org/drawingml/2006/main">
            <a:off x="1143000" y="3594506"/>
            <a:ext cx="5353812" cy="2386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E4237A"/>
                </a:solidFill>
                <a:latin typeface="JetBrains Mono"/>
                <a:ea typeface="JetBrains Mono"/>
                <a:cs typeface="JetBrains Mono"/>
              </a:rPr>
              <a:t>·</a:t>
            </a:r>
            <a:r>
              <a:rPr sz="1100">
                <a:solidFill>
                  <a:srgbClr val="2A2E4B"/>
                </a:solidFill>
                <a:latin typeface="Inter"/>
                <a:ea typeface="Inter"/>
                <a:cs typeface="Inter"/>
              </a:rPr>
              <a:t>Manual review often catches risk only after problems are visible.</a:t>
            </a:r>
          </a:p>
        </p:txBody>
      </p:sp>
      <p:sp>
        <p:nvSpPr>
          <p:cNvPr id="16" name="Text 9">
            <a:extLst xmlns:a="http://schemas.openxmlformats.org/drawingml/2006/main">
              <a:ext uri="{FF2B5EF4-FFF2-40B4-BE49-F238E27FC236}">
                <a16:creationId xmlns:a16="http://schemas.microsoft.com/office/drawing/2014/main" id="{2A9FBC90-21CB-4AA9-96C0-61F893D4E3E9}"/>
              </a:ext>
            </a:extLst>
          </p:cNvPr>
          <p:cNvSpPr>
            <a:spLocks xmlns:a="http://schemas.openxmlformats.org/drawingml/2006/main" noGrp="1"/>
          </p:cNvSpPr>
          <p:nvPr/>
        </p:nvSpPr>
        <p:spPr>
          <a:xfrm xmlns:a="http://schemas.openxmlformats.org/drawingml/2006/main">
            <a:off x="1143000" y="3906317"/>
            <a:ext cx="5172761" cy="2386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E4237A"/>
                </a:solidFill>
                <a:latin typeface="JetBrains Mono"/>
                <a:ea typeface="JetBrains Mono"/>
                <a:cs typeface="JetBrains Mono"/>
              </a:rPr>
              <a:t>·</a:t>
            </a:r>
            <a:r>
              <a:rPr sz="1100">
                <a:solidFill>
                  <a:srgbClr val="2A2E4B"/>
                </a:solidFill>
                <a:latin typeface="Inter"/>
                <a:ea typeface="Inter"/>
                <a:cs typeface="Inter"/>
              </a:rPr>
              <a:t>Consistent review of every student at scale is difficult.</a:t>
            </a:r>
          </a:p>
        </p:txBody>
      </p:sp>
      <p:sp>
        <p:nvSpPr>
          <p:cNvPr id="17" name="Text 10">
            <a:extLst xmlns:a="http://schemas.openxmlformats.org/drawingml/2006/main">
              <a:ext uri="{FF2B5EF4-FFF2-40B4-BE49-F238E27FC236}">
                <a16:creationId xmlns:a16="http://schemas.microsoft.com/office/drawing/2014/main" id="{6814BF4F-4510-4B1F-AABA-A4FE00BF9052}"/>
              </a:ext>
            </a:extLst>
          </p:cNvPr>
          <p:cNvSpPr>
            <a:spLocks xmlns:a="http://schemas.openxmlformats.org/drawingml/2006/main" noGrp="1"/>
          </p:cNvSpPr>
          <p:nvPr/>
        </p:nvSpPr>
        <p:spPr>
          <a:xfrm xmlns:a="http://schemas.openxmlformats.org/drawingml/2006/main">
            <a:off x="1143000" y="4218127"/>
            <a:ext cx="5086807" cy="2386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E4237A"/>
                </a:solidFill>
                <a:latin typeface="JetBrains Mono"/>
                <a:ea typeface="JetBrains Mono"/>
                <a:cs typeface="JetBrains Mono"/>
              </a:rPr>
              <a:t>·</a:t>
            </a:r>
            <a:r>
              <a:rPr sz="1100">
                <a:solidFill>
                  <a:srgbClr val="2A2E4B"/>
                </a:solidFill>
                <a:latin typeface="Inter"/>
                <a:ea typeface="Inter"/>
                <a:cs typeface="Inter"/>
              </a:rPr>
              <a:t>Earlier estimates may help advisors prioritize outreach.</a:t>
            </a:r>
          </a:p>
        </p:txBody>
      </p:sp>
      <p:sp>
        <p:nvSpPr>
          <p:cNvPr id="18" name="Shape 11">
            <a:extLst xmlns:a="http://schemas.openxmlformats.org/drawingml/2006/main">
              <a:ext uri="{FF2B5EF4-FFF2-40B4-BE49-F238E27FC236}">
                <a16:creationId xmlns:a16="http://schemas.microsoft.com/office/drawing/2014/main" id="{82A6BA5D-24F6-480E-B486-80C45CD82898}"/>
              </a:ext>
            </a:extLst>
          </p:cNvPr>
          <p:cNvSpPr>
            <a:spLocks xmlns:a="http://schemas.openxmlformats.org/drawingml/2006/main" noGrp="1"/>
          </p:cNvSpPr>
          <p:nvPr/>
        </p:nvSpPr>
        <p:spPr>
          <a:xfrm xmlns:a="http://schemas.openxmlformats.org/drawingml/2006/main">
            <a:off x="1143000" y="4663440"/>
            <a:ext cx="46670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19" name="Text 12">
            <a:extLst xmlns:a="http://schemas.openxmlformats.org/drawingml/2006/main">
              <a:ext uri="{FF2B5EF4-FFF2-40B4-BE49-F238E27FC236}">
                <a16:creationId xmlns:a16="http://schemas.microsoft.com/office/drawing/2014/main" id="{E3813B11-BCF6-47EA-BAF7-EDDAF7130059}"/>
              </a:ext>
            </a:extLst>
          </p:cNvPr>
          <p:cNvSpPr>
            <a:spLocks xmlns:a="http://schemas.openxmlformats.org/drawingml/2006/main" noGrp="1"/>
          </p:cNvSpPr>
          <p:nvPr/>
        </p:nvSpPr>
        <p:spPr>
          <a:xfrm xmlns:a="http://schemas.openxmlformats.org/drawingml/2006/main">
            <a:off x="1143000" y="4806086"/>
            <a:ext cx="4668012" cy="134417"/>
          </a:xfrm>
          <a:prstGeom xmlns:a="http://schemas.openxmlformats.org/drawingml/2006/main" prst="rect">
            <a:avLst/>
          </a:prstGeom>
          <a:solidFill xmlns:a="http://schemas.openxmlformats.org/drawingml/2006/main">
            <a:srgbClr val="FFFFFF">
              <a:alpha val="0"/>
            </a:srgbClr>
          </a:solidFill>
          <a:ln xmlns:a="http://schemas.openxmlformats.org/drawingml/2006/main">
            <a:solidFill>
              <a:srgbClr val="FFFFFF">
                <a:alpha val="0"/>
              </a:srgbClr>
            </a:solidFill>
          </a:ln>
        </p:spPr>
        <p:txBody>
          <a:bodyPr xmlns:a="http://schemas.openxmlformats.org/drawingml/2006/main" wrap="none" lIns="139700" tIns="0" rIns="139700" bIns="13970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Stakeholders</a:t>
            </a:r>
          </a:p>
        </p:txBody>
      </p:sp>
      <p:sp>
        <p:nvSpPr>
          <p:cNvPr id="20" name="Text 13">
            <a:extLst xmlns:a="http://schemas.openxmlformats.org/drawingml/2006/main">
              <a:ext uri="{FF2B5EF4-FFF2-40B4-BE49-F238E27FC236}">
                <a16:creationId xmlns:a16="http://schemas.microsoft.com/office/drawing/2014/main" id="{C94C76E5-DC18-4D33-BD98-7A2397C3EF10}"/>
              </a:ext>
            </a:extLst>
          </p:cNvPr>
          <p:cNvSpPr>
            <a:spLocks xmlns:a="http://schemas.openxmlformats.org/drawingml/2006/main" noGrp="1"/>
          </p:cNvSpPr>
          <p:nvPr/>
        </p:nvSpPr>
        <p:spPr>
          <a:xfrm xmlns:a="http://schemas.openxmlformats.org/drawingml/2006/main">
            <a:off x="1143000" y="5016398"/>
            <a:ext cx="466801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Students · academic advisors · student-success offices · IT / data-governance teams</a:t>
            </a:r>
          </a:p>
        </p:txBody>
      </p:sp>
      <p:sp>
        <p:nvSpPr>
          <p:cNvPr id="21" name="Shape 14">
            <a:extLst xmlns:a="http://schemas.openxmlformats.org/drawingml/2006/main">
              <a:ext uri="{FF2B5EF4-FFF2-40B4-BE49-F238E27FC236}">
                <a16:creationId xmlns:a16="http://schemas.microsoft.com/office/drawing/2014/main" id="{BE30E96A-92DE-48DD-94CE-AE107CD1744D}"/>
              </a:ext>
            </a:extLst>
          </p:cNvPr>
          <p:cNvSpPr>
            <a:spLocks xmlns:a="http://schemas.openxmlformats.org/drawingml/2006/main" noGrp="1"/>
          </p:cNvSpPr>
          <p:nvPr/>
        </p:nvSpPr>
        <p:spPr>
          <a:xfrm xmlns:a="http://schemas.openxmlformats.org/drawingml/2006/main">
            <a:off x="1143000" y="5644591"/>
            <a:ext cx="46670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22" name="Text 15">
            <a:extLst xmlns:a="http://schemas.openxmlformats.org/drawingml/2006/main">
              <a:ext uri="{FF2B5EF4-FFF2-40B4-BE49-F238E27FC236}">
                <a16:creationId xmlns:a16="http://schemas.microsoft.com/office/drawing/2014/main" id="{3A0960ED-CA6C-4DF1-B6FC-004F0F2803A7}"/>
              </a:ext>
            </a:extLst>
          </p:cNvPr>
          <p:cNvSpPr>
            <a:spLocks xmlns:a="http://schemas.openxmlformats.org/drawingml/2006/main" noGrp="1"/>
          </p:cNvSpPr>
          <p:nvPr/>
        </p:nvSpPr>
        <p:spPr>
          <a:xfrm xmlns:a="http://schemas.openxmlformats.org/drawingml/2006/main">
            <a:off x="1143000" y="5787238"/>
            <a:ext cx="4668012" cy="134417"/>
          </a:xfrm>
          <a:prstGeom xmlns:a="http://schemas.openxmlformats.org/drawingml/2006/main" prst="rect">
            <a:avLst/>
          </a:prstGeom>
          <a:solidFill xmlns:a="http://schemas.openxmlformats.org/drawingml/2006/main">
            <a:srgbClr val="FFFFFF">
              <a:alpha val="0"/>
            </a:srgbClr>
          </a:solidFill>
          <a:ln xmlns:a="http://schemas.openxmlformats.org/drawingml/2006/main">
            <a:solidFill>
              <a:srgbClr val="FFFFFF">
                <a:alpha val="0"/>
              </a:srgbClr>
            </a:solidFill>
          </a:ln>
        </p:spPr>
        <p:txBody>
          <a:bodyPr xmlns:a="http://schemas.openxmlformats.org/drawingml/2006/main" wrap="none" lIns="139700" tIns="0" rIns="139700" bIns="13970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Constraints</a:t>
            </a:r>
          </a:p>
        </p:txBody>
      </p:sp>
      <p:sp>
        <p:nvSpPr>
          <p:cNvPr id="23" name="Text 16">
            <a:extLst xmlns:a="http://schemas.openxmlformats.org/drawingml/2006/main">
              <a:ext uri="{FF2B5EF4-FFF2-40B4-BE49-F238E27FC236}">
                <a16:creationId xmlns:a16="http://schemas.microsoft.com/office/drawing/2014/main" id="{9150D31D-8404-4551-9909-AC1491817F9E}"/>
              </a:ext>
            </a:extLst>
          </p:cNvPr>
          <p:cNvSpPr>
            <a:spLocks xmlns:a="http://schemas.openxmlformats.org/drawingml/2006/main" noGrp="1"/>
          </p:cNvSpPr>
          <p:nvPr/>
        </p:nvSpPr>
        <p:spPr>
          <a:xfrm xmlns:a="http://schemas.openxmlformats.org/drawingml/2006/main">
            <a:off x="1143000" y="5997550"/>
            <a:ext cx="4668012" cy="4288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2A2E4B"/>
                </a:solidFill>
                <a:latin typeface="Inter"/>
                <a:ea typeface="Inter"/>
                <a:cs typeface="Inter"/>
              </a:rPr>
              <a:t>Public historical datasets only · no live SIS or LMS access · limited local compute · no causal evidence that advisor interventions improve retention</a:t>
            </a:r>
          </a:p>
        </p:txBody>
      </p:sp>
      <p:sp>
        <p:nvSpPr>
          <p:cNvPr id="24" name="Shape 17">
            <a:extLst xmlns:a="http://schemas.openxmlformats.org/drawingml/2006/main">
              <a:ext uri="{FF2B5EF4-FFF2-40B4-BE49-F238E27FC236}">
                <a16:creationId xmlns:a16="http://schemas.microsoft.com/office/drawing/2014/main" id="{561BCB66-6E26-4EDF-805A-58BEEF405357}"/>
              </a:ext>
            </a:extLst>
          </p:cNvPr>
          <p:cNvSpPr>
            <a:spLocks xmlns:a="http://schemas.openxmlformats.org/drawingml/2006/main" noGrp="1"/>
          </p:cNvSpPr>
          <p:nvPr/>
        </p:nvSpPr>
        <p:spPr>
          <a:xfrm xmlns:a="http://schemas.openxmlformats.org/drawingml/2006/main">
            <a:off x="1143000" y="6595567"/>
            <a:ext cx="46670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25" name="Text 18">
            <a:extLst xmlns:a="http://schemas.openxmlformats.org/drawingml/2006/main">
              <a:ext uri="{FF2B5EF4-FFF2-40B4-BE49-F238E27FC236}">
                <a16:creationId xmlns:a16="http://schemas.microsoft.com/office/drawing/2014/main" id="{6F09BAC9-E388-4033-874E-6A98DF3D060D}"/>
              </a:ext>
            </a:extLst>
          </p:cNvPr>
          <p:cNvSpPr>
            <a:spLocks xmlns:a="http://schemas.openxmlformats.org/drawingml/2006/main" noGrp="1"/>
          </p:cNvSpPr>
          <p:nvPr/>
        </p:nvSpPr>
        <p:spPr>
          <a:xfrm xmlns:a="http://schemas.openxmlformats.org/drawingml/2006/main">
            <a:off x="1143000" y="6738214"/>
            <a:ext cx="4668012" cy="134417"/>
          </a:xfrm>
          <a:prstGeom xmlns:a="http://schemas.openxmlformats.org/drawingml/2006/main" prst="rect">
            <a:avLst/>
          </a:prstGeom>
          <a:solidFill xmlns:a="http://schemas.openxmlformats.org/drawingml/2006/main">
            <a:srgbClr val="FFFFFF">
              <a:alpha val="0"/>
            </a:srgbClr>
          </a:solidFill>
          <a:ln xmlns:a="http://schemas.openxmlformats.org/drawingml/2006/main">
            <a:solidFill>
              <a:srgbClr val="FFFFFF">
                <a:alpha val="0"/>
              </a:srgbClr>
            </a:solidFill>
          </a:ln>
        </p:spPr>
        <p:txBody>
          <a:bodyPr xmlns:a="http://schemas.openxmlformats.org/drawingml/2006/main" wrap="none" lIns="139700" tIns="0" rIns="139700" bIns="13970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Scope</a:t>
            </a:r>
          </a:p>
        </p:txBody>
      </p:sp>
      <p:sp>
        <p:nvSpPr>
          <p:cNvPr id="26" name="Text 19">
            <a:extLst xmlns:a="http://schemas.openxmlformats.org/drawingml/2006/main">
              <a:ext uri="{FF2B5EF4-FFF2-40B4-BE49-F238E27FC236}">
                <a16:creationId xmlns:a16="http://schemas.microsoft.com/office/drawing/2014/main" id="{BF31494C-7022-4005-8F4C-34E0A28333C0}"/>
              </a:ext>
            </a:extLst>
          </p:cNvPr>
          <p:cNvSpPr>
            <a:spLocks xmlns:a="http://schemas.openxmlformats.org/drawingml/2006/main" noGrp="1"/>
          </p:cNvSpPr>
          <p:nvPr/>
        </p:nvSpPr>
        <p:spPr>
          <a:xfrm xmlns:a="http://schemas.openxmlformats.org/drawingml/2006/main">
            <a:off x="1143000" y="6921094"/>
            <a:ext cx="4668012" cy="884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800">
                <a:solidFill>
                  <a:srgbClr val="1B9E8F"/>
                </a:solidFill>
                <a:latin typeface="JetBrains Mono"/>
                <a:ea typeface="JetBrains Mono"/>
                <a:cs typeface="JetBrains Mono"/>
              </a:rPr>
              <a:t>IN</a:t>
            </a:r>
            <a:r>
              <a:rPr sz="1000">
                <a:solidFill>
                  <a:srgbClr val="2A2E4B"/>
                </a:solidFill>
                <a:latin typeface="Inter"/>
                <a:ea typeface="Inter"/>
                <a:cs typeface="Inter"/>
              </a:rPr>
              <a:t> early identification · advisor ranking · UCI reproduction · UCI/OULAD comparison</a:t>
            </a:r>
          </a:p>
          <a:p xmlns:a="http://schemas.openxmlformats.org/drawingml/2006/main">
            <a:pPr marL="0" indent="0" algn="l">
              <a:lnSpc>
                <a:spcPts val="1680"/>
              </a:lnSpc>
              <a:buNone/>
            </a:pPr>
            <a:r>
              <a:rPr sz="800">
                <a:solidFill>
                  <a:srgbClr val="C43E5A"/>
                </a:solidFill>
                <a:latin typeface="JetBrains Mono"/>
                <a:ea typeface="JetBrains Mono"/>
                <a:cs typeface="JetBrains Mono"/>
              </a:rPr>
              <a:t>OUT</a:t>
            </a:r>
            <a:r>
              <a:rPr sz="1000">
                <a:solidFill>
                  <a:srgbClr val="2A2E4B"/>
                </a:solidFill>
                <a:latin typeface="Inter"/>
                <a:ea typeface="Inter"/>
                <a:cs typeface="Inter"/>
              </a:rPr>
              <a:t> automatic disciplinary / aid decisions · real-time streaming · direct model transfer</a:t>
            </a:r>
          </a:p>
        </p:txBody>
      </p:sp>
      <p:sp>
        <p:nvSpPr>
          <p:cNvPr id="27" name="Text 20">
            <a:extLst xmlns:a="http://schemas.openxmlformats.org/drawingml/2006/main">
              <a:ext uri="{FF2B5EF4-FFF2-40B4-BE49-F238E27FC236}">
                <a16:creationId xmlns:a16="http://schemas.microsoft.com/office/drawing/2014/main" id="{CE187A55-5DD3-42F8-86D7-5C1F436E0D19}"/>
              </a:ext>
            </a:extLst>
          </p:cNvPr>
          <p:cNvSpPr>
            <a:spLocks xmlns:a="http://schemas.openxmlformats.org/drawingml/2006/main" noGrp="1"/>
          </p:cNvSpPr>
          <p:nvPr/>
        </p:nvSpPr>
        <p:spPr>
          <a:xfrm xmlns:a="http://schemas.openxmlformats.org/drawingml/2006/main">
            <a:off x="1143000" y="7895844"/>
            <a:ext cx="4668012"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Full assumption list → appendix (slide 18)</a:t>
            </a:r>
          </a:p>
        </p:txBody>
      </p:sp>
      <p:sp>
        <p:nvSpPr>
          <p:cNvPr id="28" name="Text 21">
            <a:extLst xmlns:a="http://schemas.openxmlformats.org/drawingml/2006/main">
              <a:ext uri="{FF2B5EF4-FFF2-40B4-BE49-F238E27FC236}">
                <a16:creationId xmlns:a16="http://schemas.microsoft.com/office/drawing/2014/main" id="{62C9C10B-637E-46BF-8B4B-F972EC2AC538}"/>
              </a:ext>
            </a:extLst>
          </p:cNvPr>
          <p:cNvSpPr>
            <a:spLocks xmlns:a="http://schemas.openxmlformats.org/drawingml/2006/main" noGrp="1"/>
          </p:cNvSpPr>
          <p:nvPr/>
        </p:nvSpPr>
        <p:spPr>
          <a:xfrm xmlns:a="http://schemas.openxmlformats.org/drawingml/2006/main">
            <a:off x="6286500" y="5619902"/>
            <a:ext cx="571500" cy="6291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4200">
                <a:solidFill>
                  <a:srgbClr val="2A2E7A"/>
                </a:solidFill>
                <a:latin typeface="JetBrains Mono"/>
                <a:ea typeface="JetBrains Mono"/>
                <a:cs typeface="JetBrains Mono"/>
              </a:rPr>
              <a:t>→</a:t>
            </a:r>
          </a:p>
        </p:txBody>
      </p:sp>
      <p:sp>
        <p:nvSpPr>
          <p:cNvPr id="29" name="Text 22">
            <a:extLst xmlns:a="http://schemas.openxmlformats.org/drawingml/2006/main">
              <a:ext uri="{FF2B5EF4-FFF2-40B4-BE49-F238E27FC236}">
                <a16:creationId xmlns:a16="http://schemas.microsoft.com/office/drawing/2014/main" id="{E20D4871-5F32-4228-A1A0-A3C4F3873915}"/>
              </a:ext>
            </a:extLst>
          </p:cNvPr>
          <p:cNvSpPr>
            <a:spLocks xmlns:a="http://schemas.openxmlformats.org/drawingml/2006/main" noGrp="1"/>
          </p:cNvSpPr>
          <p:nvPr/>
        </p:nvSpPr>
        <p:spPr>
          <a:xfrm xmlns:a="http://schemas.openxmlformats.org/drawingml/2006/main">
            <a:off x="7429500" y="2667305"/>
            <a:ext cx="9715500"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FFFF">
                    <a:alpha val="55000"/>
                  </a:srgbClr>
                </a:solidFill>
                <a:latin typeface="JetBrains Mono"/>
                <a:ea typeface="JetBrains Mono"/>
                <a:cs typeface="JetBrains Mono"/>
              </a:rPr>
              <a:t>Analytics problem</a:t>
            </a:r>
          </a:p>
        </p:txBody>
      </p:sp>
      <p:sp>
        <p:nvSpPr>
          <p:cNvPr id="30" name="Text 23">
            <a:extLst xmlns:a="http://schemas.openxmlformats.org/drawingml/2006/main">
              <a:ext uri="{FF2B5EF4-FFF2-40B4-BE49-F238E27FC236}">
                <a16:creationId xmlns:a16="http://schemas.microsoft.com/office/drawing/2014/main" id="{7344ADF3-DC23-4638-9363-B89CD83727F3}"/>
              </a:ext>
            </a:extLst>
          </p:cNvPr>
          <p:cNvSpPr>
            <a:spLocks xmlns:a="http://schemas.openxmlformats.org/drawingml/2006/main" noGrp="1"/>
          </p:cNvSpPr>
          <p:nvPr/>
        </p:nvSpPr>
        <p:spPr>
          <a:xfrm xmlns:a="http://schemas.openxmlformats.org/drawingml/2006/main">
            <a:off x="7429500" y="2915107"/>
            <a:ext cx="10401300" cy="32461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900" b="1">
                <a:solidFill>
                  <a:srgbClr val="FFFFFF"/>
                </a:solidFill>
                <a:latin typeface="Inter"/>
                <a:ea typeface="Inter"/>
                <a:cs typeface="Inter"/>
              </a:rPr>
              <a:t>Binary classification: given </a:t>
            </a:r>
            <a:r>
              <a:rPr sz="1900" b="1">
                <a:solidFill>
                  <a:srgbClr val="FF5CA0"/>
                </a:solidFill>
                <a:latin typeface="Inter"/>
                <a:ea typeface="Inter"/>
                <a:cs typeface="Inter"/>
              </a:rPr>
              <a:t>early</a:t>
            </a:r>
            <a:r>
              <a:rPr sz="1900" b="1">
                <a:solidFill>
                  <a:srgbClr val="FFFFFF"/>
                </a:solidFill>
                <a:latin typeface="Inter"/>
                <a:ea typeface="Inter"/>
                <a:cs typeface="Inter"/>
              </a:rPr>
              <a:t> signals, will this student </a:t>
            </a:r>
            <a:r>
              <a:rPr sz="1900" b="1">
                <a:solidFill>
                  <a:srgbClr val="FF5CA0"/>
                </a:solidFill>
                <a:latin typeface="Inter"/>
                <a:ea typeface="Inter"/>
                <a:cs typeface="Inter"/>
              </a:rPr>
              <a:t>not persist</a:t>
            </a:r>
            <a:r>
              <a:rPr sz="1900" b="1">
                <a:solidFill>
                  <a:srgbClr val="FFFFFF"/>
                </a:solidFill>
                <a:latin typeface="Inter"/>
                <a:ea typeface="Inter"/>
                <a:cs typeface="Inter"/>
              </a:rPr>
              <a:t>?</a:t>
            </a:r>
          </a:p>
        </p:txBody>
      </p:sp>
      <p:sp>
        <p:nvSpPr>
          <p:cNvPr id="31" name="Text 24">
            <a:extLst xmlns:a="http://schemas.openxmlformats.org/drawingml/2006/main">
              <a:ext uri="{FF2B5EF4-FFF2-40B4-BE49-F238E27FC236}">
                <a16:creationId xmlns:a16="http://schemas.microsoft.com/office/drawing/2014/main" id="{4F1563DF-F743-4F35-BB3A-1D061BB4E490}"/>
              </a:ext>
            </a:extLst>
          </p:cNvPr>
          <p:cNvSpPr>
            <a:spLocks xmlns:a="http://schemas.openxmlformats.org/drawingml/2006/main" noGrp="1"/>
          </p:cNvSpPr>
          <p:nvPr/>
        </p:nvSpPr>
        <p:spPr>
          <a:xfrm xmlns:a="http://schemas.openxmlformats.org/drawingml/2006/main">
            <a:off x="7429500" y="4095598"/>
            <a:ext cx="46680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UCI</a:t>
            </a:r>
          </a:p>
        </p:txBody>
      </p:sp>
      <p:sp>
        <p:nvSpPr>
          <p:cNvPr id="32" name="Text 25">
            <a:extLst xmlns:a="http://schemas.openxmlformats.org/drawingml/2006/main">
              <a:ext uri="{FF2B5EF4-FFF2-40B4-BE49-F238E27FC236}">
                <a16:creationId xmlns:a16="http://schemas.microsoft.com/office/drawing/2014/main" id="{93F51EB0-BBA9-427F-AD78-5974664388AA}"/>
              </a:ext>
            </a:extLst>
          </p:cNvPr>
          <p:cNvSpPr>
            <a:spLocks xmlns:a="http://schemas.openxmlformats.org/drawingml/2006/main" noGrp="1"/>
          </p:cNvSpPr>
          <p:nvPr/>
        </p:nvSpPr>
        <p:spPr>
          <a:xfrm xmlns:a="http://schemas.openxmlformats.org/drawingml/2006/main">
            <a:off x="7429500" y="4324198"/>
            <a:ext cx="4668012"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400" b="1">
                <a:solidFill>
                  <a:srgbClr val="FFFFFF"/>
                </a:solidFill>
                <a:latin typeface="Inter"/>
                <a:ea typeface="Inter"/>
                <a:cs typeface="Inter"/>
              </a:rPr>
              <a:t>Target</a:t>
            </a:r>
          </a:p>
        </p:txBody>
      </p:sp>
      <p:sp>
        <p:nvSpPr>
          <p:cNvPr id="33" name="Text 26">
            <a:extLst xmlns:a="http://schemas.openxmlformats.org/drawingml/2006/main">
              <a:ext uri="{FF2B5EF4-FFF2-40B4-BE49-F238E27FC236}">
                <a16:creationId xmlns:a16="http://schemas.microsoft.com/office/drawing/2014/main" id="{8E29D64E-E4E3-4BBB-BF23-308331BF78C5}"/>
              </a:ext>
            </a:extLst>
          </p:cNvPr>
          <p:cNvSpPr>
            <a:spLocks xmlns:a="http://schemas.openxmlformats.org/drawingml/2006/main" noGrp="1"/>
          </p:cNvSpPr>
          <p:nvPr/>
        </p:nvSpPr>
        <p:spPr>
          <a:xfrm xmlns:a="http://schemas.openxmlformats.org/drawingml/2006/main">
            <a:off x="7429500" y="4572000"/>
            <a:ext cx="4668012" cy="48554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100">
                <a:solidFill>
                  <a:srgbClr val="FFFFFF">
                    <a:alpha val="90000"/>
                  </a:srgbClr>
                </a:solidFill>
                <a:latin typeface="JetBrains Mono"/>
                <a:ea typeface="JetBrains Mono"/>
                <a:cs typeface="JetBrains Mono"/>
              </a:rPr>
              <a:t>y = 1 if final label = </a:t>
            </a:r>
            <a:r>
              <a:rPr sz="1100">
                <a:solidFill>
                  <a:srgbClr val="FFFFFF">
                    <a:alpha val="90000"/>
                  </a:srgbClr>
                </a:solidFill>
                <a:latin typeface="JetBrains Mono"/>
                <a:ea typeface="JetBrains Mono"/>
                <a:cs typeface="JetBrains Mono"/>
              </a:rPr>
              <a:t>Dropout</a:t>
            </a:r>
          </a:p>
          <a:p xmlns:a="http://schemas.openxmlformats.org/drawingml/2006/main">
            <a:pPr marL="0" indent="0" algn="l">
              <a:lnSpc>
                <a:spcPts val="1800"/>
              </a:lnSpc>
              <a:buNone/>
            </a:pPr>
            <a:r>
              <a:rPr sz="1100">
                <a:solidFill>
                  <a:srgbClr val="FFFFFF">
                    <a:alpha val="90000"/>
                  </a:srgbClr>
                </a:solidFill>
                <a:latin typeface="JetBrains Mono"/>
                <a:ea typeface="JetBrains Mono"/>
                <a:cs typeface="JetBrains Mono"/>
              </a:rPr>
              <a:t>y = 0 if Enrolled or Graduate</a:t>
            </a:r>
          </a:p>
        </p:txBody>
      </p:sp>
      <p:sp>
        <p:nvSpPr>
          <p:cNvPr id="34" name="Text 27">
            <a:extLst xmlns:a="http://schemas.openxmlformats.org/drawingml/2006/main">
              <a:ext uri="{FF2B5EF4-FFF2-40B4-BE49-F238E27FC236}">
                <a16:creationId xmlns:a16="http://schemas.microsoft.com/office/drawing/2014/main" id="{02B2E24B-6A19-4942-90A9-966D49D0BED2}"/>
              </a:ext>
            </a:extLst>
          </p:cNvPr>
          <p:cNvSpPr>
            <a:spLocks xmlns:a="http://schemas.openxmlformats.org/drawingml/2006/main" noGrp="1"/>
          </p:cNvSpPr>
          <p:nvPr/>
        </p:nvSpPr>
        <p:spPr>
          <a:xfrm xmlns:a="http://schemas.openxmlformats.org/drawingml/2006/main">
            <a:off x="7429500" y="5229454"/>
            <a:ext cx="4668012"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400" b="1">
                <a:solidFill>
                  <a:srgbClr val="FFFFFF"/>
                </a:solidFill>
                <a:latin typeface="Inter"/>
                <a:ea typeface="Inter"/>
                <a:cs typeface="Inter"/>
              </a:rPr>
              <a:t>Features</a:t>
            </a:r>
          </a:p>
        </p:txBody>
      </p:sp>
      <p:sp>
        <p:nvSpPr>
          <p:cNvPr id="35" name="Text 28">
            <a:extLst xmlns:a="http://schemas.openxmlformats.org/drawingml/2006/main">
              <a:ext uri="{FF2B5EF4-FFF2-40B4-BE49-F238E27FC236}">
                <a16:creationId xmlns:a16="http://schemas.microsoft.com/office/drawing/2014/main" id="{92270953-B7C1-4C0D-9B45-73F047304733}"/>
              </a:ext>
            </a:extLst>
          </p:cNvPr>
          <p:cNvSpPr>
            <a:spLocks xmlns:a="http://schemas.openxmlformats.org/drawingml/2006/main" noGrp="1"/>
          </p:cNvSpPr>
          <p:nvPr/>
        </p:nvSpPr>
        <p:spPr>
          <a:xfrm xmlns:a="http://schemas.openxmlformats.org/drawingml/2006/main">
            <a:off x="7429500" y="5479085"/>
            <a:ext cx="4668012" cy="45537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000">
                <a:solidFill>
                  <a:srgbClr val="FFFFFF">
                    <a:alpha val="80000"/>
                  </a:srgbClr>
                </a:solidFill>
                <a:latin typeface="JetBrains Mono"/>
                <a:ea typeface="JetBrains Mono"/>
                <a:cs typeface="JetBrains Mono"/>
              </a:rPr>
              <a:t>enrolment, demographics,</a:t>
            </a:r>
          </a:p>
          <a:p xmlns:a="http://schemas.openxmlformats.org/drawingml/2006/main">
            <a:pPr marL="0" indent="0" algn="l">
              <a:lnSpc>
                <a:spcPts val="1680"/>
              </a:lnSpc>
              <a:buNone/>
            </a:pPr>
            <a:r>
              <a:rPr sz="1000">
                <a:solidFill>
                  <a:srgbClr val="FFFFFF">
                    <a:alpha val="80000"/>
                  </a:srgbClr>
                </a:solidFill>
                <a:latin typeface="JetBrains Mono"/>
                <a:ea typeface="JetBrains Mono"/>
                <a:cs typeface="JetBrains Mono"/>
              </a:rPr>
              <a:t>1st-semester curricular units, tuition status</a:t>
            </a:r>
          </a:p>
        </p:txBody>
      </p:sp>
      <p:sp>
        <p:nvSpPr>
          <p:cNvPr id="36" name="Text 29">
            <a:extLst xmlns:a="http://schemas.openxmlformats.org/drawingml/2006/main">
              <a:ext uri="{FF2B5EF4-FFF2-40B4-BE49-F238E27FC236}">
                <a16:creationId xmlns:a16="http://schemas.microsoft.com/office/drawing/2014/main" id="{D6BBD10E-5815-4DC9-8417-BE1B8FB3ED36}"/>
              </a:ext>
            </a:extLst>
          </p:cNvPr>
          <p:cNvSpPr>
            <a:spLocks xmlns:a="http://schemas.openxmlformats.org/drawingml/2006/main" noGrp="1"/>
          </p:cNvSpPr>
          <p:nvPr/>
        </p:nvSpPr>
        <p:spPr>
          <a:xfrm xmlns:a="http://schemas.openxmlformats.org/drawingml/2006/main">
            <a:off x="12668098" y="4095598"/>
            <a:ext cx="46680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OULAD</a:t>
            </a:r>
          </a:p>
        </p:txBody>
      </p:sp>
      <p:sp>
        <p:nvSpPr>
          <p:cNvPr id="37" name="Text 30">
            <a:extLst xmlns:a="http://schemas.openxmlformats.org/drawingml/2006/main">
              <a:ext uri="{FF2B5EF4-FFF2-40B4-BE49-F238E27FC236}">
                <a16:creationId xmlns:a16="http://schemas.microsoft.com/office/drawing/2014/main" id="{E54E07DC-D990-4693-A701-8797F71A0980}"/>
              </a:ext>
            </a:extLst>
          </p:cNvPr>
          <p:cNvSpPr>
            <a:spLocks xmlns:a="http://schemas.openxmlformats.org/drawingml/2006/main" noGrp="1"/>
          </p:cNvSpPr>
          <p:nvPr/>
        </p:nvSpPr>
        <p:spPr>
          <a:xfrm xmlns:a="http://schemas.openxmlformats.org/drawingml/2006/main">
            <a:off x="12668098" y="4324198"/>
            <a:ext cx="4668012"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400" b="1">
                <a:solidFill>
                  <a:srgbClr val="FFFFFF"/>
                </a:solidFill>
                <a:latin typeface="Inter"/>
                <a:ea typeface="Inter"/>
                <a:cs typeface="Inter"/>
              </a:rPr>
              <a:t>Target</a:t>
            </a:r>
          </a:p>
        </p:txBody>
      </p:sp>
      <p:sp>
        <p:nvSpPr>
          <p:cNvPr id="38" name="Text 31">
            <a:extLst xmlns:a="http://schemas.openxmlformats.org/drawingml/2006/main">
              <a:ext uri="{FF2B5EF4-FFF2-40B4-BE49-F238E27FC236}">
                <a16:creationId xmlns:a16="http://schemas.microsoft.com/office/drawing/2014/main" id="{40E2A2B1-2269-44D0-998A-6F12AEACBB75}"/>
              </a:ext>
            </a:extLst>
          </p:cNvPr>
          <p:cNvSpPr>
            <a:spLocks xmlns:a="http://schemas.openxmlformats.org/drawingml/2006/main" noGrp="1"/>
          </p:cNvSpPr>
          <p:nvPr/>
        </p:nvSpPr>
        <p:spPr>
          <a:xfrm xmlns:a="http://schemas.openxmlformats.org/drawingml/2006/main">
            <a:off x="12668098" y="4572000"/>
            <a:ext cx="4668012" cy="48554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100">
                <a:solidFill>
                  <a:srgbClr val="FFFFFF">
                    <a:alpha val="90000"/>
                  </a:srgbClr>
                </a:solidFill>
                <a:latin typeface="JetBrains Mono"/>
                <a:ea typeface="JetBrains Mono"/>
                <a:cs typeface="JetBrains Mono"/>
              </a:rPr>
              <a:t>y = 1 if final_result = </a:t>
            </a:r>
            <a:r>
              <a:rPr sz="1100">
                <a:solidFill>
                  <a:srgbClr val="FFFFFF">
                    <a:alpha val="90000"/>
                  </a:srgbClr>
                </a:solidFill>
                <a:latin typeface="JetBrains Mono"/>
                <a:ea typeface="JetBrains Mono"/>
                <a:cs typeface="JetBrains Mono"/>
              </a:rPr>
              <a:t>Withdrawn</a:t>
            </a:r>
          </a:p>
          <a:p xmlns:a="http://schemas.openxmlformats.org/drawingml/2006/main">
            <a:pPr marL="0" indent="0" algn="l">
              <a:lnSpc>
                <a:spcPts val="1800"/>
              </a:lnSpc>
              <a:buNone/>
            </a:pPr>
            <a:r>
              <a:rPr sz="1100">
                <a:solidFill>
                  <a:srgbClr val="FFFFFF">
                    <a:alpha val="90000"/>
                  </a:srgbClr>
                </a:solidFill>
                <a:latin typeface="JetBrains Mono"/>
                <a:ea typeface="JetBrains Mono"/>
                <a:cs typeface="JetBrains Mono"/>
              </a:rPr>
              <a:t>y = 0 if Pass, Distinction, or Fail</a:t>
            </a:r>
          </a:p>
        </p:txBody>
      </p:sp>
      <p:sp>
        <p:nvSpPr>
          <p:cNvPr id="39" name="Text 32">
            <a:extLst xmlns:a="http://schemas.openxmlformats.org/drawingml/2006/main">
              <a:ext uri="{FF2B5EF4-FFF2-40B4-BE49-F238E27FC236}">
                <a16:creationId xmlns:a16="http://schemas.microsoft.com/office/drawing/2014/main" id="{01291BE7-74F4-4804-A3B5-5D0D6FAE389A}"/>
              </a:ext>
            </a:extLst>
          </p:cNvPr>
          <p:cNvSpPr>
            <a:spLocks xmlns:a="http://schemas.openxmlformats.org/drawingml/2006/main" noGrp="1"/>
          </p:cNvSpPr>
          <p:nvPr/>
        </p:nvSpPr>
        <p:spPr>
          <a:xfrm xmlns:a="http://schemas.openxmlformats.org/drawingml/2006/main">
            <a:off x="12668098" y="5229454"/>
            <a:ext cx="4668012" cy="219456"/>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400" b="1">
                <a:solidFill>
                  <a:srgbClr val="FFFFFF"/>
                </a:solidFill>
                <a:latin typeface="Inter"/>
                <a:ea typeface="Inter"/>
                <a:cs typeface="Inter"/>
              </a:rPr>
              <a:t>Features</a:t>
            </a:r>
          </a:p>
        </p:txBody>
      </p:sp>
      <p:sp>
        <p:nvSpPr>
          <p:cNvPr id="40" name="Text 33">
            <a:extLst xmlns:a="http://schemas.openxmlformats.org/drawingml/2006/main">
              <a:ext uri="{FF2B5EF4-FFF2-40B4-BE49-F238E27FC236}">
                <a16:creationId xmlns:a16="http://schemas.microsoft.com/office/drawing/2014/main" id="{0B76108C-6034-4B73-920A-ED07597F5AAA}"/>
              </a:ext>
            </a:extLst>
          </p:cNvPr>
          <p:cNvSpPr>
            <a:spLocks xmlns:a="http://schemas.openxmlformats.org/drawingml/2006/main" noGrp="1"/>
          </p:cNvSpPr>
          <p:nvPr/>
        </p:nvSpPr>
        <p:spPr>
          <a:xfrm xmlns:a="http://schemas.openxmlformats.org/drawingml/2006/main">
            <a:off x="12668098" y="5479085"/>
            <a:ext cx="4668012" cy="45537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80"/>
              </a:lnSpc>
              <a:buNone/>
            </a:pPr>
            <a:r>
              <a:rPr sz="1000">
                <a:solidFill>
                  <a:srgbClr val="FFFFFF">
                    <a:alpha val="80000"/>
                  </a:srgbClr>
                </a:solidFill>
                <a:latin typeface="JetBrains Mono"/>
                <a:ea typeface="JetBrains Mono"/>
                <a:cs typeface="JetBrains Mono"/>
              </a:rPr>
              <a:t>first-75-day VLE clicks &amp; assessments,</a:t>
            </a:r>
          </a:p>
          <a:p xmlns:a="http://schemas.openxmlformats.org/drawingml/2006/main">
            <a:pPr marL="0" indent="0" algn="l">
              <a:lnSpc>
                <a:spcPts val="1680"/>
              </a:lnSpc>
              <a:buNone/>
            </a:pPr>
            <a:r>
              <a:rPr sz="1000">
                <a:solidFill>
                  <a:srgbClr val="FFFFFF">
                    <a:alpha val="80000"/>
                  </a:srgbClr>
                </a:solidFill>
                <a:latin typeface="JetBrains Mono"/>
                <a:ea typeface="JetBrains Mono"/>
                <a:cs typeface="JetBrains Mono"/>
              </a:rPr>
              <a:t>module context, demographics</a:t>
            </a:r>
          </a:p>
        </p:txBody>
      </p:sp>
      <p:sp>
        <p:nvSpPr>
          <p:cNvPr id="41" name="Text 34">
            <a:extLst xmlns:a="http://schemas.openxmlformats.org/drawingml/2006/main">
              <a:ext uri="{FF2B5EF4-FFF2-40B4-BE49-F238E27FC236}">
                <a16:creationId xmlns:a16="http://schemas.microsoft.com/office/drawing/2014/main" id="{0FF7E79A-C818-47EF-8F83-766A0153A76E}"/>
              </a:ext>
            </a:extLst>
          </p:cNvPr>
          <p:cNvSpPr>
            <a:spLocks xmlns:a="http://schemas.openxmlformats.org/drawingml/2006/main" noGrp="1"/>
          </p:cNvSpPr>
          <p:nvPr/>
        </p:nvSpPr>
        <p:spPr>
          <a:xfrm xmlns:a="http://schemas.openxmlformats.org/drawingml/2006/main">
            <a:off x="7429500" y="8382305"/>
            <a:ext cx="9715500"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FFFF">
                    <a:alpha val="55000"/>
                  </a:srgbClr>
                </a:solidFill>
                <a:latin typeface="JetBrains Mono"/>
                <a:ea typeface="JetBrains Mono"/>
                <a:cs typeface="JetBrains Mono"/>
              </a:rPr>
              <a:t>Evidence considered before recommending a pilot</a:t>
            </a:r>
          </a:p>
        </p:txBody>
      </p:sp>
      <p:sp>
        <p:nvSpPr>
          <p:cNvPr id="42" name="Text 35">
            <a:extLst xmlns:a="http://schemas.openxmlformats.org/drawingml/2006/main">
              <a:ext uri="{FF2B5EF4-FFF2-40B4-BE49-F238E27FC236}">
                <a16:creationId xmlns:a16="http://schemas.microsoft.com/office/drawing/2014/main" id="{11973963-16CE-4046-9335-7875DE3093B6}"/>
              </a:ext>
            </a:extLst>
          </p:cNvPr>
          <p:cNvSpPr>
            <a:spLocks xmlns:a="http://schemas.openxmlformats.org/drawingml/2006/main" noGrp="1"/>
          </p:cNvSpPr>
          <p:nvPr/>
        </p:nvSpPr>
        <p:spPr>
          <a:xfrm xmlns:a="http://schemas.openxmlformats.org/drawingml/2006/main">
            <a:off x="7429500" y="8610905"/>
            <a:ext cx="3363163"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solidFill>
                <a:latin typeface="JetBrains Mono"/>
                <a:ea typeface="JetBrains Mono"/>
                <a:cs typeface="JetBrains Mono"/>
              </a:rPr>
              <a:t>Statistical · F1, recall, AUC vs. baseline</a:t>
            </a:r>
          </a:p>
        </p:txBody>
      </p:sp>
      <p:sp>
        <p:nvSpPr>
          <p:cNvPr id="43" name="Text 36">
            <a:extLst xmlns:a="http://schemas.openxmlformats.org/drawingml/2006/main">
              <a:ext uri="{FF2B5EF4-FFF2-40B4-BE49-F238E27FC236}">
                <a16:creationId xmlns:a16="http://schemas.microsoft.com/office/drawing/2014/main" id="{617A09B2-C51E-41E3-858C-189843E3034F}"/>
              </a:ext>
            </a:extLst>
          </p:cNvPr>
          <p:cNvSpPr>
            <a:spLocks xmlns:a="http://schemas.openxmlformats.org/drawingml/2006/main" noGrp="1"/>
          </p:cNvSpPr>
          <p:nvPr/>
        </p:nvSpPr>
        <p:spPr>
          <a:xfrm xmlns:a="http://schemas.openxmlformats.org/drawingml/2006/main">
            <a:off x="11095330" y="8610905"/>
            <a:ext cx="85954"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alpha val="40000"/>
                  </a:srgbClr>
                </a:solidFill>
                <a:latin typeface="JetBrains Mono"/>
                <a:ea typeface="JetBrains Mono"/>
                <a:cs typeface="JetBrains Mono"/>
              </a:rPr>
              <a:t>|</a:t>
            </a:r>
          </a:p>
        </p:txBody>
      </p:sp>
      <p:sp>
        <p:nvSpPr>
          <p:cNvPr id="44" name="Text 37">
            <a:extLst xmlns:a="http://schemas.openxmlformats.org/drawingml/2006/main">
              <a:ext uri="{FF2B5EF4-FFF2-40B4-BE49-F238E27FC236}">
                <a16:creationId xmlns:a16="http://schemas.microsoft.com/office/drawing/2014/main" id="{B0289144-677F-420E-8504-352BD616D4E2}"/>
              </a:ext>
            </a:extLst>
          </p:cNvPr>
          <p:cNvSpPr>
            <a:spLocks xmlns:a="http://schemas.openxmlformats.org/drawingml/2006/main" noGrp="1"/>
          </p:cNvSpPr>
          <p:nvPr/>
        </p:nvSpPr>
        <p:spPr>
          <a:xfrm xmlns:a="http://schemas.openxmlformats.org/drawingml/2006/main">
            <a:off x="11480292" y="8610905"/>
            <a:ext cx="3124505"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solidFill>
                <a:latin typeface="JetBrains Mono"/>
                <a:ea typeface="JetBrains Mono"/>
                <a:cs typeface="JetBrains Mono"/>
              </a:rPr>
              <a:t>Operational · alerts / missed per 1,000</a:t>
            </a:r>
          </a:p>
        </p:txBody>
      </p:sp>
      <p:sp>
        <p:nvSpPr>
          <p:cNvPr id="45" name="Text 38">
            <a:extLst xmlns:a="http://schemas.openxmlformats.org/drawingml/2006/main">
              <a:ext uri="{FF2B5EF4-FFF2-40B4-BE49-F238E27FC236}">
                <a16:creationId xmlns:a16="http://schemas.microsoft.com/office/drawing/2014/main" id="{B2337E7D-089E-4C57-84E4-8699A4B99B27}"/>
              </a:ext>
            </a:extLst>
          </p:cNvPr>
          <p:cNvSpPr>
            <a:spLocks xmlns:a="http://schemas.openxmlformats.org/drawingml/2006/main" noGrp="1"/>
          </p:cNvSpPr>
          <p:nvPr/>
        </p:nvSpPr>
        <p:spPr>
          <a:xfrm xmlns:a="http://schemas.openxmlformats.org/drawingml/2006/main">
            <a:off x="14905634" y="8610905"/>
            <a:ext cx="85954"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alpha val="40000"/>
                  </a:srgbClr>
                </a:solidFill>
                <a:latin typeface="JetBrains Mono"/>
                <a:ea typeface="JetBrains Mono"/>
                <a:cs typeface="JetBrains Mono"/>
              </a:rPr>
              <a:t>|</a:t>
            </a:r>
          </a:p>
        </p:txBody>
      </p:sp>
      <p:sp>
        <p:nvSpPr>
          <p:cNvPr id="46" name="Text 39">
            <a:extLst xmlns:a="http://schemas.openxmlformats.org/drawingml/2006/main">
              <a:ext uri="{FF2B5EF4-FFF2-40B4-BE49-F238E27FC236}">
                <a16:creationId xmlns:a16="http://schemas.microsoft.com/office/drawing/2014/main" id="{893C6CE3-6ADF-43D8-8992-A514C63B877F}"/>
              </a:ext>
            </a:extLst>
          </p:cNvPr>
          <p:cNvSpPr>
            <a:spLocks xmlns:a="http://schemas.openxmlformats.org/drawingml/2006/main" noGrp="1"/>
          </p:cNvSpPr>
          <p:nvPr/>
        </p:nvSpPr>
        <p:spPr>
          <a:xfrm xmlns:a="http://schemas.openxmlformats.org/drawingml/2006/main">
            <a:off x="7429500" y="9068105"/>
            <a:ext cx="2724912"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solidFill>
                <a:latin typeface="JetBrains Mono"/>
                <a:ea typeface="JetBrains Mono"/>
                <a:cs typeface="JetBrains Mono"/>
              </a:rPr>
              <a:t>Fairness · initial subgroup recall</a:t>
            </a:r>
          </a:p>
        </p:txBody>
      </p:sp>
      <p:sp>
        <p:nvSpPr>
          <p:cNvPr id="47" name="Text 40">
            <a:extLst xmlns:a="http://schemas.openxmlformats.org/drawingml/2006/main">
              <a:ext uri="{FF2B5EF4-FFF2-40B4-BE49-F238E27FC236}">
                <a16:creationId xmlns:a16="http://schemas.microsoft.com/office/drawing/2014/main" id="{2A55F6F3-D520-40CD-B051-F1545254F7D1}"/>
              </a:ext>
            </a:extLst>
          </p:cNvPr>
          <p:cNvSpPr>
            <a:spLocks xmlns:a="http://schemas.openxmlformats.org/drawingml/2006/main" noGrp="1"/>
          </p:cNvSpPr>
          <p:nvPr/>
        </p:nvSpPr>
        <p:spPr>
          <a:xfrm xmlns:a="http://schemas.openxmlformats.org/drawingml/2006/main">
            <a:off x="10455250" y="9068105"/>
            <a:ext cx="85954"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alpha val="40000"/>
                  </a:srgbClr>
                </a:solidFill>
                <a:latin typeface="JetBrains Mono"/>
                <a:ea typeface="JetBrains Mono"/>
                <a:cs typeface="JetBrains Mono"/>
              </a:rPr>
              <a:t>|</a:t>
            </a:r>
          </a:p>
        </p:txBody>
      </p:sp>
      <p:sp>
        <p:nvSpPr>
          <p:cNvPr id="48" name="Text 41">
            <a:extLst xmlns:a="http://schemas.openxmlformats.org/drawingml/2006/main">
              <a:ext uri="{FF2B5EF4-FFF2-40B4-BE49-F238E27FC236}">
                <a16:creationId xmlns:a16="http://schemas.microsoft.com/office/drawing/2014/main" id="{2BE9A3D3-AC7E-4F66-A66E-50D12E5A707A}"/>
              </a:ext>
            </a:extLst>
          </p:cNvPr>
          <p:cNvSpPr>
            <a:spLocks xmlns:a="http://schemas.openxmlformats.org/drawingml/2006/main" noGrp="1"/>
          </p:cNvSpPr>
          <p:nvPr/>
        </p:nvSpPr>
        <p:spPr>
          <a:xfrm xmlns:a="http://schemas.openxmlformats.org/drawingml/2006/main">
            <a:off x="10840212" y="9068105"/>
            <a:ext cx="3124505"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solidFill>
                <a:latin typeface="JetBrains Mono"/>
                <a:ea typeface="JetBrains Mono"/>
                <a:cs typeface="JetBrains Mono"/>
              </a:rPr>
              <a:t>Robustness · splits, missingness, noise</a:t>
            </a:r>
          </a:p>
        </p:txBody>
      </p:sp>
    </p:spTree>
    <p:extLst>
      <p:ext uri="{BB962C8B-B14F-4D97-AF65-F5344CB8AC3E}">
        <p14:creationId xmlns:p14="http://schemas.microsoft.com/office/powerpoint/2010/main" val="367571808"/>
      </p:ext>
    </p:extLst>
  </p:cSld>
</p:sld>
</file>

<file path=ppt/slides/slide5.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81c98d2f067948a2"/>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F30B8720-43AD-4B55-AAB0-034678CF299A}"/>
              </a:ext>
            </a:extLst>
          </p:cNvPr>
          <p:cNvSpPr>
            <a:spLocks xmlns:a="http://schemas.openxmlformats.org/drawingml/2006/main" noGrp="1"/>
          </p:cNvSpPr>
          <p:nvPr/>
        </p:nvSpPr>
        <p:spPr>
          <a:xfrm xmlns:a="http://schemas.openxmlformats.org/drawingml/2006/main">
            <a:off x="761695" y="2381098"/>
            <a:ext cx="8305495" cy="4496105"/>
          </a:xfrm>
          <a:prstGeom xmlns:a="http://schemas.openxmlformats.org/drawingml/2006/main" prst="roundRect">
            <a:avLst>
              <a:gd name="adj" fmla="val 427"/>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A69E49CE-2115-4F85-809D-70625B084D07}"/>
              </a:ext>
            </a:extLst>
          </p:cNvPr>
          <p:cNvSpPr>
            <a:spLocks xmlns:a="http://schemas.openxmlformats.org/drawingml/2006/main" noGrp="1"/>
          </p:cNvSpPr>
          <p:nvPr/>
        </p:nvSpPr>
        <p:spPr>
          <a:xfrm xmlns:a="http://schemas.openxmlformats.org/drawingml/2006/main">
            <a:off x="9239098" y="2381098"/>
            <a:ext cx="8305495" cy="4496105"/>
          </a:xfrm>
          <a:prstGeom xmlns:a="http://schemas.openxmlformats.org/drawingml/2006/main" prst="roundRect">
            <a:avLst>
              <a:gd name="adj" fmla="val 427"/>
            </a:avLst>
          </a:prstGeom>
          <a:solidFill xmlns:a="http://schemas.openxmlformats.org/drawingml/2006/main">
            <a:srgbClr val="FFFFFF"/>
          </a:solidFill>
          <a:ln xmlns:a="http://schemas.openxmlformats.org/drawingml/2006/main" w="12700">
            <a:solidFill>
              <a:srgbClr val="E4E5EF"/>
            </a:solidFill>
            <a:prstDash val="solid"/>
          </a:ln>
        </p:spPr>
      </p:sp>
      <p:sp>
        <p:nvSpPr>
          <p:cNvPr id="6" name="Shape 2">
            <a:extLst xmlns:a="http://schemas.openxmlformats.org/drawingml/2006/main">
              <a:ext uri="{FF2B5EF4-FFF2-40B4-BE49-F238E27FC236}">
                <a16:creationId xmlns:a16="http://schemas.microsoft.com/office/drawing/2014/main" id="{E79ACD2E-46F8-4F4F-B20F-17406BE0541A}"/>
              </a:ext>
            </a:extLst>
          </p:cNvPr>
          <p:cNvSpPr>
            <a:spLocks xmlns:a="http://schemas.openxmlformats.org/drawingml/2006/main" noGrp="1"/>
          </p:cNvSpPr>
          <p:nvPr/>
        </p:nvSpPr>
        <p:spPr>
          <a:xfrm xmlns:a="http://schemas.openxmlformats.org/drawingml/2006/main">
            <a:off x="761695" y="7144207"/>
            <a:ext cx="16763695" cy="2095805"/>
          </a:xfrm>
          <a:prstGeom xmlns:a="http://schemas.openxmlformats.org/drawingml/2006/main" prst="roundRect">
            <a:avLst>
              <a:gd name="adj" fmla="val 916"/>
            </a:avLst>
          </a:prstGeom>
          <a:solidFill xmlns:a="http://schemas.openxmlformats.org/drawingml/2006/main">
            <a:srgbClr val="1A1D5C"/>
          </a:solidFill>
          <a:ln xmlns:a="http://schemas.openxmlformats.org/drawingml/2006/main" w="12700">
            <a:solidFill>
              <a:srgbClr val="FFFFFF">
                <a:alpha val="0"/>
              </a:srgbClr>
            </a:solidFill>
            <a:prstDash val="solid"/>
          </a:ln>
        </p:spPr>
      </p:sp>
      <p:pic>
        <p:nvPicPr>
          <p:cNvPr id="34" name="Image 1"/>
          <p:cNvPicPr>
            <a:picLocks xmlns:a="http://schemas.openxmlformats.org/drawingml/2006/main" noChangeAspect="1"/>
          </p:cNvPicPr>
          <p:nvPr/>
        </p:nvPicPr>
        <p:blipFill>
          <a:blip xmlns:r="http://schemas.openxmlformats.org/officeDocument/2006/relationships" xmlns:a="http://schemas.openxmlformats.org/drawingml/2006/main" r:embed="R6186566eb86a4c2a"/>
          <a:srcRect xmlns:a="http://schemas.openxmlformats.org/drawingml/2006/main" l="-9959" t="0" r="-9959" b="0"/>
          <a:stretch xmlns:a="http://schemas.openxmlformats.org/drawingml/2006/main"/>
        </p:blipFill>
        <p:spPr>
          <a:xfrm xmlns:a="http://schemas.openxmlformats.org/drawingml/2006/main">
            <a:off x="1047902" y="3095244"/>
            <a:ext cx="7715707" cy="3619195"/>
          </a:xfrm>
          <a:prstGeom xmlns:a="http://schemas.openxmlformats.org/drawingml/2006/main" prst="rect">
            <a:avLst/>
          </a:prstGeom>
        </p:spPr>
      </p:pic>
      <p:pic>
        <p:nvPicPr>
          <p:cNvPr id="35" name="Image 2"/>
          <p:cNvPicPr>
            <a:picLocks xmlns:a="http://schemas.openxmlformats.org/drawingml/2006/main" noChangeAspect="1"/>
          </p:cNvPicPr>
          <p:nvPr/>
        </p:nvPicPr>
        <p:blipFill>
          <a:blip xmlns:r="http://schemas.openxmlformats.org/officeDocument/2006/relationships" xmlns:a="http://schemas.openxmlformats.org/drawingml/2006/main" r:embed="R6235e7b02b3c46c8"/>
          <a:srcRect xmlns:a="http://schemas.openxmlformats.org/drawingml/2006/main" l="-9959" t="0" r="-9959" b="0"/>
          <a:stretch xmlns:a="http://schemas.openxmlformats.org/drawingml/2006/main"/>
        </p:blipFill>
        <p:spPr>
          <a:xfrm xmlns:a="http://schemas.openxmlformats.org/drawingml/2006/main">
            <a:off x="9525305" y="3095244"/>
            <a:ext cx="7715707" cy="3619195"/>
          </a:xfrm>
          <a:prstGeom xmlns:a="http://schemas.openxmlformats.org/drawingml/2006/main" prst="rect">
            <a:avLst/>
          </a:prstGeom>
        </p:spPr>
      </p:pic>
      <p:pic>
        <p:nvPicPr>
          <p:cNvPr id="36" name="Image 3"/>
          <p:cNvPicPr>
            <a:picLocks xmlns:a="http://schemas.openxmlformats.org/drawingml/2006/main" noChangeAspect="1"/>
          </p:cNvPicPr>
          <p:nvPr/>
        </p:nvPicPr>
        <p:blipFill>
          <a:blip xmlns:r="http://schemas.openxmlformats.org/officeDocument/2006/relationships" xmlns:a="http://schemas.openxmlformats.org/drawingml/2006/main" r:embed="R3b6c361bd91f4d60"/>
          <a:srcRect xmlns:a="http://schemas.openxmlformats.org/drawingml/2006/main" l="0" t="-2089" r="0" b="-2089"/>
          <a:stretch xmlns:a="http://schemas.openxmlformats.org/drawingml/2006/main"/>
        </p:blipFill>
        <p:spPr>
          <a:xfrm xmlns:a="http://schemas.openxmlformats.org/drawingml/2006/main">
            <a:off x="6476695" y="7381951"/>
            <a:ext cx="9144" cy="1619402"/>
          </a:xfrm>
          <a:prstGeom xmlns:a="http://schemas.openxmlformats.org/drawingml/2006/main" prst="rect">
            <a:avLst/>
          </a:prstGeom>
        </p:spPr>
      </p:pic>
      <p:pic>
        <p:nvPicPr>
          <p:cNvPr id="37" name="Image 4"/>
          <p:cNvPicPr>
            <a:picLocks xmlns:a="http://schemas.openxmlformats.org/drawingml/2006/main" noChangeAspect="1"/>
          </p:cNvPicPr>
          <p:nvPr/>
        </p:nvPicPr>
        <p:blipFill>
          <a:blip xmlns:r="http://schemas.openxmlformats.org/officeDocument/2006/relationships" xmlns:a="http://schemas.openxmlformats.org/drawingml/2006/main" r:embed="R3b6c361bd91f4d60"/>
          <a:srcRect xmlns:a="http://schemas.openxmlformats.org/drawingml/2006/main" l="0" t="-2089" r="0" b="-2089"/>
          <a:stretch xmlns:a="http://schemas.openxmlformats.org/drawingml/2006/main"/>
        </p:blipFill>
        <p:spPr>
          <a:xfrm xmlns:a="http://schemas.openxmlformats.org/drawingml/2006/main">
            <a:off x="12096598" y="7381951"/>
            <a:ext cx="9144" cy="1619402"/>
          </a:xfrm>
          <a:prstGeom xmlns:a="http://schemas.openxmlformats.org/drawingml/2006/main" prst="rect">
            <a:avLst/>
          </a:prstGeom>
        </p:spPr>
      </p:pic>
      <p:sp>
        <p:nvSpPr>
          <p:cNvPr id="11" name="Text 3">
            <a:extLst xmlns:a="http://schemas.openxmlformats.org/drawingml/2006/main">
              <a:ext uri="{FF2B5EF4-FFF2-40B4-BE49-F238E27FC236}">
                <a16:creationId xmlns:a16="http://schemas.microsoft.com/office/drawing/2014/main" id="{E8055D7A-1E0A-49B0-8EF7-F6B4D22CD6DD}"/>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03 · EDA · Data profile &amp; quality · 1 of 3</a:t>
            </a:r>
          </a:p>
        </p:txBody>
      </p:sp>
      <p:sp>
        <p:nvSpPr>
          <p:cNvPr id="12" name="Text 4">
            <a:extLst xmlns:a="http://schemas.openxmlformats.org/drawingml/2006/main">
              <a:ext uri="{FF2B5EF4-FFF2-40B4-BE49-F238E27FC236}">
                <a16:creationId xmlns:a16="http://schemas.microsoft.com/office/drawing/2014/main" id="{71258237-3CAA-4E6A-A2D6-8823BB3D6176}"/>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05 / 19</a:t>
            </a:r>
          </a:p>
        </p:txBody>
      </p:sp>
      <p:sp>
        <p:nvSpPr>
          <p:cNvPr id="13" name="Text 5">
            <a:extLst xmlns:a="http://schemas.openxmlformats.org/drawingml/2006/main">
              <a:ext uri="{FF2B5EF4-FFF2-40B4-BE49-F238E27FC236}">
                <a16:creationId xmlns:a16="http://schemas.microsoft.com/office/drawing/2014/main" id="{4664A694-A4E8-441F-B8D5-E72E3D7E5F7F}"/>
              </a:ext>
            </a:extLst>
          </p:cNvPr>
          <p:cNvSpPr>
            <a:spLocks xmlns:a="http://schemas.openxmlformats.org/drawingml/2006/main" noGrp="1"/>
          </p:cNvSpPr>
          <p:nvPr/>
        </p:nvSpPr>
        <p:spPr>
          <a:xfrm xmlns:a="http://schemas.openxmlformats.org/drawingml/2006/main">
            <a:off x="761695" y="1238098"/>
            <a:ext cx="16764610" cy="4572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300" b="1">
                <a:solidFill>
                  <a:srgbClr val="0F1226"/>
                </a:solidFill>
                <a:latin typeface="Inter"/>
                <a:ea typeface="Inter"/>
                <a:cs typeface="Inter"/>
              </a:rPr>
              <a:t>Two datasets capture risk through different types of evidence.</a:t>
            </a:r>
          </a:p>
        </p:txBody>
      </p:sp>
      <p:sp>
        <p:nvSpPr>
          <p:cNvPr id="14" name="Text 6">
            <a:extLst xmlns:a="http://schemas.openxmlformats.org/drawingml/2006/main">
              <a:ext uri="{FF2B5EF4-FFF2-40B4-BE49-F238E27FC236}">
                <a16:creationId xmlns:a16="http://schemas.microsoft.com/office/drawing/2014/main" id="{97B745ED-B20F-4330-8167-A3B5C2394940}"/>
              </a:ext>
            </a:extLst>
          </p:cNvPr>
          <p:cNvSpPr>
            <a:spLocks xmlns:a="http://schemas.openxmlformats.org/drawingml/2006/main" noGrp="1"/>
          </p:cNvSpPr>
          <p:nvPr/>
        </p:nvSpPr>
        <p:spPr>
          <a:xfrm xmlns:a="http://schemas.openxmlformats.org/drawingml/2006/main">
            <a:off x="761695" y="1766621"/>
            <a:ext cx="16764610" cy="20025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300" i="1">
                <a:solidFill>
                  <a:srgbClr val="6A6F8C"/>
                </a:solidFill>
                <a:latin typeface="Source Serif Pro"/>
                <a:ea typeface="Source Serif Pro"/>
                <a:cs typeface="Source Serif Pro"/>
              </a:rPr>
              <a:t>Class balance is comparable, but structure and data quality are not.</a:t>
            </a:r>
          </a:p>
        </p:txBody>
      </p:sp>
      <p:sp>
        <p:nvSpPr>
          <p:cNvPr id="15" name="Text 7">
            <a:extLst xmlns:a="http://schemas.openxmlformats.org/drawingml/2006/main">
              <a:ext uri="{FF2B5EF4-FFF2-40B4-BE49-F238E27FC236}">
                <a16:creationId xmlns:a16="http://schemas.microsoft.com/office/drawing/2014/main" id="{7B09930B-1946-45FC-89AB-EA1B5148D3B6}"/>
              </a:ext>
            </a:extLst>
          </p:cNvPr>
          <p:cNvSpPr>
            <a:spLocks xmlns:a="http://schemas.openxmlformats.org/drawingml/2006/main" noGrp="1"/>
          </p:cNvSpPr>
          <p:nvPr/>
        </p:nvSpPr>
        <p:spPr>
          <a:xfrm xmlns:a="http://schemas.openxmlformats.org/drawingml/2006/main">
            <a:off x="1047902" y="2572207"/>
            <a:ext cx="7715707"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FIG · UCI target distribution</a:t>
            </a:r>
          </a:p>
        </p:txBody>
      </p:sp>
      <p:sp>
        <p:nvSpPr>
          <p:cNvPr id="16" name="Text 8">
            <a:extLst xmlns:a="http://schemas.openxmlformats.org/drawingml/2006/main">
              <a:ext uri="{FF2B5EF4-FFF2-40B4-BE49-F238E27FC236}">
                <a16:creationId xmlns:a16="http://schemas.microsoft.com/office/drawing/2014/main" id="{55821382-EAE8-40D0-B560-F28F320A269A}"/>
              </a:ext>
            </a:extLst>
          </p:cNvPr>
          <p:cNvSpPr>
            <a:spLocks xmlns:a="http://schemas.openxmlformats.org/drawingml/2006/main" noGrp="1"/>
          </p:cNvSpPr>
          <p:nvPr/>
        </p:nvSpPr>
        <p:spPr>
          <a:xfrm xmlns:a="http://schemas.openxmlformats.org/drawingml/2006/main">
            <a:off x="1047902" y="2743200"/>
            <a:ext cx="7715707"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n = 4,424 records · Dropout ≈ 32%</a:t>
            </a:r>
          </a:p>
        </p:txBody>
      </p:sp>
      <p:sp>
        <p:nvSpPr>
          <p:cNvPr id="17" name="Text 9">
            <a:extLst xmlns:a="http://schemas.openxmlformats.org/drawingml/2006/main">
              <a:ext uri="{FF2B5EF4-FFF2-40B4-BE49-F238E27FC236}">
                <a16:creationId xmlns:a16="http://schemas.microsoft.com/office/drawing/2014/main" id="{726A5E49-0147-49C7-BF7D-8F023458E6D1}"/>
              </a:ext>
            </a:extLst>
          </p:cNvPr>
          <p:cNvSpPr>
            <a:spLocks xmlns:a="http://schemas.openxmlformats.org/drawingml/2006/main" noGrp="1"/>
          </p:cNvSpPr>
          <p:nvPr/>
        </p:nvSpPr>
        <p:spPr>
          <a:xfrm xmlns:a="http://schemas.openxmlformats.org/drawingml/2006/main">
            <a:off x="9525305" y="2572207"/>
            <a:ext cx="7715707"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FIG · OULAD final-result distribution</a:t>
            </a:r>
          </a:p>
        </p:txBody>
      </p:sp>
      <p:sp>
        <p:nvSpPr>
          <p:cNvPr id="18" name="Text 10">
            <a:extLst xmlns:a="http://schemas.openxmlformats.org/drawingml/2006/main">
              <a:ext uri="{FF2B5EF4-FFF2-40B4-BE49-F238E27FC236}">
                <a16:creationId xmlns:a16="http://schemas.microsoft.com/office/drawing/2014/main" id="{4156F2CE-791C-41E7-90F9-5CFFCF02F27F}"/>
              </a:ext>
            </a:extLst>
          </p:cNvPr>
          <p:cNvSpPr>
            <a:spLocks xmlns:a="http://schemas.openxmlformats.org/drawingml/2006/main" noGrp="1"/>
          </p:cNvSpPr>
          <p:nvPr/>
        </p:nvSpPr>
        <p:spPr>
          <a:xfrm xmlns:a="http://schemas.openxmlformats.org/drawingml/2006/main">
            <a:off x="9525305" y="2743200"/>
            <a:ext cx="7715707"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n = 32,593 student-module registrations · Withdrawn ≈ 31%</a:t>
            </a:r>
          </a:p>
        </p:txBody>
      </p:sp>
      <p:sp>
        <p:nvSpPr>
          <p:cNvPr id="19" name="Text 11">
            <a:extLst xmlns:a="http://schemas.openxmlformats.org/drawingml/2006/main">
              <a:ext uri="{FF2B5EF4-FFF2-40B4-BE49-F238E27FC236}">
                <a16:creationId xmlns:a16="http://schemas.microsoft.com/office/drawing/2014/main" id="{152D3FE8-1485-4691-92C6-8F0E03611143}"/>
              </a:ext>
            </a:extLst>
          </p:cNvPr>
          <p:cNvSpPr>
            <a:spLocks xmlns:a="http://schemas.openxmlformats.org/drawingml/2006/main" noGrp="1"/>
          </p:cNvSpPr>
          <p:nvPr/>
        </p:nvSpPr>
        <p:spPr>
          <a:xfrm xmlns:a="http://schemas.openxmlformats.org/drawingml/2006/main">
            <a:off x="1143000" y="7381951"/>
            <a:ext cx="5143500"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UCI · Data quality</a:t>
            </a:r>
          </a:p>
        </p:txBody>
      </p:sp>
      <p:sp>
        <p:nvSpPr>
          <p:cNvPr id="20" name="Text 12">
            <a:extLst xmlns:a="http://schemas.openxmlformats.org/drawingml/2006/main">
              <a:ext uri="{FF2B5EF4-FFF2-40B4-BE49-F238E27FC236}">
                <a16:creationId xmlns:a16="http://schemas.microsoft.com/office/drawing/2014/main" id="{096C9ABB-8240-46B1-887D-837AC24EF7F6}"/>
              </a:ext>
            </a:extLst>
          </p:cNvPr>
          <p:cNvSpPr>
            <a:spLocks xmlns:a="http://schemas.openxmlformats.org/drawingml/2006/main" noGrp="1"/>
          </p:cNvSpPr>
          <p:nvPr/>
        </p:nvSpPr>
        <p:spPr>
          <a:xfrm xmlns:a="http://schemas.openxmlformats.org/drawingml/2006/main">
            <a:off x="1143000" y="7580376"/>
            <a:ext cx="5143500" cy="76443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20"/>
              </a:lnSpc>
              <a:buNone/>
            </a:pPr>
            <a:r>
              <a:rPr sz="1200" b="1">
                <a:solidFill>
                  <a:srgbClr val="FF5CA0"/>
                </a:solidFill>
                <a:latin typeface="JetBrains Mono"/>
                <a:ea typeface="JetBrains Mono"/>
                <a:cs typeface="JetBrains Mono"/>
              </a:rPr>
              <a:t>0</a:t>
            </a:r>
            <a:r>
              <a:rPr sz="1200">
                <a:solidFill>
                  <a:srgbClr val="FFFFFF"/>
                </a:solidFill>
                <a:latin typeface="Inter"/>
                <a:ea typeface="Inter"/>
                <a:cs typeface="Inter"/>
              </a:rPr>
              <a:t> missing values · </a:t>
            </a:r>
            <a:r>
              <a:rPr sz="1200" b="1">
                <a:solidFill>
                  <a:srgbClr val="FF5CA0"/>
                </a:solidFill>
                <a:latin typeface="JetBrains Mono"/>
                <a:ea typeface="JetBrains Mono"/>
                <a:cs typeface="JetBrains Mono"/>
              </a:rPr>
              <a:t>0</a:t>
            </a:r>
            <a:r>
              <a:rPr sz="1200">
                <a:solidFill>
                  <a:srgbClr val="FFFFFF"/>
                </a:solidFill>
                <a:latin typeface="Inter"/>
                <a:ea typeface="Inter"/>
                <a:cs typeface="Inter"/>
              </a:rPr>
              <a:t> duplicate rows.</a:t>
            </a:r>
          </a:p>
          <a:p xmlns:a="http://schemas.openxmlformats.org/drawingml/2006/main">
            <a:pPr marL="0" indent="0" algn="l">
              <a:lnSpc>
                <a:spcPts val="1920"/>
              </a:lnSpc>
              <a:buNone/>
            </a:pPr>
            <a:r>
              <a:rPr sz="1200">
                <a:solidFill>
                  <a:srgbClr val="FFFFFF"/>
                </a:solidFill>
                <a:latin typeface="Inter"/>
                <a:ea typeface="Inter"/>
                <a:cs typeface="Inter"/>
              </a:rPr>
              <a:t>Enrolled is a valid outcome and stays in the non-dropout class of the binary task.</a:t>
            </a:r>
          </a:p>
        </p:txBody>
      </p:sp>
      <p:sp>
        <p:nvSpPr>
          <p:cNvPr id="21" name="Text 13">
            <a:extLst xmlns:a="http://schemas.openxmlformats.org/drawingml/2006/main">
              <a:ext uri="{FF2B5EF4-FFF2-40B4-BE49-F238E27FC236}">
                <a16:creationId xmlns:a16="http://schemas.microsoft.com/office/drawing/2014/main" id="{E577AA06-8A73-4AEB-AC8E-087E27A1AE0F}"/>
              </a:ext>
            </a:extLst>
          </p:cNvPr>
          <p:cNvSpPr>
            <a:spLocks xmlns:a="http://schemas.openxmlformats.org/drawingml/2006/main" noGrp="1"/>
          </p:cNvSpPr>
          <p:nvPr/>
        </p:nvSpPr>
        <p:spPr>
          <a:xfrm xmlns:a="http://schemas.openxmlformats.org/drawingml/2006/main">
            <a:off x="6762902" y="7381951"/>
            <a:ext cx="5143500"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OULAD final table · Data quality</a:t>
            </a:r>
          </a:p>
        </p:txBody>
      </p:sp>
      <p:sp>
        <p:nvSpPr>
          <p:cNvPr id="22" name="Text 14">
            <a:extLst xmlns:a="http://schemas.openxmlformats.org/drawingml/2006/main">
              <a:ext uri="{FF2B5EF4-FFF2-40B4-BE49-F238E27FC236}">
                <a16:creationId xmlns:a16="http://schemas.microsoft.com/office/drawing/2014/main" id="{BF67D099-E33C-4AE9-BED4-1276C6C997D0}"/>
              </a:ext>
            </a:extLst>
          </p:cNvPr>
          <p:cNvSpPr>
            <a:spLocks xmlns:a="http://schemas.openxmlformats.org/drawingml/2006/main" noGrp="1"/>
          </p:cNvSpPr>
          <p:nvPr/>
        </p:nvSpPr>
        <p:spPr>
          <a:xfrm xmlns:a="http://schemas.openxmlformats.org/drawingml/2006/main">
            <a:off x="6762902" y="7582205"/>
            <a:ext cx="5143500" cy="71414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100" b="1">
                <a:solidFill>
                  <a:srgbClr val="FF5CA0"/>
                </a:solidFill>
                <a:latin typeface="JetBrains Mono"/>
                <a:ea typeface="JetBrains Mono"/>
                <a:cs typeface="JetBrains Mono"/>
              </a:rPr>
              <a:t>0</a:t>
            </a:r>
            <a:r>
              <a:rPr sz="1100">
                <a:solidFill>
                  <a:srgbClr val="FFFFFF"/>
                </a:solidFill>
                <a:latin typeface="Inter"/>
                <a:ea typeface="Inter"/>
                <a:cs typeface="Inter"/>
              </a:rPr>
              <a:t> duplicate rows.</a:t>
            </a:r>
          </a:p>
          <a:p xmlns:a="http://schemas.openxmlformats.org/drawingml/2006/main">
            <a:pPr marL="0" indent="0" algn="l">
              <a:lnSpc>
                <a:spcPts val="1800"/>
              </a:lnSpc>
              <a:buNone/>
            </a:pPr>
            <a:r>
              <a:rPr sz="1100">
                <a:solidFill>
                  <a:srgbClr val="FFFFFF"/>
                </a:solidFill>
                <a:latin typeface="JetBrains Mono"/>
                <a:ea typeface="JetBrains Mono"/>
                <a:cs typeface="JetBrains Mono"/>
              </a:rPr>
              <a:t>imd_band: 3.41%</a:t>
            </a:r>
            <a:r>
              <a:rPr sz="1100">
                <a:solidFill>
                  <a:srgbClr val="FFFFFF"/>
                </a:solidFill>
                <a:latin typeface="Inter"/>
                <a:ea typeface="Inter"/>
                <a:cs typeface="Inter"/>
              </a:rPr>
              <a:t> missing.</a:t>
            </a:r>
          </a:p>
          <a:p xmlns:a="http://schemas.openxmlformats.org/drawingml/2006/main">
            <a:pPr marL="0" indent="0" algn="l">
              <a:lnSpc>
                <a:spcPts val="1800"/>
              </a:lnSpc>
              <a:buNone/>
            </a:pPr>
            <a:r>
              <a:rPr sz="1100">
                <a:solidFill>
                  <a:srgbClr val="FFFFFF"/>
                </a:solidFill>
                <a:latin typeface="JetBrains Mono"/>
                <a:ea typeface="JetBrains Mono"/>
                <a:cs typeface="JetBrains Mono"/>
              </a:rPr>
              <a:t>date_registration &amp; registration_lead_days: 0.14%</a:t>
            </a:r>
            <a:r>
              <a:rPr sz="1100">
                <a:solidFill>
                  <a:srgbClr val="FFFFFF"/>
                </a:solidFill>
                <a:latin typeface="Inter"/>
                <a:ea typeface="Inter"/>
                <a:cs typeface="Inter"/>
              </a:rPr>
              <a:t> each.</a:t>
            </a:r>
          </a:p>
        </p:txBody>
      </p:sp>
      <p:sp>
        <p:nvSpPr>
          <p:cNvPr id="23" name="Text 15">
            <a:extLst xmlns:a="http://schemas.openxmlformats.org/drawingml/2006/main">
              <a:ext uri="{FF2B5EF4-FFF2-40B4-BE49-F238E27FC236}">
                <a16:creationId xmlns:a16="http://schemas.microsoft.com/office/drawing/2014/main" id="{8A681AD0-6B43-4CFD-929B-ADAC0E7C87E7}"/>
              </a:ext>
            </a:extLst>
          </p:cNvPr>
          <p:cNvSpPr>
            <a:spLocks xmlns:a="http://schemas.openxmlformats.org/drawingml/2006/main" noGrp="1"/>
          </p:cNvSpPr>
          <p:nvPr/>
        </p:nvSpPr>
        <p:spPr>
          <a:xfrm xmlns:a="http://schemas.openxmlformats.org/drawingml/2006/main">
            <a:off x="12382805" y="7381951"/>
            <a:ext cx="4953305"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How we handled it</a:t>
            </a:r>
          </a:p>
        </p:txBody>
      </p:sp>
      <p:sp>
        <p:nvSpPr>
          <p:cNvPr id="24" name="Text 16">
            <a:extLst xmlns:a="http://schemas.openxmlformats.org/drawingml/2006/main">
              <a:ext uri="{FF2B5EF4-FFF2-40B4-BE49-F238E27FC236}">
                <a16:creationId xmlns:a16="http://schemas.microsoft.com/office/drawing/2014/main" id="{513FB30D-A1CB-408B-99A9-9E3742B190DF}"/>
              </a:ext>
            </a:extLst>
          </p:cNvPr>
          <p:cNvSpPr>
            <a:spLocks xmlns:a="http://schemas.openxmlformats.org/drawingml/2006/main" noGrp="1"/>
          </p:cNvSpPr>
          <p:nvPr/>
        </p:nvSpPr>
        <p:spPr>
          <a:xfrm xmlns:a="http://schemas.openxmlformats.org/drawingml/2006/main">
            <a:off x="12382805" y="7582205"/>
            <a:ext cx="4953305" cy="71414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100">
                <a:solidFill>
                  <a:srgbClr val="FFFFFF"/>
                </a:solidFill>
                <a:latin typeface="Inter"/>
                <a:ea typeface="Inter"/>
                <a:cs typeface="Inter"/>
              </a:rPr>
              <a:t>Missing values handled </a:t>
            </a:r>
            <a:r>
              <a:rPr sz="1100">
                <a:solidFill>
                  <a:srgbClr val="FF5CA0"/>
                </a:solidFill>
                <a:latin typeface="Inter"/>
                <a:ea typeface="Inter"/>
                <a:cs typeface="Inter"/>
              </a:rPr>
              <a:t>inside the modelling pipeline</a:t>
            </a:r>
            <a:r>
              <a:rPr sz="1100">
                <a:solidFill>
                  <a:srgbClr val="FFFFFF"/>
                </a:solidFill>
                <a:latin typeface="Inter"/>
                <a:ea typeface="Inter"/>
                <a:cs typeface="Inter"/>
              </a:rPr>
              <a:t>.</a:t>
            </a:r>
          </a:p>
          <a:p xmlns:a="http://schemas.openxmlformats.org/drawingml/2006/main">
            <a:pPr marL="0" indent="0" algn="l">
              <a:lnSpc>
                <a:spcPts val="1800"/>
              </a:lnSpc>
              <a:buNone/>
            </a:pPr>
            <a:r>
              <a:rPr sz="1100">
                <a:solidFill>
                  <a:srgbClr val="FFFFFF"/>
                </a:solidFill>
                <a:latin typeface="Inter"/>
                <a:ea typeface="Inter"/>
                <a:cs typeface="Inter"/>
              </a:rPr>
              <a:t>Numeric outliers </a:t>
            </a:r>
            <a:r>
              <a:rPr sz="1100">
                <a:solidFill>
                  <a:srgbClr val="FF5CA0"/>
                </a:solidFill>
                <a:latin typeface="Inter"/>
                <a:ea typeface="Inter"/>
                <a:cs typeface="Inter"/>
              </a:rPr>
              <a:t>clipped at 1st and 99th percentiles</a:t>
            </a:r>
            <a:r>
              <a:rPr sz="1100">
                <a:solidFill>
                  <a:srgbClr val="FFFFFF"/>
                </a:solidFill>
                <a:latin typeface="Inter"/>
                <a:ea typeface="Inter"/>
                <a:cs typeface="Inter"/>
              </a:rPr>
              <a:t>, estimated from training data only.</a:t>
            </a:r>
          </a:p>
        </p:txBody>
      </p:sp>
    </p:spTree>
    <p:extLst>
      <p:ext uri="{BB962C8B-B14F-4D97-AF65-F5344CB8AC3E}">
        <p14:creationId xmlns:p14="http://schemas.microsoft.com/office/powerpoint/2010/main" val="213948843"/>
      </p:ext>
    </p:extLst>
  </p:cSld>
</p:sld>
</file>

<file path=ppt/slides/slide6.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f04a4df85e4e4d82"/>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49877E1C-7625-4ADB-9BC0-6F5B6C22D7B6}"/>
              </a:ext>
            </a:extLst>
          </p:cNvPr>
          <p:cNvSpPr>
            <a:spLocks xmlns:a="http://schemas.openxmlformats.org/drawingml/2006/main" noGrp="1"/>
          </p:cNvSpPr>
          <p:nvPr/>
        </p:nvSpPr>
        <p:spPr>
          <a:xfrm xmlns:a="http://schemas.openxmlformats.org/drawingml/2006/main">
            <a:off x="761695" y="2762402"/>
            <a:ext cx="8305495" cy="4972507"/>
          </a:xfrm>
          <a:prstGeom xmlns:a="http://schemas.openxmlformats.org/drawingml/2006/main" prst="roundRect">
            <a:avLst>
              <a:gd name="adj" fmla="val 386"/>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9F9392A3-6D47-4DF0-96F9-2D3DF87ED7C0}"/>
              </a:ext>
            </a:extLst>
          </p:cNvPr>
          <p:cNvSpPr>
            <a:spLocks xmlns:a="http://schemas.openxmlformats.org/drawingml/2006/main" noGrp="1"/>
          </p:cNvSpPr>
          <p:nvPr/>
        </p:nvSpPr>
        <p:spPr>
          <a:xfrm xmlns:a="http://schemas.openxmlformats.org/drawingml/2006/main">
            <a:off x="9239098" y="2762402"/>
            <a:ext cx="8305495" cy="4972507"/>
          </a:xfrm>
          <a:prstGeom xmlns:a="http://schemas.openxmlformats.org/drawingml/2006/main" prst="roundRect">
            <a:avLst>
              <a:gd name="adj" fmla="val 386"/>
            </a:avLst>
          </a:prstGeom>
          <a:solidFill xmlns:a="http://schemas.openxmlformats.org/drawingml/2006/main">
            <a:srgbClr val="FFFFFF"/>
          </a:solidFill>
          <a:ln xmlns:a="http://schemas.openxmlformats.org/drawingml/2006/main" w="12700">
            <a:solidFill>
              <a:srgbClr val="E4E5EF"/>
            </a:solidFill>
            <a:prstDash val="solid"/>
          </a:ln>
        </p:spPr>
      </p:sp>
      <p:sp>
        <p:nvSpPr>
          <p:cNvPr id="6" name="Shape 2">
            <a:extLst xmlns:a="http://schemas.openxmlformats.org/drawingml/2006/main">
              <a:ext uri="{FF2B5EF4-FFF2-40B4-BE49-F238E27FC236}">
                <a16:creationId xmlns:a16="http://schemas.microsoft.com/office/drawing/2014/main" id="{494B8528-6AE5-4491-A40F-7E6BA03E76FA}"/>
              </a:ext>
            </a:extLst>
          </p:cNvPr>
          <p:cNvSpPr>
            <a:spLocks xmlns:a="http://schemas.openxmlformats.org/drawingml/2006/main" noGrp="1"/>
          </p:cNvSpPr>
          <p:nvPr/>
        </p:nvSpPr>
        <p:spPr>
          <a:xfrm xmlns:a="http://schemas.openxmlformats.org/drawingml/2006/main">
            <a:off x="761695" y="8001000"/>
            <a:ext cx="8353044" cy="1257300"/>
          </a:xfrm>
          <a:prstGeom xmlns:a="http://schemas.openxmlformats.org/drawingml/2006/main" prst="roundRect">
            <a:avLst>
              <a:gd name="adj" fmla="val 1527"/>
            </a:avLst>
          </a:prstGeom>
          <a:solidFill xmlns:a="http://schemas.openxmlformats.org/drawingml/2006/main">
            <a:srgbClr val="FFFFFF"/>
          </a:solidFill>
          <a:ln xmlns:a="http://schemas.openxmlformats.org/drawingml/2006/main" w="12700">
            <a:solidFill>
              <a:srgbClr val="E4E5EF"/>
            </a:solidFill>
            <a:prstDash val="solid"/>
          </a:ln>
        </p:spPr>
      </p:sp>
      <p:sp>
        <p:nvSpPr>
          <p:cNvPr id="7" name="Shape 3">
            <a:extLst xmlns:a="http://schemas.openxmlformats.org/drawingml/2006/main">
              <a:ext uri="{FF2B5EF4-FFF2-40B4-BE49-F238E27FC236}">
                <a16:creationId xmlns:a16="http://schemas.microsoft.com/office/drawing/2014/main" id="{DC4F5812-E8DD-4B2E-BE6A-3BFF3CC3158F}"/>
              </a:ext>
            </a:extLst>
          </p:cNvPr>
          <p:cNvSpPr>
            <a:spLocks xmlns:a="http://schemas.openxmlformats.org/drawingml/2006/main" noGrp="1"/>
          </p:cNvSpPr>
          <p:nvPr/>
        </p:nvSpPr>
        <p:spPr>
          <a:xfrm xmlns:a="http://schemas.openxmlformats.org/drawingml/2006/main">
            <a:off x="761695" y="8001000"/>
            <a:ext cx="57607" cy="1257300"/>
          </a:xfrm>
          <a:prstGeom xmlns:a="http://schemas.openxmlformats.org/drawingml/2006/main" prst="roundRect">
            <a:avLst>
              <a:gd name="adj" fmla="val 33333"/>
            </a:avLst>
          </a:prstGeom>
          <a:solidFill xmlns:a="http://schemas.openxmlformats.org/drawingml/2006/main">
            <a:srgbClr val="2A2E7A"/>
          </a:solidFill>
          <a:ln xmlns:a="http://schemas.openxmlformats.org/drawingml/2006/main" w="12700">
            <a:solidFill>
              <a:srgbClr val="2A2E7A">
                <a:alpha val="0"/>
              </a:srgbClr>
            </a:solidFill>
            <a:prstDash val="solid"/>
          </a:ln>
        </p:spPr>
      </p:sp>
      <p:sp>
        <p:nvSpPr>
          <p:cNvPr id="8" name="Shape 4">
            <a:extLst xmlns:a="http://schemas.openxmlformats.org/drawingml/2006/main">
              <a:ext uri="{FF2B5EF4-FFF2-40B4-BE49-F238E27FC236}">
                <a16:creationId xmlns:a16="http://schemas.microsoft.com/office/drawing/2014/main" id="{9B33737A-C76B-45AF-BCB3-FC9DC90FEC18}"/>
              </a:ext>
            </a:extLst>
          </p:cNvPr>
          <p:cNvSpPr>
            <a:spLocks xmlns:a="http://schemas.openxmlformats.org/drawingml/2006/main" noGrp="1"/>
          </p:cNvSpPr>
          <p:nvPr/>
        </p:nvSpPr>
        <p:spPr>
          <a:xfrm xmlns:a="http://schemas.openxmlformats.org/drawingml/2006/main">
            <a:off x="9239098" y="8001000"/>
            <a:ext cx="8287207" cy="1238098"/>
          </a:xfrm>
          <a:prstGeom xmlns:a="http://schemas.openxmlformats.org/drawingml/2006/main" prst="roundRect">
            <a:avLst>
              <a:gd name="adj" fmla="val 1551"/>
            </a:avLst>
          </a:prstGeom>
          <a:solidFill xmlns:a="http://schemas.openxmlformats.org/drawingml/2006/main">
            <a:srgbClr val="1A1D5C"/>
          </a:solidFill>
          <a:ln xmlns:a="http://schemas.openxmlformats.org/drawingml/2006/main" w="12700">
            <a:solidFill>
              <a:srgbClr val="FFFFFF">
                <a:alpha val="0"/>
              </a:srgbClr>
            </a:solidFill>
            <a:prstDash val="solid"/>
          </a:ln>
        </p:spPr>
      </p:sp>
      <p:pic>
        <p:nvPicPr>
          <p:cNvPr id="32" name="Image 1"/>
          <p:cNvPicPr>
            <a:picLocks xmlns:a="http://schemas.openxmlformats.org/drawingml/2006/main" noChangeAspect="1"/>
          </p:cNvPicPr>
          <p:nvPr/>
        </p:nvPicPr>
        <p:blipFill>
          <a:blip xmlns:r="http://schemas.openxmlformats.org/officeDocument/2006/relationships" xmlns:a="http://schemas.openxmlformats.org/drawingml/2006/main" r:embed="R3c44689ace5648d1"/>
          <a:srcRect xmlns:a="http://schemas.openxmlformats.org/drawingml/2006/main" l="-2985" t="0" r="-2985" b="0"/>
          <a:stretch xmlns:a="http://schemas.openxmlformats.org/drawingml/2006/main"/>
        </p:blipFill>
        <p:spPr>
          <a:xfrm xmlns:a="http://schemas.openxmlformats.org/drawingml/2006/main">
            <a:off x="1047902" y="3476549"/>
            <a:ext cx="7715707" cy="4095598"/>
          </a:xfrm>
          <a:prstGeom xmlns:a="http://schemas.openxmlformats.org/drawingml/2006/main" prst="rect">
            <a:avLst/>
          </a:prstGeom>
        </p:spPr>
      </p:pic>
      <p:pic>
        <p:nvPicPr>
          <p:cNvPr id="33" name="Image 2"/>
          <p:cNvPicPr>
            <a:picLocks xmlns:a="http://schemas.openxmlformats.org/drawingml/2006/main" noChangeAspect="1"/>
          </p:cNvPicPr>
          <p:nvPr/>
        </p:nvPicPr>
        <p:blipFill>
          <a:blip xmlns:r="http://schemas.openxmlformats.org/officeDocument/2006/relationships" xmlns:a="http://schemas.openxmlformats.org/drawingml/2006/main" r:embed="R23c78168e1b44403"/>
          <a:srcRect xmlns:a="http://schemas.openxmlformats.org/drawingml/2006/main" l="-21842" t="0" r="-21842" b="0"/>
          <a:stretch xmlns:a="http://schemas.openxmlformats.org/drawingml/2006/main"/>
        </p:blipFill>
        <p:spPr>
          <a:xfrm xmlns:a="http://schemas.openxmlformats.org/drawingml/2006/main">
            <a:off x="9525305" y="3476549"/>
            <a:ext cx="7715707" cy="4095598"/>
          </a:xfrm>
          <a:prstGeom xmlns:a="http://schemas.openxmlformats.org/drawingml/2006/main" prst="rect">
            <a:avLst/>
          </a:prstGeom>
        </p:spPr>
      </p:pic>
      <p:sp>
        <p:nvSpPr>
          <p:cNvPr id="11" name="Text 5">
            <a:extLst xmlns:a="http://schemas.openxmlformats.org/drawingml/2006/main">
              <a:ext uri="{FF2B5EF4-FFF2-40B4-BE49-F238E27FC236}">
                <a16:creationId xmlns:a16="http://schemas.microsoft.com/office/drawing/2014/main" id="{8DA797DE-5B26-4BD9-B5E4-1550094E05B1}"/>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03 · EDA · UCI findings · 2 of 3</a:t>
            </a:r>
          </a:p>
        </p:txBody>
      </p:sp>
      <p:sp>
        <p:nvSpPr>
          <p:cNvPr id="12" name="Text 6">
            <a:extLst xmlns:a="http://schemas.openxmlformats.org/drawingml/2006/main">
              <a:ext uri="{FF2B5EF4-FFF2-40B4-BE49-F238E27FC236}">
                <a16:creationId xmlns:a16="http://schemas.microsoft.com/office/drawing/2014/main" id="{CD505D18-3FCA-4606-B8BA-7F6F443A22ED}"/>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06 / 19</a:t>
            </a:r>
          </a:p>
        </p:txBody>
      </p:sp>
      <p:sp>
        <p:nvSpPr>
          <p:cNvPr id="13" name="Text 7">
            <a:extLst xmlns:a="http://schemas.openxmlformats.org/drawingml/2006/main">
              <a:ext uri="{FF2B5EF4-FFF2-40B4-BE49-F238E27FC236}">
                <a16:creationId xmlns:a16="http://schemas.microsoft.com/office/drawing/2014/main" id="{2ABE74C8-676F-4335-ACFD-83871FE26CCE}"/>
              </a:ext>
            </a:extLst>
          </p:cNvPr>
          <p:cNvSpPr>
            <a:spLocks xmlns:a="http://schemas.openxmlformats.org/drawingml/2006/main" noGrp="1"/>
          </p:cNvSpPr>
          <p:nvPr/>
        </p:nvSpPr>
        <p:spPr>
          <a:xfrm xmlns:a="http://schemas.openxmlformats.org/drawingml/2006/main">
            <a:off x="761695" y="1238098"/>
            <a:ext cx="16764610" cy="4956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600" b="1">
                <a:solidFill>
                  <a:srgbClr val="0F1226"/>
                </a:solidFill>
                <a:latin typeface="Inter"/>
                <a:ea typeface="Inter"/>
                <a:cs typeface="Inter"/>
              </a:rPr>
              <a:t>Early academic progress separates UCI outcomes.</a:t>
            </a:r>
          </a:p>
        </p:txBody>
      </p:sp>
      <p:sp>
        <p:nvSpPr>
          <p:cNvPr id="14" name="Text 8">
            <a:extLst xmlns:a="http://schemas.openxmlformats.org/drawingml/2006/main">
              <a:ext uri="{FF2B5EF4-FFF2-40B4-BE49-F238E27FC236}">
                <a16:creationId xmlns:a16="http://schemas.microsoft.com/office/drawing/2014/main" id="{A883D82D-7433-48D2-A9D2-9EA48BB8ED93}"/>
              </a:ext>
            </a:extLst>
          </p:cNvPr>
          <p:cNvSpPr>
            <a:spLocks xmlns:a="http://schemas.openxmlformats.org/drawingml/2006/main" noGrp="1"/>
          </p:cNvSpPr>
          <p:nvPr/>
        </p:nvSpPr>
        <p:spPr>
          <a:xfrm xmlns:a="http://schemas.openxmlformats.org/drawingml/2006/main">
            <a:off x="761695" y="1826971"/>
            <a:ext cx="16764610" cy="21031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i="1">
                <a:solidFill>
                  <a:srgbClr val="6A6F8C"/>
                </a:solidFill>
                <a:latin typeface="Source Serif Pro"/>
                <a:ea typeface="Source Serif Pro"/>
                <a:cs typeface="Source Serif Pro"/>
              </a:rPr>
              <a:t>Exploratory analysis — associations only, not causal claims.</a:t>
            </a:r>
          </a:p>
        </p:txBody>
      </p:sp>
      <p:sp>
        <p:nvSpPr>
          <p:cNvPr id="15" name="Text 9">
            <a:extLst xmlns:a="http://schemas.openxmlformats.org/drawingml/2006/main">
              <a:ext uri="{FF2B5EF4-FFF2-40B4-BE49-F238E27FC236}">
                <a16:creationId xmlns:a16="http://schemas.microsoft.com/office/drawing/2014/main" id="{A4B2FF0D-5CD1-428F-A94B-60715174865C}"/>
              </a:ext>
            </a:extLst>
          </p:cNvPr>
          <p:cNvSpPr>
            <a:spLocks xmlns:a="http://schemas.openxmlformats.org/drawingml/2006/main" noGrp="1"/>
          </p:cNvSpPr>
          <p:nvPr/>
        </p:nvSpPr>
        <p:spPr>
          <a:xfrm xmlns:a="http://schemas.openxmlformats.org/drawingml/2006/main">
            <a:off x="1047902" y="2952598"/>
            <a:ext cx="7715707"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FIG · 1st-semester approved units by outcome</a:t>
            </a:r>
          </a:p>
        </p:txBody>
      </p:sp>
      <p:sp>
        <p:nvSpPr>
          <p:cNvPr id="16" name="Text 10">
            <a:extLst xmlns:a="http://schemas.openxmlformats.org/drawingml/2006/main">
              <a:ext uri="{FF2B5EF4-FFF2-40B4-BE49-F238E27FC236}">
                <a16:creationId xmlns:a16="http://schemas.microsoft.com/office/drawing/2014/main" id="{A91A2512-7C4F-428C-A6F4-917306068058}"/>
              </a:ext>
            </a:extLst>
          </p:cNvPr>
          <p:cNvSpPr>
            <a:spLocks xmlns:a="http://schemas.openxmlformats.org/drawingml/2006/main" noGrp="1"/>
          </p:cNvSpPr>
          <p:nvPr/>
        </p:nvSpPr>
        <p:spPr>
          <a:xfrm xmlns:a="http://schemas.openxmlformats.org/drawingml/2006/main">
            <a:off x="1047902" y="3124505"/>
            <a:ext cx="7715707"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Dropout students approve fewer 1st-semester units than Graduate or Enrolled.</a:t>
            </a:r>
          </a:p>
        </p:txBody>
      </p:sp>
      <p:sp>
        <p:nvSpPr>
          <p:cNvPr id="17" name="Text 11">
            <a:extLst xmlns:a="http://schemas.openxmlformats.org/drawingml/2006/main">
              <a:ext uri="{FF2B5EF4-FFF2-40B4-BE49-F238E27FC236}">
                <a16:creationId xmlns:a16="http://schemas.microsoft.com/office/drawing/2014/main" id="{7768B51F-F123-4C87-8596-1175B0758393}"/>
              </a:ext>
            </a:extLst>
          </p:cNvPr>
          <p:cNvSpPr>
            <a:spLocks xmlns:a="http://schemas.openxmlformats.org/drawingml/2006/main" noGrp="1"/>
          </p:cNvSpPr>
          <p:nvPr/>
        </p:nvSpPr>
        <p:spPr>
          <a:xfrm xmlns:a="http://schemas.openxmlformats.org/drawingml/2006/main">
            <a:off x="9525305" y="2952598"/>
            <a:ext cx="7715707"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FIG · Correlation heatmap · exploratory analysis</a:t>
            </a:r>
          </a:p>
        </p:txBody>
      </p:sp>
      <p:sp>
        <p:nvSpPr>
          <p:cNvPr id="18" name="Text 12">
            <a:extLst xmlns:a="http://schemas.openxmlformats.org/drawingml/2006/main">
              <a:ext uri="{FF2B5EF4-FFF2-40B4-BE49-F238E27FC236}">
                <a16:creationId xmlns:a16="http://schemas.microsoft.com/office/drawing/2014/main" id="{1B801832-FA1B-49E2-8868-0C84D2E44449}"/>
              </a:ext>
            </a:extLst>
          </p:cNvPr>
          <p:cNvSpPr>
            <a:spLocks xmlns:a="http://schemas.openxmlformats.org/drawingml/2006/main" noGrp="1"/>
          </p:cNvSpPr>
          <p:nvPr/>
        </p:nvSpPr>
        <p:spPr>
          <a:xfrm xmlns:a="http://schemas.openxmlformats.org/drawingml/2006/main">
            <a:off x="9525305" y="3124505"/>
            <a:ext cx="7715707"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1st- and 2nd-sem academic variables strongly correlated; macro variables weakly.</a:t>
            </a:r>
          </a:p>
        </p:txBody>
      </p:sp>
      <p:sp>
        <p:nvSpPr>
          <p:cNvPr id="19" name="Text 13">
            <a:extLst xmlns:a="http://schemas.openxmlformats.org/drawingml/2006/main">
              <a:ext uri="{FF2B5EF4-FFF2-40B4-BE49-F238E27FC236}">
                <a16:creationId xmlns:a16="http://schemas.microsoft.com/office/drawing/2014/main" id="{B5325E3F-4D91-41EF-87BF-E02A565CA449}"/>
              </a:ext>
            </a:extLst>
          </p:cNvPr>
          <p:cNvSpPr>
            <a:spLocks xmlns:a="http://schemas.openxmlformats.org/drawingml/2006/main" noGrp="1"/>
          </p:cNvSpPr>
          <p:nvPr/>
        </p:nvSpPr>
        <p:spPr>
          <a:xfrm xmlns:a="http://schemas.openxmlformats.org/drawingml/2006/main">
            <a:off x="1143000" y="8191195"/>
            <a:ext cx="75255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2A2E7A"/>
                </a:solidFill>
                <a:latin typeface="JetBrains Mono"/>
                <a:ea typeface="JetBrains Mono"/>
                <a:cs typeface="JetBrains Mono"/>
              </a:rPr>
              <a:t>What we see · why it matters</a:t>
            </a:r>
          </a:p>
        </p:txBody>
      </p:sp>
      <p:sp>
        <p:nvSpPr>
          <p:cNvPr id="20" name="Text 14">
            <a:extLst xmlns:a="http://schemas.openxmlformats.org/drawingml/2006/main">
              <a:ext uri="{FF2B5EF4-FFF2-40B4-BE49-F238E27FC236}">
                <a16:creationId xmlns:a16="http://schemas.microsoft.com/office/drawing/2014/main" id="{8A34C203-5DAC-442D-8269-6197AF10AAB6}"/>
              </a:ext>
            </a:extLst>
          </p:cNvPr>
          <p:cNvSpPr>
            <a:spLocks xmlns:a="http://schemas.openxmlformats.org/drawingml/2006/main" noGrp="1"/>
          </p:cNvSpPr>
          <p:nvPr/>
        </p:nvSpPr>
        <p:spPr>
          <a:xfrm xmlns:a="http://schemas.openxmlformats.org/drawingml/2006/main">
            <a:off x="1143000" y="8401507"/>
            <a:ext cx="7525512"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Dropout ≈ 2 approved units (median); Graduate ≈ 6. Admission grade &amp; previous qualification correlate moderately (0.58). Macro variables show weak associations with academic variables.</a:t>
            </a:r>
          </a:p>
        </p:txBody>
      </p:sp>
      <p:sp>
        <p:nvSpPr>
          <p:cNvPr id="21" name="Text 15">
            <a:extLst xmlns:a="http://schemas.openxmlformats.org/drawingml/2006/main">
              <a:ext uri="{FF2B5EF4-FFF2-40B4-BE49-F238E27FC236}">
                <a16:creationId xmlns:a16="http://schemas.microsoft.com/office/drawing/2014/main" id="{3D5C2C12-905F-4542-ABF0-BF8B6ACAC804}"/>
              </a:ext>
            </a:extLst>
          </p:cNvPr>
          <p:cNvSpPr>
            <a:spLocks xmlns:a="http://schemas.openxmlformats.org/drawingml/2006/main" noGrp="1"/>
          </p:cNvSpPr>
          <p:nvPr/>
        </p:nvSpPr>
        <p:spPr>
          <a:xfrm xmlns:a="http://schemas.openxmlformats.org/drawingml/2006/main">
            <a:off x="9620402" y="8191195"/>
            <a:ext cx="75255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Modelling implication</a:t>
            </a:r>
          </a:p>
        </p:txBody>
      </p:sp>
      <p:sp>
        <p:nvSpPr>
          <p:cNvPr id="22" name="Text 16">
            <a:extLst xmlns:a="http://schemas.openxmlformats.org/drawingml/2006/main">
              <a:ext uri="{FF2B5EF4-FFF2-40B4-BE49-F238E27FC236}">
                <a16:creationId xmlns:a16="http://schemas.microsoft.com/office/drawing/2014/main" id="{F6C6C5E3-ACFF-45FD-A41C-137D28D6DA9B}"/>
              </a:ext>
            </a:extLst>
          </p:cNvPr>
          <p:cNvSpPr>
            <a:spLocks xmlns:a="http://schemas.openxmlformats.org/drawingml/2006/main" noGrp="1"/>
          </p:cNvSpPr>
          <p:nvPr/>
        </p:nvSpPr>
        <p:spPr>
          <a:xfrm xmlns:a="http://schemas.openxmlformats.org/drawingml/2006/main">
            <a:off x="9620402" y="8401507"/>
            <a:ext cx="7525512"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FFFFFF"/>
                </a:solidFill>
                <a:latin typeface="Inter"/>
                <a:ea typeface="Inter"/>
                <a:cs typeface="Inter"/>
              </a:rPr>
              <a:t>1st-semester variables retained for early warning. </a:t>
            </a:r>
            <a:r>
              <a:rPr sz="1100">
                <a:solidFill>
                  <a:srgbClr val="FF5CA0"/>
                </a:solidFill>
                <a:latin typeface="Inter"/>
                <a:ea typeface="Inter"/>
                <a:cs typeface="Inter"/>
              </a:rPr>
              <a:t>2nd-semester variables removed</a:t>
            </a:r>
            <a:r>
              <a:rPr sz="1100">
                <a:solidFill>
                  <a:srgbClr val="FFFFFF"/>
                </a:solidFill>
                <a:latin typeface="Inter"/>
                <a:ea typeface="Inter"/>
                <a:cs typeface="Inter"/>
              </a:rPr>
              <a:t> — they occur too late and could create leakage in an early-warning setting.</a:t>
            </a:r>
          </a:p>
        </p:txBody>
      </p:sp>
    </p:spTree>
    <p:extLst>
      <p:ext uri="{BB962C8B-B14F-4D97-AF65-F5344CB8AC3E}">
        <p14:creationId xmlns:p14="http://schemas.microsoft.com/office/powerpoint/2010/main" val="415872515"/>
      </p:ext>
    </p:extLst>
  </p:cSld>
</p:sld>
</file>

<file path=ppt/slides/slide7.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aba3157e34154e63"/>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481F4B35-8B44-4600-87BF-9AB2D7233657}"/>
              </a:ext>
            </a:extLst>
          </p:cNvPr>
          <p:cNvSpPr>
            <a:spLocks xmlns:a="http://schemas.openxmlformats.org/drawingml/2006/main" noGrp="1"/>
          </p:cNvSpPr>
          <p:nvPr/>
        </p:nvSpPr>
        <p:spPr>
          <a:xfrm xmlns:a="http://schemas.openxmlformats.org/drawingml/2006/main">
            <a:off x="761695" y="2381098"/>
            <a:ext cx="8305495" cy="4686300"/>
          </a:xfrm>
          <a:prstGeom xmlns:a="http://schemas.openxmlformats.org/drawingml/2006/main" prst="roundRect">
            <a:avLst>
              <a:gd name="adj" fmla="val 410"/>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F5E30B67-20B7-4133-AC3E-B8FEA9F600EE}"/>
              </a:ext>
            </a:extLst>
          </p:cNvPr>
          <p:cNvSpPr>
            <a:spLocks xmlns:a="http://schemas.openxmlformats.org/drawingml/2006/main" noGrp="1"/>
          </p:cNvSpPr>
          <p:nvPr/>
        </p:nvSpPr>
        <p:spPr>
          <a:xfrm xmlns:a="http://schemas.openxmlformats.org/drawingml/2006/main">
            <a:off x="9239098" y="2381098"/>
            <a:ext cx="8305495" cy="4686300"/>
          </a:xfrm>
          <a:prstGeom xmlns:a="http://schemas.openxmlformats.org/drawingml/2006/main" prst="roundRect">
            <a:avLst>
              <a:gd name="adj" fmla="val 410"/>
            </a:avLst>
          </a:prstGeom>
          <a:solidFill xmlns:a="http://schemas.openxmlformats.org/drawingml/2006/main">
            <a:srgbClr val="FFFFFF"/>
          </a:solidFill>
          <a:ln xmlns:a="http://schemas.openxmlformats.org/drawingml/2006/main" w="12700">
            <a:solidFill>
              <a:srgbClr val="E4E5EF"/>
            </a:solidFill>
            <a:prstDash val="solid"/>
          </a:ln>
        </p:spPr>
      </p:sp>
      <p:sp>
        <p:nvSpPr>
          <p:cNvPr id="6" name="Shape 2">
            <a:extLst xmlns:a="http://schemas.openxmlformats.org/drawingml/2006/main">
              <a:ext uri="{FF2B5EF4-FFF2-40B4-BE49-F238E27FC236}">
                <a16:creationId xmlns:a16="http://schemas.microsoft.com/office/drawing/2014/main" id="{601075A4-2AE3-4ECB-BA1A-3AB2392E7028}"/>
              </a:ext>
            </a:extLst>
          </p:cNvPr>
          <p:cNvSpPr>
            <a:spLocks xmlns:a="http://schemas.openxmlformats.org/drawingml/2006/main" noGrp="1"/>
          </p:cNvSpPr>
          <p:nvPr/>
        </p:nvSpPr>
        <p:spPr>
          <a:xfrm xmlns:a="http://schemas.openxmlformats.org/drawingml/2006/main">
            <a:off x="9239098" y="7144207"/>
            <a:ext cx="8305495" cy="685800"/>
          </a:xfrm>
          <a:prstGeom xmlns:a="http://schemas.openxmlformats.org/drawingml/2006/main" prst="roundRect">
            <a:avLst>
              <a:gd name="adj" fmla="val 2800"/>
            </a:avLst>
          </a:prstGeom>
          <a:solidFill xmlns:a="http://schemas.openxmlformats.org/drawingml/2006/main">
            <a:srgbClr val="FFF3E9"/>
          </a:solidFill>
          <a:ln xmlns:a="http://schemas.openxmlformats.org/drawingml/2006/main" w="12700">
            <a:solidFill>
              <a:srgbClr val="E8A93A"/>
            </a:solidFill>
            <a:prstDash val="solid"/>
          </a:ln>
        </p:spPr>
      </p:sp>
      <p:sp>
        <p:nvSpPr>
          <p:cNvPr id="7" name="Shape 3">
            <a:extLst xmlns:a="http://schemas.openxmlformats.org/drawingml/2006/main">
              <a:ext uri="{FF2B5EF4-FFF2-40B4-BE49-F238E27FC236}">
                <a16:creationId xmlns:a16="http://schemas.microsoft.com/office/drawing/2014/main" id="{B514ED15-2032-4756-8F26-733501D3D794}"/>
              </a:ext>
            </a:extLst>
          </p:cNvPr>
          <p:cNvSpPr>
            <a:spLocks xmlns:a="http://schemas.openxmlformats.org/drawingml/2006/main" noGrp="1"/>
          </p:cNvSpPr>
          <p:nvPr/>
        </p:nvSpPr>
        <p:spPr>
          <a:xfrm xmlns:a="http://schemas.openxmlformats.org/drawingml/2006/main">
            <a:off x="761695" y="7905902"/>
            <a:ext cx="8353044" cy="1352398"/>
          </a:xfrm>
          <a:prstGeom xmlns:a="http://schemas.openxmlformats.org/drawingml/2006/main" prst="roundRect">
            <a:avLst>
              <a:gd name="adj" fmla="val 1420"/>
            </a:avLst>
          </a:prstGeom>
          <a:solidFill xmlns:a="http://schemas.openxmlformats.org/drawingml/2006/main">
            <a:srgbClr val="FFFFFF"/>
          </a:solidFill>
          <a:ln xmlns:a="http://schemas.openxmlformats.org/drawingml/2006/main" w="12700">
            <a:solidFill>
              <a:srgbClr val="E4E5EF"/>
            </a:solidFill>
            <a:prstDash val="solid"/>
          </a:ln>
        </p:spPr>
      </p:sp>
      <p:sp>
        <p:nvSpPr>
          <p:cNvPr id="8" name="Shape 4">
            <a:extLst xmlns:a="http://schemas.openxmlformats.org/drawingml/2006/main">
              <a:ext uri="{FF2B5EF4-FFF2-40B4-BE49-F238E27FC236}">
                <a16:creationId xmlns:a16="http://schemas.microsoft.com/office/drawing/2014/main" id="{04E42134-7158-4DAD-98CF-2464CCFD4815}"/>
              </a:ext>
            </a:extLst>
          </p:cNvPr>
          <p:cNvSpPr>
            <a:spLocks xmlns:a="http://schemas.openxmlformats.org/drawingml/2006/main" noGrp="1"/>
          </p:cNvSpPr>
          <p:nvPr/>
        </p:nvSpPr>
        <p:spPr>
          <a:xfrm xmlns:a="http://schemas.openxmlformats.org/drawingml/2006/main">
            <a:off x="761695" y="7905902"/>
            <a:ext cx="57607" cy="1352398"/>
          </a:xfrm>
          <a:prstGeom xmlns:a="http://schemas.openxmlformats.org/drawingml/2006/main" prst="roundRect">
            <a:avLst>
              <a:gd name="adj" fmla="val 33333"/>
            </a:avLst>
          </a:prstGeom>
          <a:solidFill xmlns:a="http://schemas.openxmlformats.org/drawingml/2006/main">
            <a:srgbClr val="2A2E7A"/>
          </a:solidFill>
          <a:ln xmlns:a="http://schemas.openxmlformats.org/drawingml/2006/main" w="12700">
            <a:solidFill>
              <a:srgbClr val="2A2E7A">
                <a:alpha val="0"/>
              </a:srgbClr>
            </a:solidFill>
            <a:prstDash val="solid"/>
          </a:ln>
        </p:spPr>
      </p:sp>
      <p:sp>
        <p:nvSpPr>
          <p:cNvPr id="9" name="Shape 5">
            <a:extLst xmlns:a="http://schemas.openxmlformats.org/drawingml/2006/main">
              <a:ext uri="{FF2B5EF4-FFF2-40B4-BE49-F238E27FC236}">
                <a16:creationId xmlns:a16="http://schemas.microsoft.com/office/drawing/2014/main" id="{1482BC94-F5B7-4786-AD10-9B3C55050333}"/>
              </a:ext>
            </a:extLst>
          </p:cNvPr>
          <p:cNvSpPr>
            <a:spLocks xmlns:a="http://schemas.openxmlformats.org/drawingml/2006/main" noGrp="1"/>
          </p:cNvSpPr>
          <p:nvPr/>
        </p:nvSpPr>
        <p:spPr>
          <a:xfrm xmlns:a="http://schemas.openxmlformats.org/drawingml/2006/main">
            <a:off x="9239098" y="7905902"/>
            <a:ext cx="8287207" cy="1333195"/>
          </a:xfrm>
          <a:prstGeom xmlns:a="http://schemas.openxmlformats.org/drawingml/2006/main" prst="roundRect">
            <a:avLst>
              <a:gd name="adj" fmla="val 1440"/>
            </a:avLst>
          </a:prstGeom>
          <a:solidFill xmlns:a="http://schemas.openxmlformats.org/drawingml/2006/main">
            <a:srgbClr val="1A1D5C"/>
          </a:solidFill>
          <a:ln xmlns:a="http://schemas.openxmlformats.org/drawingml/2006/main" w="12700">
            <a:solidFill>
              <a:srgbClr val="FFFFFF">
                <a:alpha val="0"/>
              </a:srgbClr>
            </a:solidFill>
            <a:prstDash val="solid"/>
          </a:ln>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066a327204ec4e59"/>
          <a:srcRect xmlns:a="http://schemas.openxmlformats.org/drawingml/2006/main" l="-6952" t="0" r="-6952" b="0"/>
          <a:stretch xmlns:a="http://schemas.openxmlformats.org/drawingml/2006/main"/>
        </p:blipFill>
        <p:spPr>
          <a:xfrm xmlns:a="http://schemas.openxmlformats.org/drawingml/2006/main">
            <a:off x="1047902" y="3095244"/>
            <a:ext cx="7715707" cy="3810305"/>
          </a:xfrm>
          <a:prstGeom xmlns:a="http://schemas.openxmlformats.org/drawingml/2006/main" prst="rect">
            <a:avLst/>
          </a:prstGeom>
        </p:spPr>
      </p:pic>
      <p:pic>
        <p:nvPicPr>
          <p:cNvPr id="36" name="Image 2"/>
          <p:cNvPicPr>
            <a:picLocks xmlns:a="http://schemas.openxmlformats.org/drawingml/2006/main" noChangeAspect="1"/>
          </p:cNvPicPr>
          <p:nvPr/>
        </p:nvPicPr>
        <p:blipFill>
          <a:blip xmlns:r="http://schemas.openxmlformats.org/officeDocument/2006/relationships" xmlns:a="http://schemas.openxmlformats.org/drawingml/2006/main" r:embed="Rbcbeaf8e1df8420e"/>
          <a:srcRect xmlns:a="http://schemas.openxmlformats.org/drawingml/2006/main" l="-6952" t="0" r="-6952" b="0"/>
          <a:stretch xmlns:a="http://schemas.openxmlformats.org/drawingml/2006/main"/>
        </p:blipFill>
        <p:spPr>
          <a:xfrm xmlns:a="http://schemas.openxmlformats.org/drawingml/2006/main">
            <a:off x="9525305" y="3095244"/>
            <a:ext cx="7715707" cy="3810305"/>
          </a:xfrm>
          <a:prstGeom xmlns:a="http://schemas.openxmlformats.org/drawingml/2006/main" prst="rect">
            <a:avLst/>
          </a:prstGeom>
        </p:spPr>
      </p:pic>
      <p:sp>
        <p:nvSpPr>
          <p:cNvPr id="12" name="Text 6">
            <a:extLst xmlns:a="http://schemas.openxmlformats.org/drawingml/2006/main">
              <a:ext uri="{FF2B5EF4-FFF2-40B4-BE49-F238E27FC236}">
                <a16:creationId xmlns:a16="http://schemas.microsoft.com/office/drawing/2014/main" id="{9F407981-F9D3-476B-90B2-23A623B09EEE}"/>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03 · EDA · OULAD findings · 3 of 3</a:t>
            </a:r>
          </a:p>
        </p:txBody>
      </p:sp>
      <p:sp>
        <p:nvSpPr>
          <p:cNvPr id="13" name="Text 7">
            <a:extLst xmlns:a="http://schemas.openxmlformats.org/drawingml/2006/main">
              <a:ext uri="{FF2B5EF4-FFF2-40B4-BE49-F238E27FC236}">
                <a16:creationId xmlns:a16="http://schemas.microsoft.com/office/drawing/2014/main" id="{8CABD0D8-2A8E-45AC-A07C-CDB8717BDC13}"/>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07 / 19</a:t>
            </a:r>
          </a:p>
        </p:txBody>
      </p:sp>
      <p:sp>
        <p:nvSpPr>
          <p:cNvPr id="14" name="Text 8">
            <a:extLst xmlns:a="http://schemas.openxmlformats.org/drawingml/2006/main">
              <a:ext uri="{FF2B5EF4-FFF2-40B4-BE49-F238E27FC236}">
                <a16:creationId xmlns:a16="http://schemas.microsoft.com/office/drawing/2014/main" id="{47F0E758-7E26-4F80-94D5-1B0D5C72D675}"/>
              </a:ext>
            </a:extLst>
          </p:cNvPr>
          <p:cNvSpPr>
            <a:spLocks xmlns:a="http://schemas.openxmlformats.org/drawingml/2006/main" noGrp="1"/>
          </p:cNvSpPr>
          <p:nvPr/>
        </p:nvSpPr>
        <p:spPr>
          <a:xfrm xmlns:a="http://schemas.openxmlformats.org/drawingml/2006/main">
            <a:off x="761695" y="1238098"/>
            <a:ext cx="17800625" cy="4197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000" b="1">
                <a:solidFill>
                  <a:srgbClr val="0F1226"/>
                </a:solidFill>
                <a:latin typeface="Inter"/>
                <a:ea typeface="Inter"/>
                <a:cs typeface="Inter"/>
              </a:rPr>
              <a:t>Withdrawal is associated with weaker engagement and assessment participation.</a:t>
            </a:r>
          </a:p>
        </p:txBody>
      </p:sp>
      <p:sp>
        <p:nvSpPr>
          <p:cNvPr id="15" name="Text 9">
            <a:extLst xmlns:a="http://schemas.openxmlformats.org/drawingml/2006/main">
              <a:ext uri="{FF2B5EF4-FFF2-40B4-BE49-F238E27FC236}">
                <a16:creationId xmlns:a16="http://schemas.microsoft.com/office/drawing/2014/main" id="{EE08053B-E73C-480B-A903-598C2B32E6A3}"/>
              </a:ext>
            </a:extLst>
          </p:cNvPr>
          <p:cNvSpPr>
            <a:spLocks xmlns:a="http://schemas.openxmlformats.org/drawingml/2006/main" noGrp="1"/>
          </p:cNvSpPr>
          <p:nvPr/>
        </p:nvSpPr>
        <p:spPr>
          <a:xfrm xmlns:a="http://schemas.openxmlformats.org/drawingml/2006/main">
            <a:off x="1047902" y="2572207"/>
            <a:ext cx="7715707"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FIG · Log VLE clicks by final result</a:t>
            </a:r>
          </a:p>
        </p:txBody>
      </p:sp>
      <p:sp>
        <p:nvSpPr>
          <p:cNvPr id="16" name="Text 10">
            <a:extLst xmlns:a="http://schemas.openxmlformats.org/drawingml/2006/main">
              <a:ext uri="{FF2B5EF4-FFF2-40B4-BE49-F238E27FC236}">
                <a16:creationId xmlns:a16="http://schemas.microsoft.com/office/drawing/2014/main" id="{89810D42-E45F-40B9-A4BB-E788975B20F3}"/>
              </a:ext>
            </a:extLst>
          </p:cNvPr>
          <p:cNvSpPr>
            <a:spLocks xmlns:a="http://schemas.openxmlformats.org/drawingml/2006/main" noGrp="1"/>
          </p:cNvSpPr>
          <p:nvPr/>
        </p:nvSpPr>
        <p:spPr>
          <a:xfrm xmlns:a="http://schemas.openxmlformats.org/drawingml/2006/main">
            <a:off x="1047902" y="2743200"/>
            <a:ext cx="7715707"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Withdrawn students show lower VLE activity than successful students.</a:t>
            </a:r>
          </a:p>
        </p:txBody>
      </p:sp>
      <p:sp>
        <p:nvSpPr>
          <p:cNvPr id="17" name="Text 11">
            <a:extLst xmlns:a="http://schemas.openxmlformats.org/drawingml/2006/main">
              <a:ext uri="{FF2B5EF4-FFF2-40B4-BE49-F238E27FC236}">
                <a16:creationId xmlns:a16="http://schemas.microsoft.com/office/drawing/2014/main" id="{DE7C9503-EA2F-44A8-A883-A6F5749650CC}"/>
              </a:ext>
            </a:extLst>
          </p:cNvPr>
          <p:cNvSpPr>
            <a:spLocks xmlns:a="http://schemas.openxmlformats.org/drawingml/2006/main" noGrp="1"/>
          </p:cNvSpPr>
          <p:nvPr/>
        </p:nvSpPr>
        <p:spPr>
          <a:xfrm xmlns:a="http://schemas.openxmlformats.org/drawingml/2006/main">
            <a:off x="9525305" y="2572207"/>
            <a:ext cx="7715707"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FIG · Mean assessment score by final result</a:t>
            </a:r>
          </a:p>
        </p:txBody>
      </p:sp>
      <p:sp>
        <p:nvSpPr>
          <p:cNvPr id="18" name="Text 12">
            <a:extLst xmlns:a="http://schemas.openxmlformats.org/drawingml/2006/main">
              <a:ext uri="{FF2B5EF4-FFF2-40B4-BE49-F238E27FC236}">
                <a16:creationId xmlns:a16="http://schemas.microsoft.com/office/drawing/2014/main" id="{A7F2209C-B167-4562-ADBA-37C5B66C6046}"/>
              </a:ext>
            </a:extLst>
          </p:cNvPr>
          <p:cNvSpPr>
            <a:spLocks xmlns:a="http://schemas.openxmlformats.org/drawingml/2006/main" noGrp="1"/>
          </p:cNvSpPr>
          <p:nvPr/>
        </p:nvSpPr>
        <p:spPr>
          <a:xfrm xmlns:a="http://schemas.openxmlformats.org/drawingml/2006/main">
            <a:off x="9525305" y="2743200"/>
            <a:ext cx="7715707"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Distinction students clearly separate; Withdrawn distribution is wide and low.</a:t>
            </a:r>
          </a:p>
        </p:txBody>
      </p:sp>
      <p:sp>
        <p:nvSpPr>
          <p:cNvPr id="19" name="Text 13">
            <a:extLst xmlns:a="http://schemas.openxmlformats.org/drawingml/2006/main">
              <a:ext uri="{FF2B5EF4-FFF2-40B4-BE49-F238E27FC236}">
                <a16:creationId xmlns:a16="http://schemas.microsoft.com/office/drawing/2014/main" id="{00168E7F-2EE0-4F1D-8F1B-2ED32D5D59D7}"/>
              </a:ext>
            </a:extLst>
          </p:cNvPr>
          <p:cNvSpPr>
            <a:spLocks xmlns:a="http://schemas.openxmlformats.org/drawingml/2006/main" noGrp="1"/>
          </p:cNvSpPr>
          <p:nvPr/>
        </p:nvSpPr>
        <p:spPr>
          <a:xfrm xmlns:a="http://schemas.openxmlformats.org/drawingml/2006/main">
            <a:off x="9430207" y="7258507"/>
            <a:ext cx="7905902" cy="3721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2A2E4B"/>
                </a:solidFill>
                <a:latin typeface="JetBrains Mono"/>
                <a:ea typeface="JetBrains Mono"/>
                <a:cs typeface="JetBrains Mono"/>
              </a:rPr>
              <a:t>ⓘ Students without recorded assessment activity were </a:t>
            </a:r>
            <a:r>
              <a:rPr sz="900" b="1">
                <a:solidFill>
                  <a:srgbClr val="0F1226"/>
                </a:solidFill>
                <a:latin typeface="JetBrains Mono"/>
                <a:ea typeface="JetBrains Mono"/>
                <a:cs typeface="JetBrains Mono"/>
              </a:rPr>
              <a:t>coded as zero for this descriptive EDA</a:t>
            </a:r>
            <a:r>
              <a:rPr sz="900">
                <a:solidFill>
                  <a:srgbClr val="2A2E4B"/>
                </a:solidFill>
                <a:latin typeface="JetBrains Mono"/>
                <a:ea typeface="JetBrains Mono"/>
                <a:cs typeface="JetBrains Mono"/>
              </a:rPr>
              <a:t>. The predictive model used only information available within the first 75 days.</a:t>
            </a:r>
          </a:p>
        </p:txBody>
      </p:sp>
      <p:sp>
        <p:nvSpPr>
          <p:cNvPr id="20" name="Text 14">
            <a:extLst xmlns:a="http://schemas.openxmlformats.org/drawingml/2006/main">
              <a:ext uri="{FF2B5EF4-FFF2-40B4-BE49-F238E27FC236}">
                <a16:creationId xmlns:a16="http://schemas.microsoft.com/office/drawing/2014/main" id="{3F8E92F4-8C67-4975-9683-29AFA4DC188E}"/>
              </a:ext>
            </a:extLst>
          </p:cNvPr>
          <p:cNvSpPr>
            <a:spLocks xmlns:a="http://schemas.openxmlformats.org/drawingml/2006/main" noGrp="1"/>
          </p:cNvSpPr>
          <p:nvPr/>
        </p:nvSpPr>
        <p:spPr>
          <a:xfrm xmlns:a="http://schemas.openxmlformats.org/drawingml/2006/main">
            <a:off x="1143000" y="8096098"/>
            <a:ext cx="75255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2A2E7A"/>
                </a:solidFill>
                <a:latin typeface="JetBrains Mono"/>
                <a:ea typeface="JetBrains Mono"/>
                <a:cs typeface="JetBrains Mono"/>
              </a:rPr>
              <a:t>What we see</a:t>
            </a:r>
          </a:p>
        </p:txBody>
      </p:sp>
      <p:sp>
        <p:nvSpPr>
          <p:cNvPr id="21" name="Text 15">
            <a:extLst xmlns:a="http://schemas.openxmlformats.org/drawingml/2006/main">
              <a:ext uri="{FF2B5EF4-FFF2-40B4-BE49-F238E27FC236}">
                <a16:creationId xmlns:a16="http://schemas.microsoft.com/office/drawing/2014/main" id="{F7D2F5E6-7C64-4390-B03B-1FA1A41826E3}"/>
              </a:ext>
            </a:extLst>
          </p:cNvPr>
          <p:cNvSpPr>
            <a:spLocks xmlns:a="http://schemas.openxmlformats.org/drawingml/2006/main" noGrp="1"/>
          </p:cNvSpPr>
          <p:nvPr/>
        </p:nvSpPr>
        <p:spPr>
          <a:xfrm xmlns:a="http://schemas.openxmlformats.org/drawingml/2006/main">
            <a:off x="1143000" y="8305495"/>
            <a:ext cx="7525512" cy="4288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Withdrawn students have lower VLE activity and lower or missing assessment scores. Distinction students separate cleanly at high scores. Distributions overlap — </a:t>
            </a:r>
            <a:r>
              <a:rPr sz="1100" b="1">
                <a:solidFill>
                  <a:srgbClr val="0F1226"/>
                </a:solidFill>
                <a:latin typeface="Inter"/>
                <a:ea typeface="Inter"/>
                <a:cs typeface="Inter"/>
              </a:rPr>
              <a:t>no single measure is sufficient</a:t>
            </a:r>
            <a:r>
              <a:rPr sz="1100">
                <a:solidFill>
                  <a:srgbClr val="2A2E4B"/>
                </a:solidFill>
                <a:latin typeface="Inter"/>
                <a:ea typeface="Inter"/>
                <a:cs typeface="Inter"/>
              </a:rPr>
              <a:t> for prediction.</a:t>
            </a:r>
          </a:p>
        </p:txBody>
      </p:sp>
      <p:sp>
        <p:nvSpPr>
          <p:cNvPr id="22" name="Text 16">
            <a:extLst xmlns:a="http://schemas.openxmlformats.org/drawingml/2006/main">
              <a:ext uri="{FF2B5EF4-FFF2-40B4-BE49-F238E27FC236}">
                <a16:creationId xmlns:a16="http://schemas.microsoft.com/office/drawing/2014/main" id="{114607C9-4D1E-4DB8-8776-DB3BF03BE37B}"/>
              </a:ext>
            </a:extLst>
          </p:cNvPr>
          <p:cNvSpPr>
            <a:spLocks xmlns:a="http://schemas.openxmlformats.org/drawingml/2006/main" noGrp="1"/>
          </p:cNvSpPr>
          <p:nvPr/>
        </p:nvSpPr>
        <p:spPr>
          <a:xfrm xmlns:a="http://schemas.openxmlformats.org/drawingml/2006/main">
            <a:off x="9620402" y="8096098"/>
            <a:ext cx="75255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Modelling implication</a:t>
            </a:r>
          </a:p>
        </p:txBody>
      </p:sp>
      <p:sp>
        <p:nvSpPr>
          <p:cNvPr id="23" name="Text 17">
            <a:extLst xmlns:a="http://schemas.openxmlformats.org/drawingml/2006/main">
              <a:ext uri="{FF2B5EF4-FFF2-40B4-BE49-F238E27FC236}">
                <a16:creationId xmlns:a16="http://schemas.microsoft.com/office/drawing/2014/main" id="{6F5A4A7B-965A-4702-9B0B-408966A25927}"/>
              </a:ext>
            </a:extLst>
          </p:cNvPr>
          <p:cNvSpPr>
            <a:spLocks xmlns:a="http://schemas.openxmlformats.org/drawingml/2006/main" noGrp="1"/>
          </p:cNvSpPr>
          <p:nvPr/>
        </p:nvSpPr>
        <p:spPr>
          <a:xfrm xmlns:a="http://schemas.openxmlformats.org/drawingml/2006/main">
            <a:off x="9620402" y="8305495"/>
            <a:ext cx="7525512" cy="4288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FFFFFF"/>
                </a:solidFill>
                <a:latin typeface="Inter"/>
                <a:ea typeface="Inter"/>
                <a:cs typeface="Inter"/>
              </a:rPr>
              <a:t>Motivated </a:t>
            </a:r>
            <a:r>
              <a:rPr sz="1100">
                <a:solidFill>
                  <a:srgbClr val="FF5CA0"/>
                </a:solidFill>
                <a:latin typeface="Inter"/>
                <a:ea typeface="Inter"/>
                <a:cs typeface="Inter"/>
              </a:rPr>
              <a:t>early assessment &amp; VLE engagement features</a:t>
            </a:r>
            <a:r>
              <a:rPr sz="1100">
                <a:solidFill>
                  <a:srgbClr val="FFFFFF"/>
                </a:solidFill>
                <a:latin typeface="Inter"/>
                <a:ea typeface="Inter"/>
                <a:cs typeface="Inter"/>
              </a:rPr>
              <a:t>. To prevent late-course leakage, the final OULAD model used </a:t>
            </a:r>
            <a:r>
              <a:rPr sz="1100">
                <a:solidFill>
                  <a:srgbClr val="FF5CA0"/>
                </a:solidFill>
                <a:latin typeface="Inter"/>
                <a:ea typeface="Inter"/>
                <a:cs typeface="Inter"/>
              </a:rPr>
              <a:t>only activity within the first 75 days</a:t>
            </a:r>
            <a:r>
              <a:rPr sz="1100">
                <a:solidFill>
                  <a:srgbClr val="FFFFFF"/>
                </a:solidFill>
                <a:latin typeface="Inter"/>
                <a:ea typeface="Inter"/>
                <a:cs typeface="Inter"/>
              </a:rPr>
              <a:t>.</a:t>
            </a:r>
          </a:p>
        </p:txBody>
      </p:sp>
    </p:spTree>
    <p:extLst>
      <p:ext uri="{BB962C8B-B14F-4D97-AF65-F5344CB8AC3E}">
        <p14:creationId xmlns:p14="http://schemas.microsoft.com/office/powerpoint/2010/main" val="356097026"/>
      </p:ext>
    </p:extLst>
  </p:cSld>
</p:sld>
</file>

<file path=ppt/slides/slide8.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586c8ce1fb5e4c83"/>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0A57E68D-037C-4E45-A589-6E7117E2BA8E}"/>
              </a:ext>
            </a:extLst>
          </p:cNvPr>
          <p:cNvSpPr>
            <a:spLocks xmlns:a="http://schemas.openxmlformats.org/drawingml/2006/main" noGrp="1"/>
          </p:cNvSpPr>
          <p:nvPr/>
        </p:nvSpPr>
        <p:spPr>
          <a:xfrm xmlns:a="http://schemas.openxmlformats.org/drawingml/2006/main">
            <a:off x="761695" y="2762402"/>
            <a:ext cx="16782898" cy="2876702"/>
          </a:xfrm>
          <a:prstGeom xmlns:a="http://schemas.openxmlformats.org/drawingml/2006/main" prst="roundRect">
            <a:avLst>
              <a:gd name="adj" fmla="val 668"/>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F20FA119-92B1-4F40-8556-F4CD7A4A002D}"/>
              </a:ext>
            </a:extLst>
          </p:cNvPr>
          <p:cNvSpPr>
            <a:spLocks xmlns:a="http://schemas.openxmlformats.org/drawingml/2006/main" noGrp="1"/>
          </p:cNvSpPr>
          <p:nvPr/>
        </p:nvSpPr>
        <p:spPr>
          <a:xfrm xmlns:a="http://schemas.openxmlformats.org/drawingml/2006/main">
            <a:off x="761695" y="5952744"/>
            <a:ext cx="8305495" cy="3305556"/>
          </a:xfrm>
          <a:prstGeom xmlns:a="http://schemas.openxmlformats.org/drawingml/2006/main" prst="roundRect">
            <a:avLst>
              <a:gd name="adj" fmla="val 581"/>
            </a:avLst>
          </a:prstGeom>
          <a:solidFill xmlns:a="http://schemas.openxmlformats.org/drawingml/2006/main">
            <a:srgbClr val="FFFFFF"/>
          </a:solidFill>
          <a:ln xmlns:a="http://schemas.openxmlformats.org/drawingml/2006/main" w="12700">
            <a:solidFill>
              <a:srgbClr val="E4E5EF"/>
            </a:solidFill>
            <a:prstDash val="solid"/>
          </a:ln>
        </p:spPr>
      </p:sp>
      <p:sp>
        <p:nvSpPr>
          <p:cNvPr id="6" name="Shape 2">
            <a:extLst xmlns:a="http://schemas.openxmlformats.org/drawingml/2006/main">
              <a:ext uri="{FF2B5EF4-FFF2-40B4-BE49-F238E27FC236}">
                <a16:creationId xmlns:a16="http://schemas.microsoft.com/office/drawing/2014/main" id="{52608A7A-34D5-43F7-AEAE-208D74E6B1B2}"/>
              </a:ext>
            </a:extLst>
          </p:cNvPr>
          <p:cNvSpPr>
            <a:spLocks xmlns:a="http://schemas.openxmlformats.org/drawingml/2006/main" noGrp="1"/>
          </p:cNvSpPr>
          <p:nvPr/>
        </p:nvSpPr>
        <p:spPr>
          <a:xfrm xmlns:a="http://schemas.openxmlformats.org/drawingml/2006/main">
            <a:off x="9239098" y="5952744"/>
            <a:ext cx="8287207" cy="3286354"/>
          </a:xfrm>
          <a:prstGeom xmlns:a="http://schemas.openxmlformats.org/drawingml/2006/main" prst="roundRect">
            <a:avLst>
              <a:gd name="adj" fmla="val 584"/>
            </a:avLst>
          </a:prstGeom>
          <a:solidFill xmlns:a="http://schemas.openxmlformats.org/drawingml/2006/main">
            <a:srgbClr val="1A1D5C"/>
          </a:solidFill>
          <a:ln xmlns:a="http://schemas.openxmlformats.org/drawingml/2006/main" w="12700">
            <a:solidFill>
              <a:srgbClr val="FFFFFF">
                <a:alpha val="0"/>
              </a:srgbClr>
            </a:solidFill>
            <a:prstDash val="solid"/>
          </a:ln>
        </p:spPr>
      </p:sp>
      <p:sp>
        <p:nvSpPr>
          <p:cNvPr id="7" name="Text 3">
            <a:extLst xmlns:a="http://schemas.openxmlformats.org/drawingml/2006/main">
              <a:ext uri="{FF2B5EF4-FFF2-40B4-BE49-F238E27FC236}">
                <a16:creationId xmlns:a16="http://schemas.microsoft.com/office/drawing/2014/main" id="{2198A95A-7111-4BB7-A99C-0FD44910437E}"/>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04 · Methodology framework</a:t>
            </a:r>
          </a:p>
        </p:txBody>
      </p:sp>
      <p:sp>
        <p:nvSpPr>
          <p:cNvPr id="8" name="Text 4">
            <a:extLst xmlns:a="http://schemas.openxmlformats.org/drawingml/2006/main">
              <a:ext uri="{FF2B5EF4-FFF2-40B4-BE49-F238E27FC236}">
                <a16:creationId xmlns:a16="http://schemas.microsoft.com/office/drawing/2014/main" id="{EE117189-351B-491D-966C-EB627CFF0BD1}"/>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08 / 19</a:t>
            </a:r>
          </a:p>
        </p:txBody>
      </p:sp>
      <p:sp>
        <p:nvSpPr>
          <p:cNvPr id="9" name="Text 5">
            <a:extLst xmlns:a="http://schemas.openxmlformats.org/drawingml/2006/main">
              <a:ext uri="{FF2B5EF4-FFF2-40B4-BE49-F238E27FC236}">
                <a16:creationId xmlns:a16="http://schemas.microsoft.com/office/drawing/2014/main" id="{3ACFE26E-CD3A-45E9-AC76-E4CD6C0504E2}"/>
              </a:ext>
            </a:extLst>
          </p:cNvPr>
          <p:cNvSpPr>
            <a:spLocks xmlns:a="http://schemas.openxmlformats.org/drawingml/2006/main" noGrp="1"/>
          </p:cNvSpPr>
          <p:nvPr/>
        </p:nvSpPr>
        <p:spPr>
          <a:xfrm xmlns:a="http://schemas.openxmlformats.org/drawingml/2006/main">
            <a:off x="761695" y="1238098"/>
            <a:ext cx="16764610" cy="5239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900" b="1">
                <a:solidFill>
                  <a:srgbClr val="0F1226"/>
                </a:solidFill>
                <a:latin typeface="Inter"/>
                <a:ea typeface="Inter"/>
                <a:cs typeface="Inter"/>
              </a:rPr>
              <a:t>A six-step pipeline, executed twice.</a:t>
            </a:r>
          </a:p>
        </p:txBody>
      </p:sp>
      <p:sp>
        <p:nvSpPr>
          <p:cNvPr id="10" name="Text 6">
            <a:extLst xmlns:a="http://schemas.openxmlformats.org/drawingml/2006/main">
              <a:ext uri="{FF2B5EF4-FFF2-40B4-BE49-F238E27FC236}">
                <a16:creationId xmlns:a16="http://schemas.microsoft.com/office/drawing/2014/main" id="{ED63D226-383B-4016-A662-335CFBDDC68C}"/>
              </a:ext>
            </a:extLst>
          </p:cNvPr>
          <p:cNvSpPr>
            <a:spLocks xmlns:a="http://schemas.openxmlformats.org/drawingml/2006/main" noGrp="1"/>
          </p:cNvSpPr>
          <p:nvPr/>
        </p:nvSpPr>
        <p:spPr>
          <a:xfrm xmlns:a="http://schemas.openxmlformats.org/drawingml/2006/main">
            <a:off x="761695" y="1853489"/>
            <a:ext cx="16764610" cy="21031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i="1">
                <a:solidFill>
                  <a:srgbClr val="6A6F8C"/>
                </a:solidFill>
                <a:latin typeface="Source Serif Pro"/>
                <a:ea typeface="Source Serif Pro"/>
                <a:cs typeface="Source Serif Pro"/>
              </a:rPr>
              <a:t>Same discipline on both datasets; algorithm choice deferred to what each dataset actually rewarded.</a:t>
            </a:r>
          </a:p>
        </p:txBody>
      </p:sp>
      <p:sp>
        <p:nvSpPr>
          <p:cNvPr id="11" name="Shape 7">
            <a:extLst xmlns:a="http://schemas.openxmlformats.org/drawingml/2006/main">
              <a:ext uri="{FF2B5EF4-FFF2-40B4-BE49-F238E27FC236}">
                <a16:creationId xmlns:a16="http://schemas.microsoft.com/office/drawing/2014/main" id="{BC084B66-2303-4713-A1F5-55FECBEBC45E}"/>
              </a:ext>
            </a:extLst>
          </p:cNvPr>
          <p:cNvSpPr>
            <a:spLocks xmlns:a="http://schemas.openxmlformats.org/drawingml/2006/main" noGrp="1"/>
          </p:cNvSpPr>
          <p:nvPr/>
        </p:nvSpPr>
        <p:spPr>
          <a:xfrm xmlns:a="http://schemas.openxmlformats.org/drawingml/2006/main">
            <a:off x="1143000" y="3095244"/>
            <a:ext cx="28346" cy="1238098"/>
          </a:xfrm>
          <a:prstGeom xmlns:a="http://schemas.openxmlformats.org/drawingml/2006/main" prst="rect">
            <a:avLst/>
          </a:prstGeom>
          <a:solidFill xmlns:a="http://schemas.openxmlformats.org/drawingml/2006/main">
            <a:srgbClr val="E4237A"/>
          </a:solidFill>
          <a:ln xmlns:a="http://schemas.openxmlformats.org/drawingml/2006/main" w="12700">
            <a:solidFill>
              <a:srgbClr val="E4237A">
                <a:alpha val="0"/>
              </a:srgbClr>
            </a:solidFill>
            <a:prstDash val="solid"/>
          </a:ln>
        </p:spPr>
      </p:sp>
      <p:sp>
        <p:nvSpPr>
          <p:cNvPr id="12" name="Text 8">
            <a:extLst xmlns:a="http://schemas.openxmlformats.org/drawingml/2006/main">
              <a:ext uri="{FF2B5EF4-FFF2-40B4-BE49-F238E27FC236}">
                <a16:creationId xmlns:a16="http://schemas.microsoft.com/office/drawing/2014/main" id="{38A257F8-B447-4D52-8E38-AE7ED690D8DC}"/>
              </a:ext>
            </a:extLst>
          </p:cNvPr>
          <p:cNvSpPr>
            <a:spLocks xmlns:a="http://schemas.openxmlformats.org/drawingml/2006/main" noGrp="1"/>
          </p:cNvSpPr>
          <p:nvPr/>
        </p:nvSpPr>
        <p:spPr>
          <a:xfrm xmlns:a="http://schemas.openxmlformats.org/drawingml/2006/main">
            <a:off x="1304849" y="3095244"/>
            <a:ext cx="2352751"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STEP 01</a:t>
            </a:r>
          </a:p>
        </p:txBody>
      </p:sp>
      <p:sp>
        <p:nvSpPr>
          <p:cNvPr id="13" name="Text 9">
            <a:extLst xmlns:a="http://schemas.openxmlformats.org/drawingml/2006/main">
              <a:ext uri="{FF2B5EF4-FFF2-40B4-BE49-F238E27FC236}">
                <a16:creationId xmlns:a16="http://schemas.microsoft.com/office/drawing/2014/main" id="{929D9ACE-6E11-4E38-9515-D48E61D83946}"/>
              </a:ext>
            </a:extLst>
          </p:cNvPr>
          <p:cNvSpPr>
            <a:spLocks xmlns:a="http://schemas.openxmlformats.org/drawingml/2006/main" noGrp="1"/>
          </p:cNvSpPr>
          <p:nvPr/>
        </p:nvSpPr>
        <p:spPr>
          <a:xfrm xmlns:a="http://schemas.openxmlformats.org/drawingml/2006/main">
            <a:off x="1304849" y="3305556"/>
            <a:ext cx="2352751"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Data prep</a:t>
            </a:r>
          </a:p>
        </p:txBody>
      </p:sp>
      <p:sp>
        <p:nvSpPr>
          <p:cNvPr id="14" name="Text 10">
            <a:extLst xmlns:a="http://schemas.openxmlformats.org/drawingml/2006/main">
              <a:ext uri="{FF2B5EF4-FFF2-40B4-BE49-F238E27FC236}">
                <a16:creationId xmlns:a16="http://schemas.microsoft.com/office/drawing/2014/main" id="{A96EB6CB-5E63-4AAA-A1FF-6210A7C1A90E}"/>
              </a:ext>
            </a:extLst>
          </p:cNvPr>
          <p:cNvSpPr>
            <a:spLocks xmlns:a="http://schemas.openxmlformats.org/drawingml/2006/main" noGrp="1"/>
          </p:cNvSpPr>
          <p:nvPr/>
        </p:nvSpPr>
        <p:spPr>
          <a:xfrm xmlns:a="http://schemas.openxmlformats.org/drawingml/2006/main">
            <a:off x="1304849" y="3615538"/>
            <a:ext cx="2352751" cy="71871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5"/>
              </a:lnSpc>
              <a:buNone/>
            </a:pPr>
            <a:r>
              <a:rPr sz="1000">
                <a:solidFill>
                  <a:srgbClr val="6A6F8C"/>
                </a:solidFill>
                <a:latin typeface="JetBrains Mono"/>
                <a:ea typeface="JetBrains Mono"/>
                <a:cs typeface="JetBrains Mono"/>
              </a:rPr>
              <a:t>· Remove leakage-prone cols</a:t>
            </a:r>
          </a:p>
          <a:p xmlns:a="http://schemas.openxmlformats.org/drawingml/2006/main">
            <a:pPr marL="0" indent="0" algn="l">
              <a:lnSpc>
                <a:spcPts val="1785"/>
              </a:lnSpc>
              <a:buNone/>
            </a:pPr>
            <a:r>
              <a:rPr sz="1000">
                <a:solidFill>
                  <a:srgbClr val="6A6F8C"/>
                </a:solidFill>
                <a:latin typeface="JetBrains Mono"/>
                <a:ea typeface="JetBrains Mono"/>
                <a:cs typeface="JetBrains Mono"/>
              </a:rPr>
              <a:t>· Binary targets</a:t>
            </a:r>
          </a:p>
          <a:p xmlns:a="http://schemas.openxmlformats.org/drawingml/2006/main">
            <a:pPr marL="0" indent="0" algn="l">
              <a:lnSpc>
                <a:spcPts val="1785"/>
              </a:lnSpc>
              <a:buNone/>
            </a:pPr>
            <a:r>
              <a:rPr sz="1000">
                <a:solidFill>
                  <a:srgbClr val="6A6F8C"/>
                </a:solidFill>
                <a:latin typeface="JetBrains Mono"/>
                <a:ea typeface="JetBrains Mono"/>
                <a:cs typeface="JetBrains Mono"/>
              </a:rPr>
              <a:t>· Stratified 60/20/20 split</a:t>
            </a:r>
          </a:p>
        </p:txBody>
      </p:sp>
      <p:sp>
        <p:nvSpPr>
          <p:cNvPr id="15" name="Shape 11">
            <a:extLst xmlns:a="http://schemas.openxmlformats.org/drawingml/2006/main">
              <a:ext uri="{FF2B5EF4-FFF2-40B4-BE49-F238E27FC236}">
                <a16:creationId xmlns:a16="http://schemas.microsoft.com/office/drawing/2014/main" id="{C6BC62F3-449D-4EAA-B2CB-843F3077182E}"/>
              </a:ext>
            </a:extLst>
          </p:cNvPr>
          <p:cNvSpPr>
            <a:spLocks xmlns:a="http://schemas.openxmlformats.org/drawingml/2006/main" noGrp="1"/>
          </p:cNvSpPr>
          <p:nvPr/>
        </p:nvSpPr>
        <p:spPr>
          <a:xfrm xmlns:a="http://schemas.openxmlformats.org/drawingml/2006/main">
            <a:off x="3841394" y="3095244"/>
            <a:ext cx="28346" cy="1238098"/>
          </a:xfrm>
          <a:prstGeom xmlns:a="http://schemas.openxmlformats.org/drawingml/2006/main" prst="rect">
            <a:avLst/>
          </a:prstGeom>
          <a:solidFill xmlns:a="http://schemas.openxmlformats.org/drawingml/2006/main">
            <a:srgbClr val="E4237A"/>
          </a:solidFill>
          <a:ln xmlns:a="http://schemas.openxmlformats.org/drawingml/2006/main" w="12700">
            <a:solidFill>
              <a:srgbClr val="E4237A">
                <a:alpha val="0"/>
              </a:srgbClr>
            </a:solidFill>
            <a:prstDash val="solid"/>
          </a:ln>
        </p:spPr>
      </p:sp>
      <p:sp>
        <p:nvSpPr>
          <p:cNvPr id="16" name="Text 12">
            <a:extLst xmlns:a="http://schemas.openxmlformats.org/drawingml/2006/main">
              <a:ext uri="{FF2B5EF4-FFF2-40B4-BE49-F238E27FC236}">
                <a16:creationId xmlns:a16="http://schemas.microsoft.com/office/drawing/2014/main" id="{68FBF437-6DCE-44F8-9718-B87A6362A161}"/>
              </a:ext>
            </a:extLst>
          </p:cNvPr>
          <p:cNvSpPr>
            <a:spLocks xmlns:a="http://schemas.openxmlformats.org/drawingml/2006/main" noGrp="1"/>
          </p:cNvSpPr>
          <p:nvPr/>
        </p:nvSpPr>
        <p:spPr>
          <a:xfrm xmlns:a="http://schemas.openxmlformats.org/drawingml/2006/main">
            <a:off x="4003243" y="3095244"/>
            <a:ext cx="2352751"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STEP 02</a:t>
            </a:r>
          </a:p>
        </p:txBody>
      </p:sp>
      <p:sp>
        <p:nvSpPr>
          <p:cNvPr id="17" name="Text 13">
            <a:extLst xmlns:a="http://schemas.openxmlformats.org/drawingml/2006/main">
              <a:ext uri="{FF2B5EF4-FFF2-40B4-BE49-F238E27FC236}">
                <a16:creationId xmlns:a16="http://schemas.microsoft.com/office/drawing/2014/main" id="{01252FD7-15DF-44A1-9160-B075839CA097}"/>
              </a:ext>
            </a:extLst>
          </p:cNvPr>
          <p:cNvSpPr>
            <a:spLocks xmlns:a="http://schemas.openxmlformats.org/drawingml/2006/main" noGrp="1"/>
          </p:cNvSpPr>
          <p:nvPr/>
        </p:nvSpPr>
        <p:spPr>
          <a:xfrm xmlns:a="http://schemas.openxmlformats.org/drawingml/2006/main">
            <a:off x="4003243" y="3305556"/>
            <a:ext cx="2352751"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Feature eng.</a:t>
            </a:r>
          </a:p>
        </p:txBody>
      </p:sp>
      <p:sp>
        <p:nvSpPr>
          <p:cNvPr id="18" name="Text 14">
            <a:extLst xmlns:a="http://schemas.openxmlformats.org/drawingml/2006/main">
              <a:ext uri="{FF2B5EF4-FFF2-40B4-BE49-F238E27FC236}">
                <a16:creationId xmlns:a16="http://schemas.microsoft.com/office/drawing/2014/main" id="{372F09B8-0831-4365-9CEE-D8093021969E}"/>
              </a:ext>
            </a:extLst>
          </p:cNvPr>
          <p:cNvSpPr>
            <a:spLocks xmlns:a="http://schemas.openxmlformats.org/drawingml/2006/main" noGrp="1"/>
          </p:cNvSpPr>
          <p:nvPr/>
        </p:nvSpPr>
        <p:spPr>
          <a:xfrm xmlns:a="http://schemas.openxmlformats.org/drawingml/2006/main">
            <a:off x="4003243" y="3615538"/>
            <a:ext cx="2352751" cy="71871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5"/>
              </a:lnSpc>
              <a:buNone/>
            </a:pPr>
            <a:r>
              <a:rPr sz="1000">
                <a:solidFill>
                  <a:srgbClr val="6A6F8C"/>
                </a:solidFill>
                <a:latin typeface="JetBrains Mono"/>
                <a:ea typeface="JetBrains Mono"/>
                <a:cs typeface="JetBrains Mono"/>
              </a:rPr>
              <a:t>· One-hot categoricals</a:t>
            </a:r>
          </a:p>
          <a:p xmlns:a="http://schemas.openxmlformats.org/drawingml/2006/main">
            <a:pPr marL="0" indent="0" algn="l">
              <a:lnSpc>
                <a:spcPts val="1785"/>
              </a:lnSpc>
              <a:buNone/>
            </a:pPr>
            <a:r>
              <a:rPr sz="1000">
                <a:solidFill>
                  <a:srgbClr val="6A6F8C"/>
                </a:solidFill>
                <a:latin typeface="JetBrains Mono"/>
                <a:ea typeface="JetBrains Mono"/>
                <a:cs typeface="JetBrains Mono"/>
              </a:rPr>
              <a:t>· Standard scaler</a:t>
            </a:r>
          </a:p>
          <a:p xmlns:a="http://schemas.openxmlformats.org/drawingml/2006/main">
            <a:pPr marL="0" indent="0" algn="l">
              <a:lnSpc>
                <a:spcPts val="1785"/>
              </a:lnSpc>
              <a:buNone/>
            </a:pPr>
            <a:r>
              <a:rPr sz="1000">
                <a:solidFill>
                  <a:srgbClr val="6A6F8C"/>
                </a:solidFill>
                <a:latin typeface="JetBrains Mono"/>
                <a:ea typeface="JetBrains Mono"/>
                <a:cs typeface="JetBrains Mono"/>
              </a:rPr>
              <a:t>· 75-day window (OULAD)</a:t>
            </a:r>
          </a:p>
        </p:txBody>
      </p:sp>
      <p:sp>
        <p:nvSpPr>
          <p:cNvPr id="19" name="Shape 15">
            <a:extLst xmlns:a="http://schemas.openxmlformats.org/drawingml/2006/main">
              <a:ext uri="{FF2B5EF4-FFF2-40B4-BE49-F238E27FC236}">
                <a16:creationId xmlns:a16="http://schemas.microsoft.com/office/drawing/2014/main" id="{C878467D-1F2B-4AFF-8175-BF79942C5B7F}"/>
              </a:ext>
            </a:extLst>
          </p:cNvPr>
          <p:cNvSpPr>
            <a:spLocks xmlns:a="http://schemas.openxmlformats.org/drawingml/2006/main" noGrp="1"/>
          </p:cNvSpPr>
          <p:nvPr/>
        </p:nvSpPr>
        <p:spPr>
          <a:xfrm xmlns:a="http://schemas.openxmlformats.org/drawingml/2006/main">
            <a:off x="6540703" y="3095244"/>
            <a:ext cx="28346" cy="1238098"/>
          </a:xfrm>
          <a:prstGeom xmlns:a="http://schemas.openxmlformats.org/drawingml/2006/main" prst="rect">
            <a:avLst/>
          </a:prstGeom>
          <a:solidFill xmlns:a="http://schemas.openxmlformats.org/drawingml/2006/main">
            <a:srgbClr val="2A2E7A"/>
          </a:solidFill>
          <a:ln xmlns:a="http://schemas.openxmlformats.org/drawingml/2006/main" w="12700">
            <a:solidFill>
              <a:srgbClr val="2A2E7A">
                <a:alpha val="0"/>
              </a:srgbClr>
            </a:solidFill>
            <a:prstDash val="solid"/>
          </a:ln>
        </p:spPr>
      </p:sp>
      <p:sp>
        <p:nvSpPr>
          <p:cNvPr id="20" name="Text 16">
            <a:extLst xmlns:a="http://schemas.openxmlformats.org/drawingml/2006/main">
              <a:ext uri="{FF2B5EF4-FFF2-40B4-BE49-F238E27FC236}">
                <a16:creationId xmlns:a16="http://schemas.microsoft.com/office/drawing/2014/main" id="{BC8C7743-4962-4C3E-B646-EC5B88124642}"/>
              </a:ext>
            </a:extLst>
          </p:cNvPr>
          <p:cNvSpPr>
            <a:spLocks xmlns:a="http://schemas.openxmlformats.org/drawingml/2006/main" noGrp="1"/>
          </p:cNvSpPr>
          <p:nvPr/>
        </p:nvSpPr>
        <p:spPr>
          <a:xfrm xmlns:a="http://schemas.openxmlformats.org/drawingml/2006/main">
            <a:off x="6702552" y="3095244"/>
            <a:ext cx="2352751"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2A2E7A"/>
                </a:solidFill>
                <a:latin typeface="JetBrains Mono"/>
                <a:ea typeface="JetBrains Mono"/>
                <a:cs typeface="JetBrains Mono"/>
              </a:rPr>
              <a:t>STEP 03</a:t>
            </a:r>
          </a:p>
        </p:txBody>
      </p:sp>
      <p:sp>
        <p:nvSpPr>
          <p:cNvPr id="21" name="Text 17">
            <a:extLst xmlns:a="http://schemas.openxmlformats.org/drawingml/2006/main">
              <a:ext uri="{FF2B5EF4-FFF2-40B4-BE49-F238E27FC236}">
                <a16:creationId xmlns:a16="http://schemas.microsoft.com/office/drawing/2014/main" id="{16BAD7C0-44CD-4204-91ED-350D3A12C8B2}"/>
              </a:ext>
            </a:extLst>
          </p:cNvPr>
          <p:cNvSpPr>
            <a:spLocks xmlns:a="http://schemas.openxmlformats.org/drawingml/2006/main" noGrp="1"/>
          </p:cNvSpPr>
          <p:nvPr/>
        </p:nvSpPr>
        <p:spPr>
          <a:xfrm xmlns:a="http://schemas.openxmlformats.org/drawingml/2006/main">
            <a:off x="6702552" y="3305556"/>
            <a:ext cx="2352751"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Baselines</a:t>
            </a:r>
          </a:p>
        </p:txBody>
      </p:sp>
      <p:sp>
        <p:nvSpPr>
          <p:cNvPr id="22" name="Text 18">
            <a:extLst xmlns:a="http://schemas.openxmlformats.org/drawingml/2006/main">
              <a:ext uri="{FF2B5EF4-FFF2-40B4-BE49-F238E27FC236}">
                <a16:creationId xmlns:a16="http://schemas.microsoft.com/office/drawing/2014/main" id="{0011E989-003E-4743-A775-D1953CCBD5A8}"/>
              </a:ext>
            </a:extLst>
          </p:cNvPr>
          <p:cNvSpPr>
            <a:spLocks xmlns:a="http://schemas.openxmlformats.org/drawingml/2006/main" noGrp="1"/>
          </p:cNvSpPr>
          <p:nvPr/>
        </p:nvSpPr>
        <p:spPr>
          <a:xfrm xmlns:a="http://schemas.openxmlformats.org/drawingml/2006/main">
            <a:off x="6702552" y="3615538"/>
            <a:ext cx="2352751" cy="71871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5"/>
              </a:lnSpc>
              <a:buNone/>
            </a:pPr>
            <a:r>
              <a:rPr sz="1000">
                <a:solidFill>
                  <a:srgbClr val="6A6F8C"/>
                </a:solidFill>
                <a:latin typeface="JetBrains Mono"/>
                <a:ea typeface="JetBrains Mono"/>
                <a:cs typeface="JetBrains Mono"/>
              </a:rPr>
              <a:t>· LogReg &amp; XGBoost</a:t>
            </a:r>
          </a:p>
          <a:p xmlns:a="http://schemas.openxmlformats.org/drawingml/2006/main">
            <a:pPr marL="0" indent="0" algn="l">
              <a:lnSpc>
                <a:spcPts val="1785"/>
              </a:lnSpc>
              <a:buNone/>
            </a:pPr>
            <a:r>
              <a:rPr sz="1000">
                <a:solidFill>
                  <a:srgbClr val="6A6F8C"/>
                </a:solidFill>
                <a:latin typeface="JetBrains Mono"/>
                <a:ea typeface="JetBrains Mono"/>
                <a:cs typeface="JetBrains Mono"/>
              </a:rPr>
              <a:t>· Decision Tree, RF</a:t>
            </a:r>
          </a:p>
          <a:p xmlns:a="http://schemas.openxmlformats.org/drawingml/2006/main">
            <a:pPr marL="0" indent="0" algn="l">
              <a:lnSpc>
                <a:spcPts val="1785"/>
              </a:lnSpc>
              <a:buNone/>
            </a:pPr>
            <a:r>
              <a:rPr sz="1000">
                <a:solidFill>
                  <a:srgbClr val="6A6F8C"/>
                </a:solidFill>
                <a:latin typeface="JetBrains Mono"/>
                <a:ea typeface="JetBrains Mono"/>
                <a:cs typeface="JetBrains Mono"/>
              </a:rPr>
              <a:t>· Gradient Boosting</a:t>
            </a:r>
          </a:p>
        </p:txBody>
      </p:sp>
      <p:sp>
        <p:nvSpPr>
          <p:cNvPr id="23" name="Shape 19">
            <a:extLst xmlns:a="http://schemas.openxmlformats.org/drawingml/2006/main">
              <a:ext uri="{FF2B5EF4-FFF2-40B4-BE49-F238E27FC236}">
                <a16:creationId xmlns:a16="http://schemas.microsoft.com/office/drawing/2014/main" id="{7ADD2551-ECC7-4903-8534-EFD26FDF37F5}"/>
              </a:ext>
            </a:extLst>
          </p:cNvPr>
          <p:cNvSpPr>
            <a:spLocks xmlns:a="http://schemas.openxmlformats.org/drawingml/2006/main" noGrp="1"/>
          </p:cNvSpPr>
          <p:nvPr/>
        </p:nvSpPr>
        <p:spPr>
          <a:xfrm xmlns:a="http://schemas.openxmlformats.org/drawingml/2006/main">
            <a:off x="9239098" y="3095244"/>
            <a:ext cx="28346" cy="1238098"/>
          </a:xfrm>
          <a:prstGeom xmlns:a="http://schemas.openxmlformats.org/drawingml/2006/main" prst="rect">
            <a:avLst/>
          </a:prstGeom>
          <a:solidFill xmlns:a="http://schemas.openxmlformats.org/drawingml/2006/main">
            <a:srgbClr val="2A2E7A"/>
          </a:solidFill>
          <a:ln xmlns:a="http://schemas.openxmlformats.org/drawingml/2006/main" w="12700">
            <a:solidFill>
              <a:srgbClr val="2A2E7A">
                <a:alpha val="0"/>
              </a:srgbClr>
            </a:solidFill>
            <a:prstDash val="solid"/>
          </a:ln>
        </p:spPr>
      </p:sp>
      <p:sp>
        <p:nvSpPr>
          <p:cNvPr id="24" name="Text 20">
            <a:extLst xmlns:a="http://schemas.openxmlformats.org/drawingml/2006/main">
              <a:ext uri="{FF2B5EF4-FFF2-40B4-BE49-F238E27FC236}">
                <a16:creationId xmlns:a16="http://schemas.microsoft.com/office/drawing/2014/main" id="{99A476F9-FB44-48AE-905F-243114A8B07A}"/>
              </a:ext>
            </a:extLst>
          </p:cNvPr>
          <p:cNvSpPr>
            <a:spLocks xmlns:a="http://schemas.openxmlformats.org/drawingml/2006/main" noGrp="1"/>
          </p:cNvSpPr>
          <p:nvPr/>
        </p:nvSpPr>
        <p:spPr>
          <a:xfrm xmlns:a="http://schemas.openxmlformats.org/drawingml/2006/main">
            <a:off x="9400946" y="3095244"/>
            <a:ext cx="2352751"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2A2E7A"/>
                </a:solidFill>
                <a:latin typeface="JetBrains Mono"/>
                <a:ea typeface="JetBrains Mono"/>
                <a:cs typeface="JetBrains Mono"/>
              </a:rPr>
              <a:t>STEP 04</a:t>
            </a:r>
          </a:p>
        </p:txBody>
      </p:sp>
      <p:sp>
        <p:nvSpPr>
          <p:cNvPr id="25" name="Text 21">
            <a:extLst xmlns:a="http://schemas.openxmlformats.org/drawingml/2006/main">
              <a:ext uri="{FF2B5EF4-FFF2-40B4-BE49-F238E27FC236}">
                <a16:creationId xmlns:a16="http://schemas.microsoft.com/office/drawing/2014/main" id="{AB0AE63B-20F8-4DEE-A7C6-BD17879F56BA}"/>
              </a:ext>
            </a:extLst>
          </p:cNvPr>
          <p:cNvSpPr>
            <a:spLocks xmlns:a="http://schemas.openxmlformats.org/drawingml/2006/main" noGrp="1"/>
          </p:cNvSpPr>
          <p:nvPr/>
        </p:nvSpPr>
        <p:spPr>
          <a:xfrm xmlns:a="http://schemas.openxmlformats.org/drawingml/2006/main">
            <a:off x="9400946" y="3305556"/>
            <a:ext cx="2352751"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HP tuning</a:t>
            </a:r>
          </a:p>
        </p:txBody>
      </p:sp>
      <p:sp>
        <p:nvSpPr>
          <p:cNvPr id="26" name="Text 22">
            <a:extLst xmlns:a="http://schemas.openxmlformats.org/drawingml/2006/main">
              <a:ext uri="{FF2B5EF4-FFF2-40B4-BE49-F238E27FC236}">
                <a16:creationId xmlns:a16="http://schemas.microsoft.com/office/drawing/2014/main" id="{BB8450F2-1FC3-45BE-9F9E-F4EBAA27DB7E}"/>
              </a:ext>
            </a:extLst>
          </p:cNvPr>
          <p:cNvSpPr>
            <a:spLocks xmlns:a="http://schemas.openxmlformats.org/drawingml/2006/main" noGrp="1"/>
          </p:cNvSpPr>
          <p:nvPr/>
        </p:nvSpPr>
        <p:spPr>
          <a:xfrm xmlns:a="http://schemas.openxmlformats.org/drawingml/2006/main">
            <a:off x="9400946" y="3615538"/>
            <a:ext cx="2352751" cy="71871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5"/>
              </a:lnSpc>
              <a:buNone/>
            </a:pPr>
            <a:r>
              <a:rPr sz="1000">
                <a:solidFill>
                  <a:srgbClr val="6A6F8C"/>
                </a:solidFill>
                <a:latin typeface="JetBrains Mono"/>
                <a:ea typeface="JetBrains Mono"/>
                <a:cs typeface="JetBrains Mono"/>
              </a:rPr>
              <a:t>· Focused parameter grid</a:t>
            </a:r>
          </a:p>
          <a:p xmlns:a="http://schemas.openxmlformats.org/drawingml/2006/main">
            <a:pPr marL="0" indent="0" algn="l">
              <a:lnSpc>
                <a:spcPts val="1785"/>
              </a:lnSpc>
              <a:buNone/>
            </a:pPr>
            <a:r>
              <a:rPr sz="1000">
                <a:solidFill>
                  <a:srgbClr val="6A6F8C"/>
                </a:solidFill>
                <a:latin typeface="JetBrains Mono"/>
                <a:ea typeface="JetBrains Mono"/>
                <a:cs typeface="JetBrains Mono"/>
              </a:rPr>
              <a:t>· Selection on val split</a:t>
            </a:r>
          </a:p>
          <a:p xmlns:a="http://schemas.openxmlformats.org/drawingml/2006/main">
            <a:pPr marL="0" indent="0" algn="l">
              <a:lnSpc>
                <a:spcPts val="1785"/>
              </a:lnSpc>
              <a:buNone/>
            </a:pPr>
            <a:r>
              <a:rPr sz="1000">
                <a:solidFill>
                  <a:srgbClr val="6A6F8C"/>
                </a:solidFill>
                <a:latin typeface="JetBrains Mono"/>
                <a:ea typeface="JetBrains Mono"/>
                <a:cs typeface="JetBrains Mono"/>
              </a:rPr>
              <a:t>· F1 / macro-F1 metric</a:t>
            </a:r>
          </a:p>
        </p:txBody>
      </p:sp>
      <p:sp>
        <p:nvSpPr>
          <p:cNvPr id="27" name="Shape 23">
            <a:extLst xmlns:a="http://schemas.openxmlformats.org/drawingml/2006/main">
              <a:ext uri="{FF2B5EF4-FFF2-40B4-BE49-F238E27FC236}">
                <a16:creationId xmlns:a16="http://schemas.microsoft.com/office/drawing/2014/main" id="{F47105FE-9292-4D87-A739-33FCB5A65B4F}"/>
              </a:ext>
            </a:extLst>
          </p:cNvPr>
          <p:cNvSpPr>
            <a:spLocks xmlns:a="http://schemas.openxmlformats.org/drawingml/2006/main" noGrp="1"/>
          </p:cNvSpPr>
          <p:nvPr/>
        </p:nvSpPr>
        <p:spPr>
          <a:xfrm xmlns:a="http://schemas.openxmlformats.org/drawingml/2006/main">
            <a:off x="11938406" y="3095244"/>
            <a:ext cx="28346" cy="1238098"/>
          </a:xfrm>
          <a:prstGeom xmlns:a="http://schemas.openxmlformats.org/drawingml/2006/main" prst="rect">
            <a:avLst/>
          </a:prstGeom>
          <a:solidFill xmlns:a="http://schemas.openxmlformats.org/drawingml/2006/main">
            <a:srgbClr val="2A2E7A"/>
          </a:solidFill>
          <a:ln xmlns:a="http://schemas.openxmlformats.org/drawingml/2006/main" w="12700">
            <a:solidFill>
              <a:srgbClr val="2A2E7A">
                <a:alpha val="0"/>
              </a:srgbClr>
            </a:solidFill>
            <a:prstDash val="solid"/>
          </a:ln>
        </p:spPr>
      </p:sp>
      <p:sp>
        <p:nvSpPr>
          <p:cNvPr id="28" name="Text 24">
            <a:extLst xmlns:a="http://schemas.openxmlformats.org/drawingml/2006/main">
              <a:ext uri="{FF2B5EF4-FFF2-40B4-BE49-F238E27FC236}">
                <a16:creationId xmlns:a16="http://schemas.microsoft.com/office/drawing/2014/main" id="{5BA372A7-628A-45C2-80C9-AA3EF500B29D}"/>
              </a:ext>
            </a:extLst>
          </p:cNvPr>
          <p:cNvSpPr>
            <a:spLocks xmlns:a="http://schemas.openxmlformats.org/drawingml/2006/main" noGrp="1"/>
          </p:cNvSpPr>
          <p:nvPr/>
        </p:nvSpPr>
        <p:spPr>
          <a:xfrm xmlns:a="http://schemas.openxmlformats.org/drawingml/2006/main">
            <a:off x="12100255" y="3095244"/>
            <a:ext cx="2352751"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2A2E7A"/>
                </a:solidFill>
                <a:latin typeface="JetBrains Mono"/>
                <a:ea typeface="JetBrains Mono"/>
                <a:cs typeface="JetBrains Mono"/>
              </a:rPr>
              <a:t>STEP 05</a:t>
            </a:r>
          </a:p>
        </p:txBody>
      </p:sp>
      <p:sp>
        <p:nvSpPr>
          <p:cNvPr id="29" name="Text 25">
            <a:extLst xmlns:a="http://schemas.openxmlformats.org/drawingml/2006/main">
              <a:ext uri="{FF2B5EF4-FFF2-40B4-BE49-F238E27FC236}">
                <a16:creationId xmlns:a16="http://schemas.microsoft.com/office/drawing/2014/main" id="{5AED0A0D-170D-45AC-AF24-2FB4AF46C11A}"/>
              </a:ext>
            </a:extLst>
          </p:cNvPr>
          <p:cNvSpPr>
            <a:spLocks xmlns:a="http://schemas.openxmlformats.org/drawingml/2006/main" noGrp="1"/>
          </p:cNvSpPr>
          <p:nvPr/>
        </p:nvSpPr>
        <p:spPr>
          <a:xfrm xmlns:a="http://schemas.openxmlformats.org/drawingml/2006/main">
            <a:off x="12100255" y="3305556"/>
            <a:ext cx="2352751"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Threshold</a:t>
            </a:r>
          </a:p>
        </p:txBody>
      </p:sp>
      <p:sp>
        <p:nvSpPr>
          <p:cNvPr id="30" name="Text 26">
            <a:extLst xmlns:a="http://schemas.openxmlformats.org/drawingml/2006/main">
              <a:ext uri="{FF2B5EF4-FFF2-40B4-BE49-F238E27FC236}">
                <a16:creationId xmlns:a16="http://schemas.microsoft.com/office/drawing/2014/main" id="{0E1C7DF9-2F0D-43A4-87EB-13E0C6AFEE84}"/>
              </a:ext>
            </a:extLst>
          </p:cNvPr>
          <p:cNvSpPr>
            <a:spLocks xmlns:a="http://schemas.openxmlformats.org/drawingml/2006/main" noGrp="1"/>
          </p:cNvSpPr>
          <p:nvPr/>
        </p:nvSpPr>
        <p:spPr>
          <a:xfrm xmlns:a="http://schemas.openxmlformats.org/drawingml/2006/main">
            <a:off x="12100255" y="3615538"/>
            <a:ext cx="2352751" cy="71871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5"/>
              </a:lnSpc>
              <a:buNone/>
            </a:pPr>
            <a:r>
              <a:rPr sz="1000">
                <a:solidFill>
                  <a:srgbClr val="6A6F8C"/>
                </a:solidFill>
                <a:latin typeface="JetBrains Mono"/>
                <a:ea typeface="JetBrains Mono"/>
                <a:cs typeface="JetBrains Mono"/>
              </a:rPr>
              <a:t>· Selected on val F1</a:t>
            </a:r>
          </a:p>
          <a:p xmlns:a="http://schemas.openxmlformats.org/drawingml/2006/main">
            <a:pPr marL="0" indent="0" algn="l">
              <a:lnSpc>
                <a:spcPts val="1785"/>
              </a:lnSpc>
              <a:buNone/>
            </a:pPr>
            <a:r>
              <a:rPr sz="1000">
                <a:solidFill>
                  <a:srgbClr val="6A6F8C"/>
                </a:solidFill>
                <a:latin typeface="JetBrains Mono"/>
                <a:ea typeface="JetBrains Mono"/>
                <a:cs typeface="JetBrains Mono"/>
              </a:rPr>
              <a:t>· Recall &amp; balanced-acc</a:t>
            </a:r>
          </a:p>
          <a:p xmlns:a="http://schemas.openxmlformats.org/drawingml/2006/main">
            <a:pPr marL="0" indent="0" algn="l">
              <a:lnSpc>
                <a:spcPts val="1785"/>
              </a:lnSpc>
              <a:buNone/>
            </a:pPr>
            <a:r>
              <a:rPr sz="1000">
                <a:solidFill>
                  <a:srgbClr val="6A6F8C"/>
                </a:solidFill>
                <a:latin typeface="JetBrains Mono"/>
                <a:ea typeface="JetBrains Mono"/>
                <a:cs typeface="JetBrains Mono"/>
              </a:rPr>
              <a:t>used as tie-breakers</a:t>
            </a:r>
          </a:p>
        </p:txBody>
      </p:sp>
      <p:sp>
        <p:nvSpPr>
          <p:cNvPr id="31" name="Shape 27">
            <a:extLst xmlns:a="http://schemas.openxmlformats.org/drawingml/2006/main">
              <a:ext uri="{FF2B5EF4-FFF2-40B4-BE49-F238E27FC236}">
                <a16:creationId xmlns:a16="http://schemas.microsoft.com/office/drawing/2014/main" id="{E1C866C9-7DF4-4F65-868C-91212E0B643C}"/>
              </a:ext>
            </a:extLst>
          </p:cNvPr>
          <p:cNvSpPr>
            <a:spLocks xmlns:a="http://schemas.openxmlformats.org/drawingml/2006/main" noGrp="1"/>
          </p:cNvSpPr>
          <p:nvPr/>
        </p:nvSpPr>
        <p:spPr>
          <a:xfrm xmlns:a="http://schemas.openxmlformats.org/drawingml/2006/main">
            <a:off x="14636801" y="3095244"/>
            <a:ext cx="28346" cy="1238098"/>
          </a:xfrm>
          <a:prstGeom xmlns:a="http://schemas.openxmlformats.org/drawingml/2006/main" prst="rect">
            <a:avLst/>
          </a:prstGeom>
          <a:solidFill xmlns:a="http://schemas.openxmlformats.org/drawingml/2006/main">
            <a:srgbClr val="1B9E8F"/>
          </a:solidFill>
          <a:ln xmlns:a="http://schemas.openxmlformats.org/drawingml/2006/main" w="12700">
            <a:solidFill>
              <a:srgbClr val="1B9E8F">
                <a:alpha val="0"/>
              </a:srgbClr>
            </a:solidFill>
            <a:prstDash val="solid"/>
          </a:ln>
        </p:spPr>
      </p:sp>
      <p:sp>
        <p:nvSpPr>
          <p:cNvPr id="32" name="Text 28">
            <a:extLst xmlns:a="http://schemas.openxmlformats.org/drawingml/2006/main">
              <a:ext uri="{FF2B5EF4-FFF2-40B4-BE49-F238E27FC236}">
                <a16:creationId xmlns:a16="http://schemas.microsoft.com/office/drawing/2014/main" id="{2F5CF2D0-BBEC-4701-8547-56C03CE117C1}"/>
              </a:ext>
            </a:extLst>
          </p:cNvPr>
          <p:cNvSpPr>
            <a:spLocks xmlns:a="http://schemas.openxmlformats.org/drawingml/2006/main" noGrp="1"/>
          </p:cNvSpPr>
          <p:nvPr/>
        </p:nvSpPr>
        <p:spPr>
          <a:xfrm xmlns:a="http://schemas.openxmlformats.org/drawingml/2006/main">
            <a:off x="14798650" y="3095244"/>
            <a:ext cx="2352751"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1B9E8F"/>
                </a:solidFill>
                <a:latin typeface="JetBrains Mono"/>
                <a:ea typeface="JetBrains Mono"/>
                <a:cs typeface="JetBrains Mono"/>
              </a:rPr>
              <a:t>STEP 06</a:t>
            </a:r>
          </a:p>
        </p:txBody>
      </p:sp>
      <p:sp>
        <p:nvSpPr>
          <p:cNvPr id="33" name="Text 29">
            <a:extLst xmlns:a="http://schemas.openxmlformats.org/drawingml/2006/main">
              <a:ext uri="{FF2B5EF4-FFF2-40B4-BE49-F238E27FC236}">
                <a16:creationId xmlns:a16="http://schemas.microsoft.com/office/drawing/2014/main" id="{5583EFC8-8CB5-4BE8-98B0-16273A565FAC}"/>
              </a:ext>
            </a:extLst>
          </p:cNvPr>
          <p:cNvSpPr>
            <a:spLocks xmlns:a="http://schemas.openxmlformats.org/drawingml/2006/main" noGrp="1"/>
          </p:cNvSpPr>
          <p:nvPr/>
        </p:nvSpPr>
        <p:spPr>
          <a:xfrm xmlns:a="http://schemas.openxmlformats.org/drawingml/2006/main">
            <a:off x="14798650" y="3305556"/>
            <a:ext cx="2352751"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Validation</a:t>
            </a:r>
          </a:p>
        </p:txBody>
      </p:sp>
      <p:sp>
        <p:nvSpPr>
          <p:cNvPr id="34" name="Text 30">
            <a:extLst xmlns:a="http://schemas.openxmlformats.org/drawingml/2006/main">
              <a:ext uri="{FF2B5EF4-FFF2-40B4-BE49-F238E27FC236}">
                <a16:creationId xmlns:a16="http://schemas.microsoft.com/office/drawing/2014/main" id="{1DE3DE3F-9B27-432D-85CA-B7B034F38667}"/>
              </a:ext>
            </a:extLst>
          </p:cNvPr>
          <p:cNvSpPr>
            <a:spLocks xmlns:a="http://schemas.openxmlformats.org/drawingml/2006/main" noGrp="1"/>
          </p:cNvSpPr>
          <p:nvPr/>
        </p:nvSpPr>
        <p:spPr>
          <a:xfrm xmlns:a="http://schemas.openxmlformats.org/drawingml/2006/main">
            <a:off x="14798650" y="3615538"/>
            <a:ext cx="2352751" cy="71871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85"/>
              </a:lnSpc>
              <a:buNone/>
            </a:pPr>
            <a:r>
              <a:rPr sz="1000">
                <a:solidFill>
                  <a:srgbClr val="6A6F8C"/>
                </a:solidFill>
                <a:latin typeface="JetBrains Mono"/>
                <a:ea typeface="JetBrains Mono"/>
                <a:cs typeface="JetBrains Mono"/>
              </a:rPr>
              <a:t>· Held-out test</a:t>
            </a:r>
          </a:p>
          <a:p xmlns:a="http://schemas.openxmlformats.org/drawingml/2006/main">
            <a:pPr marL="0" indent="0" algn="l">
              <a:lnSpc>
                <a:spcPts val="1785"/>
              </a:lnSpc>
              <a:buNone/>
            </a:pPr>
            <a:r>
              <a:rPr sz="1000">
                <a:solidFill>
                  <a:srgbClr val="6A6F8C"/>
                </a:solidFill>
                <a:latin typeface="JetBrains Mono"/>
                <a:ea typeface="JetBrains Mono"/>
                <a:cs typeface="JetBrains Mono"/>
              </a:rPr>
              <a:t>· SHAP</a:t>
            </a:r>
          </a:p>
          <a:p xmlns:a="http://schemas.openxmlformats.org/drawingml/2006/main">
            <a:pPr marL="0" indent="0" algn="l">
              <a:lnSpc>
                <a:spcPts val="1785"/>
              </a:lnSpc>
              <a:buNone/>
            </a:pPr>
            <a:r>
              <a:rPr sz="1000">
                <a:solidFill>
                  <a:srgbClr val="6A6F8C"/>
                </a:solidFill>
                <a:latin typeface="JetBrains Mono"/>
                <a:ea typeface="JetBrains Mono"/>
                <a:cs typeface="JetBrains Mono"/>
              </a:rPr>
              <a:t>· Robustness</a:t>
            </a:r>
          </a:p>
        </p:txBody>
      </p:sp>
      <p:sp>
        <p:nvSpPr>
          <p:cNvPr id="35" name="Text 31">
            <a:extLst xmlns:a="http://schemas.openxmlformats.org/drawingml/2006/main">
              <a:ext uri="{FF2B5EF4-FFF2-40B4-BE49-F238E27FC236}">
                <a16:creationId xmlns:a16="http://schemas.microsoft.com/office/drawing/2014/main" id="{51C612A5-5079-4478-A4FC-994763C599F8}"/>
              </a:ext>
            </a:extLst>
          </p:cNvPr>
          <p:cNvSpPr>
            <a:spLocks xmlns:a="http://schemas.openxmlformats.org/drawingml/2006/main" noGrp="1"/>
          </p:cNvSpPr>
          <p:nvPr/>
        </p:nvSpPr>
        <p:spPr>
          <a:xfrm xmlns:a="http://schemas.openxmlformats.org/drawingml/2006/main">
            <a:off x="1143000" y="6238951"/>
            <a:ext cx="7525512"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E4237A"/>
                </a:solidFill>
                <a:latin typeface="JetBrains Mono"/>
                <a:ea typeface="JetBrains Mono"/>
                <a:cs typeface="JetBrains Mono"/>
              </a:rPr>
              <a:t>Why these two algorithms</a:t>
            </a:r>
          </a:p>
        </p:txBody>
      </p:sp>
      <p:sp>
        <p:nvSpPr>
          <p:cNvPr id="36" name="Text 32">
            <a:extLst xmlns:a="http://schemas.openxmlformats.org/drawingml/2006/main">
              <a:ext uri="{FF2B5EF4-FFF2-40B4-BE49-F238E27FC236}">
                <a16:creationId xmlns:a16="http://schemas.microsoft.com/office/drawing/2014/main" id="{0AD3F98F-32A2-4569-8883-4E7D4151E59F}"/>
              </a:ext>
            </a:extLst>
          </p:cNvPr>
          <p:cNvSpPr>
            <a:spLocks xmlns:a="http://schemas.openxmlformats.org/drawingml/2006/main" noGrp="1"/>
          </p:cNvSpPr>
          <p:nvPr/>
        </p:nvSpPr>
        <p:spPr>
          <a:xfrm xmlns:a="http://schemas.openxmlformats.org/drawingml/2006/main">
            <a:off x="1143000" y="6458407"/>
            <a:ext cx="7525512" cy="31455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800" b="1">
                <a:solidFill>
                  <a:srgbClr val="0F1226"/>
                </a:solidFill>
                <a:latin typeface="Inter"/>
                <a:ea typeface="Inter"/>
                <a:cs typeface="Inter"/>
              </a:rPr>
              <a:t>Different datasets rewarded different families.</a:t>
            </a:r>
          </a:p>
        </p:txBody>
      </p:sp>
      <p:sp>
        <p:nvSpPr>
          <p:cNvPr id="37" name="Shape 33">
            <a:extLst xmlns:a="http://schemas.openxmlformats.org/drawingml/2006/main">
              <a:ext uri="{FF2B5EF4-FFF2-40B4-BE49-F238E27FC236}">
                <a16:creationId xmlns:a16="http://schemas.microsoft.com/office/drawing/2014/main" id="{59805BA9-4571-4931-AAF2-835EFE454561}"/>
              </a:ext>
            </a:extLst>
          </p:cNvPr>
          <p:cNvSpPr>
            <a:spLocks xmlns:a="http://schemas.openxmlformats.org/drawingml/2006/main" noGrp="1"/>
          </p:cNvSpPr>
          <p:nvPr/>
        </p:nvSpPr>
        <p:spPr>
          <a:xfrm xmlns:a="http://schemas.openxmlformats.org/drawingml/2006/main">
            <a:off x="1143000" y="6919265"/>
            <a:ext cx="75245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38" name="Text 34">
            <a:extLst xmlns:a="http://schemas.openxmlformats.org/drawingml/2006/main">
              <a:ext uri="{FF2B5EF4-FFF2-40B4-BE49-F238E27FC236}">
                <a16:creationId xmlns:a16="http://schemas.microsoft.com/office/drawing/2014/main" id="{026DC8A2-D127-489B-812F-092114CFC820}"/>
              </a:ext>
            </a:extLst>
          </p:cNvPr>
          <p:cNvSpPr>
            <a:spLocks xmlns:a="http://schemas.openxmlformats.org/drawingml/2006/main" noGrp="1"/>
          </p:cNvSpPr>
          <p:nvPr/>
        </p:nvSpPr>
        <p:spPr>
          <a:xfrm xmlns:a="http://schemas.openxmlformats.org/drawingml/2006/main">
            <a:off x="1143000" y="7081114"/>
            <a:ext cx="1334110" cy="2386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b="1">
                <a:solidFill>
                  <a:srgbClr val="2A2E7A"/>
                </a:solidFill>
                <a:latin typeface="JetBrains Mono"/>
                <a:ea typeface="JetBrains Mono"/>
                <a:cs typeface="JetBrains Mono"/>
              </a:rPr>
              <a:t>UCI · LogReg</a:t>
            </a:r>
          </a:p>
        </p:txBody>
      </p:sp>
      <p:sp>
        <p:nvSpPr>
          <p:cNvPr id="39" name="Text 35">
            <a:extLst xmlns:a="http://schemas.openxmlformats.org/drawingml/2006/main">
              <a:ext uri="{FF2B5EF4-FFF2-40B4-BE49-F238E27FC236}">
                <a16:creationId xmlns:a16="http://schemas.microsoft.com/office/drawing/2014/main" id="{B8D99ED2-203D-49C6-B99D-33BC09BE7FDF}"/>
              </a:ext>
            </a:extLst>
          </p:cNvPr>
          <p:cNvSpPr>
            <a:spLocks xmlns:a="http://schemas.openxmlformats.org/drawingml/2006/main" noGrp="1"/>
          </p:cNvSpPr>
          <p:nvPr/>
        </p:nvSpPr>
        <p:spPr>
          <a:xfrm xmlns:a="http://schemas.openxmlformats.org/drawingml/2006/main">
            <a:off x="2667305" y="7081114"/>
            <a:ext cx="6687007" cy="2386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Mostly linear early-signal; LogReg matched XGBoost F1 and stayed interpretable.</a:t>
            </a:r>
          </a:p>
        </p:txBody>
      </p:sp>
      <p:sp>
        <p:nvSpPr>
          <p:cNvPr id="40" name="Text 36">
            <a:extLst xmlns:a="http://schemas.openxmlformats.org/drawingml/2006/main">
              <a:ext uri="{FF2B5EF4-FFF2-40B4-BE49-F238E27FC236}">
                <a16:creationId xmlns:a16="http://schemas.microsoft.com/office/drawing/2014/main" id="{8872A302-3702-4BEB-8144-F8FD57D24DE4}"/>
              </a:ext>
            </a:extLst>
          </p:cNvPr>
          <p:cNvSpPr>
            <a:spLocks xmlns:a="http://schemas.openxmlformats.org/drawingml/2006/main" noGrp="1"/>
          </p:cNvSpPr>
          <p:nvPr/>
        </p:nvSpPr>
        <p:spPr>
          <a:xfrm xmlns:a="http://schemas.openxmlformats.org/drawingml/2006/main">
            <a:off x="1143000" y="7450531"/>
            <a:ext cx="1334110"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b="1">
                <a:solidFill>
                  <a:srgbClr val="2A2E7A"/>
                </a:solidFill>
                <a:latin typeface="JetBrains Mono"/>
                <a:ea typeface="JetBrains Mono"/>
                <a:cs typeface="JetBrains Mono"/>
              </a:rPr>
              <a:t>OULAD · XGBoost</a:t>
            </a:r>
          </a:p>
        </p:txBody>
      </p:sp>
      <p:sp>
        <p:nvSpPr>
          <p:cNvPr id="41" name="Text 37">
            <a:extLst xmlns:a="http://schemas.openxmlformats.org/drawingml/2006/main">
              <a:ext uri="{FF2B5EF4-FFF2-40B4-BE49-F238E27FC236}">
                <a16:creationId xmlns:a16="http://schemas.microsoft.com/office/drawing/2014/main" id="{F415149A-2F75-402A-B1B3-BE4B9C3630D8}"/>
              </a:ext>
            </a:extLst>
          </p:cNvPr>
          <p:cNvSpPr>
            <a:spLocks xmlns:a="http://schemas.openxmlformats.org/drawingml/2006/main" noGrp="1"/>
          </p:cNvSpPr>
          <p:nvPr/>
        </p:nvSpPr>
        <p:spPr>
          <a:xfrm xmlns:a="http://schemas.openxmlformats.org/drawingml/2006/main">
            <a:off x="2667305" y="7450531"/>
            <a:ext cx="6001207"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Non-linear interactions between clicks and submission ratios — XGBoost led on validation F1.</a:t>
            </a:r>
          </a:p>
        </p:txBody>
      </p:sp>
      <p:sp>
        <p:nvSpPr>
          <p:cNvPr id="42" name="Text 38">
            <a:extLst xmlns:a="http://schemas.openxmlformats.org/drawingml/2006/main">
              <a:ext uri="{FF2B5EF4-FFF2-40B4-BE49-F238E27FC236}">
                <a16:creationId xmlns:a16="http://schemas.microsoft.com/office/drawing/2014/main" id="{05C5AA69-BE40-41F1-B5AE-8B8023C4AA2C}"/>
              </a:ext>
            </a:extLst>
          </p:cNvPr>
          <p:cNvSpPr>
            <a:spLocks xmlns:a="http://schemas.openxmlformats.org/drawingml/2006/main" noGrp="1"/>
          </p:cNvSpPr>
          <p:nvPr/>
        </p:nvSpPr>
        <p:spPr>
          <a:xfrm xmlns:a="http://schemas.openxmlformats.org/drawingml/2006/main">
            <a:off x="1143000" y="8055864"/>
            <a:ext cx="1334110"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Also evaluated</a:t>
            </a:r>
          </a:p>
        </p:txBody>
      </p:sp>
      <p:sp>
        <p:nvSpPr>
          <p:cNvPr id="43" name="Text 39">
            <a:extLst xmlns:a="http://schemas.openxmlformats.org/drawingml/2006/main">
              <a:ext uri="{FF2B5EF4-FFF2-40B4-BE49-F238E27FC236}">
                <a16:creationId xmlns:a16="http://schemas.microsoft.com/office/drawing/2014/main" id="{3E52FF11-1125-473F-AE47-BEDACBBE495F}"/>
              </a:ext>
            </a:extLst>
          </p:cNvPr>
          <p:cNvSpPr>
            <a:spLocks xmlns:a="http://schemas.openxmlformats.org/drawingml/2006/main" noGrp="1"/>
          </p:cNvSpPr>
          <p:nvPr/>
        </p:nvSpPr>
        <p:spPr>
          <a:xfrm xmlns:a="http://schemas.openxmlformats.org/drawingml/2006/main">
            <a:off x="2667305" y="8055864"/>
            <a:ext cx="6001207"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Decision Tree, Random Forest, Gradient Boosting. Not retained for the final early-warning setting.</a:t>
            </a:r>
          </a:p>
        </p:txBody>
      </p:sp>
      <p:sp>
        <p:nvSpPr>
          <p:cNvPr id="44" name="Text 40">
            <a:extLst xmlns:a="http://schemas.openxmlformats.org/drawingml/2006/main">
              <a:ext uri="{FF2B5EF4-FFF2-40B4-BE49-F238E27FC236}">
                <a16:creationId xmlns:a16="http://schemas.microsoft.com/office/drawing/2014/main" id="{5F0145F2-AB5F-4D49-97C8-2F9EA1DF962D}"/>
              </a:ext>
            </a:extLst>
          </p:cNvPr>
          <p:cNvSpPr>
            <a:spLocks xmlns:a="http://schemas.openxmlformats.org/drawingml/2006/main" noGrp="1"/>
          </p:cNvSpPr>
          <p:nvPr/>
        </p:nvSpPr>
        <p:spPr>
          <a:xfrm xmlns:a="http://schemas.openxmlformats.org/drawingml/2006/main">
            <a:off x="9620402" y="6238951"/>
            <a:ext cx="7525512"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FF5CA0"/>
                </a:solidFill>
                <a:latin typeface="JetBrains Mono"/>
                <a:ea typeface="JetBrains Mono"/>
                <a:cs typeface="JetBrains Mono"/>
              </a:rPr>
              <a:t>Evaluation stack</a:t>
            </a:r>
          </a:p>
        </p:txBody>
      </p:sp>
      <p:sp>
        <p:nvSpPr>
          <p:cNvPr id="45" name="Text 41">
            <a:extLst xmlns:a="http://schemas.openxmlformats.org/drawingml/2006/main">
              <a:ext uri="{FF2B5EF4-FFF2-40B4-BE49-F238E27FC236}">
                <a16:creationId xmlns:a16="http://schemas.microsoft.com/office/drawing/2014/main" id="{38B87B00-17E5-429F-908A-F6D18D9B62C2}"/>
              </a:ext>
            </a:extLst>
          </p:cNvPr>
          <p:cNvSpPr>
            <a:spLocks xmlns:a="http://schemas.openxmlformats.org/drawingml/2006/main" noGrp="1"/>
          </p:cNvSpPr>
          <p:nvPr/>
        </p:nvSpPr>
        <p:spPr>
          <a:xfrm xmlns:a="http://schemas.openxmlformats.org/drawingml/2006/main">
            <a:off x="9620402" y="6458407"/>
            <a:ext cx="7525512" cy="31455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800" b="1">
                <a:solidFill>
                  <a:srgbClr val="FFFFFF"/>
                </a:solidFill>
                <a:latin typeface="Inter"/>
                <a:ea typeface="Inter"/>
                <a:cs typeface="Inter"/>
              </a:rPr>
              <a:t>Metrics chosen for the decision, not just accuracy.</a:t>
            </a:r>
          </a:p>
        </p:txBody>
      </p:sp>
      <p:sp>
        <p:nvSpPr>
          <p:cNvPr id="46" name="Shape 42">
            <a:extLst xmlns:a="http://schemas.openxmlformats.org/drawingml/2006/main">
              <a:ext uri="{FF2B5EF4-FFF2-40B4-BE49-F238E27FC236}">
                <a16:creationId xmlns:a16="http://schemas.microsoft.com/office/drawing/2014/main" id="{9FA647B6-7912-451B-B30A-6AC93253F8BA}"/>
              </a:ext>
            </a:extLst>
          </p:cNvPr>
          <p:cNvSpPr>
            <a:spLocks xmlns:a="http://schemas.openxmlformats.org/drawingml/2006/main" noGrp="1"/>
          </p:cNvSpPr>
          <p:nvPr/>
        </p:nvSpPr>
        <p:spPr>
          <a:xfrm xmlns:a="http://schemas.openxmlformats.org/drawingml/2006/main">
            <a:off x="9620402" y="6919265"/>
            <a:ext cx="7524598" cy="9144"/>
          </a:xfrm>
          <a:prstGeom xmlns:a="http://schemas.openxmlformats.org/drawingml/2006/main" prst="rect">
            <a:avLst/>
          </a:prstGeom>
          <a:solidFill xmlns:a="http://schemas.openxmlformats.org/drawingml/2006/main">
            <a:srgbClr val="FFFFFF">
              <a:alpha val="15000"/>
            </a:srgbClr>
          </a:solidFill>
          <a:ln xmlns:a="http://schemas.openxmlformats.org/drawingml/2006/main" w="12700">
            <a:solidFill>
              <a:srgbClr val="FFFFFF">
                <a:alpha val="0"/>
              </a:srgbClr>
            </a:solidFill>
            <a:prstDash val="solid"/>
          </a:ln>
        </p:spPr>
      </p:sp>
      <p:sp>
        <p:nvSpPr>
          <p:cNvPr id="47" name="Text 43">
            <a:extLst xmlns:a="http://schemas.openxmlformats.org/drawingml/2006/main">
              <a:ext uri="{FF2B5EF4-FFF2-40B4-BE49-F238E27FC236}">
                <a16:creationId xmlns:a16="http://schemas.microsoft.com/office/drawing/2014/main" id="{055F0F45-2861-409A-84E2-12A4593E2E50}"/>
              </a:ext>
            </a:extLst>
          </p:cNvPr>
          <p:cNvSpPr>
            <a:spLocks xmlns:a="http://schemas.openxmlformats.org/drawingml/2006/main" noGrp="1"/>
          </p:cNvSpPr>
          <p:nvPr/>
        </p:nvSpPr>
        <p:spPr>
          <a:xfrm xmlns:a="http://schemas.openxmlformats.org/drawingml/2006/main">
            <a:off x="9620402" y="7099402"/>
            <a:ext cx="3620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FF5CA0">
                    <a:alpha val="90000"/>
                  </a:srgbClr>
                </a:solidFill>
                <a:latin typeface="JetBrains Mono"/>
                <a:ea typeface="JetBrains Mono"/>
                <a:cs typeface="JetBrains Mono"/>
              </a:rPr>
              <a:t>F1</a:t>
            </a:r>
            <a:r>
              <a:rPr sz="1200">
                <a:solidFill>
                  <a:srgbClr val="FFFFFF">
                    <a:alpha val="90000"/>
                  </a:srgbClr>
                </a:solidFill>
                <a:latin typeface="JetBrains Mono"/>
                <a:ea typeface="JetBrains Mono"/>
                <a:cs typeface="JetBrains Mono"/>
              </a:rPr>
              <a:t> · balances alerts vs. misses</a:t>
            </a:r>
          </a:p>
        </p:txBody>
      </p:sp>
      <p:sp>
        <p:nvSpPr>
          <p:cNvPr id="48" name="Text 44">
            <a:extLst xmlns:a="http://schemas.openxmlformats.org/drawingml/2006/main">
              <a:ext uri="{FF2B5EF4-FFF2-40B4-BE49-F238E27FC236}">
                <a16:creationId xmlns:a16="http://schemas.microsoft.com/office/drawing/2014/main" id="{69F02562-7657-40DC-880E-EA1DEC10AFAC}"/>
              </a:ext>
            </a:extLst>
          </p:cNvPr>
          <p:cNvSpPr>
            <a:spLocks xmlns:a="http://schemas.openxmlformats.org/drawingml/2006/main" noGrp="1"/>
          </p:cNvSpPr>
          <p:nvPr/>
        </p:nvSpPr>
        <p:spPr>
          <a:xfrm xmlns:a="http://schemas.openxmlformats.org/drawingml/2006/main">
            <a:off x="13525805" y="7099402"/>
            <a:ext cx="3620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FF5CA0">
                    <a:alpha val="90000"/>
                  </a:srgbClr>
                </a:solidFill>
                <a:latin typeface="JetBrains Mono"/>
                <a:ea typeface="JetBrains Mono"/>
                <a:cs typeface="JetBrains Mono"/>
              </a:rPr>
              <a:t>Recall</a:t>
            </a:r>
            <a:r>
              <a:rPr sz="1200">
                <a:solidFill>
                  <a:srgbClr val="FFFFFF">
                    <a:alpha val="90000"/>
                  </a:srgbClr>
                </a:solidFill>
                <a:latin typeface="JetBrains Mono"/>
                <a:ea typeface="JetBrains Mono"/>
                <a:cs typeface="JetBrains Mono"/>
              </a:rPr>
              <a:t> · who did we miss?</a:t>
            </a:r>
          </a:p>
        </p:txBody>
      </p:sp>
      <p:sp>
        <p:nvSpPr>
          <p:cNvPr id="49" name="Text 45">
            <a:extLst xmlns:a="http://schemas.openxmlformats.org/drawingml/2006/main">
              <a:ext uri="{FF2B5EF4-FFF2-40B4-BE49-F238E27FC236}">
                <a16:creationId xmlns:a16="http://schemas.microsoft.com/office/drawing/2014/main" id="{FE8ADF8E-9155-46D6-8B72-D1270E7A4971}"/>
              </a:ext>
            </a:extLst>
          </p:cNvPr>
          <p:cNvSpPr>
            <a:spLocks xmlns:a="http://schemas.openxmlformats.org/drawingml/2006/main" noGrp="1"/>
          </p:cNvSpPr>
          <p:nvPr/>
        </p:nvSpPr>
        <p:spPr>
          <a:xfrm xmlns:a="http://schemas.openxmlformats.org/drawingml/2006/main">
            <a:off x="9620402" y="7496251"/>
            <a:ext cx="3620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FF5CA0">
                    <a:alpha val="90000"/>
                  </a:srgbClr>
                </a:solidFill>
                <a:latin typeface="JetBrains Mono"/>
                <a:ea typeface="JetBrains Mono"/>
                <a:cs typeface="JetBrains Mono"/>
              </a:rPr>
              <a:t>ROC-AUC</a:t>
            </a:r>
            <a:r>
              <a:rPr sz="1200">
                <a:solidFill>
                  <a:srgbClr val="FFFFFF">
                    <a:alpha val="90000"/>
                  </a:srgbClr>
                </a:solidFill>
                <a:latin typeface="JetBrains Mono"/>
                <a:ea typeface="JetBrains Mono"/>
                <a:cs typeface="JetBrains Mono"/>
              </a:rPr>
              <a:t> · threshold-agnostic ranking</a:t>
            </a:r>
          </a:p>
        </p:txBody>
      </p:sp>
      <p:sp>
        <p:nvSpPr>
          <p:cNvPr id="50" name="Text 46">
            <a:extLst xmlns:a="http://schemas.openxmlformats.org/drawingml/2006/main">
              <a:ext uri="{FF2B5EF4-FFF2-40B4-BE49-F238E27FC236}">
                <a16:creationId xmlns:a16="http://schemas.microsoft.com/office/drawing/2014/main" id="{ECA77F93-FB75-4D31-BF9D-42149F4639D5}"/>
              </a:ext>
            </a:extLst>
          </p:cNvPr>
          <p:cNvSpPr>
            <a:spLocks xmlns:a="http://schemas.openxmlformats.org/drawingml/2006/main" noGrp="1"/>
          </p:cNvSpPr>
          <p:nvPr/>
        </p:nvSpPr>
        <p:spPr>
          <a:xfrm xmlns:a="http://schemas.openxmlformats.org/drawingml/2006/main">
            <a:off x="13525805" y="7496251"/>
            <a:ext cx="3620110"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FF5CA0">
                    <a:alpha val="90000"/>
                  </a:srgbClr>
                </a:solidFill>
                <a:latin typeface="JetBrains Mono"/>
                <a:ea typeface="JetBrains Mono"/>
                <a:cs typeface="JetBrains Mono"/>
              </a:rPr>
              <a:t>Precision</a:t>
            </a:r>
            <a:r>
              <a:rPr sz="1200">
                <a:solidFill>
                  <a:srgbClr val="FFFFFF">
                    <a:alpha val="90000"/>
                  </a:srgbClr>
                </a:solidFill>
                <a:latin typeface="JetBrains Mono"/>
                <a:ea typeface="JetBrains Mono"/>
                <a:cs typeface="JetBrains Mono"/>
              </a:rPr>
              <a:t> · advisor workload proxy</a:t>
            </a:r>
          </a:p>
        </p:txBody>
      </p:sp>
      <p:sp>
        <p:nvSpPr>
          <p:cNvPr id="51" name="Shape 47">
            <a:extLst xmlns:a="http://schemas.openxmlformats.org/drawingml/2006/main">
              <a:ext uri="{FF2B5EF4-FFF2-40B4-BE49-F238E27FC236}">
                <a16:creationId xmlns:a16="http://schemas.microsoft.com/office/drawing/2014/main" id="{BA0B895A-7D3A-46E7-AFDF-8E1B05E9F5C2}"/>
              </a:ext>
            </a:extLst>
          </p:cNvPr>
          <p:cNvSpPr>
            <a:spLocks xmlns:a="http://schemas.openxmlformats.org/drawingml/2006/main" noGrp="1"/>
          </p:cNvSpPr>
          <p:nvPr/>
        </p:nvSpPr>
        <p:spPr>
          <a:xfrm xmlns:a="http://schemas.openxmlformats.org/drawingml/2006/main">
            <a:off x="9620402" y="7930591"/>
            <a:ext cx="7524598" cy="9144"/>
          </a:xfrm>
          <a:prstGeom xmlns:a="http://schemas.openxmlformats.org/drawingml/2006/main" prst="rect">
            <a:avLst/>
          </a:prstGeom>
          <a:solidFill xmlns:a="http://schemas.openxmlformats.org/drawingml/2006/main">
            <a:srgbClr val="FFFFFF">
              <a:alpha val="10000"/>
            </a:srgbClr>
          </a:solidFill>
          <a:ln xmlns:a="http://schemas.openxmlformats.org/drawingml/2006/main" w="12700">
            <a:solidFill>
              <a:srgbClr val="FFFFFF">
                <a:alpha val="0"/>
              </a:srgbClr>
            </a:solidFill>
            <a:prstDash val="solid"/>
          </a:ln>
        </p:spPr>
      </p:sp>
      <p:sp>
        <p:nvSpPr>
          <p:cNvPr id="52" name="Text 48">
            <a:extLst xmlns:a="http://schemas.openxmlformats.org/drawingml/2006/main">
              <a:ext uri="{FF2B5EF4-FFF2-40B4-BE49-F238E27FC236}">
                <a16:creationId xmlns:a16="http://schemas.microsoft.com/office/drawing/2014/main" id="{B92C72C3-B245-45BF-A9E3-0A4075EE65B5}"/>
              </a:ext>
            </a:extLst>
          </p:cNvPr>
          <p:cNvSpPr>
            <a:spLocks xmlns:a="http://schemas.openxmlformats.org/drawingml/2006/main" noGrp="1"/>
          </p:cNvSpPr>
          <p:nvPr/>
        </p:nvSpPr>
        <p:spPr>
          <a:xfrm xmlns:a="http://schemas.openxmlformats.org/drawingml/2006/main">
            <a:off x="9620402" y="8073238"/>
            <a:ext cx="7525512" cy="152705"/>
          </a:xfrm>
          <a:prstGeom xmlns:a="http://schemas.openxmlformats.org/drawingml/2006/main" prst="rect">
            <a:avLst/>
          </a:prstGeom>
          <a:solidFill xmlns:a="http://schemas.openxmlformats.org/drawingml/2006/main">
            <a:srgbClr val="FFFFFF">
              <a:alpha val="0"/>
            </a:srgbClr>
          </a:solidFill>
          <a:ln xmlns:a="http://schemas.openxmlformats.org/drawingml/2006/main">
            <a:solidFill>
              <a:srgbClr val="FFFFFF">
                <a:alpha val="0"/>
              </a:srgbClr>
            </a:solidFill>
          </a:ln>
        </p:spPr>
        <p:txBody>
          <a:bodyPr xmlns:a="http://schemas.openxmlformats.org/drawingml/2006/main" wrap="none" lIns="139700" tIns="0" rIns="139700" bIns="139700" anchor="ctr"/>
          <a:lstStyle xmlns:a="http://schemas.openxmlformats.org/drawingml/2006/main"/>
          <a:p xmlns:a="http://schemas.openxmlformats.org/drawingml/2006/main">
            <a:pPr marL="0" indent="0" algn="l">
              <a:buNone/>
            </a:pPr>
            <a:r>
              <a:rPr sz="1000">
                <a:solidFill>
                  <a:srgbClr val="FFFFFF">
                    <a:alpha val="60000"/>
                  </a:srgbClr>
                </a:solidFill>
                <a:latin typeface="JetBrains Mono"/>
                <a:ea typeface="JetBrains Mono"/>
                <a:cs typeface="JetBrains Mono"/>
              </a:rPr>
              <a:t>Test set kept untouched until final model was locked · no metric peeking during tuning.</a:t>
            </a:r>
          </a:p>
        </p:txBody>
      </p:sp>
    </p:spTree>
    <p:extLst>
      <p:ext uri="{BB962C8B-B14F-4D97-AF65-F5344CB8AC3E}">
        <p14:creationId xmlns:p14="http://schemas.microsoft.com/office/powerpoint/2010/main" val="1459980725"/>
      </p:ext>
    </p:extLst>
  </p:cSld>
</p:sld>
</file>

<file path=ppt/slides/slide9.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3538da4636334c97"/>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3AE2EA19-72A7-4CD4-AE6C-D00AB8C22457}"/>
              </a:ext>
            </a:extLst>
          </p:cNvPr>
          <p:cNvSpPr>
            <a:spLocks xmlns:a="http://schemas.openxmlformats.org/drawingml/2006/main" noGrp="1"/>
          </p:cNvSpPr>
          <p:nvPr/>
        </p:nvSpPr>
        <p:spPr>
          <a:xfrm xmlns:a="http://schemas.openxmlformats.org/drawingml/2006/main">
            <a:off x="761695" y="2667305"/>
            <a:ext cx="10306202" cy="6590995"/>
          </a:xfrm>
          <a:prstGeom xmlns:a="http://schemas.openxmlformats.org/drawingml/2006/main" prst="roundRect">
            <a:avLst>
              <a:gd name="adj" fmla="val 291"/>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323A0A6C-CFDE-41E8-8E31-CE7C3B27557D}"/>
              </a:ext>
            </a:extLst>
          </p:cNvPr>
          <p:cNvSpPr>
            <a:spLocks xmlns:a="http://schemas.openxmlformats.org/drawingml/2006/main" noGrp="1"/>
          </p:cNvSpPr>
          <p:nvPr/>
        </p:nvSpPr>
        <p:spPr>
          <a:xfrm xmlns:a="http://schemas.openxmlformats.org/drawingml/2006/main">
            <a:off x="11334902" y="2667305"/>
            <a:ext cx="6210605" cy="6590995"/>
          </a:xfrm>
          <a:prstGeom xmlns:a="http://schemas.openxmlformats.org/drawingml/2006/main" prst="roundRect">
            <a:avLst>
              <a:gd name="adj" fmla="val 309"/>
            </a:avLst>
          </a:prstGeom>
          <a:solidFill xmlns:a="http://schemas.openxmlformats.org/drawingml/2006/main">
            <a:srgbClr val="FFFFFF"/>
          </a:solidFill>
          <a:ln xmlns:a="http://schemas.openxmlformats.org/drawingml/2006/main" w="12700">
            <a:solidFill>
              <a:srgbClr val="E4E5EF"/>
            </a:solidFill>
            <a:prstDash val="solid"/>
          </a:ln>
        </p:spPr>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7cd220839a534bcd"/>
          <a:srcRect xmlns:a="http://schemas.openxmlformats.org/drawingml/2006/main" l="0" t="-17083" r="0" b="-17083"/>
          <a:stretch xmlns:a="http://schemas.openxmlformats.org/drawingml/2006/main"/>
        </p:blipFill>
        <p:spPr>
          <a:xfrm xmlns:a="http://schemas.openxmlformats.org/drawingml/2006/main">
            <a:off x="11620195" y="3238805"/>
            <a:ext cx="5619902" cy="4476902"/>
          </a:xfrm>
          <a:prstGeom xmlns:a="http://schemas.openxmlformats.org/drawingml/2006/main" prst="rect">
            <a:avLst/>
          </a:prstGeom>
        </p:spPr>
      </p:pic>
      <p:sp>
        <p:nvSpPr>
          <p:cNvPr id="7" name="Text 2">
            <a:extLst xmlns:a="http://schemas.openxmlformats.org/drawingml/2006/main">
              <a:ext uri="{FF2B5EF4-FFF2-40B4-BE49-F238E27FC236}">
                <a16:creationId xmlns:a16="http://schemas.microsoft.com/office/drawing/2014/main" id="{FA360747-D808-459F-BC92-B3403F705404}"/>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04 · Hyperparameter &amp; threshold tuning</a:t>
            </a:r>
          </a:p>
        </p:txBody>
      </p:sp>
      <p:sp>
        <p:nvSpPr>
          <p:cNvPr id="8" name="Text 3">
            <a:extLst xmlns:a="http://schemas.openxmlformats.org/drawingml/2006/main">
              <a:ext uri="{FF2B5EF4-FFF2-40B4-BE49-F238E27FC236}">
                <a16:creationId xmlns:a16="http://schemas.microsoft.com/office/drawing/2014/main" id="{97E007B0-0BAC-4AD1-AE9B-E7643D74B8A7}"/>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09 / 19</a:t>
            </a:r>
          </a:p>
        </p:txBody>
      </p:sp>
      <p:sp>
        <p:nvSpPr>
          <p:cNvPr id="9" name="Text 4">
            <a:extLst xmlns:a="http://schemas.openxmlformats.org/drawingml/2006/main">
              <a:ext uri="{FF2B5EF4-FFF2-40B4-BE49-F238E27FC236}">
                <a16:creationId xmlns:a16="http://schemas.microsoft.com/office/drawing/2014/main" id="{D0443E7E-5927-48B9-B0DE-BD9A69DDFB75}"/>
              </a:ext>
            </a:extLst>
          </p:cNvPr>
          <p:cNvSpPr>
            <a:spLocks xmlns:a="http://schemas.openxmlformats.org/drawingml/2006/main" noGrp="1"/>
          </p:cNvSpPr>
          <p:nvPr/>
        </p:nvSpPr>
        <p:spPr>
          <a:xfrm xmlns:a="http://schemas.openxmlformats.org/drawingml/2006/main">
            <a:off x="761695" y="1238098"/>
            <a:ext cx="13335610" cy="4572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300" b="1">
                <a:solidFill>
                  <a:srgbClr val="0F1226"/>
                </a:solidFill>
                <a:latin typeface="Inter"/>
                <a:ea typeface="Inter"/>
                <a:cs typeface="Inter"/>
              </a:rPr>
              <a:t>Focused tuning + validation-anchored thresholds.</a:t>
            </a:r>
          </a:p>
        </p:txBody>
      </p:sp>
      <p:sp>
        <p:nvSpPr>
          <p:cNvPr id="10" name="Text 5">
            <a:extLst xmlns:a="http://schemas.openxmlformats.org/drawingml/2006/main">
              <a:ext uri="{FF2B5EF4-FFF2-40B4-BE49-F238E27FC236}">
                <a16:creationId xmlns:a16="http://schemas.microsoft.com/office/drawing/2014/main" id="{8F88018C-EAEF-4EE8-B3E0-8772D0C40984}"/>
              </a:ext>
            </a:extLst>
          </p:cNvPr>
          <p:cNvSpPr>
            <a:spLocks xmlns:a="http://schemas.openxmlformats.org/drawingml/2006/main" noGrp="1"/>
          </p:cNvSpPr>
          <p:nvPr/>
        </p:nvSpPr>
        <p:spPr>
          <a:xfrm xmlns:a="http://schemas.openxmlformats.org/drawingml/2006/main">
            <a:off x="761695" y="1785823"/>
            <a:ext cx="13335610" cy="20025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400" i="1">
                <a:solidFill>
                  <a:srgbClr val="6A6F8C"/>
                </a:solidFill>
                <a:latin typeface="Source Serif Pro"/>
                <a:ea typeface="Source Serif Pro"/>
                <a:cs typeface="Source Serif Pro"/>
              </a:rPr>
              <a:t>Small, mixed F1 changes — and cutoffs picked on validation only.</a:t>
            </a:r>
          </a:p>
        </p:txBody>
      </p:sp>
      <p:sp>
        <p:nvSpPr>
          <p:cNvPr id="11" name="Text 6">
            <a:extLst xmlns:a="http://schemas.openxmlformats.org/drawingml/2006/main">
              <a:ext uri="{FF2B5EF4-FFF2-40B4-BE49-F238E27FC236}">
                <a16:creationId xmlns:a16="http://schemas.microsoft.com/office/drawing/2014/main" id="{58E25159-B4B4-463D-8D90-C5A8BFDFC0D9}"/>
              </a:ext>
            </a:extLst>
          </p:cNvPr>
          <p:cNvSpPr>
            <a:spLocks xmlns:a="http://schemas.openxmlformats.org/drawingml/2006/main" noGrp="1"/>
          </p:cNvSpPr>
          <p:nvPr/>
        </p:nvSpPr>
        <p:spPr>
          <a:xfrm xmlns:a="http://schemas.openxmlformats.org/drawingml/2006/main">
            <a:off x="1143000" y="2857500"/>
            <a:ext cx="9525305"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Baseline vs. tuned · held-out test</a:t>
            </a:r>
          </a:p>
        </p:txBody>
      </p:sp>
      <p:sp>
        <p:nvSpPr>
          <p:cNvPr id="12" name="Text 7">
            <a:extLst xmlns:a="http://schemas.openxmlformats.org/drawingml/2006/main">
              <a:ext uri="{FF2B5EF4-FFF2-40B4-BE49-F238E27FC236}">
                <a16:creationId xmlns:a16="http://schemas.microsoft.com/office/drawing/2014/main" id="{FD5AB0AD-A0B6-46A2-A5C8-276DD4C20238}"/>
              </a:ext>
            </a:extLst>
          </p:cNvPr>
          <p:cNvSpPr>
            <a:spLocks xmlns:a="http://schemas.openxmlformats.org/drawingml/2006/main" noGrp="1"/>
          </p:cNvSpPr>
          <p:nvPr/>
        </p:nvSpPr>
        <p:spPr>
          <a:xfrm xmlns:a="http://schemas.openxmlformats.org/drawingml/2006/main">
            <a:off x="1143000" y="3047695"/>
            <a:ext cx="9525305"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Where tuning moved F1.</a:t>
            </a:r>
          </a:p>
        </p:txBody>
      </p:sp>
      <p:graphicFrame>
        <p:nvGraphicFramePr>
          <p:cNvPr id="45" name="Table 0"/>
          <p:cNvGraphicFramePr/>
          <p:nvPr/>
        </p:nvGraphicFramePr>
        <p:xfrm>
          <a:off xmlns:a="http://schemas.openxmlformats.org/drawingml/2006/main" x="1143000" y="3476549"/>
          <a:ext xmlns:a="http://schemas.openxmlformats.org/drawingml/2006/main" cx="9525305" cy="2210105"/>
        </p:xfrm>
        <a:graphic xmlns:a="http://schemas.openxmlformats.org/drawingml/2006/main">
          <a:graphicData uri="http://schemas.openxmlformats.org/drawingml/2006/table">
            <a:tbl>
              <a:tblPr/>
              <a:tblGrid>
                <a:gridCol w="3478378"/>
                <a:gridCol w="2188159"/>
                <a:gridCol w="983894"/>
                <a:gridCol w="1102766"/>
                <a:gridCol w="951890"/>
                <a:gridCol w="819302"/>
              </a:tblGrid>
              <a:tr h="442021">
                <a:tc>
                  <a:txBody>
                    <a:bodyPr/>
                    <a:lstStyle/>
                    <a:p>
                      <a:pPr marL="0" indent="0" algn="l">
                        <a:buNone/>
                      </a:pPr>
                      <a:r>
                        <a:rPr sz="975">
                          <a:solidFill>
                            <a:srgbClr val="6A6F8C"/>
                          </a:solidFill>
                          <a:latin typeface="JetBrains Mono"/>
                          <a:ea typeface="JetBrains Mono"/>
                          <a:cs typeface="JetBrains Mono"/>
                        </a:rPr>
                        <a:t>TASK</a:t>
                      </a:r>
                    </a:p>
                  </a:txBody>
                  <a:tcPr marL="57607" marR="57607" marT="95098" marB="95098"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l">
                        <a:buNone/>
                      </a:pPr>
                      <a:r>
                        <a:rPr sz="975">
                          <a:solidFill>
                            <a:srgbClr val="6A6F8C"/>
                          </a:solidFill>
                          <a:latin typeface="JetBrains Mono"/>
                          <a:ea typeface="JetBrains Mono"/>
                          <a:cs typeface="JetBrains Mono"/>
                        </a:rPr>
                        <a:t>MODEL</a:t>
                      </a:r>
                    </a:p>
                  </a:txBody>
                  <a:tcPr marL="57607" marR="57607" marT="95098" marB="95098"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975">
                          <a:solidFill>
                            <a:srgbClr val="6A6F8C"/>
                          </a:solidFill>
                          <a:latin typeface="JetBrains Mono"/>
                          <a:ea typeface="JetBrains Mono"/>
                          <a:cs typeface="JetBrains Mono"/>
                        </a:rPr>
                        <a:t>BASE F1</a:t>
                      </a:r>
                    </a:p>
                  </a:txBody>
                  <a:tcPr marL="57607" marR="57607" marT="95098" marB="95098"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975">
                          <a:solidFill>
                            <a:srgbClr val="6A6F8C"/>
                          </a:solidFill>
                          <a:latin typeface="JetBrains Mono"/>
                          <a:ea typeface="JetBrains Mono"/>
                          <a:cs typeface="JetBrains Mono"/>
                        </a:rPr>
                        <a:t>TUNED F1</a:t>
                      </a:r>
                    </a:p>
                  </a:txBody>
                  <a:tcPr marL="57607" marR="57607" marT="95098" marB="95098"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975">
                          <a:solidFill>
                            <a:srgbClr val="6A6F8C"/>
                          </a:solidFill>
                          <a:latin typeface="JetBrains Mono"/>
                          <a:ea typeface="JetBrains Mono"/>
                          <a:cs typeface="JetBrains Mono"/>
                        </a:rPr>
                        <a:t>Δ</a:t>
                      </a:r>
                    </a:p>
                  </a:txBody>
                  <a:tcPr marL="57607" marR="57607" marT="95098" marB="95098"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975">
                          <a:solidFill>
                            <a:srgbClr val="6A6F8C"/>
                          </a:solidFill>
                          <a:latin typeface="JetBrains Mono"/>
                          <a:ea typeface="JetBrains Mono"/>
                          <a:cs typeface="JetBrains Mono"/>
                        </a:rPr>
                        <a:t>AUC</a:t>
                      </a:r>
                    </a:p>
                  </a:txBody>
                  <a:tcPr marL="57607" marR="57607" marT="95098" marB="95098"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r>
              <a:tr h="442021">
                <a:tc>
                  <a:txBody>
                    <a:bodyPr/>
                    <a:lstStyle/>
                    <a:p>
                      <a:pPr marL="0" indent="0">
                        <a:buNone/>
                      </a:pPr>
                      <a:r>
                        <a:rPr sz="1275">
                          <a:solidFill>
                            <a:srgbClr val="0F1226"/>
                          </a:solidFill>
                          <a:latin typeface="JetBrains Mono"/>
                          <a:ea typeface="JetBrains Mono"/>
                          <a:cs typeface="JetBrains Mono"/>
                        </a:rPr>
                        <a:t>UCI early-warning</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c>
                  <a:txBody>
                    <a:bodyPr/>
                    <a:lstStyle/>
                    <a:p>
                      <a:pPr marL="0" indent="0">
                        <a:buNone/>
                      </a:pPr>
                      <a:r>
                        <a:rPr sz="1275" b="1">
                          <a:solidFill>
                            <a:srgbClr val="2A2E7A"/>
                          </a:solidFill>
                          <a:latin typeface="JetBrains Mono"/>
                          <a:ea typeface="JetBrains Mono"/>
                          <a:cs typeface="JetBrains Mono"/>
                        </a:rPr>
                        <a:t>LogReg </a:t>
                      </a:r>
                      <a:r>
                        <a:rPr sz="825" b="1">
                          <a:solidFill>
                            <a:srgbClr val="E4237A"/>
                          </a:solidFill>
                          <a:latin typeface="Inter"/>
                          <a:ea typeface="Inter"/>
                          <a:cs typeface="Inter"/>
                        </a:rPr>
                        <a:t>SELECTED</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c>
                  <a:txBody>
                    <a:bodyPr/>
                    <a:lstStyle/>
                    <a:p>
                      <a:pPr marL="0" indent="0" algn="r">
                        <a:buNone/>
                      </a:pPr>
                      <a:r>
                        <a:rPr sz="1275">
                          <a:solidFill>
                            <a:srgbClr val="6A6F8C"/>
                          </a:solidFill>
                          <a:latin typeface="JetBrains Mono"/>
                          <a:ea typeface="JetBrains Mono"/>
                          <a:cs typeface="JetBrains Mono"/>
                        </a:rPr>
                        <a:t>0.783</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c>
                  <a:txBody>
                    <a:bodyPr/>
                    <a:lstStyle/>
                    <a:p>
                      <a:pPr marL="0" indent="0" algn="r">
                        <a:buNone/>
                      </a:pPr>
                      <a:r>
                        <a:rPr sz="1275" b="1">
                          <a:solidFill>
                            <a:srgbClr val="0F1226"/>
                          </a:solidFill>
                          <a:latin typeface="JetBrains Mono"/>
                          <a:ea typeface="JetBrains Mono"/>
                          <a:cs typeface="JetBrains Mono"/>
                        </a:rPr>
                        <a:t>0.793</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c>
                  <a:txBody>
                    <a:bodyPr/>
                    <a:lstStyle/>
                    <a:p>
                      <a:pPr marL="0" indent="0" algn="r">
                        <a:buNone/>
                      </a:pPr>
                      <a:r>
                        <a:rPr sz="1275" b="1">
                          <a:solidFill>
                            <a:srgbClr val="1B9E8F"/>
                          </a:solidFill>
                          <a:latin typeface="JetBrains Mono"/>
                          <a:ea typeface="JetBrains Mono"/>
                          <a:cs typeface="JetBrains Mono"/>
                        </a:rPr>
                        <a:t>+0.010</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c>
                  <a:txBody>
                    <a:bodyPr/>
                    <a:lstStyle/>
                    <a:p>
                      <a:pPr marL="0" indent="0" algn="r">
                        <a:buNone/>
                      </a:pPr>
                      <a:r>
                        <a:rPr sz="1275">
                          <a:solidFill>
                            <a:srgbClr val="0F1226"/>
                          </a:solidFill>
                          <a:latin typeface="JetBrains Mono"/>
                          <a:ea typeface="JetBrains Mono"/>
                          <a:cs typeface="JetBrains Mono"/>
                        </a:rPr>
                        <a:t>0.911</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r>
              <a:tr h="442021">
                <a:tc>
                  <a:txBody>
                    <a:bodyPr/>
                    <a:lstStyle/>
                    <a:p>
                      <a:pPr marL="0" indent="0">
                        <a:buNone/>
                      </a:pPr>
                      <a:r>
                        <a:rPr sz="1275">
                          <a:solidFill>
                            <a:srgbClr val="0F1226"/>
                          </a:solidFill>
                          <a:latin typeface="JetBrains Mono"/>
                          <a:ea typeface="JetBrains Mono"/>
                          <a:cs typeface="JetBrains Mono"/>
                        </a:rPr>
                        <a:t>UCI early-warning</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buNone/>
                      </a:pPr>
                      <a:r>
                        <a:rPr sz="1275">
                          <a:solidFill>
                            <a:srgbClr val="6A6F8C"/>
                          </a:solidFill>
                          <a:latin typeface="JetBrains Mono"/>
                          <a:ea typeface="JetBrains Mono"/>
                          <a:cs typeface="JetBrains Mono"/>
                        </a:rPr>
                        <a:t>XGBoost</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1275">
                          <a:solidFill>
                            <a:srgbClr val="6A6F8C"/>
                          </a:solidFill>
                          <a:latin typeface="JetBrains Mono"/>
                          <a:ea typeface="JetBrains Mono"/>
                          <a:cs typeface="JetBrains Mono"/>
                        </a:rPr>
                        <a:t>0.783</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1275">
                          <a:solidFill>
                            <a:srgbClr val="0F1226"/>
                          </a:solidFill>
                          <a:latin typeface="JetBrains Mono"/>
                          <a:ea typeface="JetBrains Mono"/>
                          <a:cs typeface="JetBrains Mono"/>
                        </a:rPr>
                        <a:t>0.767</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1275">
                          <a:solidFill>
                            <a:srgbClr val="C43E5A"/>
                          </a:solidFill>
                          <a:latin typeface="JetBrains Mono"/>
                          <a:ea typeface="JetBrains Mono"/>
                          <a:cs typeface="JetBrains Mono"/>
                        </a:rPr>
                        <a:t>−0.016</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1275">
                          <a:solidFill>
                            <a:srgbClr val="0F1226"/>
                          </a:solidFill>
                          <a:latin typeface="JetBrains Mono"/>
                          <a:ea typeface="JetBrains Mono"/>
                          <a:cs typeface="JetBrains Mono"/>
                        </a:rPr>
                        <a:t>0.909</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r>
              <a:tr h="442021">
                <a:tc>
                  <a:txBody>
                    <a:bodyPr/>
                    <a:lstStyle/>
                    <a:p>
                      <a:pPr marL="0" indent="0">
                        <a:buNone/>
                      </a:pPr>
                      <a:r>
                        <a:rPr sz="1275">
                          <a:solidFill>
                            <a:srgbClr val="0F1226"/>
                          </a:solidFill>
                          <a:latin typeface="JetBrains Mono"/>
                          <a:ea typeface="JetBrains Mono"/>
                          <a:cs typeface="JetBrains Mono"/>
                        </a:rPr>
                        <a:t>OULAD early-warning</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c>
                  <a:txBody>
                    <a:bodyPr/>
                    <a:lstStyle/>
                    <a:p>
                      <a:pPr marL="0" indent="0">
                        <a:buNone/>
                      </a:pPr>
                      <a:r>
                        <a:rPr sz="1275" b="1">
                          <a:solidFill>
                            <a:srgbClr val="2A2E7A"/>
                          </a:solidFill>
                          <a:latin typeface="JetBrains Mono"/>
                          <a:ea typeface="JetBrains Mono"/>
                          <a:cs typeface="JetBrains Mono"/>
                        </a:rPr>
                        <a:t>XGBoost </a:t>
                      </a:r>
                      <a:r>
                        <a:rPr sz="825" b="1">
                          <a:solidFill>
                            <a:srgbClr val="E4237A"/>
                          </a:solidFill>
                          <a:latin typeface="Inter"/>
                          <a:ea typeface="Inter"/>
                          <a:cs typeface="Inter"/>
                        </a:rPr>
                        <a:t>SELECTED</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c>
                  <a:txBody>
                    <a:bodyPr/>
                    <a:lstStyle/>
                    <a:p>
                      <a:pPr marL="0" indent="0" algn="r">
                        <a:buNone/>
                      </a:pPr>
                      <a:r>
                        <a:rPr sz="1275">
                          <a:solidFill>
                            <a:srgbClr val="6A6F8C"/>
                          </a:solidFill>
                          <a:latin typeface="JetBrains Mono"/>
                          <a:ea typeface="JetBrains Mono"/>
                          <a:cs typeface="JetBrains Mono"/>
                        </a:rPr>
                        <a:t>0.729</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c>
                  <a:txBody>
                    <a:bodyPr/>
                    <a:lstStyle/>
                    <a:p>
                      <a:pPr marL="0" indent="0" algn="r">
                        <a:buNone/>
                      </a:pPr>
                      <a:r>
                        <a:rPr sz="1275" b="1">
                          <a:solidFill>
                            <a:srgbClr val="0F1226"/>
                          </a:solidFill>
                          <a:latin typeface="JetBrains Mono"/>
                          <a:ea typeface="JetBrains Mono"/>
                          <a:cs typeface="JetBrains Mono"/>
                        </a:rPr>
                        <a:t>0.738</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c>
                  <a:txBody>
                    <a:bodyPr/>
                    <a:lstStyle/>
                    <a:p>
                      <a:pPr marL="0" indent="0" algn="r">
                        <a:buNone/>
                      </a:pPr>
                      <a:r>
                        <a:rPr sz="1275" b="1">
                          <a:solidFill>
                            <a:srgbClr val="1B9E8F"/>
                          </a:solidFill>
                          <a:latin typeface="JetBrains Mono"/>
                          <a:ea typeface="JetBrains Mono"/>
                          <a:cs typeface="JetBrains Mono"/>
                        </a:rPr>
                        <a:t>+0.009</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c>
                  <a:txBody>
                    <a:bodyPr/>
                    <a:lstStyle/>
                    <a:p>
                      <a:pPr marL="0" indent="0" algn="r">
                        <a:buNone/>
                      </a:pPr>
                      <a:r>
                        <a:rPr sz="1275">
                          <a:solidFill>
                            <a:srgbClr val="0F1226"/>
                          </a:solidFill>
                          <a:latin typeface="JetBrains Mono"/>
                          <a:ea typeface="JetBrains Mono"/>
                          <a:cs typeface="JetBrains Mono"/>
                        </a:rPr>
                        <a:t>0.885</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solidFill>
                      <a:srgbClr val="FAFAFE"/>
                    </a:solidFill>
                  </a:tcPr>
                </a:tc>
              </a:tr>
              <a:tr h="442021">
                <a:tc>
                  <a:txBody>
                    <a:bodyPr/>
                    <a:lstStyle/>
                    <a:p>
                      <a:pPr marL="0" indent="0">
                        <a:buNone/>
                      </a:pPr>
                      <a:r>
                        <a:rPr sz="1275">
                          <a:solidFill>
                            <a:srgbClr val="0F1226"/>
                          </a:solidFill>
                          <a:latin typeface="JetBrains Mono"/>
                          <a:ea typeface="JetBrains Mono"/>
                          <a:cs typeface="JetBrains Mono"/>
                        </a:rPr>
                        <a:t>UCI multiclass</a:t>
                      </a:r>
                      <a:r>
                        <a:rPr sz="900">
                          <a:solidFill>
                            <a:srgbClr val="6A6F8C"/>
                          </a:solidFill>
                          <a:latin typeface="Inter"/>
                          <a:ea typeface="Inter"/>
                          <a:cs typeface="Inter"/>
                        </a:rPr>
                        <a:t>(reproduction only)</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buNone/>
                      </a:pPr>
                      <a:r>
                        <a:rPr sz="1275">
                          <a:solidFill>
                            <a:srgbClr val="6A6F8C"/>
                          </a:solidFill>
                          <a:latin typeface="JetBrains Mono"/>
                          <a:ea typeface="JetBrains Mono"/>
                          <a:cs typeface="JetBrains Mono"/>
                        </a:rPr>
                        <a:t>XGBoost</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1275">
                          <a:solidFill>
                            <a:srgbClr val="6A6F8C"/>
                          </a:solidFill>
                          <a:latin typeface="JetBrains Mono"/>
                          <a:ea typeface="JetBrains Mono"/>
                          <a:cs typeface="JetBrains Mono"/>
                        </a:rPr>
                        <a:t>0.704</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1275">
                          <a:solidFill>
                            <a:srgbClr val="0F1226"/>
                          </a:solidFill>
                          <a:latin typeface="JetBrains Mono"/>
                          <a:ea typeface="JetBrains Mono"/>
                          <a:cs typeface="JetBrains Mono"/>
                        </a:rPr>
                        <a:t>0.696</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1275">
                          <a:solidFill>
                            <a:srgbClr val="C43E5A"/>
                          </a:solidFill>
                          <a:latin typeface="JetBrains Mono"/>
                          <a:ea typeface="JetBrains Mono"/>
                          <a:cs typeface="JetBrains Mono"/>
                        </a:rPr>
                        <a:t>−0.008</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c>
                  <a:txBody>
                    <a:bodyPr/>
                    <a:lstStyle/>
                    <a:p>
                      <a:pPr marL="0" indent="0" algn="r">
                        <a:buNone/>
                      </a:pPr>
                      <a:r>
                        <a:rPr sz="1275">
                          <a:solidFill>
                            <a:srgbClr val="6A6F8C"/>
                          </a:solidFill>
                          <a:latin typeface="JetBrains Mono"/>
                          <a:ea typeface="JetBrains Mono"/>
                          <a:cs typeface="JetBrains Mono"/>
                        </a:rPr>
                        <a:t>—</a:t>
                      </a:r>
                    </a:p>
                  </a:txBody>
                  <a:tcPr marL="57607" marR="57607" marT="133502" marB="133502" anchor="ctr">
                    <a:lnL w="0" cmpd="sng">
                      <a:solidFill>
                        <a:srgbClr val="D4AF37"/>
                      </a:solidFill>
                      <a:prstDash val="solid"/>
                    </a:lnL>
                    <a:lnR w="0" cmpd="sng">
                      <a:solidFill>
                        <a:srgbClr val="D4AF37"/>
                      </a:solidFill>
                      <a:prstDash val="solid"/>
                    </a:lnR>
                    <a:lnT w="0" cmpd="sng">
                      <a:solidFill>
                        <a:srgbClr val="D4AF37"/>
                      </a:solidFill>
                      <a:prstDash val="solid"/>
                    </a:lnT>
                    <a:lnB w="0" cmpd="sng">
                      <a:solidFill>
                        <a:srgbClr val="D4AF37"/>
                      </a:solidFill>
                      <a:prstDash val="solid"/>
                    </a:lnB>
                  </a:tcPr>
                </a:tc>
              </a:tr>
            </a:tbl>
          </a:graphicData>
        </a:graphic>
      </p:graphicFrame>
      <p:sp>
        <p:nvSpPr>
          <p:cNvPr id="14" name="Shape 8">
            <a:extLst xmlns:a="http://schemas.openxmlformats.org/drawingml/2006/main">
              <a:ext uri="{FF2B5EF4-FFF2-40B4-BE49-F238E27FC236}">
                <a16:creationId xmlns:a16="http://schemas.microsoft.com/office/drawing/2014/main" id="{9FC74871-D3E5-4C42-B026-353B3A8CD06C}"/>
              </a:ext>
            </a:extLst>
          </p:cNvPr>
          <p:cNvSpPr>
            <a:spLocks xmlns:a="http://schemas.openxmlformats.org/drawingml/2006/main" noGrp="1"/>
          </p:cNvSpPr>
          <p:nvPr/>
        </p:nvSpPr>
        <p:spPr>
          <a:xfrm xmlns:a="http://schemas.openxmlformats.org/drawingml/2006/main">
            <a:off x="1143000" y="6286500"/>
            <a:ext cx="9525305"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15" name="Text 9">
            <a:extLst xmlns:a="http://schemas.openxmlformats.org/drawingml/2006/main">
              <a:ext uri="{FF2B5EF4-FFF2-40B4-BE49-F238E27FC236}">
                <a16:creationId xmlns:a16="http://schemas.microsoft.com/office/drawing/2014/main" id="{C955C9CB-AC4B-42B3-A67F-C80762053C9A}"/>
              </a:ext>
            </a:extLst>
          </p:cNvPr>
          <p:cNvSpPr>
            <a:spLocks xmlns:a="http://schemas.openxmlformats.org/drawingml/2006/main" noGrp="1"/>
          </p:cNvSpPr>
          <p:nvPr/>
        </p:nvSpPr>
        <p:spPr>
          <a:xfrm xmlns:a="http://schemas.openxmlformats.org/drawingml/2006/main">
            <a:off x="1143000" y="6429146"/>
            <a:ext cx="9525305" cy="448056"/>
          </a:xfrm>
          <a:prstGeom xmlns:a="http://schemas.openxmlformats.org/drawingml/2006/main" prst="rect">
            <a:avLst/>
          </a:prstGeom>
          <a:solidFill xmlns:a="http://schemas.openxmlformats.org/drawingml/2006/main">
            <a:srgbClr val="FFFFFF">
              <a:alpha val="0"/>
            </a:srgbClr>
          </a:solidFill>
          <a:ln xmlns:a="http://schemas.openxmlformats.org/drawingml/2006/main">
            <a:solidFill>
              <a:srgbClr val="FFFFFF">
                <a:alpha val="0"/>
              </a:srgbClr>
            </a:solidFill>
          </a:ln>
        </p:spPr>
        <p:txBody>
          <a:bodyPr xmlns:a="http://schemas.openxmlformats.org/drawingml/2006/main" wrap="square" lIns="139700" tIns="0" rIns="139700" bIns="139700" anchor="ctr"/>
          <a:lstStyle xmlns:a="http://schemas.openxmlformats.org/drawingml/2006/main"/>
          <a:p xmlns:a="http://schemas.openxmlformats.org/drawingml/2006/main">
            <a:pPr marL="0" indent="0" algn="l">
              <a:buNone/>
            </a:pPr>
            <a:r>
              <a:rPr sz="1000">
                <a:solidFill>
                  <a:srgbClr val="2A2E4B"/>
                </a:solidFill>
                <a:latin typeface="JetBrains Mono"/>
                <a:ea typeface="JetBrains Mono"/>
                <a:cs typeface="JetBrains Mono"/>
              </a:rPr>
              <a:t>53 configurations across 4 tuned runs — 16 UCI multiclass XGBoost, 5 UCI LogReg, 16 UCI binary XGBoost, 16 OULAD XGBoost. Candidates selected on validation split; 5-fold CV computed afterwards as stability evidence.</a:t>
            </a:r>
          </a:p>
        </p:txBody>
      </p:sp>
      <p:sp>
        <p:nvSpPr>
          <p:cNvPr id="16" name="Text 10">
            <a:extLst xmlns:a="http://schemas.openxmlformats.org/drawingml/2006/main">
              <a:ext uri="{FF2B5EF4-FFF2-40B4-BE49-F238E27FC236}">
                <a16:creationId xmlns:a16="http://schemas.microsoft.com/office/drawing/2014/main" id="{F3A0C96F-66A3-4DF5-9C4A-41EA7976C727}"/>
              </a:ext>
            </a:extLst>
          </p:cNvPr>
          <p:cNvSpPr>
            <a:spLocks xmlns:a="http://schemas.openxmlformats.org/drawingml/2006/main" noGrp="1"/>
          </p:cNvSpPr>
          <p:nvPr/>
        </p:nvSpPr>
        <p:spPr>
          <a:xfrm xmlns:a="http://schemas.openxmlformats.org/drawingml/2006/main">
            <a:off x="1143000" y="6964985"/>
            <a:ext cx="9525305" cy="1627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E8A93A"/>
                </a:solidFill>
                <a:latin typeface="JetBrains Mono"/>
                <a:ea typeface="JetBrains Mono"/>
                <a:cs typeface="JetBrains Mono"/>
              </a:rPr>
              <a:t>⚠ Observed changes have not been shown to be statistically significant.</a:t>
            </a:r>
          </a:p>
        </p:txBody>
      </p:sp>
      <p:sp>
        <p:nvSpPr>
          <p:cNvPr id="17" name="Shape 11">
            <a:extLst xmlns:a="http://schemas.openxmlformats.org/drawingml/2006/main">
              <a:ext uri="{FF2B5EF4-FFF2-40B4-BE49-F238E27FC236}">
                <a16:creationId xmlns:a16="http://schemas.microsoft.com/office/drawing/2014/main" id="{B882E1C9-1746-4FCA-B739-25F0A3668E96}"/>
              </a:ext>
            </a:extLst>
          </p:cNvPr>
          <p:cNvSpPr>
            <a:spLocks xmlns:a="http://schemas.openxmlformats.org/drawingml/2006/main" noGrp="1"/>
          </p:cNvSpPr>
          <p:nvPr/>
        </p:nvSpPr>
        <p:spPr>
          <a:xfrm xmlns:a="http://schemas.openxmlformats.org/drawingml/2006/main">
            <a:off x="1143000" y="7524598"/>
            <a:ext cx="9525305"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18" name="Text 12">
            <a:extLst xmlns:a="http://schemas.openxmlformats.org/drawingml/2006/main">
              <a:ext uri="{FF2B5EF4-FFF2-40B4-BE49-F238E27FC236}">
                <a16:creationId xmlns:a16="http://schemas.microsoft.com/office/drawing/2014/main" id="{1420FA19-1CED-4764-AC57-F586A78E5E11}"/>
              </a:ext>
            </a:extLst>
          </p:cNvPr>
          <p:cNvSpPr>
            <a:spLocks xmlns:a="http://schemas.openxmlformats.org/drawingml/2006/main" noGrp="1"/>
          </p:cNvSpPr>
          <p:nvPr/>
        </p:nvSpPr>
        <p:spPr>
          <a:xfrm xmlns:a="http://schemas.openxmlformats.org/drawingml/2006/main">
            <a:off x="1143000" y="7686446"/>
            <a:ext cx="9525305" cy="133502"/>
          </a:xfrm>
          <a:prstGeom xmlns:a="http://schemas.openxmlformats.org/drawingml/2006/main" prst="rect">
            <a:avLst/>
          </a:prstGeom>
          <a:solidFill xmlns:a="http://schemas.openxmlformats.org/drawingml/2006/main">
            <a:srgbClr val="FFFFFF">
              <a:alpha val="0"/>
            </a:srgbClr>
          </a:solidFill>
          <a:ln xmlns:a="http://schemas.openxmlformats.org/drawingml/2006/main">
            <a:solidFill>
              <a:srgbClr val="FFFFFF">
                <a:alpha val="0"/>
              </a:srgbClr>
            </a:solidFill>
          </a:ln>
        </p:spPr>
        <p:txBody>
          <a:bodyPr xmlns:a="http://schemas.openxmlformats.org/drawingml/2006/main" wrap="none" lIns="152400" tIns="0" rIns="152400" bIns="15240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Threshold selection — validation set</a:t>
            </a:r>
          </a:p>
        </p:txBody>
      </p:sp>
      <p:sp>
        <p:nvSpPr>
          <p:cNvPr id="19" name="Text 13">
            <a:extLst xmlns:a="http://schemas.openxmlformats.org/drawingml/2006/main">
              <a:ext uri="{FF2B5EF4-FFF2-40B4-BE49-F238E27FC236}">
                <a16:creationId xmlns:a16="http://schemas.microsoft.com/office/drawing/2014/main" id="{DA8F08B7-1FBF-4030-A62E-EF962E6F5967}"/>
              </a:ext>
            </a:extLst>
          </p:cNvPr>
          <p:cNvSpPr>
            <a:spLocks xmlns:a="http://schemas.openxmlformats.org/drawingml/2006/main" noGrp="1"/>
          </p:cNvSpPr>
          <p:nvPr/>
        </p:nvSpPr>
        <p:spPr>
          <a:xfrm xmlns:a="http://schemas.openxmlformats.org/drawingml/2006/main">
            <a:off x="1143000" y="7953451"/>
            <a:ext cx="3076956"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UCI · LOGREG</a:t>
            </a:r>
          </a:p>
        </p:txBody>
      </p:sp>
      <p:sp>
        <p:nvSpPr>
          <p:cNvPr id="20" name="Text 14">
            <a:extLst xmlns:a="http://schemas.openxmlformats.org/drawingml/2006/main">
              <a:ext uri="{FF2B5EF4-FFF2-40B4-BE49-F238E27FC236}">
                <a16:creationId xmlns:a16="http://schemas.microsoft.com/office/drawing/2014/main" id="{6192DDB2-1440-48BF-A209-2805C9C6A469}"/>
              </a:ext>
            </a:extLst>
          </p:cNvPr>
          <p:cNvSpPr>
            <a:spLocks xmlns:a="http://schemas.openxmlformats.org/drawingml/2006/main" noGrp="1"/>
          </p:cNvSpPr>
          <p:nvPr/>
        </p:nvSpPr>
        <p:spPr>
          <a:xfrm xmlns:a="http://schemas.openxmlformats.org/drawingml/2006/main">
            <a:off x="1143000" y="8124444"/>
            <a:ext cx="3076956" cy="3429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700" b="1">
                <a:solidFill>
                  <a:srgbClr val="2A2E7A"/>
                </a:solidFill>
                <a:latin typeface="JetBrains Mono"/>
                <a:ea typeface="JetBrains Mono"/>
                <a:cs typeface="JetBrains Mono"/>
              </a:rPr>
              <a:t>0.50</a:t>
            </a:r>
          </a:p>
        </p:txBody>
      </p:sp>
      <p:sp>
        <p:nvSpPr>
          <p:cNvPr id="21" name="Text 15">
            <a:extLst xmlns:a="http://schemas.openxmlformats.org/drawingml/2006/main">
              <a:ext uri="{FF2B5EF4-FFF2-40B4-BE49-F238E27FC236}">
                <a16:creationId xmlns:a16="http://schemas.microsoft.com/office/drawing/2014/main" id="{12BADC02-C2EA-4240-8E76-E7C3B6FAB1E1}"/>
              </a:ext>
            </a:extLst>
          </p:cNvPr>
          <p:cNvSpPr>
            <a:spLocks xmlns:a="http://schemas.openxmlformats.org/drawingml/2006/main" noGrp="1"/>
          </p:cNvSpPr>
          <p:nvPr/>
        </p:nvSpPr>
        <p:spPr>
          <a:xfrm xmlns:a="http://schemas.openxmlformats.org/drawingml/2006/main">
            <a:off x="1143000" y="8505749"/>
            <a:ext cx="3076956" cy="1627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2A2E4B"/>
                </a:solidFill>
                <a:latin typeface="Inter"/>
                <a:ea typeface="Inter"/>
                <a:cs typeface="Inter"/>
              </a:rPr>
              <a:t>highest val F1</a:t>
            </a:r>
          </a:p>
        </p:txBody>
      </p:sp>
      <p:sp>
        <p:nvSpPr>
          <p:cNvPr id="22" name="Text 16">
            <a:extLst xmlns:a="http://schemas.openxmlformats.org/drawingml/2006/main">
              <a:ext uri="{FF2B5EF4-FFF2-40B4-BE49-F238E27FC236}">
                <a16:creationId xmlns:a16="http://schemas.microsoft.com/office/drawing/2014/main" id="{621755E3-DD15-43D3-95CD-B9AC2E85FE52}"/>
              </a:ext>
            </a:extLst>
          </p:cNvPr>
          <p:cNvSpPr>
            <a:spLocks xmlns:a="http://schemas.openxmlformats.org/drawingml/2006/main" noGrp="1"/>
          </p:cNvSpPr>
          <p:nvPr/>
        </p:nvSpPr>
        <p:spPr>
          <a:xfrm xmlns:a="http://schemas.openxmlformats.org/drawingml/2006/main">
            <a:off x="4369003" y="7953451"/>
            <a:ext cx="3076956"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UCI · XGB</a:t>
            </a:r>
          </a:p>
        </p:txBody>
      </p:sp>
      <p:sp>
        <p:nvSpPr>
          <p:cNvPr id="23" name="Text 17">
            <a:extLst xmlns:a="http://schemas.openxmlformats.org/drawingml/2006/main">
              <a:ext uri="{FF2B5EF4-FFF2-40B4-BE49-F238E27FC236}">
                <a16:creationId xmlns:a16="http://schemas.microsoft.com/office/drawing/2014/main" id="{8E09C54C-4F68-41EC-ADC2-D643EB6DA7B3}"/>
              </a:ext>
            </a:extLst>
          </p:cNvPr>
          <p:cNvSpPr>
            <a:spLocks xmlns:a="http://schemas.openxmlformats.org/drawingml/2006/main" noGrp="1"/>
          </p:cNvSpPr>
          <p:nvPr/>
        </p:nvSpPr>
        <p:spPr>
          <a:xfrm xmlns:a="http://schemas.openxmlformats.org/drawingml/2006/main">
            <a:off x="4369003" y="8124444"/>
            <a:ext cx="3076956" cy="3429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700" b="1">
                <a:solidFill>
                  <a:srgbClr val="2A2E7A"/>
                </a:solidFill>
                <a:latin typeface="JetBrains Mono"/>
                <a:ea typeface="JetBrains Mono"/>
                <a:cs typeface="JetBrains Mono"/>
              </a:rPr>
              <a:t>0.46</a:t>
            </a:r>
          </a:p>
        </p:txBody>
      </p:sp>
      <p:sp>
        <p:nvSpPr>
          <p:cNvPr id="24" name="Text 18">
            <a:extLst xmlns:a="http://schemas.openxmlformats.org/drawingml/2006/main">
              <a:ext uri="{FF2B5EF4-FFF2-40B4-BE49-F238E27FC236}">
                <a16:creationId xmlns:a16="http://schemas.microsoft.com/office/drawing/2014/main" id="{CB60D4BF-99D1-445F-8D8A-691437D5D003}"/>
              </a:ext>
            </a:extLst>
          </p:cNvPr>
          <p:cNvSpPr>
            <a:spLocks xmlns:a="http://schemas.openxmlformats.org/drawingml/2006/main" noGrp="1"/>
          </p:cNvSpPr>
          <p:nvPr/>
        </p:nvSpPr>
        <p:spPr>
          <a:xfrm xmlns:a="http://schemas.openxmlformats.org/drawingml/2006/main">
            <a:off x="4369003" y="8505749"/>
            <a:ext cx="3076956" cy="1627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2A2E4B"/>
                </a:solidFill>
                <a:latin typeface="Inter"/>
                <a:ea typeface="Inter"/>
                <a:cs typeface="Inter"/>
              </a:rPr>
              <a:t>highest val F1</a:t>
            </a:r>
          </a:p>
        </p:txBody>
      </p:sp>
      <p:sp>
        <p:nvSpPr>
          <p:cNvPr id="25" name="Text 19">
            <a:extLst xmlns:a="http://schemas.openxmlformats.org/drawingml/2006/main">
              <a:ext uri="{FF2B5EF4-FFF2-40B4-BE49-F238E27FC236}">
                <a16:creationId xmlns:a16="http://schemas.microsoft.com/office/drawing/2014/main" id="{635709EC-407F-4AAF-BC05-842801FA8F18}"/>
              </a:ext>
            </a:extLst>
          </p:cNvPr>
          <p:cNvSpPr>
            <a:spLocks xmlns:a="http://schemas.openxmlformats.org/drawingml/2006/main" noGrp="1"/>
          </p:cNvSpPr>
          <p:nvPr/>
        </p:nvSpPr>
        <p:spPr>
          <a:xfrm xmlns:a="http://schemas.openxmlformats.org/drawingml/2006/main">
            <a:off x="7595006" y="7953451"/>
            <a:ext cx="3076956"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OULAD · XGB</a:t>
            </a:r>
          </a:p>
        </p:txBody>
      </p:sp>
      <p:sp>
        <p:nvSpPr>
          <p:cNvPr id="26" name="Text 20">
            <a:extLst xmlns:a="http://schemas.openxmlformats.org/drawingml/2006/main">
              <a:ext uri="{FF2B5EF4-FFF2-40B4-BE49-F238E27FC236}">
                <a16:creationId xmlns:a16="http://schemas.microsoft.com/office/drawing/2014/main" id="{1F0FF0D9-F850-4E9D-B690-9E4E52F12236}"/>
              </a:ext>
            </a:extLst>
          </p:cNvPr>
          <p:cNvSpPr>
            <a:spLocks xmlns:a="http://schemas.openxmlformats.org/drawingml/2006/main" noGrp="1"/>
          </p:cNvSpPr>
          <p:nvPr/>
        </p:nvSpPr>
        <p:spPr>
          <a:xfrm xmlns:a="http://schemas.openxmlformats.org/drawingml/2006/main">
            <a:off x="7595006" y="8124444"/>
            <a:ext cx="3076956" cy="3429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700" b="1">
                <a:solidFill>
                  <a:srgbClr val="E4237A"/>
                </a:solidFill>
                <a:latin typeface="JetBrains Mono"/>
                <a:ea typeface="JetBrains Mono"/>
                <a:cs typeface="JetBrains Mono"/>
              </a:rPr>
              <a:t>0.60</a:t>
            </a:r>
          </a:p>
        </p:txBody>
      </p:sp>
      <p:sp>
        <p:nvSpPr>
          <p:cNvPr id="27" name="Text 21">
            <a:extLst xmlns:a="http://schemas.openxmlformats.org/drawingml/2006/main">
              <a:ext uri="{FF2B5EF4-FFF2-40B4-BE49-F238E27FC236}">
                <a16:creationId xmlns:a16="http://schemas.microsoft.com/office/drawing/2014/main" id="{2FC161B0-F3EC-4E8F-B360-C2DA106C6686}"/>
              </a:ext>
            </a:extLst>
          </p:cNvPr>
          <p:cNvSpPr>
            <a:spLocks xmlns:a="http://schemas.openxmlformats.org/drawingml/2006/main" noGrp="1"/>
          </p:cNvSpPr>
          <p:nvPr/>
        </p:nvSpPr>
        <p:spPr>
          <a:xfrm xmlns:a="http://schemas.openxmlformats.org/drawingml/2006/main">
            <a:off x="7595006" y="8505749"/>
            <a:ext cx="3076956"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2A2E4B"/>
                </a:solidFill>
                <a:latin typeface="Inter"/>
                <a:ea typeface="Inter"/>
                <a:cs typeface="Inter"/>
              </a:rPr>
              <a:t>highest val F1 — shown →</a:t>
            </a:r>
          </a:p>
        </p:txBody>
      </p:sp>
      <p:sp>
        <p:nvSpPr>
          <p:cNvPr id="28" name="Text 22">
            <a:extLst xmlns:a="http://schemas.openxmlformats.org/drawingml/2006/main">
              <a:ext uri="{FF2B5EF4-FFF2-40B4-BE49-F238E27FC236}">
                <a16:creationId xmlns:a16="http://schemas.microsoft.com/office/drawing/2014/main" id="{867A910C-E954-4750-859D-7D93EB34EEC8}"/>
              </a:ext>
            </a:extLst>
          </p:cNvPr>
          <p:cNvSpPr>
            <a:spLocks xmlns:a="http://schemas.openxmlformats.org/drawingml/2006/main" noGrp="1"/>
          </p:cNvSpPr>
          <p:nvPr/>
        </p:nvSpPr>
        <p:spPr>
          <a:xfrm xmlns:a="http://schemas.openxmlformats.org/drawingml/2006/main">
            <a:off x="11620195" y="2857500"/>
            <a:ext cx="561990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FIG · OULAD threshold sweep · validation set</a:t>
            </a:r>
          </a:p>
        </p:txBody>
      </p:sp>
      <p:sp>
        <p:nvSpPr>
          <p:cNvPr id="29" name="Shape 23">
            <a:extLst xmlns:a="http://schemas.openxmlformats.org/drawingml/2006/main">
              <a:ext uri="{FF2B5EF4-FFF2-40B4-BE49-F238E27FC236}">
                <a16:creationId xmlns:a16="http://schemas.microsoft.com/office/drawing/2014/main" id="{6A4AB959-A871-4912-AADE-112BC54DF48B}"/>
              </a:ext>
            </a:extLst>
          </p:cNvPr>
          <p:cNvSpPr>
            <a:spLocks xmlns:a="http://schemas.openxmlformats.org/drawingml/2006/main" noGrp="1"/>
          </p:cNvSpPr>
          <p:nvPr/>
        </p:nvSpPr>
        <p:spPr>
          <a:xfrm xmlns:a="http://schemas.openxmlformats.org/drawingml/2006/main">
            <a:off x="11620195" y="7905902"/>
            <a:ext cx="5619902"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30" name="Text 24">
            <a:extLst xmlns:a="http://schemas.openxmlformats.org/drawingml/2006/main">
              <a:ext uri="{FF2B5EF4-FFF2-40B4-BE49-F238E27FC236}">
                <a16:creationId xmlns:a16="http://schemas.microsoft.com/office/drawing/2014/main" id="{937882E1-EC62-40AA-8235-3FB1E2A332A1}"/>
              </a:ext>
            </a:extLst>
          </p:cNvPr>
          <p:cNvSpPr>
            <a:spLocks xmlns:a="http://schemas.openxmlformats.org/drawingml/2006/main" noGrp="1"/>
          </p:cNvSpPr>
          <p:nvPr/>
        </p:nvSpPr>
        <p:spPr>
          <a:xfrm xmlns:a="http://schemas.openxmlformats.org/drawingml/2006/main">
            <a:off x="11620195" y="8048549"/>
            <a:ext cx="5619902" cy="134417"/>
          </a:xfrm>
          <a:prstGeom xmlns:a="http://schemas.openxmlformats.org/drawingml/2006/main" prst="rect">
            <a:avLst/>
          </a:prstGeom>
          <a:solidFill xmlns:a="http://schemas.openxmlformats.org/drawingml/2006/main">
            <a:srgbClr val="FFFFFF">
              <a:alpha val="0"/>
            </a:srgbClr>
          </a:solidFill>
          <a:ln xmlns:a="http://schemas.openxmlformats.org/drawingml/2006/main">
            <a:solidFill>
              <a:srgbClr val="FFFFFF">
                <a:alpha val="0"/>
              </a:srgbClr>
            </a:solidFill>
          </a:ln>
        </p:spPr>
        <p:txBody>
          <a:bodyPr xmlns:a="http://schemas.openxmlformats.org/drawingml/2006/main" wrap="none" lIns="139700" tIns="0" rIns="139700" bIns="13970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Best settings — narrow grids</a:t>
            </a:r>
          </a:p>
        </p:txBody>
      </p:sp>
      <p:sp>
        <p:nvSpPr>
          <p:cNvPr id="31" name="Text 25">
            <a:extLst xmlns:a="http://schemas.openxmlformats.org/drawingml/2006/main">
              <a:ext uri="{FF2B5EF4-FFF2-40B4-BE49-F238E27FC236}">
                <a16:creationId xmlns:a16="http://schemas.microsoft.com/office/drawing/2014/main" id="{3315FA8D-F4B4-4837-AD2D-C647B03BB8E8}"/>
              </a:ext>
            </a:extLst>
          </p:cNvPr>
          <p:cNvSpPr>
            <a:spLocks xmlns:a="http://schemas.openxmlformats.org/drawingml/2006/main" noGrp="1"/>
          </p:cNvSpPr>
          <p:nvPr/>
        </p:nvSpPr>
        <p:spPr>
          <a:xfrm xmlns:a="http://schemas.openxmlformats.org/drawingml/2006/main">
            <a:off x="11620195" y="8234172"/>
            <a:ext cx="5619902" cy="557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25"/>
              </a:lnSpc>
              <a:buNone/>
            </a:pPr>
            <a:r>
              <a:rPr sz="1100">
                <a:solidFill>
                  <a:srgbClr val="0F1226"/>
                </a:solidFill>
                <a:latin typeface="JetBrains Mono"/>
                <a:ea typeface="JetBrains Mono"/>
                <a:cs typeface="JetBrains Mono"/>
              </a:rPr>
              <a:t>UCI LogReg C = 0.05 · balanced · val F1 </a:t>
            </a:r>
            <a:r>
              <a:rPr sz="1100">
                <a:solidFill>
                  <a:srgbClr val="E4237A"/>
                </a:solidFill>
                <a:latin typeface="JetBrains Mono"/>
                <a:ea typeface="JetBrains Mono"/>
                <a:cs typeface="JetBrains Mono"/>
              </a:rPr>
              <a:t>0.776</a:t>
            </a:r>
          </a:p>
          <a:p xmlns:a="http://schemas.openxmlformats.org/drawingml/2006/main">
            <a:pPr marL="0" indent="0" algn="l">
              <a:lnSpc>
                <a:spcPts val="2025"/>
              </a:lnSpc>
              <a:buNone/>
            </a:pPr>
            <a:r>
              <a:rPr sz="1100">
                <a:solidFill>
                  <a:srgbClr val="0F1226"/>
                </a:solidFill>
                <a:latin typeface="JetBrains Mono"/>
                <a:ea typeface="JetBrains Mono"/>
                <a:cs typeface="JetBrains Mono"/>
              </a:rPr>
              <a:t>OULAD XGB trees = 320 · depth = 5 · lr = 0.03 · val F1 </a:t>
            </a:r>
            <a:r>
              <a:rPr sz="1100">
                <a:solidFill>
                  <a:srgbClr val="E4237A"/>
                </a:solidFill>
                <a:latin typeface="JetBrains Mono"/>
                <a:ea typeface="JetBrains Mono"/>
                <a:cs typeface="JetBrains Mono"/>
              </a:rPr>
              <a:t>0.744</a:t>
            </a:r>
          </a:p>
        </p:txBody>
      </p:sp>
    </p:spTree>
    <p:extLst>
      <p:ext uri="{BB962C8B-B14F-4D97-AF65-F5344CB8AC3E}">
        <p14:creationId xmlns:p14="http://schemas.microsoft.com/office/powerpoint/2010/main" val="2113312382"/>
      </p:ext>
    </p:extLst>
  </p:cSld>
</p:sld>
</file>

<file path=ppt/slides/slide10.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cd2c1525495c448a"/>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FF59946A-772B-4AAA-9054-D8AFD859E80E}"/>
              </a:ext>
            </a:extLst>
          </p:cNvPr>
          <p:cNvSpPr>
            <a:spLocks xmlns:a="http://schemas.openxmlformats.org/drawingml/2006/main" noGrp="1"/>
          </p:cNvSpPr>
          <p:nvPr/>
        </p:nvSpPr>
        <p:spPr>
          <a:xfrm xmlns:a="http://schemas.openxmlformats.org/drawingml/2006/main">
            <a:off x="761695" y="2952598"/>
            <a:ext cx="11259007" cy="6305702"/>
          </a:xfrm>
          <a:prstGeom xmlns:a="http://schemas.openxmlformats.org/drawingml/2006/main" prst="roundRect">
            <a:avLst>
              <a:gd name="adj" fmla="val 305"/>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7F6EAF2C-2373-4BEA-BBE5-46ABC7788DA4}"/>
              </a:ext>
            </a:extLst>
          </p:cNvPr>
          <p:cNvSpPr>
            <a:spLocks xmlns:a="http://schemas.openxmlformats.org/drawingml/2006/main" noGrp="1"/>
          </p:cNvSpPr>
          <p:nvPr/>
        </p:nvSpPr>
        <p:spPr>
          <a:xfrm xmlns:a="http://schemas.openxmlformats.org/drawingml/2006/main">
            <a:off x="12287707" y="2952598"/>
            <a:ext cx="5257800" cy="3066898"/>
          </a:xfrm>
          <a:prstGeom xmlns:a="http://schemas.openxmlformats.org/drawingml/2006/main" prst="roundRect">
            <a:avLst>
              <a:gd name="adj" fmla="val 626"/>
            </a:avLst>
          </a:prstGeom>
          <a:solidFill xmlns:a="http://schemas.openxmlformats.org/drawingml/2006/main">
            <a:srgbClr val="FFFFFF"/>
          </a:solidFill>
          <a:ln xmlns:a="http://schemas.openxmlformats.org/drawingml/2006/main" w="12700">
            <a:solidFill>
              <a:srgbClr val="E4E5EF"/>
            </a:solidFill>
            <a:prstDash val="solid"/>
          </a:ln>
        </p:spPr>
      </p:sp>
      <p:sp>
        <p:nvSpPr>
          <p:cNvPr id="6" name="Shape 2">
            <a:extLst xmlns:a="http://schemas.openxmlformats.org/drawingml/2006/main">
              <a:ext uri="{FF2B5EF4-FFF2-40B4-BE49-F238E27FC236}">
                <a16:creationId xmlns:a16="http://schemas.microsoft.com/office/drawing/2014/main" id="{C3073815-84DA-4A17-A8CE-08D10E6972BE}"/>
              </a:ext>
            </a:extLst>
          </p:cNvPr>
          <p:cNvSpPr>
            <a:spLocks xmlns:a="http://schemas.openxmlformats.org/drawingml/2006/main" noGrp="1"/>
          </p:cNvSpPr>
          <p:nvPr/>
        </p:nvSpPr>
        <p:spPr>
          <a:xfrm xmlns:a="http://schemas.openxmlformats.org/drawingml/2006/main">
            <a:off x="12287707" y="2952598"/>
            <a:ext cx="5257800" cy="57607"/>
          </a:xfrm>
          <a:prstGeom xmlns:a="http://schemas.openxmlformats.org/drawingml/2006/main" prst="roundRect">
            <a:avLst>
              <a:gd name="adj" fmla="val 33333"/>
            </a:avLst>
          </a:prstGeom>
          <a:solidFill xmlns:a="http://schemas.openxmlformats.org/drawingml/2006/main">
            <a:srgbClr val="2A2E7A"/>
          </a:solidFill>
          <a:ln xmlns:a="http://schemas.openxmlformats.org/drawingml/2006/main" w="12700">
            <a:solidFill>
              <a:srgbClr val="2A2E7A">
                <a:alpha val="0"/>
              </a:srgbClr>
            </a:solidFill>
            <a:prstDash val="solid"/>
          </a:ln>
        </p:spPr>
      </p:sp>
      <p:sp>
        <p:nvSpPr>
          <p:cNvPr id="7" name="Shape 3">
            <a:extLst xmlns:a="http://schemas.openxmlformats.org/drawingml/2006/main">
              <a:ext uri="{FF2B5EF4-FFF2-40B4-BE49-F238E27FC236}">
                <a16:creationId xmlns:a16="http://schemas.microsoft.com/office/drawing/2014/main" id="{C9367B53-BF0B-4A6B-B1B3-4CB0EA6D17AB}"/>
              </a:ext>
            </a:extLst>
          </p:cNvPr>
          <p:cNvSpPr>
            <a:spLocks xmlns:a="http://schemas.openxmlformats.org/drawingml/2006/main" noGrp="1"/>
          </p:cNvSpPr>
          <p:nvPr/>
        </p:nvSpPr>
        <p:spPr>
          <a:xfrm xmlns:a="http://schemas.openxmlformats.org/drawingml/2006/main">
            <a:off x="12287707" y="6238951"/>
            <a:ext cx="5257800" cy="3066898"/>
          </a:xfrm>
          <a:prstGeom xmlns:a="http://schemas.openxmlformats.org/drawingml/2006/main" prst="roundRect">
            <a:avLst>
              <a:gd name="adj" fmla="val 626"/>
            </a:avLst>
          </a:prstGeom>
          <a:solidFill xmlns:a="http://schemas.openxmlformats.org/drawingml/2006/main">
            <a:srgbClr val="FFFFFF"/>
          </a:solidFill>
          <a:ln xmlns:a="http://schemas.openxmlformats.org/drawingml/2006/main" w="12700">
            <a:solidFill>
              <a:srgbClr val="E4E5EF"/>
            </a:solidFill>
            <a:prstDash val="solid"/>
          </a:ln>
        </p:spPr>
      </p:sp>
      <p:sp>
        <p:nvSpPr>
          <p:cNvPr id="8" name="Shape 4">
            <a:extLst xmlns:a="http://schemas.openxmlformats.org/drawingml/2006/main">
              <a:ext uri="{FF2B5EF4-FFF2-40B4-BE49-F238E27FC236}">
                <a16:creationId xmlns:a16="http://schemas.microsoft.com/office/drawing/2014/main" id="{26E744E4-838B-43E6-B9CC-18B0BFF895E7}"/>
              </a:ext>
            </a:extLst>
          </p:cNvPr>
          <p:cNvSpPr>
            <a:spLocks xmlns:a="http://schemas.openxmlformats.org/drawingml/2006/main" noGrp="1"/>
          </p:cNvSpPr>
          <p:nvPr/>
        </p:nvSpPr>
        <p:spPr>
          <a:xfrm xmlns:a="http://schemas.openxmlformats.org/drawingml/2006/main">
            <a:off x="12287707" y="6238951"/>
            <a:ext cx="5257800" cy="57607"/>
          </a:xfrm>
          <a:prstGeom xmlns:a="http://schemas.openxmlformats.org/drawingml/2006/main" prst="roundRect">
            <a:avLst>
              <a:gd name="adj" fmla="val 33333"/>
            </a:avLst>
          </a:prstGeom>
          <a:solidFill xmlns:a="http://schemas.openxmlformats.org/drawingml/2006/main">
            <a:srgbClr val="2A2E7A"/>
          </a:solidFill>
          <a:ln xmlns:a="http://schemas.openxmlformats.org/drawingml/2006/main" w="12700">
            <a:solidFill>
              <a:srgbClr val="2A2E7A">
                <a:alpha val="0"/>
              </a:srgbClr>
            </a:solidFill>
            <a:prstDash val="solid"/>
          </a:ln>
        </p:spPr>
      </p:sp>
      <p:pic>
        <p:nvPicPr>
          <p:cNvPr id="44" name="Image 1"/>
          <p:cNvPicPr>
            <a:picLocks xmlns:a="http://schemas.openxmlformats.org/drawingml/2006/main" noChangeAspect="1"/>
          </p:cNvPicPr>
          <p:nvPr/>
        </p:nvPicPr>
        <p:blipFill>
          <a:blip xmlns:r="http://schemas.openxmlformats.org/officeDocument/2006/relationships" xmlns:a="http://schemas.openxmlformats.org/drawingml/2006/main" r:embed="Re10ef8e64c364fbe"/>
          <a:srcRect xmlns:a="http://schemas.openxmlformats.org/drawingml/2006/main" l="-2614" t="0" r="-2614" b="0"/>
          <a:stretch xmlns:a="http://schemas.openxmlformats.org/drawingml/2006/main"/>
        </p:blipFill>
        <p:spPr>
          <a:xfrm xmlns:a="http://schemas.openxmlformats.org/drawingml/2006/main">
            <a:off x="1047902" y="3524098"/>
            <a:ext cx="10477195" cy="5524805"/>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9A5E3F77-9522-4080-A0A3-5CB8F8EFF5BD}"/>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05 · Results · held-out test set</a:t>
            </a:r>
          </a:p>
        </p:txBody>
      </p:sp>
      <p:sp>
        <p:nvSpPr>
          <p:cNvPr id="11" name="Text 6">
            <a:extLst xmlns:a="http://schemas.openxmlformats.org/drawingml/2006/main">
              <a:ext uri="{FF2B5EF4-FFF2-40B4-BE49-F238E27FC236}">
                <a16:creationId xmlns:a16="http://schemas.microsoft.com/office/drawing/2014/main" id="{77EA530C-42EB-4CE9-B633-46ED534900E0}"/>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10 / 19</a:t>
            </a:r>
          </a:p>
        </p:txBody>
      </p:sp>
      <p:sp>
        <p:nvSpPr>
          <p:cNvPr id="12" name="Text 7">
            <a:extLst xmlns:a="http://schemas.openxmlformats.org/drawingml/2006/main">
              <a:ext uri="{FF2B5EF4-FFF2-40B4-BE49-F238E27FC236}">
                <a16:creationId xmlns:a16="http://schemas.microsoft.com/office/drawing/2014/main" id="{57160BED-40BE-4198-BA7F-2A213DB06DC1}"/>
              </a:ext>
            </a:extLst>
          </p:cNvPr>
          <p:cNvSpPr>
            <a:spLocks xmlns:a="http://schemas.openxmlformats.org/drawingml/2006/main" noGrp="1"/>
          </p:cNvSpPr>
          <p:nvPr/>
        </p:nvSpPr>
        <p:spPr>
          <a:xfrm xmlns:a="http://schemas.openxmlformats.org/drawingml/2006/main">
            <a:off x="761695" y="1238098"/>
            <a:ext cx="16764610" cy="4864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600" b="1">
                <a:solidFill>
                  <a:srgbClr val="0F1226"/>
                </a:solidFill>
                <a:latin typeface="Inter"/>
                <a:ea typeface="Inter"/>
                <a:cs typeface="Inter"/>
              </a:rPr>
              <a:t>Held-out results support cautious pilot evaluation.</a:t>
            </a:r>
          </a:p>
        </p:txBody>
      </p:sp>
      <p:sp>
        <p:nvSpPr>
          <p:cNvPr id="13" name="Text 8">
            <a:extLst xmlns:a="http://schemas.openxmlformats.org/drawingml/2006/main">
              <a:ext uri="{FF2B5EF4-FFF2-40B4-BE49-F238E27FC236}">
                <a16:creationId xmlns:a16="http://schemas.microsoft.com/office/drawing/2014/main" id="{1B68779F-9640-46A6-91F1-FF82251B42B9}"/>
              </a:ext>
            </a:extLst>
          </p:cNvPr>
          <p:cNvSpPr>
            <a:spLocks xmlns:a="http://schemas.openxmlformats.org/drawingml/2006/main" noGrp="1"/>
          </p:cNvSpPr>
          <p:nvPr/>
        </p:nvSpPr>
        <p:spPr>
          <a:xfrm xmlns:a="http://schemas.openxmlformats.org/drawingml/2006/main">
            <a:off x="761695" y="1813255"/>
            <a:ext cx="14021410" cy="21031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i="1">
                <a:solidFill>
                  <a:srgbClr val="6A6F8C"/>
                </a:solidFill>
                <a:latin typeface="Source Serif Pro"/>
                <a:ea typeface="Source Serif Pro"/>
                <a:cs typeface="Source Serif Pro"/>
              </a:rPr>
              <a:t>Both final models retained useful discrimination on held-out data, but their errors and operational constraints still require human review.</a:t>
            </a:r>
          </a:p>
        </p:txBody>
      </p:sp>
      <p:sp>
        <p:nvSpPr>
          <p:cNvPr id="14" name="Text 9">
            <a:extLst xmlns:a="http://schemas.openxmlformats.org/drawingml/2006/main">
              <a:ext uri="{FF2B5EF4-FFF2-40B4-BE49-F238E27FC236}">
                <a16:creationId xmlns:a16="http://schemas.microsoft.com/office/drawing/2014/main" id="{7363D352-F9A2-42D5-90C4-D8324D297BBD}"/>
              </a:ext>
            </a:extLst>
          </p:cNvPr>
          <p:cNvSpPr>
            <a:spLocks xmlns:a="http://schemas.openxmlformats.org/drawingml/2006/main" noGrp="1"/>
          </p:cNvSpPr>
          <p:nvPr/>
        </p:nvSpPr>
        <p:spPr>
          <a:xfrm xmlns:a="http://schemas.openxmlformats.org/drawingml/2006/main">
            <a:off x="1047902" y="3095244"/>
            <a:ext cx="10478110"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FIG · Final held-out test metrics</a:t>
            </a:r>
          </a:p>
        </p:txBody>
      </p:sp>
      <p:sp>
        <p:nvSpPr>
          <p:cNvPr id="15" name="Text 10">
            <a:extLst xmlns:a="http://schemas.openxmlformats.org/drawingml/2006/main">
              <a:ext uri="{FF2B5EF4-FFF2-40B4-BE49-F238E27FC236}">
                <a16:creationId xmlns:a16="http://schemas.microsoft.com/office/drawing/2014/main" id="{35E0CD41-CCD2-4146-9001-94DD278B4282}"/>
              </a:ext>
            </a:extLst>
          </p:cNvPr>
          <p:cNvSpPr>
            <a:spLocks xmlns:a="http://schemas.openxmlformats.org/drawingml/2006/main" noGrp="1"/>
          </p:cNvSpPr>
          <p:nvPr/>
        </p:nvSpPr>
        <p:spPr>
          <a:xfrm xmlns:a="http://schemas.openxmlformats.org/drawingml/2006/main">
            <a:off x="1047902" y="3267151"/>
            <a:ext cx="10478110"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UCI Logistic Regression · OULAD XGBoost · test set held out from all tuning</a:t>
            </a:r>
          </a:p>
        </p:txBody>
      </p:sp>
      <p:sp>
        <p:nvSpPr>
          <p:cNvPr id="16" name="Text 11">
            <a:extLst xmlns:a="http://schemas.openxmlformats.org/drawingml/2006/main">
              <a:ext uri="{FF2B5EF4-FFF2-40B4-BE49-F238E27FC236}">
                <a16:creationId xmlns:a16="http://schemas.microsoft.com/office/drawing/2014/main" id="{FB4A6CCA-B866-4CDD-9FC7-24D294873D26}"/>
              </a:ext>
            </a:extLst>
          </p:cNvPr>
          <p:cNvSpPr>
            <a:spLocks xmlns:a="http://schemas.openxmlformats.org/drawingml/2006/main" noGrp="1"/>
          </p:cNvSpPr>
          <p:nvPr/>
        </p:nvSpPr>
        <p:spPr>
          <a:xfrm xmlns:a="http://schemas.openxmlformats.org/drawingml/2006/main">
            <a:off x="12573000" y="3191256"/>
            <a:ext cx="4668012"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6A6F8C"/>
                </a:solidFill>
                <a:latin typeface="JetBrains Mono"/>
                <a:ea typeface="JetBrains Mono"/>
                <a:cs typeface="JetBrains Mono"/>
              </a:rPr>
              <a:t>UCI · Logistic Regression</a:t>
            </a:r>
          </a:p>
        </p:txBody>
      </p:sp>
      <p:sp>
        <p:nvSpPr>
          <p:cNvPr id="17" name="Text 12">
            <a:extLst xmlns:a="http://schemas.openxmlformats.org/drawingml/2006/main">
              <a:ext uri="{FF2B5EF4-FFF2-40B4-BE49-F238E27FC236}">
                <a16:creationId xmlns:a16="http://schemas.microsoft.com/office/drawing/2014/main" id="{F4DE829A-58E6-4B91-9009-224A2EC0EB46}"/>
              </a:ext>
            </a:extLst>
          </p:cNvPr>
          <p:cNvSpPr>
            <a:spLocks xmlns:a="http://schemas.openxmlformats.org/drawingml/2006/main" noGrp="1"/>
          </p:cNvSpPr>
          <p:nvPr/>
        </p:nvSpPr>
        <p:spPr>
          <a:xfrm xmlns:a="http://schemas.openxmlformats.org/drawingml/2006/main">
            <a:off x="12573000" y="3448202"/>
            <a:ext cx="2181758" cy="7242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5700" b="1">
                <a:solidFill>
                  <a:srgbClr val="2A2E7A"/>
                </a:solidFill>
                <a:latin typeface="JetBrains Mono"/>
                <a:ea typeface="JetBrains Mono"/>
                <a:cs typeface="JetBrains Mono"/>
              </a:rPr>
              <a:t>0.911</a:t>
            </a:r>
          </a:p>
        </p:txBody>
      </p:sp>
      <p:sp>
        <p:nvSpPr>
          <p:cNvPr id="18" name="Text 13">
            <a:extLst xmlns:a="http://schemas.openxmlformats.org/drawingml/2006/main">
              <a:ext uri="{FF2B5EF4-FFF2-40B4-BE49-F238E27FC236}">
                <a16:creationId xmlns:a16="http://schemas.microsoft.com/office/drawing/2014/main" id="{A422FED8-33C2-451B-8646-0004664054F1}"/>
              </a:ext>
            </a:extLst>
          </p:cNvPr>
          <p:cNvSpPr>
            <a:spLocks xmlns:a="http://schemas.openxmlformats.org/drawingml/2006/main" noGrp="1"/>
          </p:cNvSpPr>
          <p:nvPr/>
        </p:nvSpPr>
        <p:spPr>
          <a:xfrm xmlns:a="http://schemas.openxmlformats.org/drawingml/2006/main">
            <a:off x="14878202" y="3905402"/>
            <a:ext cx="724205"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6A6F8C"/>
                </a:solidFill>
                <a:latin typeface="Inter"/>
                <a:ea typeface="Inter"/>
                <a:cs typeface="Inter"/>
              </a:rPr>
              <a:t>ROC-AUC</a:t>
            </a:r>
          </a:p>
        </p:txBody>
      </p:sp>
      <p:sp>
        <p:nvSpPr>
          <p:cNvPr id="19" name="Shape 14">
            <a:extLst xmlns:a="http://schemas.openxmlformats.org/drawingml/2006/main">
              <a:ext uri="{FF2B5EF4-FFF2-40B4-BE49-F238E27FC236}">
                <a16:creationId xmlns:a16="http://schemas.microsoft.com/office/drawing/2014/main" id="{0A755368-51FF-4412-AD99-794B210FCC1A}"/>
              </a:ext>
            </a:extLst>
          </p:cNvPr>
          <p:cNvSpPr>
            <a:spLocks xmlns:a="http://schemas.openxmlformats.org/drawingml/2006/main" noGrp="1"/>
          </p:cNvSpPr>
          <p:nvPr/>
        </p:nvSpPr>
        <p:spPr>
          <a:xfrm xmlns:a="http://schemas.openxmlformats.org/drawingml/2006/main">
            <a:off x="12573000" y="4401007"/>
            <a:ext cx="46670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20" name="Text 15">
            <a:extLst xmlns:a="http://schemas.openxmlformats.org/drawingml/2006/main">
              <a:ext uri="{FF2B5EF4-FFF2-40B4-BE49-F238E27FC236}">
                <a16:creationId xmlns:a16="http://schemas.microsoft.com/office/drawing/2014/main" id="{D3D3E596-D53E-4194-B717-B0E022FE04DC}"/>
              </a:ext>
            </a:extLst>
          </p:cNvPr>
          <p:cNvSpPr>
            <a:spLocks xmlns:a="http://schemas.openxmlformats.org/drawingml/2006/main" noGrp="1"/>
          </p:cNvSpPr>
          <p:nvPr/>
        </p:nvSpPr>
        <p:spPr>
          <a:xfrm xmlns:a="http://schemas.openxmlformats.org/drawingml/2006/main">
            <a:off x="12573000" y="4581144"/>
            <a:ext cx="1505102"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6A6F8C"/>
                </a:solidFill>
                <a:latin typeface="JetBrains Mono"/>
                <a:ea typeface="JetBrains Mono"/>
                <a:cs typeface="JetBrains Mono"/>
              </a:rPr>
              <a:t>Precision</a:t>
            </a:r>
          </a:p>
        </p:txBody>
      </p:sp>
      <p:sp>
        <p:nvSpPr>
          <p:cNvPr id="21" name="Text 16">
            <a:extLst xmlns:a="http://schemas.openxmlformats.org/drawingml/2006/main">
              <a:ext uri="{FF2B5EF4-FFF2-40B4-BE49-F238E27FC236}">
                <a16:creationId xmlns:a16="http://schemas.microsoft.com/office/drawing/2014/main" id="{870B0D13-E570-47F6-B52F-2C3FC16EBB58}"/>
              </a:ext>
            </a:extLst>
          </p:cNvPr>
          <p:cNvSpPr>
            <a:spLocks xmlns:a="http://schemas.openxmlformats.org/drawingml/2006/main" noGrp="1"/>
          </p:cNvSpPr>
          <p:nvPr/>
        </p:nvSpPr>
        <p:spPr>
          <a:xfrm xmlns:a="http://schemas.openxmlformats.org/drawingml/2006/main">
            <a:off x="12573000" y="4743907"/>
            <a:ext cx="1505102" cy="3621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400" b="1">
                <a:solidFill>
                  <a:srgbClr val="0F1226"/>
                </a:solidFill>
                <a:latin typeface="JetBrains Mono"/>
                <a:ea typeface="JetBrains Mono"/>
                <a:cs typeface="JetBrains Mono"/>
              </a:rPr>
              <a:t>0.766</a:t>
            </a:r>
          </a:p>
        </p:txBody>
      </p:sp>
      <p:sp>
        <p:nvSpPr>
          <p:cNvPr id="22" name="Text 17">
            <a:extLst xmlns:a="http://schemas.openxmlformats.org/drawingml/2006/main">
              <a:ext uri="{FF2B5EF4-FFF2-40B4-BE49-F238E27FC236}">
                <a16:creationId xmlns:a16="http://schemas.microsoft.com/office/drawing/2014/main" id="{F32361F9-6C0C-4589-95CC-107F89DDAEB5}"/>
              </a:ext>
            </a:extLst>
          </p:cNvPr>
          <p:cNvSpPr>
            <a:spLocks xmlns:a="http://schemas.openxmlformats.org/drawingml/2006/main" noGrp="1"/>
          </p:cNvSpPr>
          <p:nvPr/>
        </p:nvSpPr>
        <p:spPr>
          <a:xfrm xmlns:a="http://schemas.openxmlformats.org/drawingml/2006/main">
            <a:off x="14153998" y="4581144"/>
            <a:ext cx="1505102"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6A6F8C"/>
                </a:solidFill>
                <a:latin typeface="JetBrains Mono"/>
                <a:ea typeface="JetBrains Mono"/>
                <a:cs typeface="JetBrains Mono"/>
              </a:rPr>
              <a:t>Recall</a:t>
            </a:r>
          </a:p>
        </p:txBody>
      </p:sp>
      <p:sp>
        <p:nvSpPr>
          <p:cNvPr id="23" name="Text 18">
            <a:extLst xmlns:a="http://schemas.openxmlformats.org/drawingml/2006/main">
              <a:ext uri="{FF2B5EF4-FFF2-40B4-BE49-F238E27FC236}">
                <a16:creationId xmlns:a16="http://schemas.microsoft.com/office/drawing/2014/main" id="{CD515C73-A760-4AEC-A541-2C822770B445}"/>
              </a:ext>
            </a:extLst>
          </p:cNvPr>
          <p:cNvSpPr>
            <a:spLocks xmlns:a="http://schemas.openxmlformats.org/drawingml/2006/main" noGrp="1"/>
          </p:cNvSpPr>
          <p:nvPr/>
        </p:nvSpPr>
        <p:spPr>
          <a:xfrm xmlns:a="http://schemas.openxmlformats.org/drawingml/2006/main">
            <a:off x="14153998" y="4743907"/>
            <a:ext cx="1505102" cy="3621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400" b="1">
                <a:solidFill>
                  <a:srgbClr val="0F1226"/>
                </a:solidFill>
                <a:latin typeface="JetBrains Mono"/>
                <a:ea typeface="JetBrains Mono"/>
                <a:cs typeface="JetBrains Mono"/>
              </a:rPr>
              <a:t>0.820</a:t>
            </a:r>
          </a:p>
        </p:txBody>
      </p:sp>
      <p:sp>
        <p:nvSpPr>
          <p:cNvPr id="24" name="Text 19">
            <a:extLst xmlns:a="http://schemas.openxmlformats.org/drawingml/2006/main">
              <a:ext uri="{FF2B5EF4-FFF2-40B4-BE49-F238E27FC236}">
                <a16:creationId xmlns:a16="http://schemas.microsoft.com/office/drawing/2014/main" id="{E5AE6D6B-F389-4820-8815-DED6F776A238}"/>
              </a:ext>
            </a:extLst>
          </p:cNvPr>
          <p:cNvSpPr>
            <a:spLocks xmlns:a="http://schemas.openxmlformats.org/drawingml/2006/main" noGrp="1"/>
          </p:cNvSpPr>
          <p:nvPr/>
        </p:nvSpPr>
        <p:spPr>
          <a:xfrm xmlns:a="http://schemas.openxmlformats.org/drawingml/2006/main">
            <a:off x="15734995" y="4581144"/>
            <a:ext cx="1505102"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6A6F8C"/>
                </a:solidFill>
                <a:latin typeface="JetBrains Mono"/>
                <a:ea typeface="JetBrains Mono"/>
                <a:cs typeface="JetBrains Mono"/>
              </a:rPr>
              <a:t>F1</a:t>
            </a:r>
          </a:p>
        </p:txBody>
      </p:sp>
      <p:sp>
        <p:nvSpPr>
          <p:cNvPr id="25" name="Text 20">
            <a:extLst xmlns:a="http://schemas.openxmlformats.org/drawingml/2006/main">
              <a:ext uri="{FF2B5EF4-FFF2-40B4-BE49-F238E27FC236}">
                <a16:creationId xmlns:a16="http://schemas.microsoft.com/office/drawing/2014/main" id="{9CF51676-29D3-4B2B-A7A2-44D241AC0BDE}"/>
              </a:ext>
            </a:extLst>
          </p:cNvPr>
          <p:cNvSpPr>
            <a:spLocks xmlns:a="http://schemas.openxmlformats.org/drawingml/2006/main" noGrp="1"/>
          </p:cNvSpPr>
          <p:nvPr/>
        </p:nvSpPr>
        <p:spPr>
          <a:xfrm xmlns:a="http://schemas.openxmlformats.org/drawingml/2006/main">
            <a:off x="15734995" y="4743907"/>
            <a:ext cx="1505102" cy="3621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400" b="1">
                <a:solidFill>
                  <a:srgbClr val="E4237A"/>
                </a:solidFill>
                <a:latin typeface="JetBrains Mono"/>
                <a:ea typeface="JetBrains Mono"/>
                <a:cs typeface="JetBrains Mono"/>
              </a:rPr>
              <a:t>0.793</a:t>
            </a:r>
          </a:p>
        </p:txBody>
      </p:sp>
      <p:sp>
        <p:nvSpPr>
          <p:cNvPr id="26" name="Text 21">
            <a:extLst xmlns:a="http://schemas.openxmlformats.org/drawingml/2006/main">
              <a:ext uri="{FF2B5EF4-FFF2-40B4-BE49-F238E27FC236}">
                <a16:creationId xmlns:a16="http://schemas.microsoft.com/office/drawing/2014/main" id="{3532D546-F24F-42F5-8A33-4991D4B125DD}"/>
              </a:ext>
            </a:extLst>
          </p:cNvPr>
          <p:cNvSpPr>
            <a:spLocks xmlns:a="http://schemas.openxmlformats.org/drawingml/2006/main" noGrp="1"/>
          </p:cNvSpPr>
          <p:nvPr/>
        </p:nvSpPr>
        <p:spPr>
          <a:xfrm xmlns:a="http://schemas.openxmlformats.org/drawingml/2006/main">
            <a:off x="12573000" y="6476695"/>
            <a:ext cx="4668012"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6A6F8C"/>
                </a:solidFill>
                <a:latin typeface="JetBrains Mono"/>
                <a:ea typeface="JetBrains Mono"/>
                <a:cs typeface="JetBrains Mono"/>
              </a:rPr>
              <a:t>OULAD · XGBoost</a:t>
            </a:r>
          </a:p>
        </p:txBody>
      </p:sp>
      <p:sp>
        <p:nvSpPr>
          <p:cNvPr id="27" name="Text 22">
            <a:extLst xmlns:a="http://schemas.openxmlformats.org/drawingml/2006/main">
              <a:ext uri="{FF2B5EF4-FFF2-40B4-BE49-F238E27FC236}">
                <a16:creationId xmlns:a16="http://schemas.microsoft.com/office/drawing/2014/main" id="{C01741FB-2E6A-465B-97A7-485FD95CB427}"/>
              </a:ext>
            </a:extLst>
          </p:cNvPr>
          <p:cNvSpPr>
            <a:spLocks xmlns:a="http://schemas.openxmlformats.org/drawingml/2006/main" noGrp="1"/>
          </p:cNvSpPr>
          <p:nvPr/>
        </p:nvSpPr>
        <p:spPr>
          <a:xfrm xmlns:a="http://schemas.openxmlformats.org/drawingml/2006/main">
            <a:off x="12573000" y="6734556"/>
            <a:ext cx="2181758" cy="7242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5700" b="1">
                <a:solidFill>
                  <a:srgbClr val="2A2E7A"/>
                </a:solidFill>
                <a:latin typeface="JetBrains Mono"/>
                <a:ea typeface="JetBrains Mono"/>
                <a:cs typeface="JetBrains Mono"/>
              </a:rPr>
              <a:t>0.885</a:t>
            </a:r>
          </a:p>
        </p:txBody>
      </p:sp>
      <p:sp>
        <p:nvSpPr>
          <p:cNvPr id="28" name="Text 23">
            <a:extLst xmlns:a="http://schemas.openxmlformats.org/drawingml/2006/main">
              <a:ext uri="{FF2B5EF4-FFF2-40B4-BE49-F238E27FC236}">
                <a16:creationId xmlns:a16="http://schemas.microsoft.com/office/drawing/2014/main" id="{901CF2D3-A12F-4FDF-9504-22F32687BC0B}"/>
              </a:ext>
            </a:extLst>
          </p:cNvPr>
          <p:cNvSpPr>
            <a:spLocks xmlns:a="http://schemas.openxmlformats.org/drawingml/2006/main" noGrp="1"/>
          </p:cNvSpPr>
          <p:nvPr/>
        </p:nvSpPr>
        <p:spPr>
          <a:xfrm xmlns:a="http://schemas.openxmlformats.org/drawingml/2006/main">
            <a:off x="14878202" y="7191756"/>
            <a:ext cx="724205"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6A6F8C"/>
                </a:solidFill>
                <a:latin typeface="Inter"/>
                <a:ea typeface="Inter"/>
                <a:cs typeface="Inter"/>
              </a:rPr>
              <a:t>ROC-AUC</a:t>
            </a:r>
          </a:p>
        </p:txBody>
      </p:sp>
      <p:sp>
        <p:nvSpPr>
          <p:cNvPr id="29" name="Shape 24">
            <a:extLst xmlns:a="http://schemas.openxmlformats.org/drawingml/2006/main">
              <a:ext uri="{FF2B5EF4-FFF2-40B4-BE49-F238E27FC236}">
                <a16:creationId xmlns:a16="http://schemas.microsoft.com/office/drawing/2014/main" id="{66B5B2CA-B85B-40CB-B11B-F4AB05F0B0D4}"/>
              </a:ext>
            </a:extLst>
          </p:cNvPr>
          <p:cNvSpPr>
            <a:spLocks xmlns:a="http://schemas.openxmlformats.org/drawingml/2006/main" noGrp="1"/>
          </p:cNvSpPr>
          <p:nvPr/>
        </p:nvSpPr>
        <p:spPr>
          <a:xfrm xmlns:a="http://schemas.openxmlformats.org/drawingml/2006/main">
            <a:off x="12573000" y="7686446"/>
            <a:ext cx="46670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30" name="Text 25">
            <a:extLst xmlns:a="http://schemas.openxmlformats.org/drawingml/2006/main">
              <a:ext uri="{FF2B5EF4-FFF2-40B4-BE49-F238E27FC236}">
                <a16:creationId xmlns:a16="http://schemas.microsoft.com/office/drawing/2014/main" id="{FCB98BDC-742B-4662-B704-7089D68D8FD3}"/>
              </a:ext>
            </a:extLst>
          </p:cNvPr>
          <p:cNvSpPr>
            <a:spLocks xmlns:a="http://schemas.openxmlformats.org/drawingml/2006/main" noGrp="1"/>
          </p:cNvSpPr>
          <p:nvPr/>
        </p:nvSpPr>
        <p:spPr>
          <a:xfrm xmlns:a="http://schemas.openxmlformats.org/drawingml/2006/main">
            <a:off x="12573000" y="7867498"/>
            <a:ext cx="1505102"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6A6F8C"/>
                </a:solidFill>
                <a:latin typeface="JetBrains Mono"/>
                <a:ea typeface="JetBrains Mono"/>
                <a:cs typeface="JetBrains Mono"/>
              </a:rPr>
              <a:t>Precision</a:t>
            </a:r>
          </a:p>
        </p:txBody>
      </p:sp>
      <p:sp>
        <p:nvSpPr>
          <p:cNvPr id="31" name="Text 26">
            <a:extLst xmlns:a="http://schemas.openxmlformats.org/drawingml/2006/main">
              <a:ext uri="{FF2B5EF4-FFF2-40B4-BE49-F238E27FC236}">
                <a16:creationId xmlns:a16="http://schemas.microsoft.com/office/drawing/2014/main" id="{E4726789-15E5-4D92-BA5F-CE82593EBE25}"/>
              </a:ext>
            </a:extLst>
          </p:cNvPr>
          <p:cNvSpPr>
            <a:spLocks xmlns:a="http://schemas.openxmlformats.org/drawingml/2006/main" noGrp="1"/>
          </p:cNvSpPr>
          <p:nvPr/>
        </p:nvSpPr>
        <p:spPr>
          <a:xfrm xmlns:a="http://schemas.openxmlformats.org/drawingml/2006/main">
            <a:off x="12573000" y="8029346"/>
            <a:ext cx="1505102" cy="3621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400" b="1">
                <a:solidFill>
                  <a:srgbClr val="0F1226"/>
                </a:solidFill>
                <a:latin typeface="JetBrains Mono"/>
                <a:ea typeface="JetBrains Mono"/>
                <a:cs typeface="JetBrains Mono"/>
              </a:rPr>
              <a:t>0.758</a:t>
            </a:r>
          </a:p>
        </p:txBody>
      </p:sp>
      <p:sp>
        <p:nvSpPr>
          <p:cNvPr id="32" name="Text 27">
            <a:extLst xmlns:a="http://schemas.openxmlformats.org/drawingml/2006/main">
              <a:ext uri="{FF2B5EF4-FFF2-40B4-BE49-F238E27FC236}">
                <a16:creationId xmlns:a16="http://schemas.microsoft.com/office/drawing/2014/main" id="{DFB7B22E-1445-410E-B7CA-4ABCCF07B7CB}"/>
              </a:ext>
            </a:extLst>
          </p:cNvPr>
          <p:cNvSpPr>
            <a:spLocks xmlns:a="http://schemas.openxmlformats.org/drawingml/2006/main" noGrp="1"/>
          </p:cNvSpPr>
          <p:nvPr/>
        </p:nvSpPr>
        <p:spPr>
          <a:xfrm xmlns:a="http://schemas.openxmlformats.org/drawingml/2006/main">
            <a:off x="14153998" y="7867498"/>
            <a:ext cx="1505102"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6A6F8C"/>
                </a:solidFill>
                <a:latin typeface="JetBrains Mono"/>
                <a:ea typeface="JetBrains Mono"/>
                <a:cs typeface="JetBrains Mono"/>
              </a:rPr>
              <a:t>Recall</a:t>
            </a:r>
          </a:p>
        </p:txBody>
      </p:sp>
      <p:sp>
        <p:nvSpPr>
          <p:cNvPr id="33" name="Text 28">
            <a:extLst xmlns:a="http://schemas.openxmlformats.org/drawingml/2006/main">
              <a:ext uri="{FF2B5EF4-FFF2-40B4-BE49-F238E27FC236}">
                <a16:creationId xmlns:a16="http://schemas.microsoft.com/office/drawing/2014/main" id="{939CB05E-9C6E-496D-BD81-1FA727A296F8}"/>
              </a:ext>
            </a:extLst>
          </p:cNvPr>
          <p:cNvSpPr>
            <a:spLocks xmlns:a="http://schemas.openxmlformats.org/drawingml/2006/main" noGrp="1"/>
          </p:cNvSpPr>
          <p:nvPr/>
        </p:nvSpPr>
        <p:spPr>
          <a:xfrm xmlns:a="http://schemas.openxmlformats.org/drawingml/2006/main">
            <a:off x="14153998" y="8029346"/>
            <a:ext cx="1505102" cy="3621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400" b="1">
                <a:solidFill>
                  <a:srgbClr val="0F1226"/>
                </a:solidFill>
                <a:latin typeface="JetBrains Mono"/>
                <a:ea typeface="JetBrains Mono"/>
                <a:cs typeface="JetBrains Mono"/>
              </a:rPr>
              <a:t>0.719</a:t>
            </a:r>
          </a:p>
        </p:txBody>
      </p:sp>
      <p:sp>
        <p:nvSpPr>
          <p:cNvPr id="34" name="Text 29">
            <a:extLst xmlns:a="http://schemas.openxmlformats.org/drawingml/2006/main">
              <a:ext uri="{FF2B5EF4-FFF2-40B4-BE49-F238E27FC236}">
                <a16:creationId xmlns:a16="http://schemas.microsoft.com/office/drawing/2014/main" id="{5442B2EE-39EA-4486-8169-16E5B82403A0}"/>
              </a:ext>
            </a:extLst>
          </p:cNvPr>
          <p:cNvSpPr>
            <a:spLocks xmlns:a="http://schemas.openxmlformats.org/drawingml/2006/main" noGrp="1"/>
          </p:cNvSpPr>
          <p:nvPr/>
        </p:nvSpPr>
        <p:spPr>
          <a:xfrm xmlns:a="http://schemas.openxmlformats.org/drawingml/2006/main">
            <a:off x="15734995" y="7867498"/>
            <a:ext cx="1505102"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6A6F8C"/>
                </a:solidFill>
                <a:latin typeface="JetBrains Mono"/>
                <a:ea typeface="JetBrains Mono"/>
                <a:cs typeface="JetBrains Mono"/>
              </a:rPr>
              <a:t>F1</a:t>
            </a:r>
          </a:p>
        </p:txBody>
      </p:sp>
      <p:sp>
        <p:nvSpPr>
          <p:cNvPr id="35" name="Text 30">
            <a:extLst xmlns:a="http://schemas.openxmlformats.org/drawingml/2006/main">
              <a:ext uri="{FF2B5EF4-FFF2-40B4-BE49-F238E27FC236}">
                <a16:creationId xmlns:a16="http://schemas.microsoft.com/office/drawing/2014/main" id="{ED69F559-2CB4-432C-85D7-BDC42C49D8CF}"/>
              </a:ext>
            </a:extLst>
          </p:cNvPr>
          <p:cNvSpPr>
            <a:spLocks xmlns:a="http://schemas.openxmlformats.org/drawingml/2006/main" noGrp="1"/>
          </p:cNvSpPr>
          <p:nvPr/>
        </p:nvSpPr>
        <p:spPr>
          <a:xfrm xmlns:a="http://schemas.openxmlformats.org/drawingml/2006/main">
            <a:off x="15734995" y="8029346"/>
            <a:ext cx="1505102" cy="3621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400" b="1">
                <a:solidFill>
                  <a:srgbClr val="E4237A"/>
                </a:solidFill>
                <a:latin typeface="JetBrains Mono"/>
                <a:ea typeface="JetBrains Mono"/>
                <a:cs typeface="JetBrains Mono"/>
              </a:rPr>
              <a:t>0.738</a:t>
            </a:r>
          </a:p>
        </p:txBody>
      </p:sp>
    </p:spTree>
    <p:extLst>
      <p:ext uri="{BB962C8B-B14F-4D97-AF65-F5344CB8AC3E}">
        <p14:creationId xmlns:p14="http://schemas.microsoft.com/office/powerpoint/2010/main" val="1325143239"/>
      </p:ext>
    </p:extLst>
  </p:cSld>
</p:sld>
</file>

<file path=ppt/slides/slide11.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34" name="Image 0"/>
          <p:cNvPicPr>
            <a:picLocks xmlns:a="http://schemas.openxmlformats.org/drawingml/2006/main" noChangeAspect="1"/>
          </p:cNvPicPr>
          <p:nvPr/>
        </p:nvPicPr>
        <p:blipFill>
          <a:blip xmlns:r="http://schemas.openxmlformats.org/officeDocument/2006/relationships" xmlns:a="http://schemas.openxmlformats.org/drawingml/2006/main" r:embed="R9e36b17ea7024f74"/>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D723EEC4-5770-4135-84BA-0567C867EB19}"/>
              </a:ext>
            </a:extLst>
          </p:cNvPr>
          <p:cNvSpPr>
            <a:spLocks xmlns:a="http://schemas.openxmlformats.org/drawingml/2006/main" noGrp="1"/>
          </p:cNvSpPr>
          <p:nvPr/>
        </p:nvSpPr>
        <p:spPr>
          <a:xfrm xmlns:a="http://schemas.openxmlformats.org/drawingml/2006/main">
            <a:off x="761695" y="2762402"/>
            <a:ext cx="10306202" cy="5829300"/>
          </a:xfrm>
          <a:prstGeom xmlns:a="http://schemas.openxmlformats.org/drawingml/2006/main" prst="roundRect">
            <a:avLst>
              <a:gd name="adj" fmla="val 329"/>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FFD75390-7E1D-4B12-BF16-FDC3D7AB32F6}"/>
              </a:ext>
            </a:extLst>
          </p:cNvPr>
          <p:cNvSpPr>
            <a:spLocks xmlns:a="http://schemas.openxmlformats.org/drawingml/2006/main" noGrp="1"/>
          </p:cNvSpPr>
          <p:nvPr/>
        </p:nvSpPr>
        <p:spPr>
          <a:xfrm xmlns:a="http://schemas.openxmlformats.org/drawingml/2006/main">
            <a:off x="761695" y="8620049"/>
            <a:ext cx="10306202" cy="685800"/>
          </a:xfrm>
          <a:prstGeom xmlns:a="http://schemas.openxmlformats.org/drawingml/2006/main" prst="roundRect">
            <a:avLst>
              <a:gd name="adj" fmla="val 2800"/>
            </a:avLst>
          </a:prstGeom>
          <a:solidFill xmlns:a="http://schemas.openxmlformats.org/drawingml/2006/main">
            <a:srgbClr val="FFF3E9"/>
          </a:solidFill>
          <a:ln xmlns:a="http://schemas.openxmlformats.org/drawingml/2006/main" w="12700">
            <a:solidFill>
              <a:srgbClr val="E8A93A"/>
            </a:solidFill>
            <a:prstDash val="solid"/>
          </a:ln>
        </p:spPr>
      </p:sp>
      <p:sp>
        <p:nvSpPr>
          <p:cNvPr id="6" name="Shape 2">
            <a:extLst xmlns:a="http://schemas.openxmlformats.org/drawingml/2006/main">
              <a:ext uri="{FF2B5EF4-FFF2-40B4-BE49-F238E27FC236}">
                <a16:creationId xmlns:a16="http://schemas.microsoft.com/office/drawing/2014/main" id="{1E969E70-7A0B-47FD-A3F5-966AA1B92274}"/>
              </a:ext>
            </a:extLst>
          </p:cNvPr>
          <p:cNvSpPr>
            <a:spLocks xmlns:a="http://schemas.openxmlformats.org/drawingml/2006/main" noGrp="1"/>
          </p:cNvSpPr>
          <p:nvPr/>
        </p:nvSpPr>
        <p:spPr>
          <a:xfrm xmlns:a="http://schemas.openxmlformats.org/drawingml/2006/main">
            <a:off x="11334902" y="2762402"/>
            <a:ext cx="6258154" cy="2876702"/>
          </a:xfrm>
          <a:prstGeom xmlns:a="http://schemas.openxmlformats.org/drawingml/2006/main" prst="roundRect">
            <a:avLst>
              <a:gd name="adj" fmla="val 668"/>
            </a:avLst>
          </a:prstGeom>
          <a:solidFill xmlns:a="http://schemas.openxmlformats.org/drawingml/2006/main">
            <a:srgbClr val="FFFFFF"/>
          </a:solidFill>
          <a:ln xmlns:a="http://schemas.openxmlformats.org/drawingml/2006/main" w="12700">
            <a:solidFill>
              <a:srgbClr val="E4E5EF"/>
            </a:solidFill>
            <a:prstDash val="solid"/>
          </a:ln>
        </p:spPr>
      </p:sp>
      <p:sp>
        <p:nvSpPr>
          <p:cNvPr id="7" name="Shape 3">
            <a:extLst xmlns:a="http://schemas.openxmlformats.org/drawingml/2006/main">
              <a:ext uri="{FF2B5EF4-FFF2-40B4-BE49-F238E27FC236}">
                <a16:creationId xmlns:a16="http://schemas.microsoft.com/office/drawing/2014/main" id="{9A6EFF84-F5F9-4498-AAE2-7D06969B40AA}"/>
              </a:ext>
            </a:extLst>
          </p:cNvPr>
          <p:cNvSpPr>
            <a:spLocks xmlns:a="http://schemas.openxmlformats.org/drawingml/2006/main" noGrp="1"/>
          </p:cNvSpPr>
          <p:nvPr/>
        </p:nvSpPr>
        <p:spPr>
          <a:xfrm xmlns:a="http://schemas.openxmlformats.org/drawingml/2006/main">
            <a:off x="11334902" y="2762402"/>
            <a:ext cx="57607" cy="2876702"/>
          </a:xfrm>
          <a:prstGeom xmlns:a="http://schemas.openxmlformats.org/drawingml/2006/main" prst="roundRect">
            <a:avLst>
              <a:gd name="adj" fmla="val 33333"/>
            </a:avLst>
          </a:prstGeom>
          <a:solidFill xmlns:a="http://schemas.openxmlformats.org/drawingml/2006/main">
            <a:srgbClr val="2A2E7A"/>
          </a:solidFill>
          <a:ln xmlns:a="http://schemas.openxmlformats.org/drawingml/2006/main" w="12700">
            <a:solidFill>
              <a:srgbClr val="2A2E7A">
                <a:alpha val="0"/>
              </a:srgbClr>
            </a:solidFill>
            <a:prstDash val="solid"/>
          </a:ln>
        </p:spPr>
      </p:sp>
      <p:sp>
        <p:nvSpPr>
          <p:cNvPr id="8" name="Shape 4">
            <a:extLst xmlns:a="http://schemas.openxmlformats.org/drawingml/2006/main">
              <a:ext uri="{FF2B5EF4-FFF2-40B4-BE49-F238E27FC236}">
                <a16:creationId xmlns:a16="http://schemas.microsoft.com/office/drawing/2014/main" id="{AD5BA3E0-267F-4E9F-8FF5-33AD71A2FB9F}"/>
              </a:ext>
            </a:extLst>
          </p:cNvPr>
          <p:cNvSpPr>
            <a:spLocks xmlns:a="http://schemas.openxmlformats.org/drawingml/2006/main" noGrp="1"/>
          </p:cNvSpPr>
          <p:nvPr/>
        </p:nvSpPr>
        <p:spPr>
          <a:xfrm xmlns:a="http://schemas.openxmlformats.org/drawingml/2006/main">
            <a:off x="11334902" y="5857646"/>
            <a:ext cx="6258154" cy="2781605"/>
          </a:xfrm>
          <a:prstGeom xmlns:a="http://schemas.openxmlformats.org/drawingml/2006/main" prst="roundRect">
            <a:avLst>
              <a:gd name="adj" fmla="val 690"/>
            </a:avLst>
          </a:prstGeom>
          <a:solidFill xmlns:a="http://schemas.openxmlformats.org/drawingml/2006/main">
            <a:srgbClr val="FFFFFF"/>
          </a:solidFill>
          <a:ln xmlns:a="http://schemas.openxmlformats.org/drawingml/2006/main" w="12700">
            <a:solidFill>
              <a:srgbClr val="E4E5EF"/>
            </a:solidFill>
            <a:prstDash val="solid"/>
          </a:ln>
        </p:spPr>
      </p:sp>
      <p:sp>
        <p:nvSpPr>
          <p:cNvPr id="9" name="Shape 5">
            <a:extLst xmlns:a="http://schemas.openxmlformats.org/drawingml/2006/main">
              <a:ext uri="{FF2B5EF4-FFF2-40B4-BE49-F238E27FC236}">
                <a16:creationId xmlns:a16="http://schemas.microsoft.com/office/drawing/2014/main" id="{381DCD59-9029-44F7-A4F1-D886505A703D}"/>
              </a:ext>
            </a:extLst>
          </p:cNvPr>
          <p:cNvSpPr>
            <a:spLocks xmlns:a="http://schemas.openxmlformats.org/drawingml/2006/main" noGrp="1"/>
          </p:cNvSpPr>
          <p:nvPr/>
        </p:nvSpPr>
        <p:spPr>
          <a:xfrm xmlns:a="http://schemas.openxmlformats.org/drawingml/2006/main">
            <a:off x="11334902" y="5857646"/>
            <a:ext cx="57607" cy="2781605"/>
          </a:xfrm>
          <a:prstGeom xmlns:a="http://schemas.openxmlformats.org/drawingml/2006/main" prst="roundRect">
            <a:avLst>
              <a:gd name="adj" fmla="val 33333"/>
            </a:avLst>
          </a:prstGeom>
          <a:solidFill xmlns:a="http://schemas.openxmlformats.org/drawingml/2006/main">
            <a:srgbClr val="E4237A"/>
          </a:solidFill>
          <a:ln xmlns:a="http://schemas.openxmlformats.org/drawingml/2006/main" w="12700">
            <a:solidFill>
              <a:srgbClr val="E4237A">
                <a:alpha val="0"/>
              </a:srgbClr>
            </a:solidFill>
            <a:prstDash val="solid"/>
          </a:ln>
        </p:spPr>
      </p:sp>
      <p:sp>
        <p:nvSpPr>
          <p:cNvPr id="10" name="Shape 6">
            <a:extLst xmlns:a="http://schemas.openxmlformats.org/drawingml/2006/main">
              <a:ext uri="{FF2B5EF4-FFF2-40B4-BE49-F238E27FC236}">
                <a16:creationId xmlns:a16="http://schemas.microsoft.com/office/drawing/2014/main" id="{A155A971-D640-47ED-8932-1A0087726281}"/>
              </a:ext>
            </a:extLst>
          </p:cNvPr>
          <p:cNvSpPr>
            <a:spLocks xmlns:a="http://schemas.openxmlformats.org/drawingml/2006/main" noGrp="1"/>
          </p:cNvSpPr>
          <p:nvPr/>
        </p:nvSpPr>
        <p:spPr>
          <a:xfrm xmlns:a="http://schemas.openxmlformats.org/drawingml/2006/main">
            <a:off x="11334902" y="8810244"/>
            <a:ext cx="6191402" cy="476402"/>
          </a:xfrm>
          <a:prstGeom xmlns:a="http://schemas.openxmlformats.org/drawingml/2006/main" prst="roundRect">
            <a:avLst>
              <a:gd name="adj" fmla="val 4031"/>
            </a:avLst>
          </a:prstGeom>
          <a:solidFill xmlns:a="http://schemas.openxmlformats.org/drawingml/2006/main">
            <a:srgbClr val="1A1D5C"/>
          </a:solidFill>
          <a:ln xmlns:a="http://schemas.openxmlformats.org/drawingml/2006/main" w="12700">
            <a:solidFill>
              <a:srgbClr val="FFFFFF">
                <a:alpha val="0"/>
              </a:srgbClr>
            </a:solidFill>
            <a:prstDash val="solid"/>
          </a:ln>
        </p:spPr>
      </p:sp>
      <p:pic>
        <p:nvPicPr>
          <p:cNvPr id="42" name="Image 1"/>
          <p:cNvPicPr>
            <a:picLocks xmlns:a="http://schemas.openxmlformats.org/drawingml/2006/main" noChangeAspect="1"/>
          </p:cNvPicPr>
          <p:nvPr/>
        </p:nvPicPr>
        <p:blipFill>
          <a:blip xmlns:r="http://schemas.openxmlformats.org/officeDocument/2006/relationships" xmlns:a="http://schemas.openxmlformats.org/drawingml/2006/main" r:embed="Rd7bf41059be84580"/>
          <a:srcRect xmlns:a="http://schemas.openxmlformats.org/drawingml/2006/main" l="-3900" t="0" r="-3900" b="0"/>
          <a:stretch xmlns:a="http://schemas.openxmlformats.org/drawingml/2006/main"/>
        </p:blipFill>
        <p:spPr>
          <a:xfrm xmlns:a="http://schemas.openxmlformats.org/drawingml/2006/main">
            <a:off x="1047902" y="3381451"/>
            <a:ext cx="9715500" cy="5000854"/>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4BD9C669-8C9E-44F7-8B16-304B023AC414}"/>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05 · What each model is looking at</a:t>
            </a:r>
          </a:p>
        </p:txBody>
      </p:sp>
      <p:sp>
        <p:nvSpPr>
          <p:cNvPr id="13" name="Text 8">
            <a:extLst xmlns:a="http://schemas.openxmlformats.org/drawingml/2006/main">
              <a:ext uri="{FF2B5EF4-FFF2-40B4-BE49-F238E27FC236}">
                <a16:creationId xmlns:a16="http://schemas.microsoft.com/office/drawing/2014/main" id="{C911BA9B-D172-460E-8630-AA742FC7934C}"/>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11 / 19</a:t>
            </a:r>
          </a:p>
        </p:txBody>
      </p:sp>
      <p:sp>
        <p:nvSpPr>
          <p:cNvPr id="14" name="Text 9">
            <a:extLst xmlns:a="http://schemas.openxmlformats.org/drawingml/2006/main">
              <a:ext uri="{FF2B5EF4-FFF2-40B4-BE49-F238E27FC236}">
                <a16:creationId xmlns:a16="http://schemas.microsoft.com/office/drawing/2014/main" id="{21FBFE76-36C1-4977-B470-B7B50D251CC7}"/>
              </a:ext>
            </a:extLst>
          </p:cNvPr>
          <p:cNvSpPr>
            <a:spLocks xmlns:a="http://schemas.openxmlformats.org/drawingml/2006/main" noGrp="1"/>
          </p:cNvSpPr>
          <p:nvPr/>
        </p:nvSpPr>
        <p:spPr>
          <a:xfrm xmlns:a="http://schemas.openxmlformats.org/drawingml/2006/main">
            <a:off x="761695" y="1238098"/>
            <a:ext cx="16764610" cy="4864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600" b="1">
                <a:solidFill>
                  <a:srgbClr val="0F1226"/>
                </a:solidFill>
                <a:latin typeface="Inter"/>
                <a:ea typeface="Inter"/>
                <a:cs typeface="Inter"/>
              </a:rPr>
              <a:t>Two datasets, two very different signals.</a:t>
            </a:r>
          </a:p>
        </p:txBody>
      </p:sp>
      <p:sp>
        <p:nvSpPr>
          <p:cNvPr id="15" name="Text 10">
            <a:extLst xmlns:a="http://schemas.openxmlformats.org/drawingml/2006/main">
              <a:ext uri="{FF2B5EF4-FFF2-40B4-BE49-F238E27FC236}">
                <a16:creationId xmlns:a16="http://schemas.microsoft.com/office/drawing/2014/main" id="{842F9B83-4B08-40E4-9C61-40C38F42E6AF}"/>
              </a:ext>
            </a:extLst>
          </p:cNvPr>
          <p:cNvSpPr>
            <a:spLocks xmlns:a="http://schemas.openxmlformats.org/drawingml/2006/main" noGrp="1"/>
          </p:cNvSpPr>
          <p:nvPr/>
        </p:nvSpPr>
        <p:spPr>
          <a:xfrm xmlns:a="http://schemas.openxmlformats.org/drawingml/2006/main">
            <a:off x="761695" y="1813255"/>
            <a:ext cx="16764610" cy="21031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i="1">
                <a:solidFill>
                  <a:srgbClr val="6A6F8C"/>
                </a:solidFill>
                <a:latin typeface="Source Serif Pro"/>
                <a:ea typeface="Source Serif Pro"/>
                <a:cs typeface="Source Serif Pro"/>
              </a:rPr>
              <a:t>SHAP feature-family attribution — share of total mean absolute SHAP per family.</a:t>
            </a:r>
          </a:p>
        </p:txBody>
      </p:sp>
      <p:sp>
        <p:nvSpPr>
          <p:cNvPr id="16" name="Text 11">
            <a:extLst xmlns:a="http://schemas.openxmlformats.org/drawingml/2006/main">
              <a:ext uri="{FF2B5EF4-FFF2-40B4-BE49-F238E27FC236}">
                <a16:creationId xmlns:a16="http://schemas.microsoft.com/office/drawing/2014/main" id="{2929EFD0-7344-49E2-A3DF-FF1D2982A75F}"/>
              </a:ext>
            </a:extLst>
          </p:cNvPr>
          <p:cNvSpPr>
            <a:spLocks xmlns:a="http://schemas.openxmlformats.org/drawingml/2006/main" noGrp="1"/>
          </p:cNvSpPr>
          <p:nvPr/>
        </p:nvSpPr>
        <p:spPr>
          <a:xfrm xmlns:a="http://schemas.openxmlformats.org/drawingml/2006/main">
            <a:off x="1047902" y="2952598"/>
            <a:ext cx="9715500"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E4237A"/>
                </a:solidFill>
                <a:latin typeface="JetBrains Mono"/>
                <a:ea typeface="JetBrains Mono"/>
                <a:cs typeface="JetBrains Mono"/>
              </a:rPr>
              <a:t>FIG · SHAP feature-family comparison</a:t>
            </a:r>
          </a:p>
        </p:txBody>
      </p:sp>
      <p:sp>
        <p:nvSpPr>
          <p:cNvPr id="17" name="Text 12">
            <a:extLst xmlns:a="http://schemas.openxmlformats.org/drawingml/2006/main">
              <a:ext uri="{FF2B5EF4-FFF2-40B4-BE49-F238E27FC236}">
                <a16:creationId xmlns:a16="http://schemas.microsoft.com/office/drawing/2014/main" id="{97520D9F-00E8-493E-BB7B-358705555937}"/>
              </a:ext>
            </a:extLst>
          </p:cNvPr>
          <p:cNvSpPr>
            <a:spLocks xmlns:a="http://schemas.openxmlformats.org/drawingml/2006/main" noGrp="1"/>
          </p:cNvSpPr>
          <p:nvPr/>
        </p:nvSpPr>
        <p:spPr>
          <a:xfrm xmlns:a="http://schemas.openxmlformats.org/drawingml/2006/main">
            <a:off x="1047902" y="3114446"/>
            <a:ext cx="9715500"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UCI early XGBoost vs. OULAD early XGBoost — all families shown</a:t>
            </a:r>
          </a:p>
        </p:txBody>
      </p:sp>
      <p:sp>
        <p:nvSpPr>
          <p:cNvPr id="18" name="Text 13">
            <a:extLst xmlns:a="http://schemas.openxmlformats.org/drawingml/2006/main">
              <a:ext uri="{FF2B5EF4-FFF2-40B4-BE49-F238E27FC236}">
                <a16:creationId xmlns:a16="http://schemas.microsoft.com/office/drawing/2014/main" id="{349D8ECE-0C1E-4CE5-86DA-8997BDF82CC4}"/>
              </a:ext>
            </a:extLst>
          </p:cNvPr>
          <p:cNvSpPr>
            <a:spLocks xmlns:a="http://schemas.openxmlformats.org/drawingml/2006/main" noGrp="1"/>
          </p:cNvSpPr>
          <p:nvPr/>
        </p:nvSpPr>
        <p:spPr>
          <a:xfrm xmlns:a="http://schemas.openxmlformats.org/drawingml/2006/main">
            <a:off x="952805" y="8696858"/>
            <a:ext cx="9906610" cy="76169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lnSpc>
                <a:spcPts val="1463"/>
              </a:lnSpc>
              <a:buNone/>
              <a:defRPr sz="1200">
                <a:solidFill>
                  <a:srgbClr val="2A2E4B"/>
                </a:solidFill>
                <a:latin typeface="JetBrains Mono"/>
                <a:ea typeface="JetBrains Mono"/>
                <a:cs typeface="JetBrains Mono"/>
              </a:defRPr>
            </a:pPr>
            <a:r>
              <a:rPr sz="1200">
                <a:solidFill>
                  <a:srgbClr val="2A2E4B"/>
                </a:solidFill>
                <a:latin typeface="JetBrains Mono"/>
                <a:ea typeface="JetBrains Mono"/>
                <a:cs typeface="JetBrains Mono"/>
              </a:rPr>
              <a:t>⚠ SHAP compares XGBoost on both datasets to examine feature-family shifts. It does not explain the selected UCI Logistic Regression model or imply causality.</a:t>
            </a:r>
          </a:p>
        </p:txBody>
      </p:sp>
      <p:sp>
        <p:nvSpPr>
          <p:cNvPr id="19" name="Text 14">
            <a:extLst xmlns:a="http://schemas.openxmlformats.org/drawingml/2006/main">
              <a:ext uri="{FF2B5EF4-FFF2-40B4-BE49-F238E27FC236}">
                <a16:creationId xmlns:a16="http://schemas.microsoft.com/office/drawing/2014/main" id="{39BC3598-02B6-4DA0-A8AC-7A96A8ED62E3}"/>
              </a:ext>
            </a:extLst>
          </p:cNvPr>
          <p:cNvSpPr>
            <a:spLocks xmlns:a="http://schemas.openxmlformats.org/drawingml/2006/main" noGrp="1"/>
          </p:cNvSpPr>
          <p:nvPr/>
        </p:nvSpPr>
        <p:spPr>
          <a:xfrm xmlns:a="http://schemas.openxmlformats.org/drawingml/2006/main">
            <a:off x="11620195" y="3000146"/>
            <a:ext cx="561990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2A2E7A"/>
                </a:solidFill>
                <a:latin typeface="JetBrains Mono"/>
                <a:ea typeface="JetBrains Mono"/>
                <a:cs typeface="JetBrains Mono"/>
              </a:rPr>
              <a:t>UCI early · Top signals</a:t>
            </a:r>
          </a:p>
        </p:txBody>
      </p:sp>
      <p:sp>
        <p:nvSpPr>
          <p:cNvPr id="20" name="Text 15">
            <a:extLst xmlns:a="http://schemas.openxmlformats.org/drawingml/2006/main">
              <a:ext uri="{FF2B5EF4-FFF2-40B4-BE49-F238E27FC236}">
                <a16:creationId xmlns:a16="http://schemas.microsoft.com/office/drawing/2014/main" id="{CCC05359-66AE-4A4B-973C-92382C9BE176}"/>
              </a:ext>
            </a:extLst>
          </p:cNvPr>
          <p:cNvSpPr>
            <a:spLocks xmlns:a="http://schemas.openxmlformats.org/drawingml/2006/main" noGrp="1"/>
          </p:cNvSpPr>
          <p:nvPr/>
        </p:nvSpPr>
        <p:spPr>
          <a:xfrm xmlns:a="http://schemas.openxmlformats.org/drawingml/2006/main">
            <a:off x="11620195" y="3228746"/>
            <a:ext cx="5619902"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b="1">
                <a:solidFill>
                  <a:srgbClr val="0F1226"/>
                </a:solidFill>
                <a:latin typeface="Inter"/>
                <a:ea typeface="Inter"/>
                <a:cs typeface="Inter"/>
              </a:rPr>
              <a:t>Academic progress + financial status.</a:t>
            </a:r>
          </a:p>
        </p:txBody>
      </p:sp>
      <p:sp>
        <p:nvSpPr>
          <p:cNvPr id="21" name="Text 16">
            <a:extLst xmlns:a="http://schemas.openxmlformats.org/drawingml/2006/main">
              <a:ext uri="{FF2B5EF4-FFF2-40B4-BE49-F238E27FC236}">
                <a16:creationId xmlns:a16="http://schemas.microsoft.com/office/drawing/2014/main" id="{E3870CA3-5174-4303-894A-09950E2A83E6}"/>
              </a:ext>
            </a:extLst>
          </p:cNvPr>
          <p:cNvSpPr>
            <a:spLocks xmlns:a="http://schemas.openxmlformats.org/drawingml/2006/main" noGrp="1"/>
          </p:cNvSpPr>
          <p:nvPr/>
        </p:nvSpPr>
        <p:spPr>
          <a:xfrm xmlns:a="http://schemas.openxmlformats.org/drawingml/2006/main">
            <a:off x="11620195" y="3590849"/>
            <a:ext cx="561990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JetBrains Mono"/>
                <a:ea typeface="JetBrains Mono"/>
                <a:cs typeface="JetBrains Mono"/>
              </a:rPr>
              <a:t>1. Curricular units 1st sem approved</a:t>
            </a:r>
          </a:p>
        </p:txBody>
      </p:sp>
      <p:sp>
        <p:nvSpPr>
          <p:cNvPr id="22" name="Text 17">
            <a:extLst xmlns:a="http://schemas.openxmlformats.org/drawingml/2006/main">
              <a:ext uri="{FF2B5EF4-FFF2-40B4-BE49-F238E27FC236}">
                <a16:creationId xmlns:a16="http://schemas.microsoft.com/office/drawing/2014/main" id="{74645DDE-668A-4E09-959A-9CE1CA5B40D4}"/>
              </a:ext>
            </a:extLst>
          </p:cNvPr>
          <p:cNvSpPr>
            <a:spLocks xmlns:a="http://schemas.openxmlformats.org/drawingml/2006/main" noGrp="1"/>
          </p:cNvSpPr>
          <p:nvPr/>
        </p:nvSpPr>
        <p:spPr>
          <a:xfrm xmlns:a="http://schemas.openxmlformats.org/drawingml/2006/main">
            <a:off x="11620195" y="3841394"/>
            <a:ext cx="561990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JetBrains Mono"/>
                <a:ea typeface="JetBrains Mono"/>
                <a:cs typeface="JetBrains Mono"/>
              </a:rPr>
              <a:t>2. Tuition fees not up to date</a:t>
            </a:r>
          </a:p>
        </p:txBody>
      </p:sp>
      <p:sp>
        <p:nvSpPr>
          <p:cNvPr id="23" name="Text 18">
            <a:extLst xmlns:a="http://schemas.openxmlformats.org/drawingml/2006/main">
              <a:ext uri="{FF2B5EF4-FFF2-40B4-BE49-F238E27FC236}">
                <a16:creationId xmlns:a16="http://schemas.microsoft.com/office/drawing/2014/main" id="{D08BF68D-9652-416E-A539-7CE5D3B0F222}"/>
              </a:ext>
            </a:extLst>
          </p:cNvPr>
          <p:cNvSpPr>
            <a:spLocks xmlns:a="http://schemas.openxmlformats.org/drawingml/2006/main" noGrp="1"/>
          </p:cNvSpPr>
          <p:nvPr/>
        </p:nvSpPr>
        <p:spPr>
          <a:xfrm xmlns:a="http://schemas.openxmlformats.org/drawingml/2006/main">
            <a:off x="11620195" y="4091026"/>
            <a:ext cx="561990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JetBrains Mono"/>
                <a:ea typeface="JetBrains Mono"/>
                <a:cs typeface="JetBrains Mono"/>
              </a:rPr>
              <a:t>3. Age at enrollment</a:t>
            </a:r>
          </a:p>
        </p:txBody>
      </p:sp>
      <p:sp>
        <p:nvSpPr>
          <p:cNvPr id="24" name="Text 19">
            <a:extLst xmlns:a="http://schemas.openxmlformats.org/drawingml/2006/main">
              <a:ext uri="{FF2B5EF4-FFF2-40B4-BE49-F238E27FC236}">
                <a16:creationId xmlns:a16="http://schemas.microsoft.com/office/drawing/2014/main" id="{26B58459-2D65-4CA0-A853-4AF12A62E34E}"/>
              </a:ext>
            </a:extLst>
          </p:cNvPr>
          <p:cNvSpPr>
            <a:spLocks xmlns:a="http://schemas.openxmlformats.org/drawingml/2006/main" noGrp="1"/>
          </p:cNvSpPr>
          <p:nvPr/>
        </p:nvSpPr>
        <p:spPr>
          <a:xfrm xmlns:a="http://schemas.openxmlformats.org/drawingml/2006/main">
            <a:off x="11620195" y="4340657"/>
            <a:ext cx="561990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JetBrains Mono"/>
                <a:ea typeface="JetBrains Mono"/>
                <a:cs typeface="JetBrains Mono"/>
              </a:rPr>
              <a:t>4. Curricular units 1st sem grade</a:t>
            </a:r>
          </a:p>
        </p:txBody>
      </p:sp>
      <p:sp>
        <p:nvSpPr>
          <p:cNvPr id="25" name="Text 20">
            <a:extLst xmlns:a="http://schemas.openxmlformats.org/drawingml/2006/main">
              <a:ext uri="{FF2B5EF4-FFF2-40B4-BE49-F238E27FC236}">
                <a16:creationId xmlns:a16="http://schemas.microsoft.com/office/drawing/2014/main" id="{3223A691-8A32-4320-8DC7-F18C180465DD}"/>
              </a:ext>
            </a:extLst>
          </p:cNvPr>
          <p:cNvSpPr>
            <a:spLocks xmlns:a="http://schemas.openxmlformats.org/drawingml/2006/main" noGrp="1"/>
          </p:cNvSpPr>
          <p:nvPr/>
        </p:nvSpPr>
        <p:spPr>
          <a:xfrm xmlns:a="http://schemas.openxmlformats.org/drawingml/2006/main">
            <a:off x="11620195" y="6096305"/>
            <a:ext cx="561990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OULAD early · Top signals</a:t>
            </a:r>
          </a:p>
        </p:txBody>
      </p:sp>
      <p:sp>
        <p:nvSpPr>
          <p:cNvPr id="26" name="Text 21">
            <a:extLst xmlns:a="http://schemas.openxmlformats.org/drawingml/2006/main">
              <a:ext uri="{FF2B5EF4-FFF2-40B4-BE49-F238E27FC236}">
                <a16:creationId xmlns:a16="http://schemas.microsoft.com/office/drawing/2014/main" id="{83692A5C-11AD-41BE-838F-3F2CAEC059FD}"/>
              </a:ext>
            </a:extLst>
          </p:cNvPr>
          <p:cNvSpPr>
            <a:spLocks xmlns:a="http://schemas.openxmlformats.org/drawingml/2006/main" noGrp="1"/>
          </p:cNvSpPr>
          <p:nvPr/>
        </p:nvSpPr>
        <p:spPr>
          <a:xfrm xmlns:a="http://schemas.openxmlformats.org/drawingml/2006/main">
            <a:off x="11620195" y="6324905"/>
            <a:ext cx="5902452"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b="1">
                <a:solidFill>
                  <a:srgbClr val="0F1226"/>
                </a:solidFill>
                <a:latin typeface="Inter"/>
                <a:ea typeface="Inter"/>
                <a:cs typeface="Inter"/>
              </a:rPr>
              <a:t>Assessment progress, engagement, program context.</a:t>
            </a:r>
          </a:p>
        </p:txBody>
      </p:sp>
      <p:sp>
        <p:nvSpPr>
          <p:cNvPr id="27" name="Text 22">
            <a:extLst xmlns:a="http://schemas.openxmlformats.org/drawingml/2006/main">
              <a:ext uri="{FF2B5EF4-FFF2-40B4-BE49-F238E27FC236}">
                <a16:creationId xmlns:a16="http://schemas.microsoft.com/office/drawing/2014/main" id="{2E053452-28E3-43EA-B80E-D3B030837B7B}"/>
              </a:ext>
            </a:extLst>
          </p:cNvPr>
          <p:cNvSpPr>
            <a:spLocks xmlns:a="http://schemas.openxmlformats.org/drawingml/2006/main" noGrp="1"/>
          </p:cNvSpPr>
          <p:nvPr/>
        </p:nvSpPr>
        <p:spPr>
          <a:xfrm xmlns:a="http://schemas.openxmlformats.org/drawingml/2006/main">
            <a:off x="11620195" y="6687007"/>
            <a:ext cx="561990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JetBrains Mono"/>
                <a:ea typeface="JetBrains Mono"/>
                <a:cs typeface="JetBrains Mono"/>
              </a:rPr>
              <a:t>1. Early assessment submission ratio</a:t>
            </a:r>
          </a:p>
        </p:txBody>
      </p:sp>
      <p:sp>
        <p:nvSpPr>
          <p:cNvPr id="28" name="Text 23">
            <a:extLst xmlns:a="http://schemas.openxmlformats.org/drawingml/2006/main">
              <a:ext uri="{FF2B5EF4-FFF2-40B4-BE49-F238E27FC236}">
                <a16:creationId xmlns:a16="http://schemas.microsoft.com/office/drawing/2014/main" id="{E192F25D-DB30-499C-87B0-46E873688008}"/>
              </a:ext>
            </a:extLst>
          </p:cNvPr>
          <p:cNvSpPr>
            <a:spLocks xmlns:a="http://schemas.openxmlformats.org/drawingml/2006/main" noGrp="1"/>
          </p:cNvSpPr>
          <p:nvPr/>
        </p:nvSpPr>
        <p:spPr>
          <a:xfrm xmlns:a="http://schemas.openxmlformats.org/drawingml/2006/main">
            <a:off x="11620195" y="6936638"/>
            <a:ext cx="561990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JetBrains Mono"/>
                <a:ea typeface="JetBrains Mono"/>
                <a:cs typeface="JetBrains Mono"/>
              </a:rPr>
              <a:t>2. Highest early assessment score</a:t>
            </a:r>
          </a:p>
        </p:txBody>
      </p:sp>
      <p:sp>
        <p:nvSpPr>
          <p:cNvPr id="29" name="Text 24">
            <a:extLst xmlns:a="http://schemas.openxmlformats.org/drawingml/2006/main">
              <a:ext uri="{FF2B5EF4-FFF2-40B4-BE49-F238E27FC236}">
                <a16:creationId xmlns:a16="http://schemas.microsoft.com/office/drawing/2014/main" id="{99379DEF-318D-4D4F-AA82-D454A75EA978}"/>
              </a:ext>
            </a:extLst>
          </p:cNvPr>
          <p:cNvSpPr>
            <a:spLocks xmlns:a="http://schemas.openxmlformats.org/drawingml/2006/main" noGrp="1"/>
          </p:cNvSpPr>
          <p:nvPr/>
        </p:nvSpPr>
        <p:spPr>
          <a:xfrm xmlns:a="http://schemas.openxmlformats.org/drawingml/2006/main">
            <a:off x="11620195" y="7186270"/>
            <a:ext cx="561990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JetBrains Mono"/>
                <a:ea typeface="JetBrains Mono"/>
                <a:cs typeface="JetBrains Mono"/>
              </a:rPr>
              <a:t>3. Early weighted-score ratio</a:t>
            </a:r>
          </a:p>
        </p:txBody>
      </p:sp>
      <p:sp>
        <p:nvSpPr>
          <p:cNvPr id="30" name="Text 25">
            <a:extLst xmlns:a="http://schemas.openxmlformats.org/drawingml/2006/main">
              <a:ext uri="{FF2B5EF4-FFF2-40B4-BE49-F238E27FC236}">
                <a16:creationId xmlns:a16="http://schemas.microsoft.com/office/drawing/2014/main" id="{AB8A07A8-FEDE-43E6-9C97-3436A5C89386}"/>
              </a:ext>
            </a:extLst>
          </p:cNvPr>
          <p:cNvSpPr>
            <a:spLocks xmlns:a="http://schemas.openxmlformats.org/drawingml/2006/main" noGrp="1"/>
          </p:cNvSpPr>
          <p:nvPr/>
        </p:nvSpPr>
        <p:spPr>
          <a:xfrm xmlns:a="http://schemas.openxmlformats.org/drawingml/2006/main">
            <a:off x="11620195" y="7436815"/>
            <a:ext cx="561990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JetBrains Mono"/>
                <a:ea typeface="JetBrains Mono"/>
                <a:cs typeface="JetBrains Mono"/>
              </a:rPr>
              <a:t>4. Early weighted-score sum</a:t>
            </a:r>
          </a:p>
        </p:txBody>
      </p:sp>
      <p:sp>
        <p:nvSpPr>
          <p:cNvPr id="31" name="Text 26">
            <a:extLst xmlns:a="http://schemas.openxmlformats.org/drawingml/2006/main">
              <a:ext uri="{FF2B5EF4-FFF2-40B4-BE49-F238E27FC236}">
                <a16:creationId xmlns:a16="http://schemas.microsoft.com/office/drawing/2014/main" id="{ED37778E-6C2B-47A6-B490-926ED1C83DCB}"/>
              </a:ext>
            </a:extLst>
          </p:cNvPr>
          <p:cNvSpPr>
            <a:spLocks xmlns:a="http://schemas.openxmlformats.org/drawingml/2006/main" noGrp="1"/>
          </p:cNvSpPr>
          <p:nvPr/>
        </p:nvSpPr>
        <p:spPr>
          <a:xfrm xmlns:a="http://schemas.openxmlformats.org/drawingml/2006/main">
            <a:off x="11525098" y="8906256"/>
            <a:ext cx="5811012" cy="40050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FFFFFF">
                    <a:alpha val="92000"/>
                  </a:srgbClr>
                </a:solidFill>
                <a:latin typeface="JetBrains Mono"/>
                <a:ea typeface="JetBrains Mono"/>
                <a:cs typeface="JetBrains Mono"/>
              </a:rPr>
              <a:t>→ advising · tutoring · financial-support referral · engagement outreach</a:t>
            </a:r>
          </a:p>
        </p:txBody>
      </p:sp>
    </p:spTree>
    <p:extLst>
      <p:ext uri="{BB962C8B-B14F-4D97-AF65-F5344CB8AC3E}">
        <p14:creationId xmlns:p14="http://schemas.microsoft.com/office/powerpoint/2010/main" val="329534785"/>
      </p:ext>
    </p:extLst>
  </p:cSld>
</p:sld>
</file>

<file path=ppt/slides/slide12.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bc7a82b884b84739"/>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E765BF6A-8E7F-422C-8671-67E607229149}"/>
              </a:ext>
            </a:extLst>
          </p:cNvPr>
          <p:cNvSpPr>
            <a:spLocks xmlns:a="http://schemas.openxmlformats.org/drawingml/2006/main" noGrp="1"/>
          </p:cNvSpPr>
          <p:nvPr/>
        </p:nvSpPr>
        <p:spPr>
          <a:xfrm xmlns:a="http://schemas.openxmlformats.org/drawingml/2006/main">
            <a:off x="761695" y="2667305"/>
            <a:ext cx="8781898" cy="4686300"/>
          </a:xfrm>
          <a:prstGeom xmlns:a="http://schemas.openxmlformats.org/drawingml/2006/main" prst="roundRect">
            <a:avLst>
              <a:gd name="adj" fmla="val 410"/>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F305FF49-5467-4B3C-9801-F4FDD786EC53}"/>
              </a:ext>
            </a:extLst>
          </p:cNvPr>
          <p:cNvSpPr>
            <a:spLocks xmlns:a="http://schemas.openxmlformats.org/drawingml/2006/main" noGrp="1"/>
          </p:cNvSpPr>
          <p:nvPr/>
        </p:nvSpPr>
        <p:spPr>
          <a:xfrm xmlns:a="http://schemas.openxmlformats.org/drawingml/2006/main">
            <a:off x="761695" y="7524598"/>
            <a:ext cx="8781898" cy="1733702"/>
          </a:xfrm>
          <a:prstGeom xmlns:a="http://schemas.openxmlformats.org/drawingml/2006/main" prst="roundRect">
            <a:avLst>
              <a:gd name="adj" fmla="val 1108"/>
            </a:avLst>
          </a:prstGeom>
          <a:solidFill xmlns:a="http://schemas.openxmlformats.org/drawingml/2006/main">
            <a:srgbClr val="FFFFFF"/>
          </a:solidFill>
          <a:ln xmlns:a="http://schemas.openxmlformats.org/drawingml/2006/main" w="12700">
            <a:solidFill>
              <a:srgbClr val="E4E5EF"/>
            </a:solidFill>
            <a:prstDash val="solid"/>
          </a:ln>
        </p:spPr>
      </p:sp>
      <p:sp>
        <p:nvSpPr>
          <p:cNvPr id="6" name="Shape 2">
            <a:extLst xmlns:a="http://schemas.openxmlformats.org/drawingml/2006/main">
              <a:ext uri="{FF2B5EF4-FFF2-40B4-BE49-F238E27FC236}">
                <a16:creationId xmlns:a16="http://schemas.microsoft.com/office/drawing/2014/main" id="{DF735488-142D-4BA0-A318-534E777F391C}"/>
              </a:ext>
            </a:extLst>
          </p:cNvPr>
          <p:cNvSpPr>
            <a:spLocks xmlns:a="http://schemas.openxmlformats.org/drawingml/2006/main" noGrp="1"/>
          </p:cNvSpPr>
          <p:nvPr/>
        </p:nvSpPr>
        <p:spPr>
          <a:xfrm xmlns:a="http://schemas.openxmlformats.org/drawingml/2006/main">
            <a:off x="9715500" y="2667305"/>
            <a:ext cx="7830007" cy="4686300"/>
          </a:xfrm>
          <a:prstGeom xmlns:a="http://schemas.openxmlformats.org/drawingml/2006/main" prst="roundRect">
            <a:avLst>
              <a:gd name="adj" fmla="val 410"/>
            </a:avLst>
          </a:prstGeom>
          <a:solidFill xmlns:a="http://schemas.openxmlformats.org/drawingml/2006/main">
            <a:srgbClr val="FFFFFF"/>
          </a:solidFill>
          <a:ln xmlns:a="http://schemas.openxmlformats.org/drawingml/2006/main" w="12700">
            <a:solidFill>
              <a:srgbClr val="E4E5EF"/>
            </a:solidFill>
            <a:prstDash val="solid"/>
          </a:ln>
        </p:spPr>
      </p:sp>
      <p:sp>
        <p:nvSpPr>
          <p:cNvPr id="7" name="Shape 3">
            <a:extLst xmlns:a="http://schemas.openxmlformats.org/drawingml/2006/main">
              <a:ext uri="{FF2B5EF4-FFF2-40B4-BE49-F238E27FC236}">
                <a16:creationId xmlns:a16="http://schemas.microsoft.com/office/drawing/2014/main" id="{D772B700-7A05-42DD-A2EF-B408F299DCA0}"/>
              </a:ext>
            </a:extLst>
          </p:cNvPr>
          <p:cNvSpPr>
            <a:spLocks xmlns:a="http://schemas.openxmlformats.org/drawingml/2006/main" noGrp="1"/>
          </p:cNvSpPr>
          <p:nvPr/>
        </p:nvSpPr>
        <p:spPr>
          <a:xfrm xmlns:a="http://schemas.openxmlformats.org/drawingml/2006/main">
            <a:off x="9715500" y="7524598"/>
            <a:ext cx="7810805" cy="1714500"/>
          </a:xfrm>
          <a:prstGeom xmlns:a="http://schemas.openxmlformats.org/drawingml/2006/main" prst="roundRect">
            <a:avLst>
              <a:gd name="adj" fmla="val 1120"/>
            </a:avLst>
          </a:prstGeom>
          <a:solidFill xmlns:a="http://schemas.openxmlformats.org/drawingml/2006/main">
            <a:srgbClr val="1A1D5C"/>
          </a:solidFill>
          <a:ln xmlns:a="http://schemas.openxmlformats.org/drawingml/2006/main" w="12700">
            <a:solidFill>
              <a:srgbClr val="FFFFFF">
                <a:alpha val="0"/>
              </a:srgbClr>
            </a:solidFill>
            <a:prstDash val="solid"/>
          </a:ln>
        </p:spPr>
      </p:sp>
      <p:pic>
        <p:nvPicPr>
          <p:cNvPr id="40" name="Image 1"/>
          <p:cNvPicPr>
            <a:picLocks xmlns:a="http://schemas.openxmlformats.org/drawingml/2006/main" noChangeAspect="1"/>
          </p:cNvPicPr>
          <p:nvPr/>
        </p:nvPicPr>
        <p:blipFill>
          <a:blip xmlns:r="http://schemas.openxmlformats.org/officeDocument/2006/relationships" xmlns:a="http://schemas.openxmlformats.org/drawingml/2006/main" r:embed="Rd9b3b55fed244215"/>
          <a:srcRect xmlns:a="http://schemas.openxmlformats.org/drawingml/2006/main" l="-12267" t="0" r="-12267" b="0"/>
          <a:stretch xmlns:a="http://schemas.openxmlformats.org/drawingml/2006/main"/>
        </p:blipFill>
        <p:spPr>
          <a:xfrm xmlns:a="http://schemas.openxmlformats.org/drawingml/2006/main">
            <a:off x="1047902" y="3286354"/>
            <a:ext cx="8191195" cy="3905402"/>
          </a:xfrm>
          <a:prstGeom xmlns:a="http://schemas.openxmlformats.org/drawingml/2006/main" prst="rect">
            <a:avLst/>
          </a:prstGeom>
        </p:spPr>
      </p:pic>
      <p:pic>
        <p:nvPicPr>
          <p:cNvPr id="41" name="Image 2"/>
          <p:cNvPicPr>
            <a:picLocks xmlns:a="http://schemas.openxmlformats.org/drawingml/2006/main" noChangeAspect="1"/>
          </p:cNvPicPr>
          <p:nvPr/>
        </p:nvPicPr>
        <p:blipFill>
          <a:blip xmlns:r="http://schemas.openxmlformats.org/officeDocument/2006/relationships" xmlns:a="http://schemas.openxmlformats.org/drawingml/2006/main" r:embed="Rbacb79aa2b3a4738"/>
          <a:srcRect xmlns:a="http://schemas.openxmlformats.org/drawingml/2006/main" l="-1491" t="0" r="-1491" b="0"/>
          <a:stretch xmlns:a="http://schemas.openxmlformats.org/drawingml/2006/main"/>
        </p:blipFill>
        <p:spPr>
          <a:xfrm xmlns:a="http://schemas.openxmlformats.org/drawingml/2006/main">
            <a:off x="10001707" y="3286354"/>
            <a:ext cx="7239305" cy="3905402"/>
          </a:xfrm>
          <a:prstGeom xmlns:a="http://schemas.openxmlformats.org/drawingml/2006/main" prst="rect">
            <a:avLst/>
          </a:prstGeom>
        </p:spPr>
      </p:pic>
      <p:sp>
        <p:nvSpPr>
          <p:cNvPr id="10" name="Text 4">
            <a:extLst xmlns:a="http://schemas.openxmlformats.org/drawingml/2006/main">
              <a:ext uri="{FF2B5EF4-FFF2-40B4-BE49-F238E27FC236}">
                <a16:creationId xmlns:a16="http://schemas.microsoft.com/office/drawing/2014/main" id="{3CD5C839-E47F-4AC7-9D77-8BA3C9467092}"/>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05 · Robustness &amp; error analysis</a:t>
            </a:r>
          </a:p>
        </p:txBody>
      </p:sp>
      <p:sp>
        <p:nvSpPr>
          <p:cNvPr id="11" name="Text 5">
            <a:extLst xmlns:a="http://schemas.openxmlformats.org/drawingml/2006/main">
              <a:ext uri="{FF2B5EF4-FFF2-40B4-BE49-F238E27FC236}">
                <a16:creationId xmlns:a16="http://schemas.microsoft.com/office/drawing/2014/main" id="{C4C41204-DEE5-4C43-A98E-C7C9D9FD0B1C}"/>
              </a:ext>
            </a:extLst>
          </p:cNvPr>
          <p:cNvSpPr>
            <a:spLocks xmlns:a="http://schemas.openxmlformats.org/drawingml/2006/main" noGrp="1"/>
          </p:cNvSpPr>
          <p:nvPr/>
        </p:nvSpPr>
        <p:spPr>
          <a:xfrm xmlns:a="http://schemas.openxmlformats.org/drawingml/2006/main">
            <a:off x="15240305" y="400050"/>
            <a:ext cx="2286000" cy="20955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12 / 19</a:t>
            </a:r>
          </a:p>
        </p:txBody>
      </p:sp>
      <p:sp>
        <p:nvSpPr>
          <p:cNvPr id="12" name="Text 6">
            <a:extLst xmlns:a="http://schemas.openxmlformats.org/drawingml/2006/main">
              <a:ext uri="{FF2B5EF4-FFF2-40B4-BE49-F238E27FC236}">
                <a16:creationId xmlns:a16="http://schemas.microsoft.com/office/drawing/2014/main" id="{939D5F38-59EE-4C8B-9F0D-F8B4E4CADC33}"/>
              </a:ext>
            </a:extLst>
          </p:cNvPr>
          <p:cNvSpPr>
            <a:spLocks xmlns:a="http://schemas.openxmlformats.org/drawingml/2006/main" noGrp="1"/>
          </p:cNvSpPr>
          <p:nvPr/>
        </p:nvSpPr>
        <p:spPr>
          <a:xfrm xmlns:a="http://schemas.openxmlformats.org/drawingml/2006/main">
            <a:off x="761695" y="1238098"/>
            <a:ext cx="19050610" cy="4572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300" b="1">
                <a:solidFill>
                  <a:srgbClr val="0F1226"/>
                </a:solidFill>
                <a:latin typeface="Inter"/>
                <a:ea typeface="Inter"/>
                <a:cs typeface="Inter"/>
              </a:rPr>
              <a:t>Missingness hurts more than noise; missed cases resemble lower-risk students.</a:t>
            </a:r>
          </a:p>
        </p:txBody>
      </p:sp>
      <p:sp>
        <p:nvSpPr>
          <p:cNvPr id="13" name="Text 7">
            <a:extLst xmlns:a="http://schemas.openxmlformats.org/drawingml/2006/main">
              <a:ext uri="{FF2B5EF4-FFF2-40B4-BE49-F238E27FC236}">
                <a16:creationId xmlns:a16="http://schemas.microsoft.com/office/drawing/2014/main" id="{1CCDCCF3-A5C3-43AD-924A-459966E04628}"/>
              </a:ext>
            </a:extLst>
          </p:cNvPr>
          <p:cNvSpPr>
            <a:spLocks xmlns:a="http://schemas.openxmlformats.org/drawingml/2006/main" noGrp="1"/>
          </p:cNvSpPr>
          <p:nvPr/>
        </p:nvSpPr>
        <p:spPr>
          <a:xfrm xmlns:a="http://schemas.openxmlformats.org/drawingml/2006/main">
            <a:off x="761695" y="1766621"/>
            <a:ext cx="16764610" cy="20025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400" i="1">
                <a:solidFill>
                  <a:srgbClr val="6A6F8C"/>
                </a:solidFill>
                <a:latin typeface="Source Serif Pro"/>
                <a:ea typeface="Source Serif Pro"/>
                <a:cs typeface="Source Serif Pro"/>
              </a:rPr>
              <a:t>Both models degrade gracefully — but the false-negative profile matters for advisors.</a:t>
            </a:r>
          </a:p>
        </p:txBody>
      </p:sp>
      <p:sp>
        <p:nvSpPr>
          <p:cNvPr id="14" name="Text 8">
            <a:extLst xmlns:a="http://schemas.openxmlformats.org/drawingml/2006/main">
              <a:ext uri="{FF2B5EF4-FFF2-40B4-BE49-F238E27FC236}">
                <a16:creationId xmlns:a16="http://schemas.microsoft.com/office/drawing/2014/main" id="{95981198-8A1E-4AFB-BF71-63A40DA3E635}"/>
              </a:ext>
            </a:extLst>
          </p:cNvPr>
          <p:cNvSpPr>
            <a:spLocks xmlns:a="http://schemas.openxmlformats.org/drawingml/2006/main" noGrp="1"/>
          </p:cNvSpPr>
          <p:nvPr/>
        </p:nvSpPr>
        <p:spPr>
          <a:xfrm xmlns:a="http://schemas.openxmlformats.org/drawingml/2006/main">
            <a:off x="1047902" y="2857500"/>
            <a:ext cx="8192110"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FIG · F1 under missingness &amp; numeric noise</a:t>
            </a:r>
          </a:p>
        </p:txBody>
      </p:sp>
      <p:sp>
        <p:nvSpPr>
          <p:cNvPr id="15" name="Shape 9">
            <a:extLst xmlns:a="http://schemas.openxmlformats.org/drawingml/2006/main">
              <a:ext uri="{FF2B5EF4-FFF2-40B4-BE49-F238E27FC236}">
                <a16:creationId xmlns:a16="http://schemas.microsoft.com/office/drawing/2014/main" id="{56031ED3-829A-41FC-B40D-ECC1AB73465C}"/>
              </a:ext>
            </a:extLst>
          </p:cNvPr>
          <p:cNvSpPr>
            <a:spLocks xmlns:a="http://schemas.openxmlformats.org/drawingml/2006/main" noGrp="1"/>
          </p:cNvSpPr>
          <p:nvPr/>
        </p:nvSpPr>
        <p:spPr>
          <a:xfrm xmlns:a="http://schemas.openxmlformats.org/drawingml/2006/main">
            <a:off x="3706063" y="7715707"/>
            <a:ext cx="9144" cy="895198"/>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16" name="Text 10">
            <a:extLst xmlns:a="http://schemas.openxmlformats.org/drawingml/2006/main">
              <a:ext uri="{FF2B5EF4-FFF2-40B4-BE49-F238E27FC236}">
                <a16:creationId xmlns:a16="http://schemas.microsoft.com/office/drawing/2014/main" id="{E80910D7-ED3B-4B58-B61C-E16D23F61C5C}"/>
              </a:ext>
            </a:extLst>
          </p:cNvPr>
          <p:cNvSpPr>
            <a:spLocks xmlns:a="http://schemas.openxmlformats.org/drawingml/2006/main" noGrp="1"/>
          </p:cNvSpPr>
          <p:nvPr/>
        </p:nvSpPr>
        <p:spPr>
          <a:xfrm xmlns:a="http://schemas.openxmlformats.org/drawingml/2006/main">
            <a:off x="1143000" y="7715707"/>
            <a:ext cx="2410358"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1B9E8F"/>
                </a:solidFill>
                <a:latin typeface="JetBrains Mono"/>
                <a:ea typeface="JetBrains Mono"/>
                <a:cs typeface="JetBrains Mono"/>
              </a:rPr>
              <a:t>5% NOISE</a:t>
            </a:r>
          </a:p>
        </p:txBody>
      </p:sp>
      <p:sp>
        <p:nvSpPr>
          <p:cNvPr id="17" name="Text 11">
            <a:extLst xmlns:a="http://schemas.openxmlformats.org/drawingml/2006/main">
              <a:ext uri="{FF2B5EF4-FFF2-40B4-BE49-F238E27FC236}">
                <a16:creationId xmlns:a16="http://schemas.microsoft.com/office/drawing/2014/main" id="{EA788A92-85D5-48ED-B4B2-D3E554FB4013}"/>
              </a:ext>
            </a:extLst>
          </p:cNvPr>
          <p:cNvSpPr>
            <a:spLocks xmlns:a="http://schemas.openxmlformats.org/drawingml/2006/main" noGrp="1"/>
          </p:cNvSpPr>
          <p:nvPr/>
        </p:nvSpPr>
        <p:spPr>
          <a:xfrm xmlns:a="http://schemas.openxmlformats.org/drawingml/2006/main">
            <a:off x="1143000" y="7905902"/>
            <a:ext cx="2410358"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0F1226"/>
                </a:solidFill>
                <a:latin typeface="Inter"/>
                <a:ea typeface="Inter"/>
                <a:cs typeface="Inter"/>
              </a:rPr>
              <a:t>Barely moves needle.</a:t>
            </a:r>
          </a:p>
        </p:txBody>
      </p:sp>
      <p:sp>
        <p:nvSpPr>
          <p:cNvPr id="18" name="Text 12">
            <a:extLst xmlns:a="http://schemas.openxmlformats.org/drawingml/2006/main">
              <a:ext uri="{FF2B5EF4-FFF2-40B4-BE49-F238E27FC236}">
                <a16:creationId xmlns:a16="http://schemas.microsoft.com/office/drawing/2014/main" id="{9EFA55F9-2A71-49DC-B9C4-8D86B176820A}"/>
              </a:ext>
            </a:extLst>
          </p:cNvPr>
          <p:cNvSpPr>
            <a:spLocks xmlns:a="http://schemas.openxmlformats.org/drawingml/2006/main" noGrp="1"/>
          </p:cNvSpPr>
          <p:nvPr/>
        </p:nvSpPr>
        <p:spPr>
          <a:xfrm xmlns:a="http://schemas.openxmlformats.org/drawingml/2006/main">
            <a:off x="1143000" y="8125358"/>
            <a:ext cx="2410358" cy="48554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100">
                <a:solidFill>
                  <a:srgbClr val="2A2E4B"/>
                </a:solidFill>
                <a:latin typeface="JetBrains Mono"/>
                <a:ea typeface="JetBrains Mono"/>
                <a:cs typeface="JetBrains Mono"/>
              </a:rPr>
              <a:t>UCI 0.793 → 0.788</a:t>
            </a:r>
          </a:p>
          <a:p xmlns:a="http://schemas.openxmlformats.org/drawingml/2006/main">
            <a:pPr marL="0" indent="0" algn="l">
              <a:lnSpc>
                <a:spcPts val="1800"/>
              </a:lnSpc>
              <a:buNone/>
            </a:pPr>
            <a:r>
              <a:rPr sz="1100">
                <a:solidFill>
                  <a:srgbClr val="2A2E4B"/>
                </a:solidFill>
                <a:latin typeface="JetBrains Mono"/>
                <a:ea typeface="JetBrains Mono"/>
                <a:cs typeface="JetBrains Mono"/>
              </a:rPr>
              <a:t>OULAD 0.738 → 0.734</a:t>
            </a:r>
          </a:p>
        </p:txBody>
      </p:sp>
      <p:sp>
        <p:nvSpPr>
          <p:cNvPr id="19" name="Shape 13">
            <a:extLst xmlns:a="http://schemas.openxmlformats.org/drawingml/2006/main">
              <a:ext uri="{FF2B5EF4-FFF2-40B4-BE49-F238E27FC236}">
                <a16:creationId xmlns:a16="http://schemas.microsoft.com/office/drawing/2014/main" id="{1F450A5D-2041-4A00-AF7D-CF6C1350C3DC}"/>
              </a:ext>
            </a:extLst>
          </p:cNvPr>
          <p:cNvSpPr>
            <a:spLocks xmlns:a="http://schemas.openxmlformats.org/drawingml/2006/main" noGrp="1"/>
          </p:cNvSpPr>
          <p:nvPr/>
        </p:nvSpPr>
        <p:spPr>
          <a:xfrm xmlns:a="http://schemas.openxmlformats.org/drawingml/2006/main">
            <a:off x="6423660" y="7715707"/>
            <a:ext cx="9144" cy="895198"/>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20" name="Text 14">
            <a:extLst xmlns:a="http://schemas.openxmlformats.org/drawingml/2006/main">
              <a:ext uri="{FF2B5EF4-FFF2-40B4-BE49-F238E27FC236}">
                <a16:creationId xmlns:a16="http://schemas.microsoft.com/office/drawing/2014/main" id="{9B8464B5-F5D5-44AF-822A-73874B7CD6E6}"/>
              </a:ext>
            </a:extLst>
          </p:cNvPr>
          <p:cNvSpPr>
            <a:spLocks xmlns:a="http://schemas.openxmlformats.org/drawingml/2006/main" noGrp="1"/>
          </p:cNvSpPr>
          <p:nvPr/>
        </p:nvSpPr>
        <p:spPr>
          <a:xfrm xmlns:a="http://schemas.openxmlformats.org/drawingml/2006/main">
            <a:off x="3860597" y="7715707"/>
            <a:ext cx="2410358"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8A93A"/>
                </a:solidFill>
                <a:latin typeface="JetBrains Mono"/>
                <a:ea typeface="JetBrains Mono"/>
                <a:cs typeface="JetBrains Mono"/>
              </a:rPr>
              <a:t>10% MISSING</a:t>
            </a:r>
          </a:p>
        </p:txBody>
      </p:sp>
      <p:sp>
        <p:nvSpPr>
          <p:cNvPr id="21" name="Text 15">
            <a:extLst xmlns:a="http://schemas.openxmlformats.org/drawingml/2006/main">
              <a:ext uri="{FF2B5EF4-FFF2-40B4-BE49-F238E27FC236}">
                <a16:creationId xmlns:a16="http://schemas.microsoft.com/office/drawing/2014/main" id="{3D6F12CE-172F-4A2B-ABBF-C2085638F9E2}"/>
              </a:ext>
            </a:extLst>
          </p:cNvPr>
          <p:cNvSpPr>
            <a:spLocks xmlns:a="http://schemas.openxmlformats.org/drawingml/2006/main" noGrp="1"/>
          </p:cNvSpPr>
          <p:nvPr/>
        </p:nvSpPr>
        <p:spPr>
          <a:xfrm xmlns:a="http://schemas.openxmlformats.org/drawingml/2006/main">
            <a:off x="3860597" y="7905902"/>
            <a:ext cx="2410358"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0F1226"/>
                </a:solidFill>
                <a:latin typeface="Inter"/>
                <a:ea typeface="Inter"/>
                <a:cs typeface="Inter"/>
              </a:rPr>
              <a:t>UCI more sensitive.</a:t>
            </a:r>
          </a:p>
        </p:txBody>
      </p:sp>
      <p:sp>
        <p:nvSpPr>
          <p:cNvPr id="22" name="Text 16">
            <a:extLst xmlns:a="http://schemas.openxmlformats.org/drawingml/2006/main">
              <a:ext uri="{FF2B5EF4-FFF2-40B4-BE49-F238E27FC236}">
                <a16:creationId xmlns:a16="http://schemas.microsoft.com/office/drawing/2014/main" id="{D639E010-8C3B-4EA4-8C07-DBE29C7E1CCF}"/>
              </a:ext>
            </a:extLst>
          </p:cNvPr>
          <p:cNvSpPr>
            <a:spLocks xmlns:a="http://schemas.openxmlformats.org/drawingml/2006/main" noGrp="1"/>
          </p:cNvSpPr>
          <p:nvPr/>
        </p:nvSpPr>
        <p:spPr>
          <a:xfrm xmlns:a="http://schemas.openxmlformats.org/drawingml/2006/main">
            <a:off x="3860597" y="8125358"/>
            <a:ext cx="2410358" cy="48554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100">
                <a:solidFill>
                  <a:srgbClr val="2A2E4B"/>
                </a:solidFill>
                <a:latin typeface="JetBrains Mono"/>
                <a:ea typeface="JetBrains Mono"/>
                <a:cs typeface="JetBrains Mono"/>
              </a:rPr>
              <a:t>UCI 0.793 → 0.753 </a:t>
            </a:r>
            <a:r>
              <a:rPr sz="1100">
                <a:solidFill>
                  <a:srgbClr val="C43E5A"/>
                </a:solidFill>
                <a:latin typeface="JetBrains Mono"/>
                <a:ea typeface="JetBrains Mono"/>
                <a:cs typeface="JetBrains Mono"/>
              </a:rPr>
              <a:t>−5.3%</a:t>
            </a:r>
          </a:p>
          <a:p xmlns:a="http://schemas.openxmlformats.org/drawingml/2006/main">
            <a:pPr marL="0" indent="0" algn="l">
              <a:lnSpc>
                <a:spcPts val="1800"/>
              </a:lnSpc>
              <a:buNone/>
            </a:pPr>
            <a:r>
              <a:rPr sz="1100">
                <a:solidFill>
                  <a:srgbClr val="2A2E4B"/>
                </a:solidFill>
                <a:latin typeface="JetBrains Mono"/>
                <a:ea typeface="JetBrains Mono"/>
                <a:cs typeface="JetBrains Mono"/>
              </a:rPr>
              <a:t>OULAD 0.738 → 0.718 </a:t>
            </a:r>
            <a:r>
              <a:rPr sz="1100">
                <a:solidFill>
                  <a:srgbClr val="C43E5A"/>
                </a:solidFill>
                <a:latin typeface="JetBrains Mono"/>
                <a:ea typeface="JetBrains Mono"/>
                <a:cs typeface="JetBrains Mono"/>
              </a:rPr>
              <a:t>−3.4%</a:t>
            </a:r>
          </a:p>
        </p:txBody>
      </p:sp>
      <p:sp>
        <p:nvSpPr>
          <p:cNvPr id="23" name="Text 17">
            <a:extLst xmlns:a="http://schemas.openxmlformats.org/drawingml/2006/main">
              <a:ext uri="{FF2B5EF4-FFF2-40B4-BE49-F238E27FC236}">
                <a16:creationId xmlns:a16="http://schemas.microsoft.com/office/drawing/2014/main" id="{9B58D98B-B810-41BC-AFE4-179550A66F11}"/>
              </a:ext>
            </a:extLst>
          </p:cNvPr>
          <p:cNvSpPr>
            <a:spLocks xmlns:a="http://schemas.openxmlformats.org/drawingml/2006/main" noGrp="1"/>
          </p:cNvSpPr>
          <p:nvPr/>
        </p:nvSpPr>
        <p:spPr>
          <a:xfrm xmlns:a="http://schemas.openxmlformats.org/drawingml/2006/main">
            <a:off x="6578194" y="7715707"/>
            <a:ext cx="2572207"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2A2E7A"/>
                </a:solidFill>
                <a:latin typeface="JetBrains Mono"/>
                <a:ea typeface="JetBrains Mono"/>
                <a:cs typeface="JetBrains Mono"/>
              </a:rPr>
              <a:t>REPEATED SPLITS</a:t>
            </a:r>
          </a:p>
        </p:txBody>
      </p:sp>
      <p:sp>
        <p:nvSpPr>
          <p:cNvPr id="24" name="Text 18">
            <a:extLst xmlns:a="http://schemas.openxmlformats.org/drawingml/2006/main">
              <a:ext uri="{FF2B5EF4-FFF2-40B4-BE49-F238E27FC236}">
                <a16:creationId xmlns:a16="http://schemas.microsoft.com/office/drawing/2014/main" id="{8C811022-8825-4EC6-9053-B6FCF3A19E66}"/>
              </a:ext>
            </a:extLst>
          </p:cNvPr>
          <p:cNvSpPr>
            <a:spLocks xmlns:a="http://schemas.openxmlformats.org/drawingml/2006/main" noGrp="1"/>
          </p:cNvSpPr>
          <p:nvPr/>
        </p:nvSpPr>
        <p:spPr>
          <a:xfrm xmlns:a="http://schemas.openxmlformats.org/drawingml/2006/main">
            <a:off x="6578194" y="7905902"/>
            <a:ext cx="2572207" cy="1911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0F1226"/>
                </a:solidFill>
                <a:latin typeface="Inter"/>
                <a:ea typeface="Inter"/>
                <a:cs typeface="Inter"/>
              </a:rPr>
              <a:t>OULAD stable.</a:t>
            </a:r>
          </a:p>
        </p:txBody>
      </p:sp>
      <p:sp>
        <p:nvSpPr>
          <p:cNvPr id="25" name="Text 19">
            <a:extLst xmlns:a="http://schemas.openxmlformats.org/drawingml/2006/main">
              <a:ext uri="{FF2B5EF4-FFF2-40B4-BE49-F238E27FC236}">
                <a16:creationId xmlns:a16="http://schemas.microsoft.com/office/drawing/2014/main" id="{C2E14732-A733-4D65-B31B-581295605C4A}"/>
              </a:ext>
            </a:extLst>
          </p:cNvPr>
          <p:cNvSpPr>
            <a:spLocks xmlns:a="http://schemas.openxmlformats.org/drawingml/2006/main" noGrp="1"/>
          </p:cNvSpPr>
          <p:nvPr/>
        </p:nvSpPr>
        <p:spPr>
          <a:xfrm xmlns:a="http://schemas.openxmlformats.org/drawingml/2006/main">
            <a:off x="6578194" y="8125358"/>
            <a:ext cx="2572207" cy="48554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800"/>
              </a:lnSpc>
              <a:buNone/>
            </a:pPr>
            <a:r>
              <a:rPr sz="1100">
                <a:solidFill>
                  <a:srgbClr val="2A2E4B"/>
                </a:solidFill>
                <a:latin typeface="JetBrains Mono"/>
                <a:ea typeface="JetBrains Mono"/>
                <a:cs typeface="JetBrains Mono"/>
              </a:rPr>
              <a:t>UCI 0.776 ± 0.023</a:t>
            </a:r>
          </a:p>
          <a:p xmlns:a="http://schemas.openxmlformats.org/drawingml/2006/main">
            <a:pPr marL="0" indent="0" algn="l">
              <a:lnSpc>
                <a:spcPts val="1800"/>
              </a:lnSpc>
              <a:buNone/>
            </a:pPr>
            <a:r>
              <a:rPr sz="1100">
                <a:solidFill>
                  <a:srgbClr val="2A2E4B"/>
                </a:solidFill>
                <a:latin typeface="JetBrains Mono"/>
                <a:ea typeface="JetBrains Mono"/>
                <a:cs typeface="JetBrains Mono"/>
              </a:rPr>
              <a:t>OULAD 0.738 ± 0.005</a:t>
            </a:r>
          </a:p>
        </p:txBody>
      </p:sp>
      <p:sp>
        <p:nvSpPr>
          <p:cNvPr id="26" name="Text 20">
            <a:extLst xmlns:a="http://schemas.openxmlformats.org/drawingml/2006/main">
              <a:ext uri="{FF2B5EF4-FFF2-40B4-BE49-F238E27FC236}">
                <a16:creationId xmlns:a16="http://schemas.microsoft.com/office/drawing/2014/main" id="{A9A78E08-7140-4601-82B0-51E36DFCDF85}"/>
              </a:ext>
            </a:extLst>
          </p:cNvPr>
          <p:cNvSpPr>
            <a:spLocks xmlns:a="http://schemas.openxmlformats.org/drawingml/2006/main" noGrp="1"/>
          </p:cNvSpPr>
          <p:nvPr/>
        </p:nvSpPr>
        <p:spPr>
          <a:xfrm xmlns:a="http://schemas.openxmlformats.org/drawingml/2006/main">
            <a:off x="10001707" y="2857500"/>
            <a:ext cx="7239305"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FIG · Held-out test outcomes · normalized per 1,000</a:t>
            </a:r>
          </a:p>
        </p:txBody>
      </p:sp>
      <p:sp>
        <p:nvSpPr>
          <p:cNvPr id="27" name="Text 21">
            <a:extLst xmlns:a="http://schemas.openxmlformats.org/drawingml/2006/main">
              <a:ext uri="{FF2B5EF4-FFF2-40B4-BE49-F238E27FC236}">
                <a16:creationId xmlns:a16="http://schemas.microsoft.com/office/drawing/2014/main" id="{A4C6895D-93BD-4D11-BF7C-BCEBD790E436}"/>
              </a:ext>
            </a:extLst>
          </p:cNvPr>
          <p:cNvSpPr>
            <a:spLocks xmlns:a="http://schemas.openxmlformats.org/drawingml/2006/main" noGrp="1"/>
          </p:cNvSpPr>
          <p:nvPr/>
        </p:nvSpPr>
        <p:spPr>
          <a:xfrm xmlns:a="http://schemas.openxmlformats.org/drawingml/2006/main">
            <a:off x="10001707" y="3029407"/>
            <a:ext cx="7239305"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Same denominator for like-for-like comparison</a:t>
            </a:r>
          </a:p>
        </p:txBody>
      </p:sp>
      <p:sp>
        <p:nvSpPr>
          <p:cNvPr id="28" name="Text 22">
            <a:extLst xmlns:a="http://schemas.openxmlformats.org/drawingml/2006/main">
              <a:ext uri="{FF2B5EF4-FFF2-40B4-BE49-F238E27FC236}">
                <a16:creationId xmlns:a16="http://schemas.microsoft.com/office/drawing/2014/main" id="{E8C235E1-DA0C-456A-8A26-5A72A45CA682}"/>
              </a:ext>
            </a:extLst>
          </p:cNvPr>
          <p:cNvSpPr>
            <a:spLocks xmlns:a="http://schemas.openxmlformats.org/drawingml/2006/main" noGrp="1"/>
          </p:cNvSpPr>
          <p:nvPr/>
        </p:nvSpPr>
        <p:spPr>
          <a:xfrm xmlns:a="http://schemas.openxmlformats.org/drawingml/2006/main">
            <a:off x="10001707" y="7715707"/>
            <a:ext cx="7239305"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False-negative profile</a:t>
            </a:r>
          </a:p>
        </p:txBody>
      </p:sp>
      <p:sp>
        <p:nvSpPr>
          <p:cNvPr id="29" name="Text 23">
            <a:extLst xmlns:a="http://schemas.openxmlformats.org/drawingml/2006/main">
              <a:ext uri="{FF2B5EF4-FFF2-40B4-BE49-F238E27FC236}">
                <a16:creationId xmlns:a16="http://schemas.microsoft.com/office/drawing/2014/main" id="{17837CBD-C5F1-4840-80A9-FDAC656D4C37}"/>
              </a:ext>
            </a:extLst>
          </p:cNvPr>
          <p:cNvSpPr>
            <a:spLocks xmlns:a="http://schemas.openxmlformats.org/drawingml/2006/main" noGrp="1"/>
          </p:cNvSpPr>
          <p:nvPr/>
        </p:nvSpPr>
        <p:spPr>
          <a:xfrm xmlns:a="http://schemas.openxmlformats.org/drawingml/2006/main">
            <a:off x="10001707" y="7925105"/>
            <a:ext cx="7239305" cy="2478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FFFFFF"/>
                </a:solidFill>
                <a:latin typeface="Inter"/>
                <a:ea typeface="Inter"/>
                <a:cs typeface="Inter"/>
              </a:rPr>
              <a:t>Missed cases resembled </a:t>
            </a:r>
            <a:r>
              <a:rPr sz="1200">
                <a:solidFill>
                  <a:srgbClr val="FF5CA0"/>
                </a:solidFill>
                <a:latin typeface="Inter"/>
                <a:ea typeface="Inter"/>
                <a:cs typeface="Inter"/>
              </a:rPr>
              <a:t>lower-risk</a:t>
            </a:r>
            <a:r>
              <a:rPr sz="1200">
                <a:solidFill>
                  <a:srgbClr val="FFFFFF"/>
                </a:solidFill>
                <a:latin typeface="Inter"/>
                <a:ea typeface="Inter"/>
                <a:cs typeface="Inter"/>
              </a:rPr>
              <a:t> students on the observed features.</a:t>
            </a:r>
          </a:p>
        </p:txBody>
      </p:sp>
      <p:sp>
        <p:nvSpPr>
          <p:cNvPr id="30" name="Text 24">
            <a:extLst xmlns:a="http://schemas.openxmlformats.org/drawingml/2006/main">
              <a:ext uri="{FF2B5EF4-FFF2-40B4-BE49-F238E27FC236}">
                <a16:creationId xmlns:a16="http://schemas.microsoft.com/office/drawing/2014/main" id="{66E149F4-2759-48AD-9D7F-EB1F78266D49}"/>
              </a:ext>
            </a:extLst>
          </p:cNvPr>
          <p:cNvSpPr>
            <a:spLocks xmlns:a="http://schemas.openxmlformats.org/drawingml/2006/main" noGrp="1"/>
          </p:cNvSpPr>
          <p:nvPr/>
        </p:nvSpPr>
        <p:spPr>
          <a:xfrm xmlns:a="http://schemas.openxmlformats.org/drawingml/2006/main">
            <a:off x="10001707" y="8238744"/>
            <a:ext cx="3525012" cy="4434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27"/>
              </a:lnSpc>
              <a:buNone/>
            </a:pPr>
            <a:r>
              <a:rPr sz="1000">
                <a:solidFill>
                  <a:srgbClr val="FFFFFF">
                    <a:alpha val="92000"/>
                  </a:srgbClr>
                </a:solidFill>
                <a:latin typeface="JetBrains Mono"/>
                <a:ea typeface="JetBrains Mono"/>
                <a:cs typeface="JetBrains Mono"/>
              </a:rPr>
              <a:t>UCI approved units (mean):</a:t>
            </a:r>
          </a:p>
          <a:p xmlns:a="http://schemas.openxmlformats.org/drawingml/2006/main">
            <a:pPr marL="0" indent="0" algn="l">
              <a:lnSpc>
                <a:spcPts val="1627"/>
              </a:lnSpc>
              <a:buNone/>
            </a:pPr>
            <a:r>
              <a:rPr sz="1000">
                <a:solidFill>
                  <a:srgbClr val="FFFFFF">
                    <a:alpha val="92000"/>
                  </a:srgbClr>
                </a:solidFill>
                <a:latin typeface="JetBrains Mono"/>
                <a:ea typeface="JetBrains Mono"/>
                <a:cs typeface="JetBrains Mono"/>
              </a:rPr>
              <a:t>FN </a:t>
            </a:r>
            <a:r>
              <a:rPr sz="1000">
                <a:solidFill>
                  <a:srgbClr val="FF5CA0">
                    <a:alpha val="92000"/>
                  </a:srgbClr>
                </a:solidFill>
                <a:latin typeface="JetBrains Mono"/>
                <a:ea typeface="JetBrains Mono"/>
                <a:cs typeface="JetBrains Mono"/>
              </a:rPr>
              <a:t>6.08</a:t>
            </a:r>
            <a:r>
              <a:rPr sz="1000">
                <a:solidFill>
                  <a:srgbClr val="FFFFFF">
                    <a:alpha val="92000"/>
                  </a:srgbClr>
                </a:solidFill>
                <a:latin typeface="JetBrains Mono"/>
                <a:ea typeface="JetBrains Mono"/>
                <a:cs typeface="JetBrains Mono"/>
              </a:rPr>
              <a:t> vs. TP </a:t>
            </a:r>
            <a:r>
              <a:rPr sz="1000">
                <a:solidFill>
                  <a:srgbClr val="FFFFFF">
                    <a:alpha val="92000"/>
                  </a:srgbClr>
                </a:solidFill>
                <a:latin typeface="JetBrains Mono"/>
                <a:ea typeface="JetBrains Mono"/>
                <a:cs typeface="JetBrains Mono"/>
              </a:rPr>
              <a:t>1.87</a:t>
            </a:r>
          </a:p>
        </p:txBody>
      </p:sp>
      <p:sp>
        <p:nvSpPr>
          <p:cNvPr id="31" name="Text 25">
            <a:extLst xmlns:a="http://schemas.openxmlformats.org/drawingml/2006/main">
              <a:ext uri="{FF2B5EF4-FFF2-40B4-BE49-F238E27FC236}">
                <a16:creationId xmlns:a16="http://schemas.microsoft.com/office/drawing/2014/main" id="{F51068F1-E2A5-40ED-A02C-8C1C9C641BF0}"/>
              </a:ext>
            </a:extLst>
          </p:cNvPr>
          <p:cNvSpPr>
            <a:spLocks xmlns:a="http://schemas.openxmlformats.org/drawingml/2006/main" noGrp="1"/>
          </p:cNvSpPr>
          <p:nvPr/>
        </p:nvSpPr>
        <p:spPr>
          <a:xfrm xmlns:a="http://schemas.openxmlformats.org/drawingml/2006/main">
            <a:off x="13716000" y="8238744"/>
            <a:ext cx="3525012" cy="4434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627"/>
              </a:lnSpc>
              <a:buNone/>
            </a:pPr>
            <a:r>
              <a:rPr sz="1000">
                <a:solidFill>
                  <a:srgbClr val="FFFFFF">
                    <a:alpha val="92000"/>
                  </a:srgbClr>
                </a:solidFill>
                <a:latin typeface="JetBrains Mono"/>
                <a:ea typeface="JetBrains Mono"/>
                <a:cs typeface="JetBrains Mono"/>
              </a:rPr>
              <a:t>OULAD submission ratio:</a:t>
            </a:r>
          </a:p>
          <a:p xmlns:a="http://schemas.openxmlformats.org/drawingml/2006/main">
            <a:pPr marL="0" indent="0" algn="l">
              <a:lnSpc>
                <a:spcPts val="1627"/>
              </a:lnSpc>
              <a:buNone/>
            </a:pPr>
            <a:r>
              <a:rPr sz="1000">
                <a:solidFill>
                  <a:srgbClr val="FFFFFF">
                    <a:alpha val="92000"/>
                  </a:srgbClr>
                </a:solidFill>
                <a:latin typeface="JetBrains Mono"/>
                <a:ea typeface="JetBrains Mono"/>
                <a:cs typeface="JetBrains Mono"/>
              </a:rPr>
              <a:t>FN </a:t>
            </a:r>
            <a:r>
              <a:rPr sz="1000">
                <a:solidFill>
                  <a:srgbClr val="FF5CA0">
                    <a:alpha val="92000"/>
                  </a:srgbClr>
                </a:solidFill>
                <a:latin typeface="JetBrains Mono"/>
                <a:ea typeface="JetBrains Mono"/>
                <a:cs typeface="JetBrains Mono"/>
              </a:rPr>
              <a:t>0.885</a:t>
            </a:r>
            <a:r>
              <a:rPr sz="1000">
                <a:solidFill>
                  <a:srgbClr val="FFFFFF">
                    <a:alpha val="92000"/>
                  </a:srgbClr>
                </a:solidFill>
                <a:latin typeface="JetBrains Mono"/>
                <a:ea typeface="JetBrains Mono"/>
                <a:cs typeface="JetBrains Mono"/>
              </a:rPr>
              <a:t> vs. TP </a:t>
            </a:r>
            <a:r>
              <a:rPr sz="1000">
                <a:solidFill>
                  <a:srgbClr val="FFFFFF">
                    <a:alpha val="92000"/>
                  </a:srgbClr>
                </a:solidFill>
                <a:latin typeface="JetBrains Mono"/>
                <a:ea typeface="JetBrains Mono"/>
                <a:cs typeface="JetBrains Mono"/>
              </a:rPr>
              <a:t>0.131</a:t>
            </a:r>
          </a:p>
        </p:txBody>
      </p:sp>
    </p:spTree>
    <p:extLst>
      <p:ext uri="{BB962C8B-B14F-4D97-AF65-F5344CB8AC3E}">
        <p14:creationId xmlns:p14="http://schemas.microsoft.com/office/powerpoint/2010/main" val="704192232"/>
      </p:ext>
    </p:extLst>
  </p:cSld>
</p:sld>
</file>

<file path=ppt/slides/slide13.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47" name="Image 0"/>
          <p:cNvPicPr>
            <a:picLocks xmlns:a="http://schemas.openxmlformats.org/drawingml/2006/main" noChangeAspect="1"/>
          </p:cNvPicPr>
          <p:nvPr/>
        </p:nvPicPr>
        <p:blipFill>
          <a:blip xmlns:r="http://schemas.openxmlformats.org/officeDocument/2006/relationships" xmlns:a="http://schemas.openxmlformats.org/drawingml/2006/main" r:embed="Rd42285e50bcb4bb3"/>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C20E7D21-4D70-49D9-ABCC-0F29B092EE15}"/>
              </a:ext>
            </a:extLst>
          </p:cNvPr>
          <p:cNvSpPr>
            <a:spLocks xmlns:a="http://schemas.openxmlformats.org/drawingml/2006/main" noGrp="1"/>
          </p:cNvSpPr>
          <p:nvPr/>
        </p:nvSpPr>
        <p:spPr>
          <a:xfrm xmlns:a="http://schemas.openxmlformats.org/drawingml/2006/main">
            <a:off x="761695" y="2762402"/>
            <a:ext cx="11259007" cy="5639105"/>
          </a:xfrm>
          <a:prstGeom xmlns:a="http://schemas.openxmlformats.org/drawingml/2006/main" prst="roundRect">
            <a:avLst>
              <a:gd name="adj" fmla="val 341"/>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EB4ADBDC-8300-4DE4-B2C4-2EDE3D87628F}"/>
              </a:ext>
            </a:extLst>
          </p:cNvPr>
          <p:cNvSpPr>
            <a:spLocks xmlns:a="http://schemas.openxmlformats.org/drawingml/2006/main" noGrp="1"/>
          </p:cNvSpPr>
          <p:nvPr/>
        </p:nvSpPr>
        <p:spPr>
          <a:xfrm xmlns:a="http://schemas.openxmlformats.org/drawingml/2006/main">
            <a:off x="761695" y="8524951"/>
            <a:ext cx="11259007" cy="733349"/>
          </a:xfrm>
          <a:prstGeom xmlns:a="http://schemas.openxmlformats.org/drawingml/2006/main" prst="roundRect">
            <a:avLst>
              <a:gd name="adj" fmla="val 2618"/>
            </a:avLst>
          </a:prstGeom>
          <a:solidFill xmlns:a="http://schemas.openxmlformats.org/drawingml/2006/main">
            <a:srgbClr val="FFF3E9"/>
          </a:solidFill>
          <a:ln xmlns:a="http://schemas.openxmlformats.org/drawingml/2006/main" w="12700">
            <a:solidFill>
              <a:srgbClr val="E8A93A"/>
            </a:solidFill>
            <a:prstDash val="solid"/>
          </a:ln>
        </p:spPr>
      </p:sp>
      <p:sp>
        <p:nvSpPr>
          <p:cNvPr id="6" name="Shape 2">
            <a:extLst xmlns:a="http://schemas.openxmlformats.org/drawingml/2006/main">
              <a:ext uri="{FF2B5EF4-FFF2-40B4-BE49-F238E27FC236}">
                <a16:creationId xmlns:a16="http://schemas.microsoft.com/office/drawing/2014/main" id="{F30C0D7B-EBA9-4965-A2B1-6683297CC1A8}"/>
              </a:ext>
            </a:extLst>
          </p:cNvPr>
          <p:cNvSpPr>
            <a:spLocks xmlns:a="http://schemas.openxmlformats.org/drawingml/2006/main" noGrp="1"/>
          </p:cNvSpPr>
          <p:nvPr/>
        </p:nvSpPr>
        <p:spPr>
          <a:xfrm xmlns:a="http://schemas.openxmlformats.org/drawingml/2006/main">
            <a:off x="12287707" y="2762402"/>
            <a:ext cx="5257800" cy="3066898"/>
          </a:xfrm>
          <a:prstGeom xmlns:a="http://schemas.openxmlformats.org/drawingml/2006/main" prst="roundRect">
            <a:avLst>
              <a:gd name="adj" fmla="val 626"/>
            </a:avLst>
          </a:prstGeom>
          <a:solidFill xmlns:a="http://schemas.openxmlformats.org/drawingml/2006/main">
            <a:srgbClr val="FFFFFF"/>
          </a:solidFill>
          <a:ln xmlns:a="http://schemas.openxmlformats.org/drawingml/2006/main" w="12700">
            <a:solidFill>
              <a:srgbClr val="E4E5EF"/>
            </a:solidFill>
            <a:prstDash val="solid"/>
          </a:ln>
        </p:spPr>
      </p:sp>
      <p:sp>
        <p:nvSpPr>
          <p:cNvPr id="7" name="Shape 3">
            <a:extLst xmlns:a="http://schemas.openxmlformats.org/drawingml/2006/main">
              <a:ext uri="{FF2B5EF4-FFF2-40B4-BE49-F238E27FC236}">
                <a16:creationId xmlns:a16="http://schemas.microsoft.com/office/drawing/2014/main" id="{42A556CE-C8A6-441D-9AEB-840B5A4DB1F6}"/>
              </a:ext>
            </a:extLst>
          </p:cNvPr>
          <p:cNvSpPr>
            <a:spLocks xmlns:a="http://schemas.openxmlformats.org/drawingml/2006/main" noGrp="1"/>
          </p:cNvSpPr>
          <p:nvPr/>
        </p:nvSpPr>
        <p:spPr>
          <a:xfrm xmlns:a="http://schemas.openxmlformats.org/drawingml/2006/main">
            <a:off x="12287707" y="6096305"/>
            <a:ext cx="5238598" cy="3143707"/>
          </a:xfrm>
          <a:prstGeom xmlns:a="http://schemas.openxmlformats.org/drawingml/2006/main" prst="roundRect">
            <a:avLst>
              <a:gd name="adj" fmla="val 611"/>
            </a:avLst>
          </a:prstGeom>
          <a:solidFill xmlns:a="http://schemas.openxmlformats.org/drawingml/2006/main">
            <a:srgbClr val="1A1D5C"/>
          </a:solidFill>
          <a:ln xmlns:a="http://schemas.openxmlformats.org/drawingml/2006/main" w="12700">
            <a:solidFill>
              <a:srgbClr val="FFFFFF">
                <a:alpha val="0"/>
              </a:srgbClr>
            </a:solidFill>
            <a:prstDash val="solid"/>
          </a:ln>
        </p:spPr>
      </p:sp>
      <p:sp>
        <p:nvSpPr>
          <p:cNvPr id="8" name="Shape 4">
            <a:extLst xmlns:a="http://schemas.openxmlformats.org/drawingml/2006/main">
              <a:ext uri="{FF2B5EF4-FFF2-40B4-BE49-F238E27FC236}">
                <a16:creationId xmlns:a16="http://schemas.microsoft.com/office/drawing/2014/main" id="{B0D10C63-DD19-4A61-B70E-E973D1D220E8}"/>
              </a:ext>
            </a:extLst>
          </p:cNvPr>
          <p:cNvSpPr>
            <a:spLocks xmlns:a="http://schemas.openxmlformats.org/drawingml/2006/main" noGrp="1"/>
          </p:cNvSpPr>
          <p:nvPr/>
        </p:nvSpPr>
        <p:spPr>
          <a:xfrm xmlns:a="http://schemas.openxmlformats.org/drawingml/2006/main">
            <a:off x="14287500" y="1380744"/>
            <a:ext cx="3258007" cy="437998"/>
          </a:xfrm>
          <a:prstGeom xmlns:a="http://schemas.openxmlformats.org/drawingml/2006/main" prst="roundRect">
            <a:avLst>
              <a:gd name="adj" fmla="val 47808"/>
            </a:avLst>
          </a:prstGeom>
          <a:solidFill xmlns:a="http://schemas.openxmlformats.org/drawingml/2006/main">
            <a:srgbClr val="FFF3E9"/>
          </a:solidFill>
          <a:ln xmlns:a="http://schemas.openxmlformats.org/drawingml/2006/main" w="12700">
            <a:solidFill>
              <a:srgbClr val="E8A93A"/>
            </a:solidFill>
            <a:prstDash val="solid"/>
          </a:ln>
        </p:spPr>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499d200b763d4faa"/>
          <a:srcRect xmlns:a="http://schemas.openxmlformats.org/drawingml/2006/main" l="-14024" t="0" r="-14024" b="0"/>
          <a:stretch xmlns:a="http://schemas.openxmlformats.org/drawingml/2006/main"/>
        </p:blipFill>
        <p:spPr>
          <a:xfrm xmlns:a="http://schemas.openxmlformats.org/drawingml/2006/main">
            <a:off x="1047902" y="3381451"/>
            <a:ext cx="10477195" cy="4858207"/>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4944F4F6-0A42-49A6-BF0B-68BEA1C040FD}"/>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06 · Business impact</a:t>
            </a:r>
          </a:p>
        </p:txBody>
      </p:sp>
      <p:sp>
        <p:nvSpPr>
          <p:cNvPr id="11" name="Text 6">
            <a:extLst xmlns:a="http://schemas.openxmlformats.org/drawingml/2006/main">
              <a:ext uri="{FF2B5EF4-FFF2-40B4-BE49-F238E27FC236}">
                <a16:creationId xmlns:a16="http://schemas.microsoft.com/office/drawing/2014/main" id="{D6EA34C2-9088-461E-A828-03C72551115A}"/>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13 / 19</a:t>
            </a:r>
          </a:p>
        </p:txBody>
      </p:sp>
      <p:sp>
        <p:nvSpPr>
          <p:cNvPr id="12" name="Text 7">
            <a:extLst xmlns:a="http://schemas.openxmlformats.org/drawingml/2006/main">
              <a:ext uri="{FF2B5EF4-FFF2-40B4-BE49-F238E27FC236}">
                <a16:creationId xmlns:a16="http://schemas.microsoft.com/office/drawing/2014/main" id="{58716892-7804-418E-A722-4788BEE1BA77}"/>
              </a:ext>
            </a:extLst>
          </p:cNvPr>
          <p:cNvSpPr>
            <a:spLocks xmlns:a="http://schemas.openxmlformats.org/drawingml/2006/main" noGrp="1"/>
          </p:cNvSpPr>
          <p:nvPr/>
        </p:nvSpPr>
        <p:spPr>
          <a:xfrm xmlns:a="http://schemas.openxmlformats.org/drawingml/2006/main">
            <a:off x="761695" y="1238098"/>
            <a:ext cx="13335610" cy="4864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600" b="1">
                <a:solidFill>
                  <a:srgbClr val="0F1226"/>
                </a:solidFill>
                <a:latin typeface="Inter"/>
                <a:ea typeface="Inter"/>
                <a:cs typeface="Inter"/>
              </a:rPr>
              <a:t>Per 1,000 students — what advisors would see.</a:t>
            </a:r>
          </a:p>
        </p:txBody>
      </p:sp>
      <p:sp>
        <p:nvSpPr>
          <p:cNvPr id="13" name="Text 8">
            <a:extLst xmlns:a="http://schemas.openxmlformats.org/drawingml/2006/main">
              <a:ext uri="{FF2B5EF4-FFF2-40B4-BE49-F238E27FC236}">
                <a16:creationId xmlns:a16="http://schemas.microsoft.com/office/drawing/2014/main" id="{8124A9A9-FDEF-4956-A126-03E8A55DD558}"/>
              </a:ext>
            </a:extLst>
          </p:cNvPr>
          <p:cNvSpPr>
            <a:spLocks xmlns:a="http://schemas.openxmlformats.org/drawingml/2006/main" noGrp="1"/>
          </p:cNvSpPr>
          <p:nvPr/>
        </p:nvSpPr>
        <p:spPr>
          <a:xfrm xmlns:a="http://schemas.openxmlformats.org/drawingml/2006/main">
            <a:off x="761695" y="1813255"/>
            <a:ext cx="13335610" cy="21031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i="1">
                <a:solidFill>
                  <a:srgbClr val="6A6F8C"/>
                </a:solidFill>
                <a:latin typeface="Source Serif Pro"/>
                <a:ea typeface="Source Serif Pro"/>
                <a:cs typeface="Source Serif Pro"/>
              </a:rPr>
              <a:t>Potential operational value under illustrative planning assumptions.</a:t>
            </a:r>
          </a:p>
        </p:txBody>
      </p:sp>
      <p:sp>
        <p:nvSpPr>
          <p:cNvPr id="14" name="Text 9">
            <a:extLst xmlns:a="http://schemas.openxmlformats.org/drawingml/2006/main">
              <a:ext uri="{FF2B5EF4-FFF2-40B4-BE49-F238E27FC236}">
                <a16:creationId xmlns:a16="http://schemas.microsoft.com/office/drawing/2014/main" id="{6C9AB244-2FF9-4949-9243-CBDDD1FEDB72}"/>
              </a:ext>
            </a:extLst>
          </p:cNvPr>
          <p:cNvSpPr>
            <a:spLocks xmlns:a="http://schemas.openxmlformats.org/drawingml/2006/main" noGrp="1"/>
          </p:cNvSpPr>
          <p:nvPr/>
        </p:nvSpPr>
        <p:spPr>
          <a:xfrm xmlns:a="http://schemas.openxmlformats.org/drawingml/2006/main">
            <a:off x="14287500" y="1380744"/>
            <a:ext cx="3238805" cy="4197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900">
                <a:solidFill>
                  <a:srgbClr val="E8A93A"/>
                </a:solidFill>
                <a:latin typeface="JetBrains Mono"/>
                <a:ea typeface="JetBrains Mono"/>
                <a:cs typeface="JetBrains Mono"/>
              </a:rPr>
              <a:t>⚠ FINANCIALS = PLANNING ASSUMPTIONS</a:t>
            </a:r>
          </a:p>
        </p:txBody>
      </p:sp>
      <p:sp>
        <p:nvSpPr>
          <p:cNvPr id="15" name="Text 10">
            <a:extLst xmlns:a="http://schemas.openxmlformats.org/drawingml/2006/main">
              <a:ext uri="{FF2B5EF4-FFF2-40B4-BE49-F238E27FC236}">
                <a16:creationId xmlns:a16="http://schemas.microsoft.com/office/drawing/2014/main" id="{4E07767F-739B-4AB6-B278-F5201D4CE535}"/>
              </a:ext>
            </a:extLst>
          </p:cNvPr>
          <p:cNvSpPr>
            <a:spLocks xmlns:a="http://schemas.openxmlformats.org/drawingml/2006/main" noGrp="1"/>
          </p:cNvSpPr>
          <p:nvPr/>
        </p:nvSpPr>
        <p:spPr>
          <a:xfrm xmlns:a="http://schemas.openxmlformats.org/drawingml/2006/main">
            <a:off x="1047902" y="2952598"/>
            <a:ext cx="10478110"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FIG · Operational impact per 1,000 students</a:t>
            </a:r>
          </a:p>
        </p:txBody>
      </p:sp>
      <p:sp>
        <p:nvSpPr>
          <p:cNvPr id="16" name="Text 11">
            <a:extLst xmlns:a="http://schemas.openxmlformats.org/drawingml/2006/main">
              <a:ext uri="{FF2B5EF4-FFF2-40B4-BE49-F238E27FC236}">
                <a16:creationId xmlns:a16="http://schemas.microsoft.com/office/drawing/2014/main" id="{6A414565-94B9-4FE5-BCF8-EECF2FA6BECA}"/>
              </a:ext>
            </a:extLst>
          </p:cNvPr>
          <p:cNvSpPr>
            <a:spLocks xmlns:a="http://schemas.openxmlformats.org/drawingml/2006/main" noGrp="1"/>
          </p:cNvSpPr>
          <p:nvPr/>
        </p:nvSpPr>
        <p:spPr>
          <a:xfrm xmlns:a="http://schemas.openxmlformats.org/drawingml/2006/main">
            <a:off x="1047902" y="8667598"/>
            <a:ext cx="10668305" cy="4197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2A2E4B"/>
                </a:solidFill>
                <a:latin typeface="JetBrains Mono"/>
                <a:ea typeface="JetBrains Mono"/>
                <a:cs typeface="JetBrains Mono"/>
              </a:rPr>
              <a:t>Advisor-week estimates assume capacity of </a:t>
            </a:r>
            <a:r>
              <a:rPr sz="1000" b="1">
                <a:solidFill>
                  <a:srgbClr val="2A2E4B"/>
                </a:solidFill>
                <a:latin typeface="JetBrains Mono"/>
                <a:ea typeface="JetBrains Mono"/>
                <a:cs typeface="JetBrains Mono"/>
              </a:rPr>
              <a:t>25 alerts per advisor per week</a:t>
            </a:r>
            <a:r>
              <a:rPr sz="1000">
                <a:solidFill>
                  <a:srgbClr val="2A2E4B"/>
                </a:solidFill>
                <a:latin typeface="JetBrains Mono"/>
                <a:ea typeface="JetBrains Mono"/>
                <a:cs typeface="JetBrains Mono"/>
              </a:rPr>
              <a:t>. Outreach cost, retained-student value, and retention effect are illustrative assumptions, not observed institutional outcomes.</a:t>
            </a:r>
          </a:p>
        </p:txBody>
      </p:sp>
      <p:sp>
        <p:nvSpPr>
          <p:cNvPr id="17" name="Text 12">
            <a:extLst xmlns:a="http://schemas.openxmlformats.org/drawingml/2006/main">
              <a:ext uri="{FF2B5EF4-FFF2-40B4-BE49-F238E27FC236}">
                <a16:creationId xmlns:a16="http://schemas.microsoft.com/office/drawing/2014/main" id="{A1CCC7A4-D6F9-4067-8CB7-155B5BDD44A8}"/>
              </a:ext>
            </a:extLst>
          </p:cNvPr>
          <p:cNvSpPr>
            <a:spLocks xmlns:a="http://schemas.openxmlformats.org/drawingml/2006/main" noGrp="1"/>
          </p:cNvSpPr>
          <p:nvPr/>
        </p:nvSpPr>
        <p:spPr>
          <a:xfrm xmlns:a="http://schemas.openxmlformats.org/drawingml/2006/main">
            <a:off x="12573000" y="3000146"/>
            <a:ext cx="46680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Alert economics · per 1,000</a:t>
            </a:r>
          </a:p>
        </p:txBody>
      </p:sp>
      <p:sp>
        <p:nvSpPr>
          <p:cNvPr id="18" name="Shape 13">
            <a:extLst xmlns:a="http://schemas.openxmlformats.org/drawingml/2006/main">
              <a:ext uri="{FF2B5EF4-FFF2-40B4-BE49-F238E27FC236}">
                <a16:creationId xmlns:a16="http://schemas.microsoft.com/office/drawing/2014/main" id="{36368597-1FE2-4C24-869E-D2C18015A93A}"/>
              </a:ext>
            </a:extLst>
          </p:cNvPr>
          <p:cNvSpPr>
            <a:spLocks xmlns:a="http://schemas.openxmlformats.org/drawingml/2006/main" noGrp="1"/>
          </p:cNvSpPr>
          <p:nvPr/>
        </p:nvSpPr>
        <p:spPr>
          <a:xfrm xmlns:a="http://schemas.openxmlformats.org/drawingml/2006/main">
            <a:off x="14830654" y="3305556"/>
            <a:ext cx="9144" cy="752551"/>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19" name="Text 14">
            <a:extLst xmlns:a="http://schemas.openxmlformats.org/drawingml/2006/main">
              <a:ext uri="{FF2B5EF4-FFF2-40B4-BE49-F238E27FC236}">
                <a16:creationId xmlns:a16="http://schemas.microsoft.com/office/drawing/2014/main" id="{D912F792-3693-4D68-834F-1D57D1D54400}"/>
              </a:ext>
            </a:extLst>
          </p:cNvPr>
          <p:cNvSpPr>
            <a:spLocks xmlns:a="http://schemas.openxmlformats.org/drawingml/2006/main" noGrp="1"/>
          </p:cNvSpPr>
          <p:nvPr/>
        </p:nvSpPr>
        <p:spPr>
          <a:xfrm xmlns:a="http://schemas.openxmlformats.org/drawingml/2006/main">
            <a:off x="12573000" y="3305556"/>
            <a:ext cx="2124151"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UCI · LogReg</a:t>
            </a:r>
          </a:p>
        </p:txBody>
      </p:sp>
      <p:sp>
        <p:nvSpPr>
          <p:cNvPr id="20" name="Text 15">
            <a:extLst xmlns:a="http://schemas.openxmlformats.org/drawingml/2006/main">
              <a:ext uri="{FF2B5EF4-FFF2-40B4-BE49-F238E27FC236}">
                <a16:creationId xmlns:a16="http://schemas.microsoft.com/office/drawing/2014/main" id="{A3252D90-344E-4852-B0CE-9147B4D70AD6}"/>
              </a:ext>
            </a:extLst>
          </p:cNvPr>
          <p:cNvSpPr>
            <a:spLocks xmlns:a="http://schemas.openxmlformats.org/drawingml/2006/main" noGrp="1"/>
          </p:cNvSpPr>
          <p:nvPr/>
        </p:nvSpPr>
        <p:spPr>
          <a:xfrm xmlns:a="http://schemas.openxmlformats.org/drawingml/2006/main">
            <a:off x="12573000" y="3495751"/>
            <a:ext cx="2124151" cy="3621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800" b="1">
                <a:solidFill>
                  <a:srgbClr val="2A2E7A"/>
                </a:solidFill>
                <a:latin typeface="JetBrains Mono"/>
                <a:ea typeface="JetBrains Mono"/>
                <a:cs typeface="JetBrains Mono"/>
              </a:rPr>
              <a:t>263</a:t>
            </a:r>
          </a:p>
        </p:txBody>
      </p:sp>
      <p:sp>
        <p:nvSpPr>
          <p:cNvPr id="21" name="Text 16">
            <a:extLst xmlns:a="http://schemas.openxmlformats.org/drawingml/2006/main">
              <a:ext uri="{FF2B5EF4-FFF2-40B4-BE49-F238E27FC236}">
                <a16:creationId xmlns:a16="http://schemas.microsoft.com/office/drawing/2014/main" id="{5FA7F80C-D6DD-41A8-A5BE-A8BE558BEB6B}"/>
              </a:ext>
            </a:extLst>
          </p:cNvPr>
          <p:cNvSpPr>
            <a:spLocks xmlns:a="http://schemas.openxmlformats.org/drawingml/2006/main" noGrp="1"/>
          </p:cNvSpPr>
          <p:nvPr/>
        </p:nvSpPr>
        <p:spPr>
          <a:xfrm xmlns:a="http://schemas.openxmlformats.org/drawingml/2006/main">
            <a:off x="12573000" y="3895344"/>
            <a:ext cx="2124151" cy="1627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2A2E4B"/>
                </a:solidFill>
                <a:latin typeface="Inter"/>
                <a:ea typeface="Inter"/>
                <a:cs typeface="Inter"/>
              </a:rPr>
              <a:t>true at-risk found</a:t>
            </a:r>
          </a:p>
        </p:txBody>
      </p:sp>
      <p:sp>
        <p:nvSpPr>
          <p:cNvPr id="22" name="Text 17">
            <a:extLst xmlns:a="http://schemas.openxmlformats.org/drawingml/2006/main">
              <a:ext uri="{FF2B5EF4-FFF2-40B4-BE49-F238E27FC236}">
                <a16:creationId xmlns:a16="http://schemas.microsoft.com/office/drawing/2014/main" id="{27683651-B785-4276-AD6B-9F0B0C0421DD}"/>
              </a:ext>
            </a:extLst>
          </p:cNvPr>
          <p:cNvSpPr>
            <a:spLocks xmlns:a="http://schemas.openxmlformats.org/drawingml/2006/main" noGrp="1"/>
          </p:cNvSpPr>
          <p:nvPr/>
        </p:nvSpPr>
        <p:spPr>
          <a:xfrm xmlns:a="http://schemas.openxmlformats.org/drawingml/2006/main">
            <a:off x="14973300" y="3305556"/>
            <a:ext cx="22677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OULAD · XGB</a:t>
            </a:r>
          </a:p>
        </p:txBody>
      </p:sp>
      <p:sp>
        <p:nvSpPr>
          <p:cNvPr id="23" name="Text 18">
            <a:extLst xmlns:a="http://schemas.openxmlformats.org/drawingml/2006/main">
              <a:ext uri="{FF2B5EF4-FFF2-40B4-BE49-F238E27FC236}">
                <a16:creationId xmlns:a16="http://schemas.microsoft.com/office/drawing/2014/main" id="{A99E789C-0553-4ABB-9F60-B3E01AFE3534}"/>
              </a:ext>
            </a:extLst>
          </p:cNvPr>
          <p:cNvSpPr>
            <a:spLocks xmlns:a="http://schemas.openxmlformats.org/drawingml/2006/main" noGrp="1"/>
          </p:cNvSpPr>
          <p:nvPr/>
        </p:nvSpPr>
        <p:spPr>
          <a:xfrm xmlns:a="http://schemas.openxmlformats.org/drawingml/2006/main">
            <a:off x="14973300" y="3495751"/>
            <a:ext cx="2267712" cy="3621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800" b="1">
                <a:solidFill>
                  <a:srgbClr val="2A2E7A"/>
                </a:solidFill>
                <a:latin typeface="JetBrains Mono"/>
                <a:ea typeface="JetBrains Mono"/>
                <a:cs typeface="JetBrains Mono"/>
              </a:rPr>
              <a:t>224</a:t>
            </a:r>
          </a:p>
        </p:txBody>
      </p:sp>
      <p:sp>
        <p:nvSpPr>
          <p:cNvPr id="24" name="Text 19">
            <a:extLst xmlns:a="http://schemas.openxmlformats.org/drawingml/2006/main">
              <a:ext uri="{FF2B5EF4-FFF2-40B4-BE49-F238E27FC236}">
                <a16:creationId xmlns:a16="http://schemas.microsoft.com/office/drawing/2014/main" id="{E1D6DAEE-6EAF-4FA4-9677-CB3B452DA3B8}"/>
              </a:ext>
            </a:extLst>
          </p:cNvPr>
          <p:cNvSpPr>
            <a:spLocks xmlns:a="http://schemas.openxmlformats.org/drawingml/2006/main" noGrp="1"/>
          </p:cNvSpPr>
          <p:nvPr/>
        </p:nvSpPr>
        <p:spPr>
          <a:xfrm xmlns:a="http://schemas.openxmlformats.org/drawingml/2006/main">
            <a:off x="14973300" y="3895344"/>
            <a:ext cx="2267712" cy="1627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2A2E4B"/>
                </a:solidFill>
                <a:latin typeface="Inter"/>
                <a:ea typeface="Inter"/>
                <a:cs typeface="Inter"/>
              </a:rPr>
              <a:t>true at-risk found</a:t>
            </a:r>
          </a:p>
        </p:txBody>
      </p:sp>
      <p:sp>
        <p:nvSpPr>
          <p:cNvPr id="25" name="Shape 20">
            <a:extLst xmlns:a="http://schemas.openxmlformats.org/drawingml/2006/main">
              <a:ext uri="{FF2B5EF4-FFF2-40B4-BE49-F238E27FC236}">
                <a16:creationId xmlns:a16="http://schemas.microsoft.com/office/drawing/2014/main" id="{C593C498-4340-4359-855F-2E9BF7353129}"/>
              </a:ext>
            </a:extLst>
          </p:cNvPr>
          <p:cNvSpPr>
            <a:spLocks xmlns:a="http://schemas.openxmlformats.org/drawingml/2006/main" noGrp="1"/>
          </p:cNvSpPr>
          <p:nvPr/>
        </p:nvSpPr>
        <p:spPr>
          <a:xfrm xmlns:a="http://schemas.openxmlformats.org/drawingml/2006/main">
            <a:off x="12573000" y="4229100"/>
            <a:ext cx="46670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26" name="Text 21">
            <a:extLst xmlns:a="http://schemas.openxmlformats.org/drawingml/2006/main">
              <a:ext uri="{FF2B5EF4-FFF2-40B4-BE49-F238E27FC236}">
                <a16:creationId xmlns:a16="http://schemas.microsoft.com/office/drawing/2014/main" id="{48F51D5C-2204-4E85-B216-F8586B1DA59E}"/>
              </a:ext>
            </a:extLst>
          </p:cNvPr>
          <p:cNvSpPr>
            <a:spLocks xmlns:a="http://schemas.openxmlformats.org/drawingml/2006/main" noGrp="1"/>
          </p:cNvSpPr>
          <p:nvPr/>
        </p:nvSpPr>
        <p:spPr>
          <a:xfrm xmlns:a="http://schemas.openxmlformats.org/drawingml/2006/main">
            <a:off x="12573000" y="4371746"/>
            <a:ext cx="1485900"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ALERTS</a:t>
            </a:r>
          </a:p>
        </p:txBody>
      </p:sp>
      <p:sp>
        <p:nvSpPr>
          <p:cNvPr id="27" name="Text 22">
            <a:extLst xmlns:a="http://schemas.openxmlformats.org/drawingml/2006/main">
              <a:ext uri="{FF2B5EF4-FFF2-40B4-BE49-F238E27FC236}">
                <a16:creationId xmlns:a16="http://schemas.microsoft.com/office/drawing/2014/main" id="{1EC04B28-D506-4B73-BAE9-7AD0C6DFCEE8}"/>
              </a:ext>
            </a:extLst>
          </p:cNvPr>
          <p:cNvSpPr>
            <a:spLocks xmlns:a="http://schemas.openxmlformats.org/drawingml/2006/main" noGrp="1"/>
          </p:cNvSpPr>
          <p:nvPr/>
        </p:nvSpPr>
        <p:spPr>
          <a:xfrm xmlns:a="http://schemas.openxmlformats.org/drawingml/2006/main">
            <a:off x="12573000" y="4562856"/>
            <a:ext cx="1485900" cy="47274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44"/>
              </a:lnSpc>
              <a:buNone/>
            </a:pPr>
            <a:r>
              <a:rPr sz="1100">
                <a:solidFill>
                  <a:srgbClr val="2A2E4B"/>
                </a:solidFill>
                <a:latin typeface="JetBrains Mono"/>
                <a:ea typeface="JetBrains Mono"/>
                <a:cs typeface="JetBrains Mono"/>
              </a:rPr>
              <a:t>UCI 344</a:t>
            </a:r>
          </a:p>
          <a:p xmlns:a="http://schemas.openxmlformats.org/drawingml/2006/main">
            <a:pPr marL="0" indent="0" algn="l">
              <a:lnSpc>
                <a:spcPts val="1744"/>
              </a:lnSpc>
              <a:buNone/>
            </a:pPr>
            <a:r>
              <a:rPr sz="1100">
                <a:solidFill>
                  <a:srgbClr val="2A2E4B"/>
                </a:solidFill>
                <a:latin typeface="JetBrains Mono"/>
                <a:ea typeface="JetBrains Mono"/>
                <a:cs typeface="JetBrains Mono"/>
              </a:rPr>
              <a:t>OULAD 295</a:t>
            </a:r>
          </a:p>
        </p:txBody>
      </p:sp>
      <p:sp>
        <p:nvSpPr>
          <p:cNvPr id="28" name="Text 23">
            <a:extLst xmlns:a="http://schemas.openxmlformats.org/drawingml/2006/main">
              <a:ext uri="{FF2B5EF4-FFF2-40B4-BE49-F238E27FC236}">
                <a16:creationId xmlns:a16="http://schemas.microsoft.com/office/drawing/2014/main" id="{0E2FA28C-2997-45CA-8C2F-3FFA7DC70B3B}"/>
              </a:ext>
            </a:extLst>
          </p:cNvPr>
          <p:cNvSpPr>
            <a:spLocks xmlns:a="http://schemas.openxmlformats.org/drawingml/2006/main" noGrp="1"/>
          </p:cNvSpPr>
          <p:nvPr/>
        </p:nvSpPr>
        <p:spPr>
          <a:xfrm xmlns:a="http://schemas.openxmlformats.org/drawingml/2006/main">
            <a:off x="14166799" y="4371746"/>
            <a:ext cx="1485900"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FALSE</a:t>
            </a:r>
          </a:p>
        </p:txBody>
      </p:sp>
      <p:sp>
        <p:nvSpPr>
          <p:cNvPr id="29" name="Text 24">
            <a:extLst xmlns:a="http://schemas.openxmlformats.org/drawingml/2006/main">
              <a:ext uri="{FF2B5EF4-FFF2-40B4-BE49-F238E27FC236}">
                <a16:creationId xmlns:a16="http://schemas.microsoft.com/office/drawing/2014/main" id="{6DD486D4-DFCB-41F7-90E7-76E3600A7CBF}"/>
              </a:ext>
            </a:extLst>
          </p:cNvPr>
          <p:cNvSpPr>
            <a:spLocks xmlns:a="http://schemas.openxmlformats.org/drawingml/2006/main" noGrp="1"/>
          </p:cNvSpPr>
          <p:nvPr/>
        </p:nvSpPr>
        <p:spPr>
          <a:xfrm xmlns:a="http://schemas.openxmlformats.org/drawingml/2006/main">
            <a:off x="14166799" y="4562856"/>
            <a:ext cx="1485900" cy="47274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44"/>
              </a:lnSpc>
              <a:buNone/>
            </a:pPr>
            <a:r>
              <a:rPr sz="1100">
                <a:solidFill>
                  <a:srgbClr val="2A2E4B"/>
                </a:solidFill>
                <a:latin typeface="JetBrains Mono"/>
                <a:ea typeface="JetBrains Mono"/>
                <a:cs typeface="JetBrains Mono"/>
              </a:rPr>
              <a:t>UCI 80</a:t>
            </a:r>
          </a:p>
          <a:p xmlns:a="http://schemas.openxmlformats.org/drawingml/2006/main">
            <a:pPr marL="0" indent="0" algn="l">
              <a:lnSpc>
                <a:spcPts val="1744"/>
              </a:lnSpc>
              <a:buNone/>
            </a:pPr>
            <a:r>
              <a:rPr sz="1100">
                <a:solidFill>
                  <a:srgbClr val="2A2E4B"/>
                </a:solidFill>
                <a:latin typeface="JetBrains Mono"/>
                <a:ea typeface="JetBrains Mono"/>
                <a:cs typeface="JetBrains Mono"/>
              </a:rPr>
              <a:t>OULAD 72</a:t>
            </a:r>
          </a:p>
        </p:txBody>
      </p:sp>
      <p:sp>
        <p:nvSpPr>
          <p:cNvPr id="30" name="Text 25">
            <a:extLst xmlns:a="http://schemas.openxmlformats.org/drawingml/2006/main">
              <a:ext uri="{FF2B5EF4-FFF2-40B4-BE49-F238E27FC236}">
                <a16:creationId xmlns:a16="http://schemas.microsoft.com/office/drawing/2014/main" id="{B429133B-C3B6-47DA-A43D-57BB2F3EA178}"/>
              </a:ext>
            </a:extLst>
          </p:cNvPr>
          <p:cNvSpPr>
            <a:spLocks xmlns:a="http://schemas.openxmlformats.org/drawingml/2006/main" noGrp="1"/>
          </p:cNvSpPr>
          <p:nvPr/>
        </p:nvSpPr>
        <p:spPr>
          <a:xfrm xmlns:a="http://schemas.openxmlformats.org/drawingml/2006/main">
            <a:off x="15760598" y="4371746"/>
            <a:ext cx="1485900" cy="1810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MISSED</a:t>
            </a:r>
          </a:p>
        </p:txBody>
      </p:sp>
      <p:sp>
        <p:nvSpPr>
          <p:cNvPr id="31" name="Text 26">
            <a:extLst xmlns:a="http://schemas.openxmlformats.org/drawingml/2006/main">
              <a:ext uri="{FF2B5EF4-FFF2-40B4-BE49-F238E27FC236}">
                <a16:creationId xmlns:a16="http://schemas.microsoft.com/office/drawing/2014/main" id="{BF0A000D-6F34-45AD-B1F0-DC123275129D}"/>
              </a:ext>
            </a:extLst>
          </p:cNvPr>
          <p:cNvSpPr>
            <a:spLocks xmlns:a="http://schemas.openxmlformats.org/drawingml/2006/main" noGrp="1"/>
          </p:cNvSpPr>
          <p:nvPr/>
        </p:nvSpPr>
        <p:spPr>
          <a:xfrm xmlns:a="http://schemas.openxmlformats.org/drawingml/2006/main">
            <a:off x="15760598" y="4562856"/>
            <a:ext cx="1485900" cy="47274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44"/>
              </a:lnSpc>
              <a:buNone/>
            </a:pPr>
            <a:r>
              <a:rPr sz="1100">
                <a:solidFill>
                  <a:srgbClr val="2A2E4B"/>
                </a:solidFill>
                <a:latin typeface="JetBrains Mono"/>
                <a:ea typeface="JetBrains Mono"/>
                <a:cs typeface="JetBrains Mono"/>
              </a:rPr>
              <a:t>UCI 58</a:t>
            </a:r>
          </a:p>
          <a:p xmlns:a="http://schemas.openxmlformats.org/drawingml/2006/main">
            <a:pPr marL="0" indent="0" algn="l">
              <a:lnSpc>
                <a:spcPts val="1744"/>
              </a:lnSpc>
              <a:buNone/>
            </a:pPr>
            <a:r>
              <a:rPr sz="1100">
                <a:solidFill>
                  <a:srgbClr val="2A2E4B"/>
                </a:solidFill>
                <a:latin typeface="JetBrains Mono"/>
                <a:ea typeface="JetBrains Mono"/>
                <a:cs typeface="JetBrains Mono"/>
              </a:rPr>
              <a:t>OULAD 88</a:t>
            </a:r>
          </a:p>
        </p:txBody>
      </p:sp>
      <p:sp>
        <p:nvSpPr>
          <p:cNvPr id="32" name="Shape 27">
            <a:extLst xmlns:a="http://schemas.openxmlformats.org/drawingml/2006/main">
              <a:ext uri="{FF2B5EF4-FFF2-40B4-BE49-F238E27FC236}">
                <a16:creationId xmlns:a16="http://schemas.microsoft.com/office/drawing/2014/main" id="{D81CBF38-686F-4270-8D0A-8EC064494A57}"/>
              </a:ext>
            </a:extLst>
          </p:cNvPr>
          <p:cNvSpPr>
            <a:spLocks xmlns:a="http://schemas.openxmlformats.org/drawingml/2006/main" noGrp="1"/>
          </p:cNvSpPr>
          <p:nvPr/>
        </p:nvSpPr>
        <p:spPr>
          <a:xfrm xmlns:a="http://schemas.openxmlformats.org/drawingml/2006/main">
            <a:off x="12573000" y="5163617"/>
            <a:ext cx="46670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33" name="Text 28">
            <a:extLst xmlns:a="http://schemas.openxmlformats.org/drawingml/2006/main">
              <a:ext uri="{FF2B5EF4-FFF2-40B4-BE49-F238E27FC236}">
                <a16:creationId xmlns:a16="http://schemas.microsoft.com/office/drawing/2014/main" id="{74ECD2FF-C276-4F02-AFBF-374852E86C4B}"/>
              </a:ext>
            </a:extLst>
          </p:cNvPr>
          <p:cNvSpPr>
            <a:spLocks xmlns:a="http://schemas.openxmlformats.org/drawingml/2006/main" noGrp="1"/>
          </p:cNvSpPr>
          <p:nvPr/>
        </p:nvSpPr>
        <p:spPr>
          <a:xfrm xmlns:a="http://schemas.openxmlformats.org/drawingml/2006/main">
            <a:off x="12573000" y="5287061"/>
            <a:ext cx="4668012" cy="305410"/>
          </a:xfrm>
          <a:prstGeom xmlns:a="http://schemas.openxmlformats.org/drawingml/2006/main" prst="rect">
            <a:avLst/>
          </a:prstGeom>
          <a:solidFill xmlns:a="http://schemas.openxmlformats.org/drawingml/2006/main">
            <a:srgbClr val="FFFFFF">
              <a:alpha val="0"/>
            </a:srgbClr>
          </a:solidFill>
          <a:ln xmlns:a="http://schemas.openxmlformats.org/drawingml/2006/main">
            <a:solidFill>
              <a:srgbClr val="FFFFFF">
                <a:alpha val="0"/>
              </a:srgbClr>
            </a:solidFill>
          </a:ln>
        </p:spPr>
        <p:txBody>
          <a:bodyPr xmlns:a="http://schemas.openxmlformats.org/drawingml/2006/main" wrap="square" lIns="114300" tIns="0" rIns="114300" bIns="11430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Advisor capacity ≈ </a:t>
            </a:r>
            <a:r>
              <a:rPr sz="1000">
                <a:solidFill>
                  <a:srgbClr val="2A2E4B"/>
                </a:solidFill>
                <a:latin typeface="JetBrains Mono"/>
                <a:ea typeface="JetBrains Mono"/>
                <a:cs typeface="JetBrains Mono"/>
              </a:rPr>
              <a:t>UCI 13.7</a:t>
            </a:r>
            <a:r>
              <a:rPr sz="1000">
                <a:solidFill>
                  <a:srgbClr val="6A6F8C"/>
                </a:solidFill>
                <a:latin typeface="JetBrains Mono"/>
                <a:ea typeface="JetBrains Mono"/>
                <a:cs typeface="JetBrains Mono"/>
              </a:rPr>
              <a:t> / </a:t>
            </a:r>
            <a:r>
              <a:rPr sz="1000">
                <a:solidFill>
                  <a:srgbClr val="2A2E4B"/>
                </a:solidFill>
                <a:latin typeface="JetBrains Mono"/>
                <a:ea typeface="JetBrains Mono"/>
                <a:cs typeface="JetBrains Mono"/>
              </a:rPr>
              <a:t>OULAD 11.8</a:t>
            </a:r>
            <a:r>
              <a:rPr sz="1000">
                <a:solidFill>
                  <a:srgbClr val="6A6F8C"/>
                </a:solidFill>
                <a:latin typeface="JetBrains Mono"/>
                <a:ea typeface="JetBrains Mono"/>
                <a:cs typeface="JetBrains Mono"/>
              </a:rPr>
              <a:t> advisor-weeks per 1,000 students</a:t>
            </a:r>
          </a:p>
        </p:txBody>
      </p:sp>
      <p:sp>
        <p:nvSpPr>
          <p:cNvPr id="34" name="Text 29">
            <a:extLst xmlns:a="http://schemas.openxmlformats.org/drawingml/2006/main">
              <a:ext uri="{FF2B5EF4-FFF2-40B4-BE49-F238E27FC236}">
                <a16:creationId xmlns:a16="http://schemas.microsoft.com/office/drawing/2014/main" id="{AB26ED77-015E-49E0-884E-7EE5A0F79F2A}"/>
              </a:ext>
            </a:extLst>
          </p:cNvPr>
          <p:cNvSpPr>
            <a:spLocks xmlns:a="http://schemas.openxmlformats.org/drawingml/2006/main" noGrp="1"/>
          </p:cNvSpPr>
          <p:nvPr/>
        </p:nvSpPr>
        <p:spPr>
          <a:xfrm xmlns:a="http://schemas.openxmlformats.org/drawingml/2006/main">
            <a:off x="12573000" y="6334049"/>
            <a:ext cx="46680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Illustrative break-even</a:t>
            </a:r>
          </a:p>
        </p:txBody>
      </p:sp>
      <p:sp>
        <p:nvSpPr>
          <p:cNvPr id="35" name="Text 30">
            <a:extLst xmlns:a="http://schemas.openxmlformats.org/drawingml/2006/main">
              <a:ext uri="{FF2B5EF4-FFF2-40B4-BE49-F238E27FC236}">
                <a16:creationId xmlns:a16="http://schemas.microsoft.com/office/drawing/2014/main" id="{1DF25C79-518B-45CF-AB24-6FBAD9604E8C}"/>
              </a:ext>
            </a:extLst>
          </p:cNvPr>
          <p:cNvSpPr>
            <a:spLocks xmlns:a="http://schemas.openxmlformats.org/drawingml/2006/main" noGrp="1"/>
          </p:cNvSpPr>
          <p:nvPr/>
        </p:nvSpPr>
        <p:spPr>
          <a:xfrm xmlns:a="http://schemas.openxmlformats.org/drawingml/2006/main">
            <a:off x="12573000" y="6638544"/>
            <a:ext cx="1133856"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FFFF">
                    <a:alpha val="70000"/>
                  </a:srgbClr>
                </a:solidFill>
                <a:latin typeface="JetBrains Mono"/>
                <a:ea typeface="JetBrains Mono"/>
                <a:cs typeface="JetBrains Mono"/>
              </a:rPr>
              <a:t>Outreach cost</a:t>
            </a:r>
          </a:p>
        </p:txBody>
      </p:sp>
      <p:sp>
        <p:nvSpPr>
          <p:cNvPr id="36" name="Text 31">
            <a:extLst xmlns:a="http://schemas.openxmlformats.org/drawingml/2006/main">
              <a:ext uri="{FF2B5EF4-FFF2-40B4-BE49-F238E27FC236}">
                <a16:creationId xmlns:a16="http://schemas.microsoft.com/office/drawing/2014/main" id="{571144E8-024C-45C5-BEA3-3792D650F31F}"/>
              </a:ext>
            </a:extLst>
          </p:cNvPr>
          <p:cNvSpPr>
            <a:spLocks xmlns:a="http://schemas.openxmlformats.org/drawingml/2006/main" noGrp="1"/>
          </p:cNvSpPr>
          <p:nvPr/>
        </p:nvSpPr>
        <p:spPr>
          <a:xfrm xmlns:a="http://schemas.openxmlformats.org/drawingml/2006/main">
            <a:off x="12573000" y="6819595"/>
            <a:ext cx="1133856" cy="2862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900" b="1">
                <a:solidFill>
                  <a:srgbClr val="FFFFFF"/>
                </a:solidFill>
                <a:latin typeface="JetBrains Mono"/>
                <a:ea typeface="JetBrains Mono"/>
                <a:cs typeface="JetBrains Mono"/>
              </a:rPr>
              <a:t>$100</a:t>
            </a:r>
          </a:p>
        </p:txBody>
      </p:sp>
      <p:sp>
        <p:nvSpPr>
          <p:cNvPr id="37" name="Text 32">
            <a:extLst xmlns:a="http://schemas.openxmlformats.org/drawingml/2006/main">
              <a:ext uri="{FF2B5EF4-FFF2-40B4-BE49-F238E27FC236}">
                <a16:creationId xmlns:a16="http://schemas.microsoft.com/office/drawing/2014/main" id="{1AF134BC-04AB-470A-AA66-EFBB5DAF4772}"/>
              </a:ext>
            </a:extLst>
          </p:cNvPr>
          <p:cNvSpPr>
            <a:spLocks xmlns:a="http://schemas.openxmlformats.org/drawingml/2006/main" noGrp="1"/>
          </p:cNvSpPr>
          <p:nvPr/>
        </p:nvSpPr>
        <p:spPr>
          <a:xfrm xmlns:a="http://schemas.openxmlformats.org/drawingml/2006/main">
            <a:off x="12573000" y="7105802"/>
            <a:ext cx="1133856" cy="1627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alpha val="70000"/>
                  </a:srgbClr>
                </a:solidFill>
                <a:latin typeface="Inter"/>
                <a:ea typeface="Inter"/>
                <a:cs typeface="Inter"/>
              </a:rPr>
              <a:t>per alert</a:t>
            </a:r>
          </a:p>
        </p:txBody>
      </p:sp>
      <p:sp>
        <p:nvSpPr>
          <p:cNvPr id="38" name="Text 33">
            <a:extLst xmlns:a="http://schemas.openxmlformats.org/drawingml/2006/main">
              <a:ext uri="{FF2B5EF4-FFF2-40B4-BE49-F238E27FC236}">
                <a16:creationId xmlns:a16="http://schemas.microsoft.com/office/drawing/2014/main" id="{6E0F9627-858C-4671-ACE2-088B3D473BB8}"/>
              </a:ext>
            </a:extLst>
          </p:cNvPr>
          <p:cNvSpPr>
            <a:spLocks xmlns:a="http://schemas.openxmlformats.org/drawingml/2006/main" noGrp="1"/>
          </p:cNvSpPr>
          <p:nvPr/>
        </p:nvSpPr>
        <p:spPr>
          <a:xfrm xmlns:a="http://schemas.openxmlformats.org/drawingml/2006/main">
            <a:off x="13929055" y="6638544"/>
            <a:ext cx="1219810"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FFFF">
                    <a:alpha val="70000"/>
                  </a:srgbClr>
                </a:solidFill>
                <a:latin typeface="JetBrains Mono"/>
                <a:ea typeface="JetBrains Mono"/>
                <a:cs typeface="JetBrains Mono"/>
              </a:rPr>
              <a:t>Retained value</a:t>
            </a:r>
          </a:p>
        </p:txBody>
      </p:sp>
      <p:sp>
        <p:nvSpPr>
          <p:cNvPr id="39" name="Text 34">
            <a:extLst xmlns:a="http://schemas.openxmlformats.org/drawingml/2006/main">
              <a:ext uri="{FF2B5EF4-FFF2-40B4-BE49-F238E27FC236}">
                <a16:creationId xmlns:a16="http://schemas.microsoft.com/office/drawing/2014/main" id="{4EBAD39F-B094-40D6-BAA2-5377E3415ABD}"/>
              </a:ext>
            </a:extLst>
          </p:cNvPr>
          <p:cNvSpPr>
            <a:spLocks xmlns:a="http://schemas.openxmlformats.org/drawingml/2006/main" noGrp="1"/>
          </p:cNvSpPr>
          <p:nvPr/>
        </p:nvSpPr>
        <p:spPr>
          <a:xfrm xmlns:a="http://schemas.openxmlformats.org/drawingml/2006/main">
            <a:off x="13929055" y="6819595"/>
            <a:ext cx="1219810" cy="2862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900" b="1">
                <a:solidFill>
                  <a:srgbClr val="FFFFFF"/>
                </a:solidFill>
                <a:latin typeface="JetBrains Mono"/>
                <a:ea typeface="JetBrains Mono"/>
                <a:cs typeface="JetBrains Mono"/>
              </a:rPr>
              <a:t>$6,000</a:t>
            </a:r>
          </a:p>
        </p:txBody>
      </p:sp>
      <p:sp>
        <p:nvSpPr>
          <p:cNvPr id="40" name="Text 35">
            <a:extLst xmlns:a="http://schemas.openxmlformats.org/drawingml/2006/main">
              <a:ext uri="{FF2B5EF4-FFF2-40B4-BE49-F238E27FC236}">
                <a16:creationId xmlns:a16="http://schemas.microsoft.com/office/drawing/2014/main" id="{0A205306-6F3C-4FE1-B0D8-10DD45DD483B}"/>
              </a:ext>
            </a:extLst>
          </p:cNvPr>
          <p:cNvSpPr>
            <a:spLocks xmlns:a="http://schemas.openxmlformats.org/drawingml/2006/main" noGrp="1"/>
          </p:cNvSpPr>
          <p:nvPr/>
        </p:nvSpPr>
        <p:spPr>
          <a:xfrm xmlns:a="http://schemas.openxmlformats.org/drawingml/2006/main">
            <a:off x="13929055" y="7105802"/>
            <a:ext cx="1219810" cy="1627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alpha val="70000"/>
                  </a:srgbClr>
                </a:solidFill>
                <a:latin typeface="Inter"/>
                <a:ea typeface="Inter"/>
                <a:cs typeface="Inter"/>
              </a:rPr>
              <a:t>per student</a:t>
            </a:r>
          </a:p>
        </p:txBody>
      </p:sp>
      <p:sp>
        <p:nvSpPr>
          <p:cNvPr id="41" name="Shape 36">
            <a:extLst xmlns:a="http://schemas.openxmlformats.org/drawingml/2006/main">
              <a:ext uri="{FF2B5EF4-FFF2-40B4-BE49-F238E27FC236}">
                <a16:creationId xmlns:a16="http://schemas.microsoft.com/office/drawing/2014/main" id="{802F7C1C-92D1-4155-9AEC-4EA60FF43218}"/>
              </a:ext>
            </a:extLst>
          </p:cNvPr>
          <p:cNvSpPr>
            <a:spLocks xmlns:a="http://schemas.openxmlformats.org/drawingml/2006/main" noGrp="1"/>
          </p:cNvSpPr>
          <p:nvPr/>
        </p:nvSpPr>
        <p:spPr>
          <a:xfrm xmlns:a="http://schemas.openxmlformats.org/drawingml/2006/main">
            <a:off x="12573000" y="7477049"/>
            <a:ext cx="4667098" cy="9144"/>
          </a:xfrm>
          <a:prstGeom xmlns:a="http://schemas.openxmlformats.org/drawingml/2006/main" prst="rect">
            <a:avLst/>
          </a:prstGeom>
          <a:solidFill xmlns:a="http://schemas.openxmlformats.org/drawingml/2006/main">
            <a:srgbClr val="FFFFFF">
              <a:alpha val="15000"/>
            </a:srgbClr>
          </a:solidFill>
          <a:ln xmlns:a="http://schemas.openxmlformats.org/drawingml/2006/main" w="12700">
            <a:solidFill>
              <a:srgbClr val="FFFFFF">
                <a:alpha val="0"/>
              </a:srgbClr>
            </a:solidFill>
            <a:prstDash val="solid"/>
          </a:ln>
        </p:spPr>
      </p:sp>
      <p:sp>
        <p:nvSpPr>
          <p:cNvPr id="42" name="Text 37">
            <a:extLst xmlns:a="http://schemas.openxmlformats.org/drawingml/2006/main">
              <a:ext uri="{FF2B5EF4-FFF2-40B4-BE49-F238E27FC236}">
                <a16:creationId xmlns:a16="http://schemas.microsoft.com/office/drawing/2014/main" id="{5F0E9ADD-59E3-498E-B72F-7B26E0D99575}"/>
              </a:ext>
            </a:extLst>
          </p:cNvPr>
          <p:cNvSpPr>
            <a:spLocks xmlns:a="http://schemas.openxmlformats.org/drawingml/2006/main" noGrp="1"/>
          </p:cNvSpPr>
          <p:nvPr/>
        </p:nvSpPr>
        <p:spPr>
          <a:xfrm xmlns:a="http://schemas.openxmlformats.org/drawingml/2006/main">
            <a:off x="12573000" y="7658100"/>
            <a:ext cx="46680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FFFF">
                    <a:alpha val="70000"/>
                  </a:srgbClr>
                </a:solidFill>
                <a:latin typeface="JetBrains Mono"/>
                <a:ea typeface="JetBrains Mono"/>
                <a:cs typeface="JetBrains Mono"/>
              </a:rPr>
              <a:t>Illustrative break-even</a:t>
            </a:r>
          </a:p>
        </p:txBody>
      </p:sp>
      <p:sp>
        <p:nvSpPr>
          <p:cNvPr id="43" name="Text 38">
            <a:extLst xmlns:a="http://schemas.openxmlformats.org/drawingml/2006/main">
              <a:ext uri="{FF2B5EF4-FFF2-40B4-BE49-F238E27FC236}">
                <a16:creationId xmlns:a16="http://schemas.microsoft.com/office/drawing/2014/main" id="{281FDC00-755E-4027-A7A7-0605C44DB36E}"/>
              </a:ext>
            </a:extLst>
          </p:cNvPr>
          <p:cNvSpPr>
            <a:spLocks xmlns:a="http://schemas.openxmlformats.org/drawingml/2006/main" noGrp="1"/>
          </p:cNvSpPr>
          <p:nvPr/>
        </p:nvSpPr>
        <p:spPr>
          <a:xfrm xmlns:a="http://schemas.openxmlformats.org/drawingml/2006/main">
            <a:off x="12573000" y="7867498"/>
            <a:ext cx="4668012" cy="5907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5CA0"/>
                </a:solidFill>
                <a:latin typeface="Inter"/>
                <a:ea typeface="Inter"/>
                <a:cs typeface="Inter"/>
              </a:rPr>
              <a:t>5–6</a:t>
            </a:r>
            <a:r>
              <a:rPr sz="1600" b="1">
                <a:solidFill>
                  <a:srgbClr val="FFFFFF"/>
                </a:solidFill>
                <a:latin typeface="Inter"/>
                <a:ea typeface="Inter"/>
                <a:cs typeface="Inter"/>
              </a:rPr>
              <a:t> additional retentions per </a:t>
            </a:r>
            <a:r>
              <a:rPr sz="1600" b="1">
                <a:solidFill>
                  <a:srgbClr val="FF5CA0"/>
                </a:solidFill>
                <a:latin typeface="Inter"/>
                <a:ea typeface="Inter"/>
                <a:cs typeface="Inter"/>
              </a:rPr>
              <a:t>1,000</a:t>
            </a:r>
            <a:r>
              <a:rPr sz="1600" b="1">
                <a:solidFill>
                  <a:srgbClr val="FFFFFF"/>
                </a:solidFill>
                <a:latin typeface="Inter"/>
                <a:ea typeface="Inter"/>
                <a:cs typeface="Inter"/>
              </a:rPr>
              <a:t> would offset alert cost.</a:t>
            </a:r>
          </a:p>
        </p:txBody>
      </p:sp>
      <p:sp>
        <p:nvSpPr>
          <p:cNvPr id="44" name="Text 39">
            <a:extLst xmlns:a="http://schemas.openxmlformats.org/drawingml/2006/main">
              <a:ext uri="{FF2B5EF4-FFF2-40B4-BE49-F238E27FC236}">
                <a16:creationId xmlns:a16="http://schemas.microsoft.com/office/drawing/2014/main" id="{32C63D70-5D68-426A-A910-9D159A57A3F2}"/>
              </a:ext>
            </a:extLst>
          </p:cNvPr>
          <p:cNvSpPr>
            <a:spLocks xmlns:a="http://schemas.openxmlformats.org/drawingml/2006/main" noGrp="1"/>
          </p:cNvSpPr>
          <p:nvPr/>
        </p:nvSpPr>
        <p:spPr>
          <a:xfrm xmlns:a="http://schemas.openxmlformats.org/drawingml/2006/main">
            <a:off x="12573000" y="8549640"/>
            <a:ext cx="4668012"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FFFF">
                    <a:alpha val="70000"/>
                  </a:srgbClr>
                </a:solidFill>
                <a:latin typeface="JetBrains Mono"/>
                <a:ea typeface="JetBrains Mono"/>
                <a:cs typeface="JetBrains Mono"/>
              </a:rPr>
              <a:t>Not a guaranteed ROI — depends on intervention effectiveness.</a:t>
            </a:r>
          </a:p>
        </p:txBody>
      </p:sp>
    </p:spTree>
    <p:extLst>
      <p:ext uri="{BB962C8B-B14F-4D97-AF65-F5344CB8AC3E}">
        <p14:creationId xmlns:p14="http://schemas.microsoft.com/office/powerpoint/2010/main" val="1579045319"/>
      </p:ext>
    </p:extLst>
  </p:cSld>
</p:sld>
</file>

<file path=ppt/slides/slide14.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3646daefff1441bf"/>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6AD2C79D-7E18-4C48-A861-825DC6E7F08F}"/>
              </a:ext>
            </a:extLst>
          </p:cNvPr>
          <p:cNvSpPr>
            <a:spLocks xmlns:a="http://schemas.openxmlformats.org/drawingml/2006/main" noGrp="1"/>
          </p:cNvSpPr>
          <p:nvPr/>
        </p:nvSpPr>
        <p:spPr>
          <a:xfrm xmlns:a="http://schemas.openxmlformats.org/drawingml/2006/main">
            <a:off x="761695" y="2476195"/>
            <a:ext cx="8305495" cy="3429000"/>
          </a:xfrm>
          <a:prstGeom xmlns:a="http://schemas.openxmlformats.org/drawingml/2006/main" prst="roundRect">
            <a:avLst>
              <a:gd name="adj" fmla="val 560"/>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656A2DAA-94B4-4146-A093-CEC7C56866D4}"/>
              </a:ext>
            </a:extLst>
          </p:cNvPr>
          <p:cNvSpPr>
            <a:spLocks xmlns:a="http://schemas.openxmlformats.org/drawingml/2006/main" noGrp="1"/>
          </p:cNvSpPr>
          <p:nvPr/>
        </p:nvSpPr>
        <p:spPr>
          <a:xfrm xmlns:a="http://schemas.openxmlformats.org/drawingml/2006/main">
            <a:off x="761695" y="2476195"/>
            <a:ext cx="8305495" cy="38405"/>
          </a:xfrm>
          <a:prstGeom xmlns:a="http://schemas.openxmlformats.org/drawingml/2006/main" prst="roundRect">
            <a:avLst>
              <a:gd name="adj" fmla="val 50000"/>
            </a:avLst>
          </a:prstGeom>
          <a:solidFill xmlns:a="http://schemas.openxmlformats.org/drawingml/2006/main">
            <a:srgbClr val="E4237A"/>
          </a:solidFill>
          <a:ln xmlns:a="http://schemas.openxmlformats.org/drawingml/2006/main" w="12700">
            <a:solidFill>
              <a:srgbClr val="E4237A">
                <a:alpha val="0"/>
              </a:srgbClr>
            </a:solidFill>
            <a:prstDash val="solid"/>
          </a:ln>
        </p:spPr>
      </p:sp>
      <p:sp>
        <p:nvSpPr>
          <p:cNvPr id="6" name="Shape 2">
            <a:extLst xmlns:a="http://schemas.openxmlformats.org/drawingml/2006/main">
              <a:ext uri="{FF2B5EF4-FFF2-40B4-BE49-F238E27FC236}">
                <a16:creationId xmlns:a16="http://schemas.microsoft.com/office/drawing/2014/main" id="{08A5ED76-F7C5-46E7-A7C5-EBEA95624A46}"/>
              </a:ext>
            </a:extLst>
          </p:cNvPr>
          <p:cNvSpPr>
            <a:spLocks xmlns:a="http://schemas.openxmlformats.org/drawingml/2006/main" noGrp="1"/>
          </p:cNvSpPr>
          <p:nvPr/>
        </p:nvSpPr>
        <p:spPr>
          <a:xfrm xmlns:a="http://schemas.openxmlformats.org/drawingml/2006/main">
            <a:off x="9239098" y="2476195"/>
            <a:ext cx="8305495" cy="3429000"/>
          </a:xfrm>
          <a:prstGeom xmlns:a="http://schemas.openxmlformats.org/drawingml/2006/main" prst="roundRect">
            <a:avLst>
              <a:gd name="adj" fmla="val 560"/>
            </a:avLst>
          </a:prstGeom>
          <a:solidFill xmlns:a="http://schemas.openxmlformats.org/drawingml/2006/main">
            <a:srgbClr val="FFFFFF"/>
          </a:solidFill>
          <a:ln xmlns:a="http://schemas.openxmlformats.org/drawingml/2006/main" w="12700">
            <a:solidFill>
              <a:srgbClr val="E4E5EF"/>
            </a:solidFill>
            <a:prstDash val="solid"/>
          </a:ln>
        </p:spPr>
      </p:sp>
      <p:sp>
        <p:nvSpPr>
          <p:cNvPr id="7" name="Shape 3">
            <a:extLst xmlns:a="http://schemas.openxmlformats.org/drawingml/2006/main">
              <a:ext uri="{FF2B5EF4-FFF2-40B4-BE49-F238E27FC236}">
                <a16:creationId xmlns:a16="http://schemas.microsoft.com/office/drawing/2014/main" id="{F2054AB1-AB9A-40AC-8B2A-70B6254E27C1}"/>
              </a:ext>
            </a:extLst>
          </p:cNvPr>
          <p:cNvSpPr>
            <a:spLocks xmlns:a="http://schemas.openxmlformats.org/drawingml/2006/main" noGrp="1"/>
          </p:cNvSpPr>
          <p:nvPr/>
        </p:nvSpPr>
        <p:spPr>
          <a:xfrm xmlns:a="http://schemas.openxmlformats.org/drawingml/2006/main">
            <a:off x="9239098" y="2476195"/>
            <a:ext cx="8305495" cy="38405"/>
          </a:xfrm>
          <a:prstGeom xmlns:a="http://schemas.openxmlformats.org/drawingml/2006/main" prst="roundRect">
            <a:avLst>
              <a:gd name="adj" fmla="val 50000"/>
            </a:avLst>
          </a:prstGeom>
          <a:solidFill xmlns:a="http://schemas.openxmlformats.org/drawingml/2006/main">
            <a:srgbClr val="E8A93A"/>
          </a:solidFill>
          <a:ln xmlns:a="http://schemas.openxmlformats.org/drawingml/2006/main" w="12700">
            <a:solidFill>
              <a:srgbClr val="E8A93A">
                <a:alpha val="0"/>
              </a:srgbClr>
            </a:solidFill>
            <a:prstDash val="solid"/>
          </a:ln>
        </p:spPr>
      </p:sp>
      <p:sp>
        <p:nvSpPr>
          <p:cNvPr id="8" name="Shape 4">
            <a:extLst xmlns:a="http://schemas.openxmlformats.org/drawingml/2006/main">
              <a:ext uri="{FF2B5EF4-FFF2-40B4-BE49-F238E27FC236}">
                <a16:creationId xmlns:a16="http://schemas.microsoft.com/office/drawing/2014/main" id="{49ED4AD8-5BD7-456F-B7A2-A359B061B6AD}"/>
              </a:ext>
            </a:extLst>
          </p:cNvPr>
          <p:cNvSpPr>
            <a:spLocks xmlns:a="http://schemas.openxmlformats.org/drawingml/2006/main" noGrp="1"/>
          </p:cNvSpPr>
          <p:nvPr/>
        </p:nvSpPr>
        <p:spPr>
          <a:xfrm xmlns:a="http://schemas.openxmlformats.org/drawingml/2006/main">
            <a:off x="761695" y="6048756"/>
            <a:ext cx="8305495" cy="3238805"/>
          </a:xfrm>
          <a:prstGeom xmlns:a="http://schemas.openxmlformats.org/drawingml/2006/main" prst="roundRect">
            <a:avLst>
              <a:gd name="adj" fmla="val 593"/>
            </a:avLst>
          </a:prstGeom>
          <a:solidFill xmlns:a="http://schemas.openxmlformats.org/drawingml/2006/main">
            <a:srgbClr val="FFFFFF"/>
          </a:solidFill>
          <a:ln xmlns:a="http://schemas.openxmlformats.org/drawingml/2006/main" w="12700">
            <a:solidFill>
              <a:srgbClr val="E4E5EF"/>
            </a:solidFill>
            <a:prstDash val="solid"/>
          </a:ln>
        </p:spPr>
      </p:sp>
      <p:sp>
        <p:nvSpPr>
          <p:cNvPr id="9" name="Shape 5">
            <a:extLst xmlns:a="http://schemas.openxmlformats.org/drawingml/2006/main">
              <a:ext uri="{FF2B5EF4-FFF2-40B4-BE49-F238E27FC236}">
                <a16:creationId xmlns:a16="http://schemas.microsoft.com/office/drawing/2014/main" id="{656F918D-3BE7-4F1C-BCCD-F260A5FAD869}"/>
              </a:ext>
            </a:extLst>
          </p:cNvPr>
          <p:cNvSpPr>
            <a:spLocks xmlns:a="http://schemas.openxmlformats.org/drawingml/2006/main" noGrp="1"/>
          </p:cNvSpPr>
          <p:nvPr/>
        </p:nvSpPr>
        <p:spPr>
          <a:xfrm xmlns:a="http://schemas.openxmlformats.org/drawingml/2006/main">
            <a:off x="761695" y="6048756"/>
            <a:ext cx="8305495" cy="38405"/>
          </a:xfrm>
          <a:prstGeom xmlns:a="http://schemas.openxmlformats.org/drawingml/2006/main" prst="roundRect">
            <a:avLst>
              <a:gd name="adj" fmla="val 50000"/>
            </a:avLst>
          </a:prstGeom>
          <a:solidFill xmlns:a="http://schemas.openxmlformats.org/drawingml/2006/main">
            <a:srgbClr val="2A2E7A"/>
          </a:solidFill>
          <a:ln xmlns:a="http://schemas.openxmlformats.org/drawingml/2006/main" w="12700">
            <a:solidFill>
              <a:srgbClr val="2A2E7A">
                <a:alpha val="0"/>
              </a:srgbClr>
            </a:solidFill>
            <a:prstDash val="solid"/>
          </a:ln>
        </p:spPr>
      </p:sp>
      <p:sp>
        <p:nvSpPr>
          <p:cNvPr id="10" name="Shape 6">
            <a:extLst xmlns:a="http://schemas.openxmlformats.org/drawingml/2006/main">
              <a:ext uri="{FF2B5EF4-FFF2-40B4-BE49-F238E27FC236}">
                <a16:creationId xmlns:a16="http://schemas.microsoft.com/office/drawing/2014/main" id="{FDF02A82-552C-406A-BCDF-5E73D526A4AD}"/>
              </a:ext>
            </a:extLst>
          </p:cNvPr>
          <p:cNvSpPr>
            <a:spLocks xmlns:a="http://schemas.openxmlformats.org/drawingml/2006/main" noGrp="1"/>
          </p:cNvSpPr>
          <p:nvPr/>
        </p:nvSpPr>
        <p:spPr>
          <a:xfrm xmlns:a="http://schemas.openxmlformats.org/drawingml/2006/main">
            <a:off x="9239098" y="6048756"/>
            <a:ext cx="8305495" cy="3238805"/>
          </a:xfrm>
          <a:prstGeom xmlns:a="http://schemas.openxmlformats.org/drawingml/2006/main" prst="roundRect">
            <a:avLst>
              <a:gd name="adj" fmla="val 593"/>
            </a:avLst>
          </a:prstGeom>
          <a:solidFill xmlns:a="http://schemas.openxmlformats.org/drawingml/2006/main">
            <a:srgbClr val="FFFFFF"/>
          </a:solidFill>
          <a:ln xmlns:a="http://schemas.openxmlformats.org/drawingml/2006/main" w="12700">
            <a:solidFill>
              <a:srgbClr val="E4E5EF"/>
            </a:solidFill>
            <a:prstDash val="solid"/>
          </a:ln>
        </p:spPr>
      </p:sp>
      <p:sp>
        <p:nvSpPr>
          <p:cNvPr id="11" name="Shape 7">
            <a:extLst xmlns:a="http://schemas.openxmlformats.org/drawingml/2006/main">
              <a:ext uri="{FF2B5EF4-FFF2-40B4-BE49-F238E27FC236}">
                <a16:creationId xmlns:a16="http://schemas.microsoft.com/office/drawing/2014/main" id="{D3F8E897-13ED-4251-A244-F2B78C27B8EC}"/>
              </a:ext>
            </a:extLst>
          </p:cNvPr>
          <p:cNvSpPr>
            <a:spLocks xmlns:a="http://schemas.openxmlformats.org/drawingml/2006/main" noGrp="1"/>
          </p:cNvSpPr>
          <p:nvPr/>
        </p:nvSpPr>
        <p:spPr>
          <a:xfrm xmlns:a="http://schemas.openxmlformats.org/drawingml/2006/main">
            <a:off x="9239098" y="6048756"/>
            <a:ext cx="8305495" cy="38405"/>
          </a:xfrm>
          <a:prstGeom xmlns:a="http://schemas.openxmlformats.org/drawingml/2006/main" prst="roundRect">
            <a:avLst>
              <a:gd name="adj" fmla="val 50000"/>
            </a:avLst>
          </a:prstGeom>
          <a:solidFill xmlns:a="http://schemas.openxmlformats.org/drawingml/2006/main">
            <a:srgbClr val="1B9E8F"/>
          </a:solidFill>
          <a:ln xmlns:a="http://schemas.openxmlformats.org/drawingml/2006/main" w="12700">
            <a:solidFill>
              <a:srgbClr val="1B9E8F">
                <a:alpha val="0"/>
              </a:srgbClr>
            </a:solidFill>
            <a:prstDash val="solid"/>
          </a:ln>
        </p:spPr>
      </p:sp>
      <p:sp>
        <p:nvSpPr>
          <p:cNvPr id="12" name="Text 8">
            <a:extLst xmlns:a="http://schemas.openxmlformats.org/drawingml/2006/main">
              <a:ext uri="{FF2B5EF4-FFF2-40B4-BE49-F238E27FC236}">
                <a16:creationId xmlns:a16="http://schemas.microsoft.com/office/drawing/2014/main" id="{425753AB-B233-4059-85CB-37D4A1278D42}"/>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07 · Challenges &amp; limitations</a:t>
            </a:r>
          </a:p>
        </p:txBody>
      </p:sp>
      <p:sp>
        <p:nvSpPr>
          <p:cNvPr id="13" name="Text 9">
            <a:extLst xmlns:a="http://schemas.openxmlformats.org/drawingml/2006/main">
              <a:ext uri="{FF2B5EF4-FFF2-40B4-BE49-F238E27FC236}">
                <a16:creationId xmlns:a16="http://schemas.microsoft.com/office/drawing/2014/main" id="{42BD94A9-EDFD-4217-932C-326EFA78F607}"/>
              </a:ext>
            </a:extLst>
          </p:cNvPr>
          <p:cNvSpPr>
            <a:spLocks xmlns:a="http://schemas.openxmlformats.org/drawingml/2006/main" noGrp="1"/>
          </p:cNvSpPr>
          <p:nvPr/>
        </p:nvSpPr>
        <p:spPr>
          <a:xfrm xmlns:a="http://schemas.openxmlformats.org/drawingml/2006/main">
            <a:off x="15240305" y="400050"/>
            <a:ext cx="2286000" cy="20955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14 / 19</a:t>
            </a:r>
          </a:p>
        </p:txBody>
      </p:sp>
      <p:sp>
        <p:nvSpPr>
          <p:cNvPr id="14" name="Text 10">
            <a:extLst xmlns:a="http://schemas.openxmlformats.org/drawingml/2006/main">
              <a:ext uri="{FF2B5EF4-FFF2-40B4-BE49-F238E27FC236}">
                <a16:creationId xmlns:a16="http://schemas.microsoft.com/office/drawing/2014/main" id="{07729B98-68DF-4073-975C-848A6ADDD93E}"/>
              </a:ext>
            </a:extLst>
          </p:cNvPr>
          <p:cNvSpPr>
            <a:spLocks xmlns:a="http://schemas.openxmlformats.org/drawingml/2006/main" noGrp="1"/>
          </p:cNvSpPr>
          <p:nvPr/>
        </p:nvSpPr>
        <p:spPr>
          <a:xfrm xmlns:a="http://schemas.openxmlformats.org/drawingml/2006/main">
            <a:off x="761695" y="1238098"/>
            <a:ext cx="16764610" cy="52395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900" b="1">
                <a:solidFill>
                  <a:srgbClr val="0F1226"/>
                </a:solidFill>
                <a:latin typeface="Inter"/>
                <a:ea typeface="Inter"/>
                <a:cs typeface="Inter"/>
              </a:rPr>
              <a:t>Four caveats to state before any pilot.</a:t>
            </a:r>
          </a:p>
        </p:txBody>
      </p:sp>
      <p:sp>
        <p:nvSpPr>
          <p:cNvPr id="15" name="Text 11">
            <a:extLst xmlns:a="http://schemas.openxmlformats.org/drawingml/2006/main">
              <a:ext uri="{FF2B5EF4-FFF2-40B4-BE49-F238E27FC236}">
                <a16:creationId xmlns:a16="http://schemas.microsoft.com/office/drawing/2014/main" id="{768A074E-2E8D-4EEA-A19E-2D4A7EEA619B}"/>
              </a:ext>
            </a:extLst>
          </p:cNvPr>
          <p:cNvSpPr>
            <a:spLocks xmlns:a="http://schemas.openxmlformats.org/drawingml/2006/main" noGrp="1"/>
          </p:cNvSpPr>
          <p:nvPr/>
        </p:nvSpPr>
        <p:spPr>
          <a:xfrm xmlns:a="http://schemas.openxmlformats.org/drawingml/2006/main">
            <a:off x="1143000" y="2714854"/>
            <a:ext cx="419710" cy="4005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700" b="1">
                <a:solidFill>
                  <a:srgbClr val="E4237A"/>
                </a:solidFill>
                <a:latin typeface="JetBrains Mono"/>
                <a:ea typeface="JetBrains Mono"/>
                <a:cs typeface="JetBrains Mono"/>
              </a:rPr>
              <a:t>01</a:t>
            </a:r>
          </a:p>
        </p:txBody>
      </p:sp>
      <p:sp>
        <p:nvSpPr>
          <p:cNvPr id="16" name="Text 12">
            <a:extLst xmlns:a="http://schemas.openxmlformats.org/drawingml/2006/main">
              <a:ext uri="{FF2B5EF4-FFF2-40B4-BE49-F238E27FC236}">
                <a16:creationId xmlns:a16="http://schemas.microsoft.com/office/drawing/2014/main" id="{8725D395-9B4C-47F1-AC1B-003A1B414309}"/>
              </a:ext>
            </a:extLst>
          </p:cNvPr>
          <p:cNvSpPr>
            <a:spLocks xmlns:a="http://schemas.openxmlformats.org/drawingml/2006/main" noGrp="1"/>
          </p:cNvSpPr>
          <p:nvPr/>
        </p:nvSpPr>
        <p:spPr>
          <a:xfrm xmlns:a="http://schemas.openxmlformats.org/drawingml/2006/main">
            <a:off x="1687982" y="2924251"/>
            <a:ext cx="2067458"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External comparability</a:t>
            </a:r>
          </a:p>
        </p:txBody>
      </p:sp>
      <p:sp>
        <p:nvSpPr>
          <p:cNvPr id="17" name="Text 13">
            <a:extLst xmlns:a="http://schemas.openxmlformats.org/drawingml/2006/main">
              <a:ext uri="{FF2B5EF4-FFF2-40B4-BE49-F238E27FC236}">
                <a16:creationId xmlns:a16="http://schemas.microsoft.com/office/drawing/2014/main" id="{A6424C08-3A3F-482A-A94F-2595C6EB3DB6}"/>
              </a:ext>
            </a:extLst>
          </p:cNvPr>
          <p:cNvSpPr>
            <a:spLocks xmlns:a="http://schemas.openxmlformats.org/drawingml/2006/main" noGrp="1"/>
          </p:cNvSpPr>
          <p:nvPr/>
        </p:nvSpPr>
        <p:spPr>
          <a:xfrm xmlns:a="http://schemas.openxmlformats.org/drawingml/2006/main">
            <a:off x="1143000" y="3247949"/>
            <a:ext cx="7525512" cy="571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Our OULAD numbers are not directly comparable to public GitHub baselines.</a:t>
            </a:r>
          </a:p>
        </p:txBody>
      </p:sp>
      <p:sp>
        <p:nvSpPr>
          <p:cNvPr id="18" name="Text 14">
            <a:extLst xmlns:a="http://schemas.openxmlformats.org/drawingml/2006/main">
              <a:ext uri="{FF2B5EF4-FFF2-40B4-BE49-F238E27FC236}">
                <a16:creationId xmlns:a16="http://schemas.microsoft.com/office/drawing/2014/main" id="{6AFE5CBD-909F-455D-8AA7-60CDA5F01139}"/>
              </a:ext>
            </a:extLst>
          </p:cNvPr>
          <p:cNvSpPr>
            <a:spLocks xmlns:a="http://schemas.openxmlformats.org/drawingml/2006/main" noGrp="1"/>
          </p:cNvSpPr>
          <p:nvPr/>
        </p:nvSpPr>
        <p:spPr>
          <a:xfrm xmlns:a="http://schemas.openxmlformats.org/drawingml/2006/main">
            <a:off x="1143000" y="3946550"/>
            <a:ext cx="7525512" cy="7818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Our OULAD model predicts </a:t>
            </a:r>
            <a:r>
              <a:rPr sz="1200">
                <a:solidFill>
                  <a:srgbClr val="0F1226"/>
                </a:solidFill>
                <a:latin typeface="Inter"/>
                <a:ea typeface="Inter"/>
                <a:cs typeface="Inter"/>
              </a:rPr>
              <a:t>Withdrawn</a:t>
            </a:r>
            <a:r>
              <a:rPr sz="1200">
                <a:solidFill>
                  <a:srgbClr val="2A2E4B"/>
                </a:solidFill>
                <a:latin typeface="Inter"/>
                <a:ea typeface="Inter"/>
                <a:cs typeface="Inter"/>
              </a:rPr>
              <a:t> vs. all other outcomes on the </a:t>
            </a:r>
            <a:r>
              <a:rPr sz="1200">
                <a:solidFill>
                  <a:srgbClr val="0F1226"/>
                </a:solidFill>
                <a:latin typeface="Inter"/>
                <a:ea typeface="Inter"/>
                <a:cs typeface="Inter"/>
              </a:rPr>
              <a:t>first 75 days</a:t>
            </a:r>
            <a:r>
              <a:rPr sz="1200">
                <a:solidFill>
                  <a:srgbClr val="2A2E4B"/>
                </a:solidFill>
                <a:latin typeface="Inter"/>
                <a:ea typeface="Inter"/>
                <a:cs typeface="Inter"/>
              </a:rPr>
              <a:t>. The referenced GitHub project uses ≈ </a:t>
            </a:r>
            <a:r>
              <a:rPr sz="1200">
                <a:solidFill>
                  <a:srgbClr val="0F1226"/>
                </a:solidFill>
                <a:latin typeface="Inter"/>
                <a:ea typeface="Inter"/>
                <a:cs typeface="Inter"/>
              </a:rPr>
              <a:t>first 14 days</a:t>
            </a:r>
            <a:r>
              <a:rPr sz="1200">
                <a:solidFill>
                  <a:srgbClr val="2A2E4B"/>
                </a:solidFill>
                <a:latin typeface="Inter"/>
                <a:ea typeface="Inter"/>
                <a:cs typeface="Inter"/>
              </a:rPr>
              <a:t>, excludes Withdrawn from its modelling data, and effectively predicts </a:t>
            </a:r>
            <a:r>
              <a:rPr sz="1200">
                <a:solidFill>
                  <a:srgbClr val="0F1226"/>
                </a:solidFill>
                <a:latin typeface="Inter"/>
                <a:ea typeface="Inter"/>
                <a:cs typeface="Inter"/>
              </a:rPr>
              <a:t>Fail</a:t>
            </a:r>
            <a:r>
              <a:rPr sz="1200">
                <a:solidFill>
                  <a:srgbClr val="2A2E4B"/>
                </a:solidFill>
                <a:latin typeface="Inter"/>
                <a:ea typeface="Inter"/>
                <a:cs typeface="Inter"/>
              </a:rPr>
              <a:t> vs. </a:t>
            </a:r>
            <a:r>
              <a:rPr sz="1200">
                <a:solidFill>
                  <a:srgbClr val="0F1226"/>
                </a:solidFill>
                <a:latin typeface="Inter"/>
                <a:ea typeface="Inter"/>
                <a:cs typeface="Inter"/>
              </a:rPr>
              <a:t>Pass/Distinction</a:t>
            </a:r>
            <a:r>
              <a:rPr sz="1200">
                <a:solidFill>
                  <a:srgbClr val="2A2E4B"/>
                </a:solidFill>
                <a:latin typeface="Inter"/>
                <a:ea typeface="Inter"/>
                <a:cs typeface="Inter"/>
              </a:rPr>
              <a:t>. Metrics are not directly comparable. See references [7]–[8] in the appendix.</a:t>
            </a:r>
          </a:p>
        </p:txBody>
      </p:sp>
      <p:sp>
        <p:nvSpPr>
          <p:cNvPr id="19" name="Text 15">
            <a:extLst xmlns:a="http://schemas.openxmlformats.org/drawingml/2006/main">
              <a:ext uri="{FF2B5EF4-FFF2-40B4-BE49-F238E27FC236}">
                <a16:creationId xmlns:a16="http://schemas.microsoft.com/office/drawing/2014/main" id="{252767BC-C64B-4C9E-964A-2E2028C42C34}"/>
              </a:ext>
            </a:extLst>
          </p:cNvPr>
          <p:cNvSpPr>
            <a:spLocks xmlns:a="http://schemas.openxmlformats.org/drawingml/2006/main" noGrp="1"/>
          </p:cNvSpPr>
          <p:nvPr/>
        </p:nvSpPr>
        <p:spPr>
          <a:xfrm xmlns:a="http://schemas.openxmlformats.org/drawingml/2006/main">
            <a:off x="9620402" y="2714854"/>
            <a:ext cx="419710" cy="4005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700" b="1">
                <a:solidFill>
                  <a:srgbClr val="E8A93A"/>
                </a:solidFill>
                <a:latin typeface="JetBrains Mono"/>
                <a:ea typeface="JetBrains Mono"/>
                <a:cs typeface="JetBrains Mono"/>
              </a:rPr>
              <a:t>02</a:t>
            </a:r>
          </a:p>
        </p:txBody>
      </p:sp>
      <p:sp>
        <p:nvSpPr>
          <p:cNvPr id="20" name="Text 16">
            <a:extLst xmlns:a="http://schemas.openxmlformats.org/drawingml/2006/main">
              <a:ext uri="{FF2B5EF4-FFF2-40B4-BE49-F238E27FC236}">
                <a16:creationId xmlns:a16="http://schemas.microsoft.com/office/drawing/2014/main" id="{0E2FB221-93E7-4BF8-BDCB-26B1C4CE13F5}"/>
              </a:ext>
            </a:extLst>
          </p:cNvPr>
          <p:cNvSpPr>
            <a:spLocks xmlns:a="http://schemas.openxmlformats.org/drawingml/2006/main" noGrp="1"/>
          </p:cNvSpPr>
          <p:nvPr/>
        </p:nvSpPr>
        <p:spPr>
          <a:xfrm xmlns:a="http://schemas.openxmlformats.org/drawingml/2006/main">
            <a:off x="10165385" y="2924251"/>
            <a:ext cx="253380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Data availability &amp; quality</a:t>
            </a:r>
          </a:p>
        </p:txBody>
      </p:sp>
      <p:sp>
        <p:nvSpPr>
          <p:cNvPr id="21" name="Text 17">
            <a:extLst xmlns:a="http://schemas.openxmlformats.org/drawingml/2006/main">
              <a:ext uri="{FF2B5EF4-FFF2-40B4-BE49-F238E27FC236}">
                <a16:creationId xmlns:a16="http://schemas.microsoft.com/office/drawing/2014/main" id="{6820B339-9699-4EB2-B93D-9866ED5DFB81}"/>
              </a:ext>
            </a:extLst>
          </p:cNvPr>
          <p:cNvSpPr>
            <a:spLocks xmlns:a="http://schemas.openxmlformats.org/drawingml/2006/main" noGrp="1"/>
          </p:cNvSpPr>
          <p:nvPr/>
        </p:nvSpPr>
        <p:spPr>
          <a:xfrm xmlns:a="http://schemas.openxmlformats.org/drawingml/2006/main">
            <a:off x="9620402" y="3247949"/>
            <a:ext cx="7525512" cy="2862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Real deployment will rarely be as clean as UCI.</a:t>
            </a:r>
          </a:p>
        </p:txBody>
      </p:sp>
      <p:sp>
        <p:nvSpPr>
          <p:cNvPr id="22" name="Text 18">
            <a:extLst xmlns:a="http://schemas.openxmlformats.org/drawingml/2006/main">
              <a:ext uri="{FF2B5EF4-FFF2-40B4-BE49-F238E27FC236}">
                <a16:creationId xmlns:a16="http://schemas.microsoft.com/office/drawing/2014/main" id="{357826EE-2B55-4AE4-AB59-1AF824266B57}"/>
              </a:ext>
            </a:extLst>
          </p:cNvPr>
          <p:cNvSpPr>
            <a:spLocks xmlns:a="http://schemas.openxmlformats.org/drawingml/2006/main" noGrp="1"/>
          </p:cNvSpPr>
          <p:nvPr/>
        </p:nvSpPr>
        <p:spPr>
          <a:xfrm xmlns:a="http://schemas.openxmlformats.org/drawingml/2006/main">
            <a:off x="9620402" y="3664001"/>
            <a:ext cx="7525512" cy="7818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The UCI dataset has no missing values, and </a:t>
            </a:r>
            <a:r>
              <a:rPr sz="1200">
                <a:solidFill>
                  <a:srgbClr val="0F1226"/>
                </a:solidFill>
                <a:latin typeface="Inter"/>
                <a:ea typeface="Inter"/>
                <a:cs typeface="Inter"/>
              </a:rPr>
              <a:t>Enrolled records remain in the binary task</a:t>
            </a:r>
            <a:r>
              <a:rPr sz="1200">
                <a:solidFill>
                  <a:srgbClr val="2A2E4B"/>
                </a:solidFill>
                <a:latin typeface="Inter"/>
                <a:ea typeface="Inter"/>
                <a:cs typeface="Inter"/>
              </a:rPr>
              <a:t> as part of the non-dropout class. Our 10% MCAR simulation, however, shows how real institutional data quality could reduce performance — UCI F1 dropped by 0.040 under that stress test.</a:t>
            </a:r>
          </a:p>
        </p:txBody>
      </p:sp>
      <p:sp>
        <p:nvSpPr>
          <p:cNvPr id="23" name="Text 19">
            <a:extLst xmlns:a="http://schemas.openxmlformats.org/drawingml/2006/main">
              <a:ext uri="{FF2B5EF4-FFF2-40B4-BE49-F238E27FC236}">
                <a16:creationId xmlns:a16="http://schemas.microsoft.com/office/drawing/2014/main" id="{CF305B24-76AF-4ADA-BAC3-EC30E325BC79}"/>
              </a:ext>
            </a:extLst>
          </p:cNvPr>
          <p:cNvSpPr>
            <a:spLocks xmlns:a="http://schemas.openxmlformats.org/drawingml/2006/main" noGrp="1"/>
          </p:cNvSpPr>
          <p:nvPr/>
        </p:nvSpPr>
        <p:spPr>
          <a:xfrm xmlns:a="http://schemas.openxmlformats.org/drawingml/2006/main">
            <a:off x="1143000" y="6286500"/>
            <a:ext cx="419710" cy="4005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700" b="1">
                <a:solidFill>
                  <a:srgbClr val="2A2E7A"/>
                </a:solidFill>
                <a:latin typeface="JetBrains Mono"/>
                <a:ea typeface="JetBrains Mono"/>
                <a:cs typeface="JetBrains Mono"/>
              </a:rPr>
              <a:t>03</a:t>
            </a:r>
          </a:p>
        </p:txBody>
      </p:sp>
      <p:sp>
        <p:nvSpPr>
          <p:cNvPr id="24" name="Text 20">
            <a:extLst xmlns:a="http://schemas.openxmlformats.org/drawingml/2006/main">
              <a:ext uri="{FF2B5EF4-FFF2-40B4-BE49-F238E27FC236}">
                <a16:creationId xmlns:a16="http://schemas.microsoft.com/office/drawing/2014/main" id="{2296A459-CD16-4707-B244-6378283711C0}"/>
              </a:ext>
            </a:extLst>
          </p:cNvPr>
          <p:cNvSpPr>
            <a:spLocks xmlns:a="http://schemas.openxmlformats.org/drawingml/2006/main" noGrp="1"/>
          </p:cNvSpPr>
          <p:nvPr/>
        </p:nvSpPr>
        <p:spPr>
          <a:xfrm xmlns:a="http://schemas.openxmlformats.org/drawingml/2006/main">
            <a:off x="1687982" y="6495898"/>
            <a:ext cx="1600200"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Fairness &amp; ethics</a:t>
            </a:r>
          </a:p>
        </p:txBody>
      </p:sp>
      <p:sp>
        <p:nvSpPr>
          <p:cNvPr id="25" name="Text 21">
            <a:extLst xmlns:a="http://schemas.openxmlformats.org/drawingml/2006/main">
              <a:ext uri="{FF2B5EF4-FFF2-40B4-BE49-F238E27FC236}">
                <a16:creationId xmlns:a16="http://schemas.microsoft.com/office/drawing/2014/main" id="{30C4A0F6-BE23-4711-9D7B-BBFF4CA7F03E}"/>
              </a:ext>
            </a:extLst>
          </p:cNvPr>
          <p:cNvSpPr>
            <a:spLocks xmlns:a="http://schemas.openxmlformats.org/drawingml/2006/main" noGrp="1"/>
          </p:cNvSpPr>
          <p:nvPr/>
        </p:nvSpPr>
        <p:spPr>
          <a:xfrm xmlns:a="http://schemas.openxmlformats.org/drawingml/2006/main">
            <a:off x="1143000" y="6819595"/>
            <a:ext cx="7525512" cy="2862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A risk score is a probability, not a verdict.</a:t>
            </a:r>
          </a:p>
        </p:txBody>
      </p:sp>
      <p:sp>
        <p:nvSpPr>
          <p:cNvPr id="26" name="Text 22">
            <a:extLst xmlns:a="http://schemas.openxmlformats.org/drawingml/2006/main">
              <a:ext uri="{FF2B5EF4-FFF2-40B4-BE49-F238E27FC236}">
                <a16:creationId xmlns:a16="http://schemas.microsoft.com/office/drawing/2014/main" id="{8615B885-7DB1-41D0-AE74-CF08265E8DB5}"/>
              </a:ext>
            </a:extLst>
          </p:cNvPr>
          <p:cNvSpPr>
            <a:spLocks xmlns:a="http://schemas.openxmlformats.org/drawingml/2006/main" noGrp="1"/>
          </p:cNvSpPr>
          <p:nvPr/>
        </p:nvSpPr>
        <p:spPr>
          <a:xfrm xmlns:a="http://schemas.openxmlformats.org/drawingml/2006/main">
            <a:off x="1143000" y="7197242"/>
            <a:ext cx="7525512" cy="82021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40"/>
              </a:lnSpc>
              <a:buNone/>
            </a:pPr>
            <a:r>
              <a:rPr sz="1200">
                <a:solidFill>
                  <a:srgbClr val="2A2E4B"/>
                </a:solidFill>
                <a:latin typeface="Inter"/>
                <a:ea typeface="Inter"/>
                <a:cs typeface="Inter"/>
              </a:rPr>
              <a:t>· Monitor recall across gender, disability, scholarship, tuition status.</a:t>
            </a:r>
          </a:p>
          <a:p xmlns:a="http://schemas.openxmlformats.org/drawingml/2006/main">
            <a:pPr marL="0" indent="0" algn="l">
              <a:lnSpc>
                <a:spcPts val="2040"/>
              </a:lnSpc>
              <a:buNone/>
            </a:pPr>
            <a:r>
              <a:rPr sz="1200">
                <a:solidFill>
                  <a:srgbClr val="2A2E4B"/>
                </a:solidFill>
                <a:latin typeface="Inter"/>
                <a:ea typeface="Inter"/>
                <a:cs typeface="Inter"/>
              </a:rPr>
              <a:t>· Restrict access to risk outputs; do not expose raw sensitive fields.</a:t>
            </a:r>
          </a:p>
          <a:p xmlns:a="http://schemas.openxmlformats.org/drawingml/2006/main">
            <a:pPr marL="0" indent="0" algn="l">
              <a:lnSpc>
                <a:spcPts val="2040"/>
              </a:lnSpc>
              <a:buNone/>
            </a:pPr>
            <a:r>
              <a:rPr sz="1200">
                <a:solidFill>
                  <a:srgbClr val="2A2E4B"/>
                </a:solidFill>
                <a:latin typeface="Inter"/>
                <a:ea typeface="Inter"/>
                <a:cs typeface="Inter"/>
              </a:rPr>
              <a:t>· Alerts must trigger support, never sanctions.</a:t>
            </a:r>
          </a:p>
        </p:txBody>
      </p:sp>
      <p:sp>
        <p:nvSpPr>
          <p:cNvPr id="27" name="Text 23">
            <a:extLst xmlns:a="http://schemas.openxmlformats.org/drawingml/2006/main">
              <a:ext uri="{FF2B5EF4-FFF2-40B4-BE49-F238E27FC236}">
                <a16:creationId xmlns:a16="http://schemas.microsoft.com/office/drawing/2014/main" id="{83A96EA2-E606-4126-9767-16EC6F08A8B3}"/>
              </a:ext>
            </a:extLst>
          </p:cNvPr>
          <p:cNvSpPr>
            <a:spLocks xmlns:a="http://schemas.openxmlformats.org/drawingml/2006/main" noGrp="1"/>
          </p:cNvSpPr>
          <p:nvPr/>
        </p:nvSpPr>
        <p:spPr>
          <a:xfrm xmlns:a="http://schemas.openxmlformats.org/drawingml/2006/main">
            <a:off x="9620402" y="6286500"/>
            <a:ext cx="419710" cy="4005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700" b="1">
                <a:solidFill>
                  <a:srgbClr val="1B9E8F"/>
                </a:solidFill>
                <a:latin typeface="JetBrains Mono"/>
                <a:ea typeface="JetBrains Mono"/>
                <a:cs typeface="JetBrains Mono"/>
              </a:rPr>
              <a:t>04</a:t>
            </a:r>
          </a:p>
        </p:txBody>
      </p:sp>
      <p:sp>
        <p:nvSpPr>
          <p:cNvPr id="28" name="Text 24">
            <a:extLst xmlns:a="http://schemas.openxmlformats.org/drawingml/2006/main">
              <a:ext uri="{FF2B5EF4-FFF2-40B4-BE49-F238E27FC236}">
                <a16:creationId xmlns:a16="http://schemas.microsoft.com/office/drawing/2014/main" id="{A6D7DD5F-6E36-4E79-B451-1E2B20C3058D}"/>
              </a:ext>
            </a:extLst>
          </p:cNvPr>
          <p:cNvSpPr>
            <a:spLocks xmlns:a="http://schemas.openxmlformats.org/drawingml/2006/main" noGrp="1"/>
          </p:cNvSpPr>
          <p:nvPr/>
        </p:nvSpPr>
        <p:spPr>
          <a:xfrm xmlns:a="http://schemas.openxmlformats.org/drawingml/2006/main">
            <a:off x="10165385" y="6495898"/>
            <a:ext cx="1781251"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6A6F8C"/>
                </a:solidFill>
                <a:latin typeface="JetBrains Mono"/>
                <a:ea typeface="JetBrains Mono"/>
                <a:cs typeface="JetBrains Mono"/>
              </a:rPr>
              <a:t>Scalability &amp; scope</a:t>
            </a:r>
          </a:p>
        </p:txBody>
      </p:sp>
      <p:sp>
        <p:nvSpPr>
          <p:cNvPr id="29" name="Text 25">
            <a:extLst xmlns:a="http://schemas.openxmlformats.org/drawingml/2006/main">
              <a:ext uri="{FF2B5EF4-FFF2-40B4-BE49-F238E27FC236}">
                <a16:creationId xmlns:a16="http://schemas.microsoft.com/office/drawing/2014/main" id="{71239952-3978-49F7-87FF-1B6B0B4CBFBB}"/>
              </a:ext>
            </a:extLst>
          </p:cNvPr>
          <p:cNvSpPr>
            <a:spLocks xmlns:a="http://schemas.openxmlformats.org/drawingml/2006/main" noGrp="1"/>
          </p:cNvSpPr>
          <p:nvPr/>
        </p:nvSpPr>
        <p:spPr>
          <a:xfrm xmlns:a="http://schemas.openxmlformats.org/drawingml/2006/main">
            <a:off x="9620402" y="6819595"/>
            <a:ext cx="7525512" cy="286207"/>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Two public datasets ≠ every institution.</a:t>
            </a:r>
          </a:p>
        </p:txBody>
      </p:sp>
      <p:sp>
        <p:nvSpPr>
          <p:cNvPr id="30" name="Text 26">
            <a:extLst xmlns:a="http://schemas.openxmlformats.org/drawingml/2006/main">
              <a:ext uri="{FF2B5EF4-FFF2-40B4-BE49-F238E27FC236}">
                <a16:creationId xmlns:a16="http://schemas.microsoft.com/office/drawing/2014/main" id="{E40A78D9-EF07-4059-9848-4FE997C4AA10}"/>
              </a:ext>
            </a:extLst>
          </p:cNvPr>
          <p:cNvSpPr>
            <a:spLocks xmlns:a="http://schemas.openxmlformats.org/drawingml/2006/main" noGrp="1"/>
          </p:cNvSpPr>
          <p:nvPr/>
        </p:nvSpPr>
        <p:spPr>
          <a:xfrm xmlns:a="http://schemas.openxmlformats.org/drawingml/2006/main">
            <a:off x="9620402" y="7197242"/>
            <a:ext cx="7525512" cy="82021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40"/>
              </a:lnSpc>
              <a:buNone/>
            </a:pPr>
            <a:r>
              <a:rPr sz="1200">
                <a:solidFill>
                  <a:srgbClr val="2A2E4B"/>
                </a:solidFill>
                <a:latin typeface="Inter"/>
                <a:ea typeface="Inter"/>
                <a:cs typeface="Inter"/>
              </a:rPr>
              <a:t>· UCI is one Portuguese institution; OULAD is one UK distance-learning provider.</a:t>
            </a:r>
          </a:p>
          <a:p xmlns:a="http://schemas.openxmlformats.org/drawingml/2006/main">
            <a:pPr marL="0" indent="0" algn="l">
              <a:lnSpc>
                <a:spcPts val="2040"/>
              </a:lnSpc>
              <a:buNone/>
            </a:pPr>
            <a:r>
              <a:rPr sz="1200">
                <a:solidFill>
                  <a:srgbClr val="2A2E4B"/>
                </a:solidFill>
                <a:latin typeface="Inter"/>
                <a:ea typeface="Inter"/>
                <a:cs typeface="Inter"/>
              </a:rPr>
              <a:t>· Feature semantics do not translate 1-to-1 elsewhere.</a:t>
            </a:r>
          </a:p>
          <a:p xmlns:a="http://schemas.openxmlformats.org/drawingml/2006/main">
            <a:pPr marL="0" indent="0" algn="l">
              <a:lnSpc>
                <a:spcPts val="2040"/>
              </a:lnSpc>
              <a:buNone/>
            </a:pPr>
            <a:r>
              <a:rPr sz="1200">
                <a:solidFill>
                  <a:srgbClr val="2A2E4B"/>
                </a:solidFill>
                <a:latin typeface="Inter"/>
                <a:ea typeface="Inter"/>
                <a:cs typeface="Inter"/>
              </a:rPr>
              <a:t>· Any new institution should re-train and re-calibrate — not re-use these weights.</a:t>
            </a:r>
          </a:p>
        </p:txBody>
      </p:sp>
    </p:spTree>
    <p:extLst>
      <p:ext uri="{BB962C8B-B14F-4D97-AF65-F5344CB8AC3E}">
        <p14:creationId xmlns:p14="http://schemas.microsoft.com/office/powerpoint/2010/main" val="1895381261"/>
      </p:ext>
    </p:extLst>
  </p:cSld>
</p:sld>
</file>

<file path=ppt/slides/slide15.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41" name="Image 0"/>
          <p:cNvPicPr>
            <a:picLocks xmlns:a="http://schemas.openxmlformats.org/drawingml/2006/main" noChangeAspect="1"/>
          </p:cNvPicPr>
          <p:nvPr/>
        </p:nvPicPr>
        <p:blipFill>
          <a:blip xmlns:r="http://schemas.openxmlformats.org/officeDocument/2006/relationships" xmlns:a="http://schemas.openxmlformats.org/drawingml/2006/main" r:embed="Rcf7475e13ab544f9"/>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71E3EDC6-1EC2-4281-9603-EABF22F2E8E5}"/>
              </a:ext>
            </a:extLst>
          </p:cNvPr>
          <p:cNvSpPr>
            <a:spLocks xmlns:a="http://schemas.openxmlformats.org/drawingml/2006/main" noGrp="1"/>
          </p:cNvSpPr>
          <p:nvPr/>
        </p:nvSpPr>
        <p:spPr>
          <a:xfrm xmlns:a="http://schemas.openxmlformats.org/drawingml/2006/main">
            <a:off x="761695" y="2762402"/>
            <a:ext cx="16782898" cy="2638044"/>
          </a:xfrm>
          <a:prstGeom xmlns:a="http://schemas.openxmlformats.org/drawingml/2006/main" prst="roundRect">
            <a:avLst>
              <a:gd name="adj" fmla="val 728"/>
            </a:avLst>
          </a:prstGeom>
          <a:solidFill xmlns:a="http://schemas.openxmlformats.org/drawingml/2006/main">
            <a:srgbClr val="FFFFFF"/>
          </a:solidFill>
          <a:ln xmlns:a="http://schemas.openxmlformats.org/drawingml/2006/main" w="12700">
            <a:solidFill>
              <a:srgbClr val="E4E5EF"/>
            </a:solidFill>
            <a:prstDash val="solid"/>
          </a:ln>
        </p:spPr>
      </p:sp>
      <p:sp>
        <p:nvSpPr>
          <p:cNvPr id="5" name="Shape 1">
            <a:extLst xmlns:a="http://schemas.openxmlformats.org/drawingml/2006/main">
              <a:ext uri="{FF2B5EF4-FFF2-40B4-BE49-F238E27FC236}">
                <a16:creationId xmlns:a16="http://schemas.microsoft.com/office/drawing/2014/main" id="{85ED1C3F-814A-4172-A884-53118002F5AE}"/>
              </a:ext>
            </a:extLst>
          </p:cNvPr>
          <p:cNvSpPr>
            <a:spLocks xmlns:a="http://schemas.openxmlformats.org/drawingml/2006/main" noGrp="1"/>
          </p:cNvSpPr>
          <p:nvPr/>
        </p:nvSpPr>
        <p:spPr>
          <a:xfrm xmlns:a="http://schemas.openxmlformats.org/drawingml/2006/main">
            <a:off x="761695" y="5524805"/>
            <a:ext cx="5505602" cy="3733495"/>
          </a:xfrm>
          <a:prstGeom xmlns:a="http://schemas.openxmlformats.org/drawingml/2006/main" prst="roundRect">
            <a:avLst>
              <a:gd name="adj" fmla="val 514"/>
            </a:avLst>
          </a:prstGeom>
          <a:solidFill xmlns:a="http://schemas.openxmlformats.org/drawingml/2006/main">
            <a:srgbClr val="FFFFFF"/>
          </a:solidFill>
          <a:ln xmlns:a="http://schemas.openxmlformats.org/drawingml/2006/main" w="12700">
            <a:solidFill>
              <a:srgbClr val="E4E5EF"/>
            </a:solidFill>
            <a:prstDash val="solid"/>
          </a:ln>
        </p:spPr>
      </p:sp>
      <p:sp>
        <p:nvSpPr>
          <p:cNvPr id="6" name="Shape 2">
            <a:extLst xmlns:a="http://schemas.openxmlformats.org/drawingml/2006/main">
              <a:ext uri="{FF2B5EF4-FFF2-40B4-BE49-F238E27FC236}">
                <a16:creationId xmlns:a16="http://schemas.microsoft.com/office/drawing/2014/main" id="{EF2E5D3C-5E28-4A84-91E6-9ED486027B28}"/>
              </a:ext>
            </a:extLst>
          </p:cNvPr>
          <p:cNvSpPr>
            <a:spLocks xmlns:a="http://schemas.openxmlformats.org/drawingml/2006/main" noGrp="1"/>
          </p:cNvSpPr>
          <p:nvPr/>
        </p:nvSpPr>
        <p:spPr>
          <a:xfrm xmlns:a="http://schemas.openxmlformats.org/drawingml/2006/main">
            <a:off x="6400800" y="5524805"/>
            <a:ext cx="5505602" cy="3733495"/>
          </a:xfrm>
          <a:prstGeom xmlns:a="http://schemas.openxmlformats.org/drawingml/2006/main" prst="roundRect">
            <a:avLst>
              <a:gd name="adj" fmla="val 514"/>
            </a:avLst>
          </a:prstGeom>
          <a:solidFill xmlns:a="http://schemas.openxmlformats.org/drawingml/2006/main">
            <a:srgbClr val="FFFFFF"/>
          </a:solidFill>
          <a:ln xmlns:a="http://schemas.openxmlformats.org/drawingml/2006/main" w="12700">
            <a:solidFill>
              <a:srgbClr val="E4E5EF"/>
            </a:solidFill>
            <a:prstDash val="solid"/>
          </a:ln>
        </p:spPr>
      </p:sp>
      <p:sp>
        <p:nvSpPr>
          <p:cNvPr id="7" name="Shape 3">
            <a:extLst xmlns:a="http://schemas.openxmlformats.org/drawingml/2006/main">
              <a:ext uri="{FF2B5EF4-FFF2-40B4-BE49-F238E27FC236}">
                <a16:creationId xmlns:a16="http://schemas.microsoft.com/office/drawing/2014/main" id="{F8DDE09C-0C4B-49FE-8EC2-F4D1EB8BD33F}"/>
              </a:ext>
            </a:extLst>
          </p:cNvPr>
          <p:cNvSpPr>
            <a:spLocks xmlns:a="http://schemas.openxmlformats.org/drawingml/2006/main" noGrp="1"/>
          </p:cNvSpPr>
          <p:nvPr/>
        </p:nvSpPr>
        <p:spPr>
          <a:xfrm xmlns:a="http://schemas.openxmlformats.org/drawingml/2006/main">
            <a:off x="12039905" y="5524805"/>
            <a:ext cx="5486400" cy="3715207"/>
          </a:xfrm>
          <a:prstGeom xmlns:a="http://schemas.openxmlformats.org/drawingml/2006/main" prst="roundRect">
            <a:avLst>
              <a:gd name="adj" fmla="val 517"/>
            </a:avLst>
          </a:prstGeom>
          <a:solidFill xmlns:a="http://schemas.openxmlformats.org/drawingml/2006/main">
            <a:srgbClr val="1A1D5C"/>
          </a:solidFill>
          <a:ln xmlns:a="http://schemas.openxmlformats.org/drawingml/2006/main" w="12700">
            <a:solidFill>
              <a:srgbClr val="FFFFFF">
                <a:alpha val="0"/>
              </a:srgbClr>
            </a:solidFill>
            <a:prstDash val="solid"/>
          </a:ln>
        </p:spPr>
      </p:sp>
      <p:pic>
        <p:nvPicPr>
          <p:cNvPr id="46" name="Image 1"/>
          <p:cNvPicPr>
            <a:picLocks xmlns:a="http://schemas.openxmlformats.org/drawingml/2006/main" noChangeAspect="1"/>
          </p:cNvPicPr>
          <p:nvPr/>
        </p:nvPicPr>
        <p:blipFill>
          <a:blip xmlns:r="http://schemas.openxmlformats.org/officeDocument/2006/relationships" xmlns:a="http://schemas.openxmlformats.org/drawingml/2006/main" r:embed="R0aabaa4d11af4a43"/>
          <a:srcRect xmlns:a="http://schemas.openxmlformats.org/drawingml/2006/main" l="0" t="-400" r="0" b="-400"/>
          <a:stretch xmlns:a="http://schemas.openxmlformats.org/drawingml/2006/main"/>
        </p:blipFill>
        <p:spPr>
          <a:xfrm xmlns:a="http://schemas.openxmlformats.org/drawingml/2006/main">
            <a:off x="1714500" y="3429000"/>
            <a:ext cx="14859000" cy="19202"/>
          </a:xfrm>
          <a:prstGeom xmlns:a="http://schemas.openxmlformats.org/drawingml/2006/main" prst="rect">
            <a:avLst/>
          </a:prstGeom>
        </p:spPr>
      </p:pic>
      <p:sp>
        <p:nvSpPr>
          <p:cNvPr id="9" name="Shape 4">
            <a:extLst xmlns:a="http://schemas.openxmlformats.org/drawingml/2006/main">
              <a:ext uri="{FF2B5EF4-FFF2-40B4-BE49-F238E27FC236}">
                <a16:creationId xmlns:a16="http://schemas.microsoft.com/office/drawing/2014/main" id="{9DE7DD95-5CB8-434C-A3CC-1532ED8A3360}"/>
              </a:ext>
            </a:extLst>
          </p:cNvPr>
          <p:cNvSpPr>
            <a:spLocks xmlns:a="http://schemas.openxmlformats.org/drawingml/2006/main" noGrp="1"/>
          </p:cNvSpPr>
          <p:nvPr/>
        </p:nvSpPr>
        <p:spPr>
          <a:xfrm xmlns:a="http://schemas.openxmlformats.org/drawingml/2006/main">
            <a:off x="1619402" y="3362249"/>
            <a:ext cx="152705" cy="152705"/>
          </a:xfrm>
          <a:prstGeom xmlns:a="http://schemas.openxmlformats.org/drawingml/2006/main" prst="ellipse">
            <a:avLst/>
          </a:prstGeom>
          <a:solidFill xmlns:a="http://schemas.openxmlformats.org/drawingml/2006/main">
            <a:srgbClr val="E4237A"/>
          </a:solidFill>
          <a:ln xmlns:a="http://schemas.openxmlformats.org/drawingml/2006/main" w="12700">
            <a:solidFill>
              <a:srgbClr val="FFFFFF">
                <a:alpha val="0"/>
              </a:srgbClr>
            </a:solidFill>
            <a:prstDash val="solid"/>
          </a:ln>
        </p:spPr>
      </p:sp>
      <p:sp>
        <p:nvSpPr>
          <p:cNvPr id="10" name="Shape 5">
            <a:extLst xmlns:a="http://schemas.openxmlformats.org/drawingml/2006/main">
              <a:ext uri="{FF2B5EF4-FFF2-40B4-BE49-F238E27FC236}">
                <a16:creationId xmlns:a16="http://schemas.microsoft.com/office/drawing/2014/main" id="{07177008-9DE7-43F4-89D4-7EF7A5562DA7}"/>
              </a:ext>
            </a:extLst>
          </p:cNvPr>
          <p:cNvSpPr>
            <a:spLocks xmlns:a="http://schemas.openxmlformats.org/drawingml/2006/main" noGrp="1"/>
          </p:cNvSpPr>
          <p:nvPr/>
        </p:nvSpPr>
        <p:spPr>
          <a:xfrm xmlns:a="http://schemas.openxmlformats.org/drawingml/2006/main">
            <a:off x="5619902" y="3362249"/>
            <a:ext cx="152705" cy="152705"/>
          </a:xfrm>
          <a:prstGeom xmlns:a="http://schemas.openxmlformats.org/drawingml/2006/main" prst="ellipse">
            <a:avLst/>
          </a:prstGeom>
          <a:solidFill xmlns:a="http://schemas.openxmlformats.org/drawingml/2006/main">
            <a:srgbClr val="E4237A"/>
          </a:solidFill>
          <a:ln xmlns:a="http://schemas.openxmlformats.org/drawingml/2006/main" w="12700">
            <a:solidFill>
              <a:srgbClr val="FFFFFF">
                <a:alpha val="0"/>
              </a:srgbClr>
            </a:solidFill>
            <a:prstDash val="solid"/>
          </a:ln>
        </p:spPr>
      </p:sp>
      <p:sp>
        <p:nvSpPr>
          <p:cNvPr id="11" name="Shape 6">
            <a:extLst xmlns:a="http://schemas.openxmlformats.org/drawingml/2006/main">
              <a:ext uri="{FF2B5EF4-FFF2-40B4-BE49-F238E27FC236}">
                <a16:creationId xmlns:a16="http://schemas.microsoft.com/office/drawing/2014/main" id="{B1343CD4-8BA5-44E1-A80D-4B6D7A01D8AB}"/>
              </a:ext>
            </a:extLst>
          </p:cNvPr>
          <p:cNvSpPr>
            <a:spLocks xmlns:a="http://schemas.openxmlformats.org/drawingml/2006/main" noGrp="1"/>
          </p:cNvSpPr>
          <p:nvPr/>
        </p:nvSpPr>
        <p:spPr>
          <a:xfrm xmlns:a="http://schemas.openxmlformats.org/drawingml/2006/main">
            <a:off x="9620402" y="3362249"/>
            <a:ext cx="152705" cy="152705"/>
          </a:xfrm>
          <a:prstGeom xmlns:a="http://schemas.openxmlformats.org/drawingml/2006/main" prst="ellipse">
            <a:avLst/>
          </a:prstGeom>
          <a:solidFill xmlns:a="http://schemas.openxmlformats.org/drawingml/2006/main">
            <a:srgbClr val="2A2E7A"/>
          </a:solidFill>
          <a:ln xmlns:a="http://schemas.openxmlformats.org/drawingml/2006/main" w="12700">
            <a:solidFill>
              <a:srgbClr val="FFFFFF">
                <a:alpha val="0"/>
              </a:srgbClr>
            </a:solidFill>
            <a:prstDash val="solid"/>
          </a:ln>
        </p:spPr>
      </p:sp>
      <p:sp>
        <p:nvSpPr>
          <p:cNvPr id="12" name="Shape 7">
            <a:extLst xmlns:a="http://schemas.openxmlformats.org/drawingml/2006/main">
              <a:ext uri="{FF2B5EF4-FFF2-40B4-BE49-F238E27FC236}">
                <a16:creationId xmlns:a16="http://schemas.microsoft.com/office/drawing/2014/main" id="{C752BDE2-99B5-4418-9440-BE578AA6B002}"/>
              </a:ext>
            </a:extLst>
          </p:cNvPr>
          <p:cNvSpPr>
            <a:spLocks xmlns:a="http://schemas.openxmlformats.org/drawingml/2006/main" noGrp="1"/>
          </p:cNvSpPr>
          <p:nvPr/>
        </p:nvSpPr>
        <p:spPr>
          <a:xfrm xmlns:a="http://schemas.openxmlformats.org/drawingml/2006/main">
            <a:off x="13620902" y="3362249"/>
            <a:ext cx="152705" cy="152705"/>
          </a:xfrm>
          <a:prstGeom xmlns:a="http://schemas.openxmlformats.org/drawingml/2006/main" prst="ellipse">
            <a:avLst/>
          </a:prstGeom>
          <a:solidFill xmlns:a="http://schemas.openxmlformats.org/drawingml/2006/main">
            <a:srgbClr val="1B9E8F"/>
          </a:solidFill>
          <a:ln xmlns:a="http://schemas.openxmlformats.org/drawingml/2006/main" w="12700">
            <a:solidFill>
              <a:srgbClr val="FFFFFF">
                <a:alpha val="0"/>
              </a:srgbClr>
            </a:solidFill>
            <a:prstDash val="solid"/>
          </a:ln>
        </p:spPr>
      </p:sp>
      <p:sp>
        <p:nvSpPr>
          <p:cNvPr id="13" name="Text 8">
            <a:extLst xmlns:a="http://schemas.openxmlformats.org/drawingml/2006/main">
              <a:ext uri="{FF2B5EF4-FFF2-40B4-BE49-F238E27FC236}">
                <a16:creationId xmlns:a16="http://schemas.microsoft.com/office/drawing/2014/main" id="{A969B94D-3F76-4905-9C52-725985B15626}"/>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08 · Deployment &amp; future work</a:t>
            </a:r>
          </a:p>
        </p:txBody>
      </p:sp>
      <p:sp>
        <p:nvSpPr>
          <p:cNvPr id="14" name="Text 9">
            <a:extLst xmlns:a="http://schemas.openxmlformats.org/drawingml/2006/main">
              <a:ext uri="{FF2B5EF4-FFF2-40B4-BE49-F238E27FC236}">
                <a16:creationId xmlns:a16="http://schemas.microsoft.com/office/drawing/2014/main" id="{4D38D3F1-AA19-48AD-83B5-4F6385163878}"/>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15 / 19</a:t>
            </a:r>
          </a:p>
        </p:txBody>
      </p:sp>
      <p:sp>
        <p:nvSpPr>
          <p:cNvPr id="15" name="Text 10">
            <a:extLst xmlns:a="http://schemas.openxmlformats.org/drawingml/2006/main">
              <a:ext uri="{FF2B5EF4-FFF2-40B4-BE49-F238E27FC236}">
                <a16:creationId xmlns:a16="http://schemas.microsoft.com/office/drawing/2014/main" id="{32A17B0D-0F09-46AE-8538-6B3BE5609E74}"/>
              </a:ext>
            </a:extLst>
          </p:cNvPr>
          <p:cNvSpPr>
            <a:spLocks xmlns:a="http://schemas.openxmlformats.org/drawingml/2006/main" noGrp="1"/>
          </p:cNvSpPr>
          <p:nvPr/>
        </p:nvSpPr>
        <p:spPr>
          <a:xfrm xmlns:a="http://schemas.openxmlformats.org/drawingml/2006/main">
            <a:off x="761695" y="1238098"/>
            <a:ext cx="17208094" cy="4864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600" b="1">
                <a:solidFill>
                  <a:srgbClr val="0F1226"/>
                </a:solidFill>
                <a:latin typeface="Inter"/>
                <a:ea typeface="Inter"/>
                <a:cs typeface="Inter"/>
              </a:rPr>
              <a:t>Pilot as advisor decision support, never as autonomous action.</a:t>
            </a:r>
          </a:p>
        </p:txBody>
      </p:sp>
      <p:sp>
        <p:nvSpPr>
          <p:cNvPr id="16" name="Text 11">
            <a:extLst xmlns:a="http://schemas.openxmlformats.org/drawingml/2006/main">
              <a:ext uri="{FF2B5EF4-FFF2-40B4-BE49-F238E27FC236}">
                <a16:creationId xmlns:a16="http://schemas.microsoft.com/office/drawing/2014/main" id="{CE728E11-05B3-4D5F-AF15-817FDEE99A49}"/>
              </a:ext>
            </a:extLst>
          </p:cNvPr>
          <p:cNvSpPr>
            <a:spLocks xmlns:a="http://schemas.openxmlformats.org/drawingml/2006/main" noGrp="1"/>
          </p:cNvSpPr>
          <p:nvPr/>
        </p:nvSpPr>
        <p:spPr>
          <a:xfrm xmlns:a="http://schemas.openxmlformats.org/drawingml/2006/main">
            <a:off x="761695" y="1813255"/>
            <a:ext cx="16764610" cy="21031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i="1">
                <a:solidFill>
                  <a:srgbClr val="6A6F8C"/>
                </a:solidFill>
                <a:latin typeface="Source Serif Pro"/>
                <a:ea typeface="Source Serif Pro"/>
                <a:cs typeface="Source Serif Pro"/>
              </a:rPr>
              <a:t>A proposed implementation plan — not an existing institutional deployment.</a:t>
            </a:r>
          </a:p>
        </p:txBody>
      </p:sp>
      <p:sp>
        <p:nvSpPr>
          <p:cNvPr id="17" name="Text 12">
            <a:extLst xmlns:a="http://schemas.openxmlformats.org/drawingml/2006/main">
              <a:ext uri="{FF2B5EF4-FFF2-40B4-BE49-F238E27FC236}">
                <a16:creationId xmlns:a16="http://schemas.microsoft.com/office/drawing/2014/main" id="{E6BE0C39-ED52-468A-9E36-4075E008A0CA}"/>
              </a:ext>
            </a:extLst>
          </p:cNvPr>
          <p:cNvSpPr>
            <a:spLocks xmlns:a="http://schemas.openxmlformats.org/drawingml/2006/main" noGrp="1"/>
          </p:cNvSpPr>
          <p:nvPr/>
        </p:nvSpPr>
        <p:spPr>
          <a:xfrm xmlns:a="http://schemas.openxmlformats.org/drawingml/2006/main">
            <a:off x="1047902" y="2905049"/>
            <a:ext cx="16193110"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E4237A"/>
                </a:solidFill>
                <a:latin typeface="JetBrains Mono"/>
                <a:ea typeface="JetBrains Mono"/>
                <a:cs typeface="JetBrains Mono"/>
              </a:rPr>
              <a:t>Proposed pilot timeline — not currently deployed</a:t>
            </a:r>
          </a:p>
        </p:txBody>
      </p:sp>
      <p:sp>
        <p:nvSpPr>
          <p:cNvPr id="18" name="Text 13">
            <a:extLst xmlns:a="http://schemas.openxmlformats.org/drawingml/2006/main">
              <a:ext uri="{FF2B5EF4-FFF2-40B4-BE49-F238E27FC236}">
                <a16:creationId xmlns:a16="http://schemas.microsoft.com/office/drawing/2014/main" id="{B3FFC9AA-1A2D-4F5D-8BA8-D48DDE4E6B6E}"/>
              </a:ext>
            </a:extLst>
          </p:cNvPr>
          <p:cNvSpPr>
            <a:spLocks xmlns:a="http://schemas.openxmlformats.org/drawingml/2006/main" noGrp="1"/>
          </p:cNvSpPr>
          <p:nvPr/>
        </p:nvSpPr>
        <p:spPr>
          <a:xfrm xmlns:a="http://schemas.openxmlformats.org/drawingml/2006/main">
            <a:off x="1143000" y="3762756"/>
            <a:ext cx="3810305"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Term 0 · Prep</a:t>
            </a:r>
          </a:p>
        </p:txBody>
      </p:sp>
      <p:sp>
        <p:nvSpPr>
          <p:cNvPr id="19" name="Text 14">
            <a:extLst xmlns:a="http://schemas.openxmlformats.org/drawingml/2006/main">
              <a:ext uri="{FF2B5EF4-FFF2-40B4-BE49-F238E27FC236}">
                <a16:creationId xmlns:a16="http://schemas.microsoft.com/office/drawing/2014/main" id="{23202FC3-1364-4FFE-91CB-A2C3F2E3FFF0}"/>
              </a:ext>
            </a:extLst>
          </p:cNvPr>
          <p:cNvSpPr>
            <a:spLocks xmlns:a="http://schemas.openxmlformats.org/drawingml/2006/main" noGrp="1"/>
          </p:cNvSpPr>
          <p:nvPr/>
        </p:nvSpPr>
        <p:spPr>
          <a:xfrm xmlns:a="http://schemas.openxmlformats.org/drawingml/2006/main">
            <a:off x="1143000" y="3952951"/>
            <a:ext cx="3810305" cy="2286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b="1">
                <a:solidFill>
                  <a:srgbClr val="0F1226"/>
                </a:solidFill>
                <a:latin typeface="Inter"/>
                <a:ea typeface="Inter"/>
                <a:cs typeface="Inter"/>
              </a:rPr>
              <a:t>Data pipeline &amp; access</a:t>
            </a:r>
          </a:p>
        </p:txBody>
      </p:sp>
      <p:sp>
        <p:nvSpPr>
          <p:cNvPr id="20" name="Text 15">
            <a:extLst xmlns:a="http://schemas.openxmlformats.org/drawingml/2006/main">
              <a:ext uri="{FF2B5EF4-FFF2-40B4-BE49-F238E27FC236}">
                <a16:creationId xmlns:a16="http://schemas.microsoft.com/office/drawing/2014/main" id="{1CE63455-210D-40CD-BC53-6D0DE9E4F31B}"/>
              </a:ext>
            </a:extLst>
          </p:cNvPr>
          <p:cNvSpPr>
            <a:spLocks xmlns:a="http://schemas.openxmlformats.org/drawingml/2006/main" noGrp="1"/>
          </p:cNvSpPr>
          <p:nvPr/>
        </p:nvSpPr>
        <p:spPr>
          <a:xfrm xmlns:a="http://schemas.openxmlformats.org/drawingml/2006/main">
            <a:off x="1143000" y="4257446"/>
            <a:ext cx="3810305" cy="4288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SIS extractor · anonymised export · advisor accounts scoped</a:t>
            </a:r>
          </a:p>
        </p:txBody>
      </p:sp>
      <p:sp>
        <p:nvSpPr>
          <p:cNvPr id="21" name="Text 16">
            <a:extLst xmlns:a="http://schemas.openxmlformats.org/drawingml/2006/main">
              <a:ext uri="{FF2B5EF4-FFF2-40B4-BE49-F238E27FC236}">
                <a16:creationId xmlns:a16="http://schemas.microsoft.com/office/drawing/2014/main" id="{4C3F1C71-FF46-4383-9216-3640874685C8}"/>
              </a:ext>
            </a:extLst>
          </p:cNvPr>
          <p:cNvSpPr>
            <a:spLocks xmlns:a="http://schemas.openxmlformats.org/drawingml/2006/main" noGrp="1"/>
          </p:cNvSpPr>
          <p:nvPr/>
        </p:nvSpPr>
        <p:spPr>
          <a:xfrm xmlns:a="http://schemas.openxmlformats.org/drawingml/2006/main">
            <a:off x="5143500" y="3762756"/>
            <a:ext cx="3810305"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Term 1 · Shadow</a:t>
            </a:r>
          </a:p>
        </p:txBody>
      </p:sp>
      <p:sp>
        <p:nvSpPr>
          <p:cNvPr id="22" name="Text 17">
            <a:extLst xmlns:a="http://schemas.openxmlformats.org/drawingml/2006/main">
              <a:ext uri="{FF2B5EF4-FFF2-40B4-BE49-F238E27FC236}">
                <a16:creationId xmlns:a16="http://schemas.microsoft.com/office/drawing/2014/main" id="{0649AD25-FA0B-45EE-9374-DE31E56668F7}"/>
              </a:ext>
            </a:extLst>
          </p:cNvPr>
          <p:cNvSpPr>
            <a:spLocks xmlns:a="http://schemas.openxmlformats.org/drawingml/2006/main" noGrp="1"/>
          </p:cNvSpPr>
          <p:nvPr/>
        </p:nvSpPr>
        <p:spPr>
          <a:xfrm xmlns:a="http://schemas.openxmlformats.org/drawingml/2006/main">
            <a:off x="5143500" y="3952951"/>
            <a:ext cx="3810305" cy="2286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b="1">
                <a:solidFill>
                  <a:srgbClr val="0F1226"/>
                </a:solidFill>
                <a:latin typeface="Inter"/>
                <a:ea typeface="Inter"/>
                <a:cs typeface="Inter"/>
              </a:rPr>
              <a:t>Silent scoring only</a:t>
            </a:r>
          </a:p>
        </p:txBody>
      </p:sp>
      <p:sp>
        <p:nvSpPr>
          <p:cNvPr id="23" name="Text 18">
            <a:extLst xmlns:a="http://schemas.openxmlformats.org/drawingml/2006/main">
              <a:ext uri="{FF2B5EF4-FFF2-40B4-BE49-F238E27FC236}">
                <a16:creationId xmlns:a16="http://schemas.microsoft.com/office/drawing/2014/main" id="{302AA7A0-C074-4DF4-82B0-A24C44AAF8B3}"/>
              </a:ext>
            </a:extLst>
          </p:cNvPr>
          <p:cNvSpPr>
            <a:spLocks xmlns:a="http://schemas.openxmlformats.org/drawingml/2006/main" noGrp="1"/>
          </p:cNvSpPr>
          <p:nvPr/>
        </p:nvSpPr>
        <p:spPr>
          <a:xfrm xmlns:a="http://schemas.openxmlformats.org/drawingml/2006/main">
            <a:off x="5143500" y="4257446"/>
            <a:ext cx="3810305" cy="4288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Log alerts internally · compare vs. advisor triage · no student contact</a:t>
            </a:r>
          </a:p>
        </p:txBody>
      </p:sp>
      <p:sp>
        <p:nvSpPr>
          <p:cNvPr id="24" name="Text 19">
            <a:extLst xmlns:a="http://schemas.openxmlformats.org/drawingml/2006/main">
              <a:ext uri="{FF2B5EF4-FFF2-40B4-BE49-F238E27FC236}">
                <a16:creationId xmlns:a16="http://schemas.microsoft.com/office/drawing/2014/main" id="{90ABBA02-E867-4D35-B195-08B7C557BBC3}"/>
              </a:ext>
            </a:extLst>
          </p:cNvPr>
          <p:cNvSpPr>
            <a:spLocks xmlns:a="http://schemas.openxmlformats.org/drawingml/2006/main" noGrp="1"/>
          </p:cNvSpPr>
          <p:nvPr/>
        </p:nvSpPr>
        <p:spPr>
          <a:xfrm xmlns:a="http://schemas.openxmlformats.org/drawingml/2006/main">
            <a:off x="9144000" y="3762756"/>
            <a:ext cx="3810305"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2A2E7A"/>
                </a:solidFill>
                <a:latin typeface="JetBrains Mono"/>
                <a:ea typeface="JetBrains Mono"/>
                <a:cs typeface="JetBrains Mono"/>
              </a:rPr>
              <a:t>Term 2 · Pilot</a:t>
            </a:r>
          </a:p>
        </p:txBody>
      </p:sp>
      <p:sp>
        <p:nvSpPr>
          <p:cNvPr id="25" name="Text 20">
            <a:extLst xmlns:a="http://schemas.openxmlformats.org/drawingml/2006/main">
              <a:ext uri="{FF2B5EF4-FFF2-40B4-BE49-F238E27FC236}">
                <a16:creationId xmlns:a16="http://schemas.microsoft.com/office/drawing/2014/main" id="{4DCC660C-88E2-4ED6-A01F-B88222952B1F}"/>
              </a:ext>
            </a:extLst>
          </p:cNvPr>
          <p:cNvSpPr>
            <a:spLocks xmlns:a="http://schemas.openxmlformats.org/drawingml/2006/main" noGrp="1"/>
          </p:cNvSpPr>
          <p:nvPr/>
        </p:nvSpPr>
        <p:spPr>
          <a:xfrm xmlns:a="http://schemas.openxmlformats.org/drawingml/2006/main">
            <a:off x="9144000" y="3952951"/>
            <a:ext cx="3810305" cy="2286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b="1">
                <a:solidFill>
                  <a:srgbClr val="0F1226"/>
                </a:solidFill>
                <a:latin typeface="Inter"/>
                <a:ea typeface="Inter"/>
                <a:cs typeface="Inter"/>
              </a:rPr>
              <a:t>Weekly advisor list</a:t>
            </a:r>
          </a:p>
        </p:txBody>
      </p:sp>
      <p:sp>
        <p:nvSpPr>
          <p:cNvPr id="26" name="Text 21">
            <a:extLst xmlns:a="http://schemas.openxmlformats.org/drawingml/2006/main">
              <a:ext uri="{FF2B5EF4-FFF2-40B4-BE49-F238E27FC236}">
                <a16:creationId xmlns:a16="http://schemas.microsoft.com/office/drawing/2014/main" id="{49AAD647-A4FA-4574-A459-06E88EDC015C}"/>
              </a:ext>
            </a:extLst>
          </p:cNvPr>
          <p:cNvSpPr>
            <a:spLocks xmlns:a="http://schemas.openxmlformats.org/drawingml/2006/main" noGrp="1"/>
          </p:cNvSpPr>
          <p:nvPr/>
        </p:nvSpPr>
        <p:spPr>
          <a:xfrm xmlns:a="http://schemas.openxmlformats.org/drawingml/2006/main">
            <a:off x="9144000" y="4257446"/>
            <a:ext cx="3810305" cy="4288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1-2 pilot modules · dashboard with top-reason categories</a:t>
            </a:r>
          </a:p>
        </p:txBody>
      </p:sp>
      <p:sp>
        <p:nvSpPr>
          <p:cNvPr id="27" name="Text 22">
            <a:extLst xmlns:a="http://schemas.openxmlformats.org/drawingml/2006/main">
              <a:ext uri="{FF2B5EF4-FFF2-40B4-BE49-F238E27FC236}">
                <a16:creationId xmlns:a16="http://schemas.microsoft.com/office/drawing/2014/main" id="{863B83F8-2F76-4EA0-B6DE-0EB37C6DAEEB}"/>
              </a:ext>
            </a:extLst>
          </p:cNvPr>
          <p:cNvSpPr>
            <a:spLocks xmlns:a="http://schemas.openxmlformats.org/drawingml/2006/main" noGrp="1"/>
          </p:cNvSpPr>
          <p:nvPr/>
        </p:nvSpPr>
        <p:spPr>
          <a:xfrm xmlns:a="http://schemas.openxmlformats.org/drawingml/2006/main">
            <a:off x="13144500" y="3762756"/>
            <a:ext cx="3810305"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1B9E8F"/>
                </a:solidFill>
                <a:latin typeface="JetBrains Mono"/>
                <a:ea typeface="JetBrains Mono"/>
                <a:cs typeface="JetBrains Mono"/>
              </a:rPr>
              <a:t>Term 3 · Review</a:t>
            </a:r>
          </a:p>
        </p:txBody>
      </p:sp>
      <p:sp>
        <p:nvSpPr>
          <p:cNvPr id="28" name="Text 23">
            <a:extLst xmlns:a="http://schemas.openxmlformats.org/drawingml/2006/main">
              <a:ext uri="{FF2B5EF4-FFF2-40B4-BE49-F238E27FC236}">
                <a16:creationId xmlns:a16="http://schemas.microsoft.com/office/drawing/2014/main" id="{48D56C1D-51C3-40C3-9465-E09D5FB0EA03}"/>
              </a:ext>
            </a:extLst>
          </p:cNvPr>
          <p:cNvSpPr>
            <a:spLocks xmlns:a="http://schemas.openxmlformats.org/drawingml/2006/main" noGrp="1"/>
          </p:cNvSpPr>
          <p:nvPr/>
        </p:nvSpPr>
        <p:spPr>
          <a:xfrm xmlns:a="http://schemas.openxmlformats.org/drawingml/2006/main">
            <a:off x="13144500" y="3952951"/>
            <a:ext cx="3810305" cy="2286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b="1">
                <a:solidFill>
                  <a:srgbClr val="0F1226"/>
                </a:solidFill>
                <a:latin typeface="Inter"/>
                <a:ea typeface="Inter"/>
                <a:cs typeface="Inter"/>
              </a:rPr>
              <a:t>Retrain &amp; recalibrate</a:t>
            </a:r>
          </a:p>
        </p:txBody>
      </p:sp>
      <p:sp>
        <p:nvSpPr>
          <p:cNvPr id="29" name="Text 24">
            <a:extLst xmlns:a="http://schemas.openxmlformats.org/drawingml/2006/main">
              <a:ext uri="{FF2B5EF4-FFF2-40B4-BE49-F238E27FC236}">
                <a16:creationId xmlns:a16="http://schemas.microsoft.com/office/drawing/2014/main" id="{9993A22A-BA9B-4BF8-A7CF-1323C4F7FE12}"/>
              </a:ext>
            </a:extLst>
          </p:cNvPr>
          <p:cNvSpPr>
            <a:spLocks xmlns:a="http://schemas.openxmlformats.org/drawingml/2006/main" noGrp="1"/>
          </p:cNvSpPr>
          <p:nvPr/>
        </p:nvSpPr>
        <p:spPr>
          <a:xfrm xmlns:a="http://schemas.openxmlformats.org/drawingml/2006/main">
            <a:off x="13144500" y="4257446"/>
            <a:ext cx="3810305" cy="42885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Per-term retrain · subgroup recall report · scope decision</a:t>
            </a:r>
          </a:p>
        </p:txBody>
      </p:sp>
      <p:sp>
        <p:nvSpPr>
          <p:cNvPr id="30" name="Text 25">
            <a:extLst xmlns:a="http://schemas.openxmlformats.org/drawingml/2006/main">
              <a:ext uri="{FF2B5EF4-FFF2-40B4-BE49-F238E27FC236}">
                <a16:creationId xmlns:a16="http://schemas.microsoft.com/office/drawing/2014/main" id="{620719D6-7E52-4CE3-B8F4-9B20F2D32789}"/>
              </a:ext>
            </a:extLst>
          </p:cNvPr>
          <p:cNvSpPr>
            <a:spLocks xmlns:a="http://schemas.openxmlformats.org/drawingml/2006/main" noGrp="1"/>
          </p:cNvSpPr>
          <p:nvPr/>
        </p:nvSpPr>
        <p:spPr>
          <a:xfrm xmlns:a="http://schemas.openxmlformats.org/drawingml/2006/main">
            <a:off x="1143000" y="5762549"/>
            <a:ext cx="4763110"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E4237A"/>
                </a:solidFill>
                <a:latin typeface="JetBrains Mono"/>
                <a:ea typeface="JetBrains Mono"/>
                <a:cs typeface="JetBrains Mono"/>
              </a:rPr>
              <a:t>Monitoring stack</a:t>
            </a:r>
          </a:p>
        </p:txBody>
      </p:sp>
      <p:sp>
        <p:nvSpPr>
          <p:cNvPr id="31" name="Text 26">
            <a:extLst xmlns:a="http://schemas.openxmlformats.org/drawingml/2006/main">
              <a:ext uri="{FF2B5EF4-FFF2-40B4-BE49-F238E27FC236}">
                <a16:creationId xmlns:a16="http://schemas.microsoft.com/office/drawing/2014/main" id="{089F0D7A-3D86-4BDD-9EE8-56223C983E5D}"/>
              </a:ext>
            </a:extLst>
          </p:cNvPr>
          <p:cNvSpPr>
            <a:spLocks xmlns:a="http://schemas.openxmlformats.org/drawingml/2006/main" noGrp="1"/>
          </p:cNvSpPr>
          <p:nvPr/>
        </p:nvSpPr>
        <p:spPr>
          <a:xfrm xmlns:a="http://schemas.openxmlformats.org/drawingml/2006/main">
            <a:off x="1143000" y="5982005"/>
            <a:ext cx="4763110" cy="31455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800" b="1">
                <a:solidFill>
                  <a:srgbClr val="0F1226"/>
                </a:solidFill>
                <a:latin typeface="Inter"/>
                <a:ea typeface="Inter"/>
                <a:cs typeface="Inter"/>
              </a:rPr>
              <a:t>What we watch, weekly.</a:t>
            </a:r>
          </a:p>
        </p:txBody>
      </p:sp>
      <p:sp>
        <p:nvSpPr>
          <p:cNvPr id="32" name="Text 27">
            <a:extLst xmlns:a="http://schemas.openxmlformats.org/drawingml/2006/main">
              <a:ext uri="{FF2B5EF4-FFF2-40B4-BE49-F238E27FC236}">
                <a16:creationId xmlns:a16="http://schemas.microsoft.com/office/drawing/2014/main" id="{CC490E0B-8D14-4F3C-9278-D96E3AF922C9}"/>
              </a:ext>
            </a:extLst>
          </p:cNvPr>
          <p:cNvSpPr>
            <a:spLocks xmlns:a="http://schemas.openxmlformats.org/drawingml/2006/main" noGrp="1"/>
          </p:cNvSpPr>
          <p:nvPr/>
        </p:nvSpPr>
        <p:spPr>
          <a:xfrm xmlns:a="http://schemas.openxmlformats.org/drawingml/2006/main">
            <a:off x="1143000" y="6416345"/>
            <a:ext cx="476311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60"/>
              </a:lnSpc>
              <a:buNone/>
            </a:pPr>
            <a:r>
              <a:rPr sz="1200">
                <a:solidFill>
                  <a:srgbClr val="2A2E4B"/>
                </a:solidFill>
                <a:latin typeface="Inter"/>
                <a:ea typeface="Inter"/>
                <a:cs typeface="Inter"/>
              </a:rPr>
              <a:t>· Alert volume &amp; advisor workload</a:t>
            </a:r>
          </a:p>
          <a:p xmlns:a="http://schemas.openxmlformats.org/drawingml/2006/main">
            <a:pPr marL="0" indent="0" algn="l">
              <a:lnSpc>
                <a:spcPts val="2160"/>
              </a:lnSpc>
              <a:buNone/>
            </a:pPr>
            <a:r>
              <a:rPr sz="1200">
                <a:solidFill>
                  <a:srgbClr val="2A2E4B"/>
                </a:solidFill>
                <a:latin typeface="Inter"/>
                <a:ea typeface="Inter"/>
                <a:cs typeface="Inter"/>
              </a:rPr>
              <a:t>· Precision / recall drift (rolling 4-week)</a:t>
            </a:r>
          </a:p>
          <a:p xmlns:a="http://schemas.openxmlformats.org/drawingml/2006/main">
            <a:pPr marL="0" indent="0" algn="l">
              <a:lnSpc>
                <a:spcPts val="2160"/>
              </a:lnSpc>
              <a:buNone/>
            </a:pPr>
            <a:r>
              <a:rPr sz="1200">
                <a:solidFill>
                  <a:srgbClr val="2A2E4B"/>
                </a:solidFill>
                <a:latin typeface="Inter"/>
                <a:ea typeface="Inter"/>
                <a:cs typeface="Inter"/>
              </a:rPr>
              <a:t>· Subgroup recall across sensitive groups</a:t>
            </a:r>
          </a:p>
          <a:p xmlns:a="http://schemas.openxmlformats.org/drawingml/2006/main">
            <a:pPr marL="0" indent="0" algn="l">
              <a:lnSpc>
                <a:spcPts val="2160"/>
              </a:lnSpc>
              <a:buNone/>
            </a:pPr>
            <a:r>
              <a:rPr sz="1200">
                <a:solidFill>
                  <a:srgbClr val="2A2E4B"/>
                </a:solidFill>
                <a:latin typeface="Inter"/>
                <a:ea typeface="Inter"/>
                <a:cs typeface="Inter"/>
              </a:rPr>
              <a:t>· Score-distribution shift on new cohorts</a:t>
            </a:r>
          </a:p>
          <a:p xmlns:a="http://schemas.openxmlformats.org/drawingml/2006/main">
            <a:pPr marL="0" indent="0" algn="l">
              <a:lnSpc>
                <a:spcPts val="2160"/>
              </a:lnSpc>
              <a:buNone/>
            </a:pPr>
            <a:r>
              <a:rPr sz="1200">
                <a:solidFill>
                  <a:srgbClr val="2A2E4B"/>
                </a:solidFill>
                <a:latin typeface="Inter"/>
                <a:ea typeface="Inter"/>
                <a:cs typeface="Inter"/>
              </a:rPr>
              <a:t>· Advisor overrides (accepted / rejected)</a:t>
            </a:r>
          </a:p>
        </p:txBody>
      </p:sp>
      <p:sp>
        <p:nvSpPr>
          <p:cNvPr id="33" name="Text 28">
            <a:extLst xmlns:a="http://schemas.openxmlformats.org/drawingml/2006/main">
              <a:ext uri="{FF2B5EF4-FFF2-40B4-BE49-F238E27FC236}">
                <a16:creationId xmlns:a16="http://schemas.microsoft.com/office/drawing/2014/main" id="{049FF67C-6802-4972-A05C-C6FCD5EDB5E0}"/>
              </a:ext>
            </a:extLst>
          </p:cNvPr>
          <p:cNvSpPr>
            <a:spLocks xmlns:a="http://schemas.openxmlformats.org/drawingml/2006/main" noGrp="1"/>
          </p:cNvSpPr>
          <p:nvPr/>
        </p:nvSpPr>
        <p:spPr>
          <a:xfrm xmlns:a="http://schemas.openxmlformats.org/drawingml/2006/main">
            <a:off x="6782105" y="5762549"/>
            <a:ext cx="4763110"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2A2E7A"/>
                </a:solidFill>
                <a:latin typeface="JetBrains Mono"/>
                <a:ea typeface="JetBrains Mono"/>
                <a:cs typeface="JetBrains Mono"/>
              </a:rPr>
              <a:t>Retrain cadence</a:t>
            </a:r>
          </a:p>
        </p:txBody>
      </p:sp>
      <p:sp>
        <p:nvSpPr>
          <p:cNvPr id="34" name="Text 29">
            <a:extLst xmlns:a="http://schemas.openxmlformats.org/drawingml/2006/main">
              <a:ext uri="{FF2B5EF4-FFF2-40B4-BE49-F238E27FC236}">
                <a16:creationId xmlns:a16="http://schemas.microsoft.com/office/drawing/2014/main" id="{F4E8BF00-78AD-4774-9B25-EEF196782FE2}"/>
              </a:ext>
            </a:extLst>
          </p:cNvPr>
          <p:cNvSpPr>
            <a:spLocks xmlns:a="http://schemas.openxmlformats.org/drawingml/2006/main" noGrp="1"/>
          </p:cNvSpPr>
          <p:nvPr/>
        </p:nvSpPr>
        <p:spPr>
          <a:xfrm xmlns:a="http://schemas.openxmlformats.org/drawingml/2006/main">
            <a:off x="6782105" y="5982005"/>
            <a:ext cx="4763110" cy="31455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800" b="1">
                <a:solidFill>
                  <a:srgbClr val="0F1226"/>
                </a:solidFill>
                <a:latin typeface="Inter"/>
                <a:ea typeface="Inter"/>
                <a:cs typeface="Inter"/>
              </a:rPr>
              <a:t>Term-scoped, not real-time.</a:t>
            </a:r>
          </a:p>
        </p:txBody>
      </p:sp>
      <p:sp>
        <p:nvSpPr>
          <p:cNvPr id="35" name="Text 30">
            <a:extLst xmlns:a="http://schemas.openxmlformats.org/drawingml/2006/main">
              <a:ext uri="{FF2B5EF4-FFF2-40B4-BE49-F238E27FC236}">
                <a16:creationId xmlns:a16="http://schemas.microsoft.com/office/drawing/2014/main" id="{04EB5A80-8F3B-426E-B750-DA7F987AEF79}"/>
              </a:ext>
            </a:extLst>
          </p:cNvPr>
          <p:cNvSpPr>
            <a:spLocks xmlns:a="http://schemas.openxmlformats.org/drawingml/2006/main" noGrp="1"/>
          </p:cNvSpPr>
          <p:nvPr/>
        </p:nvSpPr>
        <p:spPr>
          <a:xfrm xmlns:a="http://schemas.openxmlformats.org/drawingml/2006/main">
            <a:off x="6782105" y="6416345"/>
            <a:ext cx="476311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60"/>
              </a:lnSpc>
              <a:buNone/>
            </a:pPr>
            <a:r>
              <a:rPr sz="1200">
                <a:solidFill>
                  <a:srgbClr val="2A2E4B"/>
                </a:solidFill>
                <a:latin typeface="Inter"/>
                <a:ea typeface="Inter"/>
                <a:cs typeface="Inter"/>
              </a:rPr>
              <a:t>· Full retrain end-of-term</a:t>
            </a:r>
          </a:p>
          <a:p xmlns:a="http://schemas.openxmlformats.org/drawingml/2006/main">
            <a:pPr marL="0" indent="0" algn="l">
              <a:lnSpc>
                <a:spcPts val="2160"/>
              </a:lnSpc>
              <a:buNone/>
            </a:pPr>
            <a:r>
              <a:rPr sz="1200">
                <a:solidFill>
                  <a:srgbClr val="2A2E4B"/>
                </a:solidFill>
                <a:latin typeface="Inter"/>
                <a:ea typeface="Inter"/>
                <a:cs typeface="Inter"/>
              </a:rPr>
              <a:t>· Threshold recalibration on new-cohort validation</a:t>
            </a:r>
          </a:p>
          <a:p xmlns:a="http://schemas.openxmlformats.org/drawingml/2006/main">
            <a:pPr marL="0" indent="0" algn="l">
              <a:lnSpc>
                <a:spcPts val="2160"/>
              </a:lnSpc>
              <a:buNone/>
            </a:pPr>
            <a:r>
              <a:rPr sz="1200">
                <a:solidFill>
                  <a:srgbClr val="2A2E4B"/>
                </a:solidFill>
                <a:latin typeface="Inter"/>
                <a:ea typeface="Inter"/>
                <a:cs typeface="Inter"/>
              </a:rPr>
              <a:t>· Version-controlled model + data snapshot</a:t>
            </a:r>
          </a:p>
          <a:p xmlns:a="http://schemas.openxmlformats.org/drawingml/2006/main">
            <a:pPr marL="0" indent="0" algn="l">
              <a:lnSpc>
                <a:spcPts val="2160"/>
              </a:lnSpc>
              <a:buNone/>
            </a:pPr>
            <a:r>
              <a:rPr sz="1200">
                <a:solidFill>
                  <a:srgbClr val="2A2E4B"/>
                </a:solidFill>
                <a:latin typeface="Inter"/>
                <a:ea typeface="Inter"/>
                <a:cs typeface="Inter"/>
              </a:rPr>
              <a:t>· Roll back if metrics regress</a:t>
            </a:r>
          </a:p>
          <a:p xmlns:a="http://schemas.openxmlformats.org/drawingml/2006/main">
            <a:pPr marL="0" indent="0" algn="l">
              <a:lnSpc>
                <a:spcPts val="2160"/>
              </a:lnSpc>
              <a:buNone/>
            </a:pPr>
            <a:r>
              <a:rPr sz="1200">
                <a:solidFill>
                  <a:srgbClr val="2A2E4B"/>
                </a:solidFill>
                <a:latin typeface="Inter"/>
                <a:ea typeface="Inter"/>
                <a:cs typeface="Inter"/>
              </a:rPr>
              <a:t>· Documented data lineage for audit</a:t>
            </a:r>
          </a:p>
        </p:txBody>
      </p:sp>
      <p:sp>
        <p:nvSpPr>
          <p:cNvPr id="36" name="Text 31">
            <a:extLst xmlns:a="http://schemas.openxmlformats.org/drawingml/2006/main">
              <a:ext uri="{FF2B5EF4-FFF2-40B4-BE49-F238E27FC236}">
                <a16:creationId xmlns:a16="http://schemas.microsoft.com/office/drawing/2014/main" id="{5AEE0D95-4CFF-4A47-BF6C-3D0A24C5991D}"/>
              </a:ext>
            </a:extLst>
          </p:cNvPr>
          <p:cNvSpPr>
            <a:spLocks xmlns:a="http://schemas.openxmlformats.org/drawingml/2006/main" noGrp="1"/>
          </p:cNvSpPr>
          <p:nvPr/>
        </p:nvSpPr>
        <p:spPr>
          <a:xfrm xmlns:a="http://schemas.openxmlformats.org/drawingml/2006/main">
            <a:off x="12420295" y="5762549"/>
            <a:ext cx="4763110"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FF5CA0"/>
                </a:solidFill>
                <a:latin typeface="JetBrains Mono"/>
                <a:ea typeface="JetBrains Mono"/>
                <a:cs typeface="JetBrains Mono"/>
              </a:rPr>
              <a:t>Future work</a:t>
            </a:r>
          </a:p>
        </p:txBody>
      </p:sp>
      <p:sp>
        <p:nvSpPr>
          <p:cNvPr id="37" name="Text 32">
            <a:extLst xmlns:a="http://schemas.openxmlformats.org/drawingml/2006/main">
              <a:ext uri="{FF2B5EF4-FFF2-40B4-BE49-F238E27FC236}">
                <a16:creationId xmlns:a16="http://schemas.microsoft.com/office/drawing/2014/main" id="{9B1F2362-EDCF-4DC2-AA1A-E650A98EEA00}"/>
              </a:ext>
            </a:extLst>
          </p:cNvPr>
          <p:cNvSpPr>
            <a:spLocks xmlns:a="http://schemas.openxmlformats.org/drawingml/2006/main" noGrp="1"/>
          </p:cNvSpPr>
          <p:nvPr/>
        </p:nvSpPr>
        <p:spPr>
          <a:xfrm xmlns:a="http://schemas.openxmlformats.org/drawingml/2006/main">
            <a:off x="12420295" y="5982005"/>
            <a:ext cx="5216652" cy="31455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800" b="1">
                <a:solidFill>
                  <a:srgbClr val="FFFFFF"/>
                </a:solidFill>
                <a:latin typeface="Inter"/>
                <a:ea typeface="Inter"/>
                <a:cs typeface="Inter"/>
              </a:rPr>
              <a:t>Where the next milestone would push.</a:t>
            </a:r>
          </a:p>
        </p:txBody>
      </p:sp>
      <p:sp>
        <p:nvSpPr>
          <p:cNvPr id="38" name="Text 33">
            <a:extLst xmlns:a="http://schemas.openxmlformats.org/drawingml/2006/main">
              <a:ext uri="{FF2B5EF4-FFF2-40B4-BE49-F238E27FC236}">
                <a16:creationId xmlns:a16="http://schemas.microsoft.com/office/drawing/2014/main" id="{BBA70B4B-773B-494E-B02E-9AA8595CCD14}"/>
              </a:ext>
            </a:extLst>
          </p:cNvPr>
          <p:cNvSpPr>
            <a:spLocks xmlns:a="http://schemas.openxmlformats.org/drawingml/2006/main" noGrp="1"/>
          </p:cNvSpPr>
          <p:nvPr/>
        </p:nvSpPr>
        <p:spPr>
          <a:xfrm xmlns:a="http://schemas.openxmlformats.org/drawingml/2006/main">
            <a:off x="12420295" y="6416345"/>
            <a:ext cx="476311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60"/>
              </a:lnSpc>
              <a:buNone/>
            </a:pPr>
            <a:r>
              <a:rPr sz="1200">
                <a:solidFill>
                  <a:srgbClr val="FFFFFF">
                    <a:alpha val="85000"/>
                  </a:srgbClr>
                </a:solidFill>
                <a:latin typeface="Inter"/>
                <a:ea typeface="Inter"/>
                <a:cs typeface="Inter"/>
              </a:rPr>
              <a:t>· Add non-academic signals (aid holds, contacts)</a:t>
            </a:r>
          </a:p>
          <a:p xmlns:a="http://schemas.openxmlformats.org/drawingml/2006/main">
            <a:pPr marL="0" indent="0" algn="l">
              <a:lnSpc>
                <a:spcPts val="2160"/>
              </a:lnSpc>
              <a:buNone/>
            </a:pPr>
            <a:r>
              <a:rPr sz="1200">
                <a:solidFill>
                  <a:srgbClr val="FFFFFF">
                    <a:alpha val="85000"/>
                  </a:srgbClr>
                </a:solidFill>
                <a:latin typeface="Inter"/>
                <a:ea typeface="Inter"/>
                <a:cs typeface="Inter"/>
              </a:rPr>
              <a:t>· Sequence models over the click timeline</a:t>
            </a:r>
          </a:p>
          <a:p xmlns:a="http://schemas.openxmlformats.org/drawingml/2006/main">
            <a:pPr marL="0" indent="0" algn="l">
              <a:lnSpc>
                <a:spcPts val="2160"/>
              </a:lnSpc>
              <a:buNone/>
            </a:pPr>
            <a:r>
              <a:rPr sz="1200">
                <a:solidFill>
                  <a:srgbClr val="FFFFFF">
                    <a:alpha val="85000"/>
                  </a:srgbClr>
                </a:solidFill>
                <a:latin typeface="Inter"/>
                <a:ea typeface="Inter"/>
                <a:cs typeface="Inter"/>
              </a:rPr>
              <a:t>· Cross-institution transfer with domain adaptation</a:t>
            </a:r>
          </a:p>
          <a:p xmlns:a="http://schemas.openxmlformats.org/drawingml/2006/main">
            <a:pPr marL="0" indent="0" algn="l">
              <a:lnSpc>
                <a:spcPts val="2160"/>
              </a:lnSpc>
              <a:buNone/>
            </a:pPr>
            <a:r>
              <a:rPr sz="1200">
                <a:solidFill>
                  <a:srgbClr val="FFFFFF">
                    <a:alpha val="85000"/>
                  </a:srgbClr>
                </a:solidFill>
                <a:latin typeface="Inter"/>
                <a:ea typeface="Inter"/>
                <a:cs typeface="Inter"/>
              </a:rPr>
              <a:t>· Calibrated risk bands vs. binary flag</a:t>
            </a:r>
          </a:p>
          <a:p xmlns:a="http://schemas.openxmlformats.org/drawingml/2006/main">
            <a:pPr marL="0" indent="0" algn="l">
              <a:lnSpc>
                <a:spcPts val="2160"/>
              </a:lnSpc>
              <a:buNone/>
            </a:pPr>
            <a:r>
              <a:rPr sz="1200">
                <a:solidFill>
                  <a:srgbClr val="FFFFFF">
                    <a:alpha val="85000"/>
                  </a:srgbClr>
                </a:solidFill>
                <a:latin typeface="Inter"/>
                <a:ea typeface="Inter"/>
                <a:cs typeface="Inter"/>
              </a:rPr>
              <a:t>· A/B evaluate </a:t>
            </a:r>
            <a:r>
              <a:rPr sz="1200" i="1">
                <a:solidFill>
                  <a:srgbClr val="FFFFFF">
                    <a:alpha val="85000"/>
                  </a:srgbClr>
                </a:solidFill>
                <a:latin typeface="Inter"/>
                <a:ea typeface="Inter"/>
                <a:cs typeface="Inter"/>
              </a:rPr>
              <a:t>intervention</a:t>
            </a:r>
            <a:r>
              <a:rPr sz="1200">
                <a:solidFill>
                  <a:srgbClr val="FFFFFF">
                    <a:alpha val="85000"/>
                  </a:srgbClr>
                </a:solidFill>
                <a:latin typeface="Inter"/>
                <a:ea typeface="Inter"/>
                <a:cs typeface="Inter"/>
              </a:rPr>
              <a:t>, not just prediction</a:t>
            </a:r>
          </a:p>
        </p:txBody>
      </p:sp>
    </p:spTree>
    <p:extLst>
      <p:ext uri="{BB962C8B-B14F-4D97-AF65-F5344CB8AC3E}">
        <p14:creationId xmlns:p14="http://schemas.microsoft.com/office/powerpoint/2010/main" val="171712585"/>
      </p:ext>
    </p:extLst>
  </p:cSld>
</p:sld>
</file>

<file path=ppt/slides/slide16.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62352d196a7c4b69"/>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4" name="Shape 0">
            <a:extLst xmlns:a="http://schemas.openxmlformats.org/drawingml/2006/main">
              <a:ext uri="{FF2B5EF4-FFF2-40B4-BE49-F238E27FC236}">
                <a16:creationId xmlns:a16="http://schemas.microsoft.com/office/drawing/2014/main" id="{4038A1CC-A9B0-4426-B733-1A07C6D07986}"/>
              </a:ext>
            </a:extLst>
          </p:cNvPr>
          <p:cNvSpPr>
            <a:spLocks xmlns:a="http://schemas.openxmlformats.org/drawingml/2006/main" noGrp="1"/>
          </p:cNvSpPr>
          <p:nvPr/>
        </p:nvSpPr>
        <p:spPr>
          <a:xfrm xmlns:a="http://schemas.openxmlformats.org/drawingml/2006/main">
            <a:off x="761695" y="4190695"/>
            <a:ext cx="16763695" cy="1238098"/>
          </a:xfrm>
          <a:prstGeom xmlns:a="http://schemas.openxmlformats.org/drawingml/2006/main" prst="roundRect">
            <a:avLst>
              <a:gd name="adj" fmla="val 1551"/>
            </a:avLst>
          </a:prstGeom>
          <a:solidFill xmlns:a="http://schemas.openxmlformats.org/drawingml/2006/main">
            <a:srgbClr val="1A1D5C"/>
          </a:solidFill>
          <a:ln xmlns:a="http://schemas.openxmlformats.org/drawingml/2006/main" w="12700">
            <a:solidFill>
              <a:srgbClr val="FFFFFF">
                <a:alpha val="0"/>
              </a:srgbClr>
            </a:solidFill>
            <a:prstDash val="solid"/>
          </a:ln>
        </p:spPr>
      </p:sp>
      <p:sp>
        <p:nvSpPr>
          <p:cNvPr id="5" name="Shape 1">
            <a:extLst xmlns:a="http://schemas.openxmlformats.org/drawingml/2006/main">
              <a:ext uri="{FF2B5EF4-FFF2-40B4-BE49-F238E27FC236}">
                <a16:creationId xmlns:a16="http://schemas.microsoft.com/office/drawing/2014/main" id="{C714848E-3BDC-46D9-A568-D56B55485334}"/>
              </a:ext>
            </a:extLst>
          </p:cNvPr>
          <p:cNvSpPr>
            <a:spLocks xmlns:a="http://schemas.openxmlformats.org/drawingml/2006/main" noGrp="1"/>
          </p:cNvSpPr>
          <p:nvPr/>
        </p:nvSpPr>
        <p:spPr>
          <a:xfrm xmlns:a="http://schemas.openxmlformats.org/drawingml/2006/main">
            <a:off x="761695" y="5715000"/>
            <a:ext cx="5505602" cy="3543300"/>
          </a:xfrm>
          <a:prstGeom xmlns:a="http://schemas.openxmlformats.org/drawingml/2006/main" prst="roundRect">
            <a:avLst>
              <a:gd name="adj" fmla="val 542"/>
            </a:avLst>
          </a:prstGeom>
          <a:solidFill xmlns:a="http://schemas.openxmlformats.org/drawingml/2006/main">
            <a:srgbClr val="FFFFFF"/>
          </a:solidFill>
          <a:ln xmlns:a="http://schemas.openxmlformats.org/drawingml/2006/main" w="12700">
            <a:solidFill>
              <a:srgbClr val="E4E5EF"/>
            </a:solidFill>
            <a:prstDash val="solid"/>
          </a:ln>
        </p:spPr>
      </p:sp>
      <p:sp>
        <p:nvSpPr>
          <p:cNvPr id="6" name="Shape 2">
            <a:extLst xmlns:a="http://schemas.openxmlformats.org/drawingml/2006/main">
              <a:ext uri="{FF2B5EF4-FFF2-40B4-BE49-F238E27FC236}">
                <a16:creationId xmlns:a16="http://schemas.microsoft.com/office/drawing/2014/main" id="{C8223D0A-30E6-422C-BA55-541B775573F0}"/>
              </a:ext>
            </a:extLst>
          </p:cNvPr>
          <p:cNvSpPr>
            <a:spLocks xmlns:a="http://schemas.openxmlformats.org/drawingml/2006/main" noGrp="1"/>
          </p:cNvSpPr>
          <p:nvPr/>
        </p:nvSpPr>
        <p:spPr>
          <a:xfrm xmlns:a="http://schemas.openxmlformats.org/drawingml/2006/main">
            <a:off x="6400800" y="5715000"/>
            <a:ext cx="5505602" cy="3543300"/>
          </a:xfrm>
          <a:prstGeom xmlns:a="http://schemas.openxmlformats.org/drawingml/2006/main" prst="roundRect">
            <a:avLst>
              <a:gd name="adj" fmla="val 542"/>
            </a:avLst>
          </a:prstGeom>
          <a:solidFill xmlns:a="http://schemas.openxmlformats.org/drawingml/2006/main">
            <a:srgbClr val="FFFFFF"/>
          </a:solidFill>
          <a:ln xmlns:a="http://schemas.openxmlformats.org/drawingml/2006/main" w="12700">
            <a:solidFill>
              <a:srgbClr val="E4E5EF"/>
            </a:solidFill>
            <a:prstDash val="solid"/>
          </a:ln>
        </p:spPr>
      </p:sp>
      <p:sp>
        <p:nvSpPr>
          <p:cNvPr id="7" name="Shape 3">
            <a:extLst xmlns:a="http://schemas.openxmlformats.org/drawingml/2006/main">
              <a:ext uri="{FF2B5EF4-FFF2-40B4-BE49-F238E27FC236}">
                <a16:creationId xmlns:a16="http://schemas.microsoft.com/office/drawing/2014/main" id="{A024FB3E-8F0E-491F-A4AD-8402687B301D}"/>
              </a:ext>
            </a:extLst>
          </p:cNvPr>
          <p:cNvSpPr>
            <a:spLocks xmlns:a="http://schemas.openxmlformats.org/drawingml/2006/main" noGrp="1"/>
          </p:cNvSpPr>
          <p:nvPr/>
        </p:nvSpPr>
        <p:spPr>
          <a:xfrm xmlns:a="http://schemas.openxmlformats.org/drawingml/2006/main">
            <a:off x="12039905" y="5715000"/>
            <a:ext cx="5505602" cy="3543300"/>
          </a:xfrm>
          <a:prstGeom xmlns:a="http://schemas.openxmlformats.org/drawingml/2006/main" prst="roundRect">
            <a:avLst>
              <a:gd name="adj" fmla="val 542"/>
            </a:avLst>
          </a:prstGeom>
          <a:solidFill xmlns:a="http://schemas.openxmlformats.org/drawingml/2006/main">
            <a:srgbClr val="FFFFFF"/>
          </a:solidFill>
          <a:ln xmlns:a="http://schemas.openxmlformats.org/drawingml/2006/main" w="12700">
            <a:solidFill>
              <a:srgbClr val="E4E5EF"/>
            </a:solidFill>
            <a:prstDash val="solid"/>
          </a:ln>
        </p:spPr>
      </p:sp>
      <p:pic>
        <p:nvPicPr>
          <p:cNvPr id="32" name="Image 1"/>
          <p:cNvPicPr>
            <a:picLocks xmlns:a="http://schemas.openxmlformats.org/drawingml/2006/main" noChangeAspect="1"/>
          </p:cNvPicPr>
          <p:nvPr/>
        </p:nvPicPr>
        <p:blipFill>
          <a:blip xmlns:r="http://schemas.openxmlformats.org/officeDocument/2006/relationships" xmlns:a="http://schemas.openxmlformats.org/drawingml/2006/main" r:embed="Rebbfb1cd766d40e4"/>
          <a:srcRect xmlns:a="http://schemas.openxmlformats.org/drawingml/2006/main" l="0" t="-195" r="0" b="-195"/>
          <a:stretch xmlns:a="http://schemas.openxmlformats.org/drawingml/2006/main"/>
        </p:blipFill>
        <p:spPr>
          <a:xfrm xmlns:a="http://schemas.openxmlformats.org/drawingml/2006/main">
            <a:off x="761695" y="4190695"/>
            <a:ext cx="75895" cy="1238098"/>
          </a:xfrm>
          <a:prstGeom xmlns:a="http://schemas.openxmlformats.org/drawingml/2006/main" prst="rect">
            <a:avLst/>
          </a:prstGeom>
        </p:spPr>
      </p:pic>
      <p:sp>
        <p:nvSpPr>
          <p:cNvPr id="9" name="Text 4">
            <a:extLst xmlns:a="http://schemas.openxmlformats.org/drawingml/2006/main">
              <a:ext uri="{FF2B5EF4-FFF2-40B4-BE49-F238E27FC236}">
                <a16:creationId xmlns:a16="http://schemas.microsoft.com/office/drawing/2014/main" id="{3D60F995-474F-4301-A372-C26FA934668C}"/>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 09 · Key takeaways</a:t>
            </a:r>
          </a:p>
        </p:txBody>
      </p:sp>
      <p:sp>
        <p:nvSpPr>
          <p:cNvPr id="10" name="Text 5">
            <a:extLst xmlns:a="http://schemas.openxmlformats.org/drawingml/2006/main">
              <a:ext uri="{FF2B5EF4-FFF2-40B4-BE49-F238E27FC236}">
                <a16:creationId xmlns:a16="http://schemas.microsoft.com/office/drawing/2014/main" id="{07865E82-5148-4B87-8EB8-9176933561F2}"/>
              </a:ext>
            </a:extLst>
          </p:cNvPr>
          <p:cNvSpPr>
            <a:spLocks xmlns:a="http://schemas.openxmlformats.org/drawingml/2006/main" noGrp="1"/>
          </p:cNvSpPr>
          <p:nvPr/>
        </p:nvSpPr>
        <p:spPr>
          <a:xfrm xmlns:a="http://schemas.openxmlformats.org/drawingml/2006/main">
            <a:off x="15240305" y="400050"/>
            <a:ext cx="2286000" cy="20955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200">
                <a:solidFill>
                  <a:srgbClr val="6A6F8C"/>
                </a:solidFill>
                <a:latin typeface="JetBrains Mono"/>
                <a:ea typeface="JetBrains Mono"/>
                <a:cs typeface="JetBrains Mono"/>
              </a:rPr>
              <a:t>16 / 19</a:t>
            </a:r>
          </a:p>
        </p:txBody>
      </p:sp>
      <p:sp>
        <p:nvSpPr>
          <p:cNvPr id="11" name="Text 6">
            <a:extLst xmlns:a="http://schemas.openxmlformats.org/drawingml/2006/main">
              <a:ext uri="{FF2B5EF4-FFF2-40B4-BE49-F238E27FC236}">
                <a16:creationId xmlns:a16="http://schemas.microsoft.com/office/drawing/2014/main" id="{A7DAD5B9-04F9-47FE-89B0-507B81B67DEE}"/>
              </a:ext>
            </a:extLst>
          </p:cNvPr>
          <p:cNvSpPr>
            <a:spLocks xmlns:a="http://schemas.openxmlformats.org/drawingml/2006/main" noGrp="1"/>
          </p:cNvSpPr>
          <p:nvPr/>
        </p:nvSpPr>
        <p:spPr>
          <a:xfrm xmlns:a="http://schemas.openxmlformats.org/drawingml/2006/main">
            <a:off x="761695" y="1238098"/>
            <a:ext cx="1676461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E4237A"/>
                </a:solidFill>
                <a:latin typeface="JetBrains Mono"/>
                <a:ea typeface="JetBrains Mono"/>
                <a:cs typeface="JetBrains Mono"/>
              </a:rPr>
              <a:t>Primary message</a:t>
            </a:r>
          </a:p>
        </p:txBody>
      </p:sp>
      <p:sp>
        <p:nvSpPr>
          <p:cNvPr id="12" name="Text 7">
            <a:extLst xmlns:a="http://schemas.openxmlformats.org/drawingml/2006/main">
              <a:ext uri="{FF2B5EF4-FFF2-40B4-BE49-F238E27FC236}">
                <a16:creationId xmlns:a16="http://schemas.microsoft.com/office/drawing/2014/main" id="{339A8976-DA1C-4191-A690-F1D5C29EC252}"/>
              </a:ext>
            </a:extLst>
          </p:cNvPr>
          <p:cNvSpPr>
            <a:spLocks xmlns:a="http://schemas.openxmlformats.org/drawingml/2006/main" noGrp="1"/>
          </p:cNvSpPr>
          <p:nvPr/>
        </p:nvSpPr>
        <p:spPr>
          <a:xfrm xmlns:a="http://schemas.openxmlformats.org/drawingml/2006/main">
            <a:off x="761695" y="1505102"/>
            <a:ext cx="18031968" cy="55321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900" b="1">
                <a:solidFill>
                  <a:srgbClr val="0F1226"/>
                </a:solidFill>
                <a:latin typeface="Inter"/>
                <a:ea typeface="Inter"/>
                <a:cs typeface="Inter"/>
              </a:rPr>
              <a:t>Two datasets, two models, one </a:t>
            </a:r>
            <a:r>
              <a:rPr sz="3900" b="1">
                <a:solidFill>
                  <a:srgbClr val="E4237A"/>
                </a:solidFill>
                <a:latin typeface="Inter"/>
                <a:ea typeface="Inter"/>
                <a:cs typeface="Inter"/>
              </a:rPr>
              <a:t>cautious</a:t>
            </a:r>
            <a:r>
              <a:rPr sz="3900" b="1">
                <a:solidFill>
                  <a:srgbClr val="0F1226"/>
                </a:solidFill>
                <a:latin typeface="Inter"/>
                <a:ea typeface="Inter"/>
                <a:cs typeface="Inter"/>
              </a:rPr>
              <a:t> pilot recommendation.</a:t>
            </a:r>
          </a:p>
        </p:txBody>
      </p:sp>
      <p:sp>
        <p:nvSpPr>
          <p:cNvPr id="13" name="Text 8">
            <a:extLst xmlns:a="http://schemas.openxmlformats.org/drawingml/2006/main">
              <a:ext uri="{FF2B5EF4-FFF2-40B4-BE49-F238E27FC236}">
                <a16:creationId xmlns:a16="http://schemas.microsoft.com/office/drawing/2014/main" id="{335BFEC0-1EF1-41F6-98CD-8DCF48C468D0}"/>
              </a:ext>
            </a:extLst>
          </p:cNvPr>
          <p:cNvSpPr>
            <a:spLocks xmlns:a="http://schemas.openxmlformats.org/drawingml/2006/main" noGrp="1"/>
          </p:cNvSpPr>
          <p:nvPr/>
        </p:nvSpPr>
        <p:spPr>
          <a:xfrm xmlns:a="http://schemas.openxmlformats.org/drawingml/2006/main">
            <a:off x="761695" y="2183587"/>
            <a:ext cx="1333561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i="1">
                <a:solidFill>
                  <a:srgbClr val="2A2E4B"/>
                </a:solidFill>
                <a:latin typeface="Source Serif Pro"/>
                <a:ea typeface="Source Serif Pro"/>
                <a:cs typeface="Source Serif Pro"/>
              </a:rPr>
              <a:t>The UCI Logistic Regression and OULAD XGBoost models provide useful early-warning evidence in their own settings. Results support cautious pilot evaluation as advisor decision support, not autonomous action.</a:t>
            </a:r>
          </a:p>
        </p:txBody>
      </p:sp>
      <p:sp>
        <p:nvSpPr>
          <p:cNvPr id="14" name="Text 9">
            <a:extLst xmlns:a="http://schemas.openxmlformats.org/drawingml/2006/main">
              <a:ext uri="{FF2B5EF4-FFF2-40B4-BE49-F238E27FC236}">
                <a16:creationId xmlns:a16="http://schemas.microsoft.com/office/drawing/2014/main" id="{43B0D023-3E7D-466E-83E1-08A19602DCB5}"/>
              </a:ext>
            </a:extLst>
          </p:cNvPr>
          <p:cNvSpPr>
            <a:spLocks xmlns:a="http://schemas.openxmlformats.org/drawingml/2006/main" noGrp="1"/>
          </p:cNvSpPr>
          <p:nvPr/>
        </p:nvSpPr>
        <p:spPr>
          <a:xfrm xmlns:a="http://schemas.openxmlformats.org/drawingml/2006/main">
            <a:off x="1143000" y="4401007"/>
            <a:ext cx="16193110"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Project contribution</a:t>
            </a:r>
          </a:p>
        </p:txBody>
      </p:sp>
      <p:sp>
        <p:nvSpPr>
          <p:cNvPr id="15" name="Text 10">
            <a:extLst xmlns:a="http://schemas.openxmlformats.org/drawingml/2006/main">
              <a:ext uri="{FF2B5EF4-FFF2-40B4-BE49-F238E27FC236}">
                <a16:creationId xmlns:a16="http://schemas.microsoft.com/office/drawing/2014/main" id="{EDE08E87-EB4E-4F49-BDD0-9CE47449AB52}"/>
              </a:ext>
            </a:extLst>
          </p:cNvPr>
          <p:cNvSpPr>
            <a:spLocks xmlns:a="http://schemas.openxmlformats.org/drawingml/2006/main" noGrp="1"/>
          </p:cNvSpPr>
          <p:nvPr/>
        </p:nvSpPr>
        <p:spPr>
          <a:xfrm xmlns:a="http://schemas.openxmlformats.org/drawingml/2006/main">
            <a:off x="1143000" y="4629607"/>
            <a:ext cx="16193110" cy="60990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a:solidFill>
                  <a:srgbClr val="FFFFFF"/>
                </a:solidFill>
                <a:latin typeface="Inter"/>
                <a:ea typeface="Inter"/>
                <a:cs typeface="Inter"/>
              </a:rPr>
              <a:t>A common </a:t>
            </a:r>
            <a:r>
              <a:rPr sz="1600">
                <a:solidFill>
                  <a:srgbClr val="FF5CA0"/>
                </a:solidFill>
                <a:latin typeface="Inter"/>
                <a:ea typeface="Inter"/>
                <a:cs typeface="Inter"/>
              </a:rPr>
              <a:t>leakage-aware evaluation framework</a:t>
            </a:r>
            <a:r>
              <a:rPr sz="1600">
                <a:solidFill>
                  <a:srgbClr val="FFFFFF"/>
                </a:solidFill>
                <a:latin typeface="Inter"/>
                <a:ea typeface="Inter"/>
                <a:cs typeface="Inter"/>
              </a:rPr>
              <a:t> that compares feature-family shifts, robustness, and advisor workload across a </a:t>
            </a:r>
            <a:r>
              <a:rPr sz="1600">
                <a:solidFill>
                  <a:srgbClr val="FF5CA0"/>
                </a:solidFill>
                <a:latin typeface="Inter"/>
                <a:ea typeface="Inter"/>
                <a:cs typeface="Inter"/>
              </a:rPr>
              <a:t>record-based</a:t>
            </a:r>
            <a:r>
              <a:rPr sz="1600">
                <a:solidFill>
                  <a:srgbClr val="FFFFFF"/>
                </a:solidFill>
                <a:latin typeface="Inter"/>
                <a:ea typeface="Inter"/>
                <a:cs typeface="Inter"/>
              </a:rPr>
              <a:t> dataset (UCI) and a </a:t>
            </a:r>
            <a:r>
              <a:rPr sz="1600">
                <a:solidFill>
                  <a:srgbClr val="FF5CA0"/>
                </a:solidFill>
                <a:latin typeface="Inter"/>
                <a:ea typeface="Inter"/>
                <a:cs typeface="Inter"/>
              </a:rPr>
              <a:t>behavioural learning</a:t>
            </a:r>
            <a:r>
              <a:rPr sz="1600">
                <a:solidFill>
                  <a:srgbClr val="FFFFFF"/>
                </a:solidFill>
                <a:latin typeface="Inter"/>
                <a:ea typeface="Inter"/>
                <a:cs typeface="Inter"/>
              </a:rPr>
              <a:t> dataset (OULAD) — a comparative methodological and applied contribution, not a new algorithm.</a:t>
            </a:r>
          </a:p>
        </p:txBody>
      </p:sp>
      <p:sp>
        <p:nvSpPr>
          <p:cNvPr id="16" name="Text 11">
            <a:extLst xmlns:a="http://schemas.openxmlformats.org/drawingml/2006/main">
              <a:ext uri="{FF2B5EF4-FFF2-40B4-BE49-F238E27FC236}">
                <a16:creationId xmlns:a16="http://schemas.microsoft.com/office/drawing/2014/main" id="{30977E7B-E1D7-4C7F-868B-151885AC4D5B}"/>
              </a:ext>
            </a:extLst>
          </p:cNvPr>
          <p:cNvSpPr>
            <a:spLocks xmlns:a="http://schemas.openxmlformats.org/drawingml/2006/main" noGrp="1"/>
          </p:cNvSpPr>
          <p:nvPr/>
        </p:nvSpPr>
        <p:spPr>
          <a:xfrm xmlns:a="http://schemas.openxmlformats.org/drawingml/2006/main">
            <a:off x="1143000" y="5905195"/>
            <a:ext cx="4763110" cy="4197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300" b="1">
                <a:solidFill>
                  <a:srgbClr val="E4237A"/>
                </a:solidFill>
                <a:latin typeface="JetBrains Mono"/>
                <a:ea typeface="JetBrains Mono"/>
                <a:cs typeface="JetBrains Mono"/>
              </a:rPr>
              <a:t>01</a:t>
            </a:r>
          </a:p>
        </p:txBody>
      </p:sp>
      <p:sp>
        <p:nvSpPr>
          <p:cNvPr id="17" name="Text 12">
            <a:extLst xmlns:a="http://schemas.openxmlformats.org/drawingml/2006/main">
              <a:ext uri="{FF2B5EF4-FFF2-40B4-BE49-F238E27FC236}">
                <a16:creationId xmlns:a16="http://schemas.microsoft.com/office/drawing/2014/main" id="{41D8E78A-FDE1-4881-BF52-1FF5D44B85D7}"/>
              </a:ext>
            </a:extLst>
          </p:cNvPr>
          <p:cNvSpPr>
            <a:spLocks xmlns:a="http://schemas.openxmlformats.org/drawingml/2006/main" noGrp="1"/>
          </p:cNvSpPr>
          <p:nvPr/>
        </p:nvSpPr>
        <p:spPr>
          <a:xfrm xmlns:a="http://schemas.openxmlformats.org/drawingml/2006/main">
            <a:off x="1143000" y="6439205"/>
            <a:ext cx="5448910" cy="2770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Signals shift across educational contexts.</a:t>
            </a:r>
          </a:p>
        </p:txBody>
      </p:sp>
      <p:sp>
        <p:nvSpPr>
          <p:cNvPr id="18" name="Text 13">
            <a:extLst xmlns:a="http://schemas.openxmlformats.org/drawingml/2006/main">
              <a:ext uri="{FF2B5EF4-FFF2-40B4-BE49-F238E27FC236}">
                <a16:creationId xmlns:a16="http://schemas.microsoft.com/office/drawing/2014/main" id="{D3602F1F-D777-477A-AA58-02FA8370E98E}"/>
              </a:ext>
            </a:extLst>
          </p:cNvPr>
          <p:cNvSpPr>
            <a:spLocks xmlns:a="http://schemas.openxmlformats.org/drawingml/2006/main" noGrp="1"/>
          </p:cNvSpPr>
          <p:nvPr/>
        </p:nvSpPr>
        <p:spPr>
          <a:xfrm xmlns:a="http://schemas.openxmlformats.org/drawingml/2006/main">
            <a:off x="1143000" y="6844284"/>
            <a:ext cx="4763110" cy="9436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UCI emphasizes academic and financial records; OULAD emphasizes assessment progress, engagement, and program context. We compared the contexts but did not directly test cross-dataset model transfer.</a:t>
            </a:r>
          </a:p>
        </p:txBody>
      </p:sp>
      <p:sp>
        <p:nvSpPr>
          <p:cNvPr id="19" name="Text 14">
            <a:extLst xmlns:a="http://schemas.openxmlformats.org/drawingml/2006/main">
              <a:ext uri="{FF2B5EF4-FFF2-40B4-BE49-F238E27FC236}">
                <a16:creationId xmlns:a16="http://schemas.microsoft.com/office/drawing/2014/main" id="{A33BD362-8F92-49BC-8981-43639A2CB2D5}"/>
              </a:ext>
            </a:extLst>
          </p:cNvPr>
          <p:cNvSpPr>
            <a:spLocks xmlns:a="http://schemas.openxmlformats.org/drawingml/2006/main" noGrp="1"/>
          </p:cNvSpPr>
          <p:nvPr/>
        </p:nvSpPr>
        <p:spPr>
          <a:xfrm xmlns:a="http://schemas.openxmlformats.org/drawingml/2006/main">
            <a:off x="6782105" y="5905195"/>
            <a:ext cx="4763110" cy="4197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300" b="1">
                <a:solidFill>
                  <a:srgbClr val="E4237A"/>
                </a:solidFill>
                <a:latin typeface="JetBrains Mono"/>
                <a:ea typeface="JetBrains Mono"/>
                <a:cs typeface="JetBrains Mono"/>
              </a:rPr>
              <a:t>02</a:t>
            </a:r>
          </a:p>
        </p:txBody>
      </p:sp>
      <p:sp>
        <p:nvSpPr>
          <p:cNvPr id="20" name="Text 15">
            <a:extLst xmlns:a="http://schemas.openxmlformats.org/drawingml/2006/main">
              <a:ext uri="{FF2B5EF4-FFF2-40B4-BE49-F238E27FC236}">
                <a16:creationId xmlns:a16="http://schemas.microsoft.com/office/drawing/2014/main" id="{8A2FC5D1-E657-4BF3-81D3-C0D0F3D75623}"/>
              </a:ext>
            </a:extLst>
          </p:cNvPr>
          <p:cNvSpPr>
            <a:spLocks xmlns:a="http://schemas.openxmlformats.org/drawingml/2006/main" noGrp="1"/>
          </p:cNvSpPr>
          <p:nvPr/>
        </p:nvSpPr>
        <p:spPr>
          <a:xfrm xmlns:a="http://schemas.openxmlformats.org/drawingml/2006/main">
            <a:off x="6782105" y="6439205"/>
            <a:ext cx="4763110" cy="5532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Tuning gains modest; operational value hypothetical.</a:t>
            </a:r>
          </a:p>
        </p:txBody>
      </p:sp>
      <p:sp>
        <p:nvSpPr>
          <p:cNvPr id="21" name="Text 16">
            <a:extLst xmlns:a="http://schemas.openxmlformats.org/drawingml/2006/main">
              <a:ext uri="{FF2B5EF4-FFF2-40B4-BE49-F238E27FC236}">
                <a16:creationId xmlns:a16="http://schemas.microsoft.com/office/drawing/2014/main" id="{85A89FEE-EF3B-4105-AFF1-E8F554B36BBB}"/>
              </a:ext>
            </a:extLst>
          </p:cNvPr>
          <p:cNvSpPr>
            <a:spLocks xmlns:a="http://schemas.openxmlformats.org/drawingml/2006/main" noGrp="1"/>
          </p:cNvSpPr>
          <p:nvPr/>
        </p:nvSpPr>
        <p:spPr>
          <a:xfrm xmlns:a="http://schemas.openxmlformats.org/drawingml/2006/main">
            <a:off x="6782105" y="7116775"/>
            <a:ext cx="4763110" cy="9436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F1 changes were small and have not been shown statistically significant. Business value depends on whether advisor interventions actually improve retention — a claim we cannot make from this evidence alone.</a:t>
            </a:r>
          </a:p>
        </p:txBody>
      </p:sp>
      <p:sp>
        <p:nvSpPr>
          <p:cNvPr id="22" name="Text 17">
            <a:extLst xmlns:a="http://schemas.openxmlformats.org/drawingml/2006/main">
              <a:ext uri="{FF2B5EF4-FFF2-40B4-BE49-F238E27FC236}">
                <a16:creationId xmlns:a16="http://schemas.microsoft.com/office/drawing/2014/main" id="{94E81009-3475-4D60-A01C-6F8ADB3B4C2B}"/>
              </a:ext>
            </a:extLst>
          </p:cNvPr>
          <p:cNvSpPr>
            <a:spLocks xmlns:a="http://schemas.openxmlformats.org/drawingml/2006/main" noGrp="1"/>
          </p:cNvSpPr>
          <p:nvPr/>
        </p:nvSpPr>
        <p:spPr>
          <a:xfrm xmlns:a="http://schemas.openxmlformats.org/drawingml/2006/main">
            <a:off x="12420295" y="5905195"/>
            <a:ext cx="4763110" cy="4197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3300" b="1">
                <a:solidFill>
                  <a:srgbClr val="E4237A"/>
                </a:solidFill>
                <a:latin typeface="JetBrains Mono"/>
                <a:ea typeface="JetBrains Mono"/>
                <a:cs typeface="JetBrains Mono"/>
              </a:rPr>
              <a:t>03</a:t>
            </a:r>
          </a:p>
        </p:txBody>
      </p:sp>
      <p:sp>
        <p:nvSpPr>
          <p:cNvPr id="23" name="Text 18">
            <a:extLst xmlns:a="http://schemas.openxmlformats.org/drawingml/2006/main">
              <a:ext uri="{FF2B5EF4-FFF2-40B4-BE49-F238E27FC236}">
                <a16:creationId xmlns:a16="http://schemas.microsoft.com/office/drawing/2014/main" id="{2220A44E-B750-45DC-96BF-6C9E817256EA}"/>
              </a:ext>
            </a:extLst>
          </p:cNvPr>
          <p:cNvSpPr>
            <a:spLocks xmlns:a="http://schemas.openxmlformats.org/drawingml/2006/main" noGrp="1"/>
          </p:cNvSpPr>
          <p:nvPr/>
        </p:nvSpPr>
        <p:spPr>
          <a:xfrm xmlns:a="http://schemas.openxmlformats.org/drawingml/2006/main">
            <a:off x="12420295" y="6439205"/>
            <a:ext cx="4763110" cy="2770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600" b="1">
                <a:solidFill>
                  <a:srgbClr val="0F1226"/>
                </a:solidFill>
                <a:latin typeface="Inter"/>
                <a:ea typeface="Inter"/>
                <a:cs typeface="Inter"/>
              </a:rPr>
              <a:t>The model is only step one.</a:t>
            </a:r>
          </a:p>
        </p:txBody>
      </p:sp>
      <p:sp>
        <p:nvSpPr>
          <p:cNvPr id="24" name="Text 19">
            <a:extLst xmlns:a="http://schemas.openxmlformats.org/drawingml/2006/main">
              <a:ext uri="{FF2B5EF4-FFF2-40B4-BE49-F238E27FC236}">
                <a16:creationId xmlns:a16="http://schemas.microsoft.com/office/drawing/2014/main" id="{2BCCD961-F48B-487C-84C8-E84F1CBAF336}"/>
              </a:ext>
            </a:extLst>
          </p:cNvPr>
          <p:cNvSpPr>
            <a:spLocks xmlns:a="http://schemas.openxmlformats.org/drawingml/2006/main" noGrp="1"/>
          </p:cNvSpPr>
          <p:nvPr/>
        </p:nvSpPr>
        <p:spPr>
          <a:xfrm xmlns:a="http://schemas.openxmlformats.org/drawingml/2006/main">
            <a:off x="12420295" y="6844284"/>
            <a:ext cx="4763110" cy="7150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2A2E4B"/>
                </a:solidFill>
                <a:latin typeface="Inter"/>
                <a:ea typeface="Inter"/>
                <a:cs typeface="Inter"/>
              </a:rPr>
              <a:t>Value comes from the intervention, not the prediction. Intervention effectiveness must be evaluated prospectively — the next milestone question, worth its own study.</a:t>
            </a:r>
          </a:p>
        </p:txBody>
      </p:sp>
    </p:spTree>
    <p:extLst>
      <p:ext uri="{BB962C8B-B14F-4D97-AF65-F5344CB8AC3E}">
        <p14:creationId xmlns:p14="http://schemas.microsoft.com/office/powerpoint/2010/main" val="482715771"/>
      </p:ext>
    </p:extLst>
  </p:cSld>
</p:sld>
</file>

<file path=ppt/slides/slide17.xml><?xml version="1.0" encoding="utf-8"?>
<p:sld xmlns:p="http://schemas.openxmlformats.org/presentationml/2006/main">
  <p:cSld>
    <p:bg>
      <p:bgPr>
        <a:solidFill xmlns:a="http://schemas.openxmlformats.org/drawingml/2006/main">
          <a:srgbClr val="0F1226"/>
        </a:solidFill>
      </p:bgPr>
    </p:bg>
    <p:spTree>
      <p:nvGrpSpPr>
        <p:cNvPr id="1" name=""/>
        <p:cNvGrpSpPr/>
        <p:nvPr/>
      </p:nvGrpSpPr>
      <p:grpSpPr>
        <a:xfrm xmlns:a="http://schemas.openxmlformats.org/drawingml/2006/main"/>
      </p:grpSpPr>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377f8f247b01408b"/>
          <a:srcRect xmlns:a="http://schemas.openxmlformats.org/drawingml/2006/main" l="0" t="0" r="0" b="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pic>
        <p:nvPicPr>
          <p:cNvPr id="24" name="Image 1"/>
          <p:cNvPicPr>
            <a:picLocks xmlns:a="http://schemas.openxmlformats.org/drawingml/2006/main" noChangeAspect="1"/>
          </p:cNvPicPr>
          <p:nvPr/>
        </p:nvPicPr>
        <p:blipFill>
          <a:blip xmlns:r="http://schemas.openxmlformats.org/officeDocument/2006/relationships" xmlns:a="http://schemas.openxmlformats.org/drawingml/2006/main" r:embed="R04fa29131fd940fc"/>
          <a:srcRect xmlns:a="http://schemas.openxmlformats.org/drawingml/2006/main" l="0" t="-207" r="0" b="-207"/>
          <a:stretch xmlns:a="http://schemas.openxmlformats.org/drawingml/2006/main"/>
        </p:blipFill>
        <p:spPr>
          <a:xfrm xmlns:a="http://schemas.openxmlformats.org/drawingml/2006/main">
            <a:off x="0" y="0"/>
            <a:ext cx="75895" cy="2667305"/>
          </a:xfrm>
          <a:prstGeom xmlns:a="http://schemas.openxmlformats.org/drawingml/2006/main" prst="rect">
            <a:avLst/>
          </a:prstGeom>
        </p:spPr>
      </p:pic>
      <p:pic>
        <p:nvPicPr>
          <p:cNvPr id="25" name="Image 2"/>
          <p:cNvPicPr>
            <a:picLocks xmlns:a="http://schemas.openxmlformats.org/drawingml/2006/main" noChangeAspect="1"/>
          </p:cNvPicPr>
          <p:nvPr/>
        </p:nvPicPr>
        <p:blipFill>
          <a:blip xmlns:r="http://schemas.openxmlformats.org/officeDocument/2006/relationships" xmlns:a="http://schemas.openxmlformats.org/drawingml/2006/main" r:embed="Rf79df1fcdb414cc3"/>
          <a:srcRect xmlns:a="http://schemas.openxmlformats.org/drawingml/2006/main" l="-207" t="0" r="-207" b="0"/>
          <a:stretch xmlns:a="http://schemas.openxmlformats.org/drawingml/2006/main"/>
        </p:blipFill>
        <p:spPr>
          <a:xfrm xmlns:a="http://schemas.openxmlformats.org/drawingml/2006/main">
            <a:off x="0" y="0"/>
            <a:ext cx="2667305" cy="75895"/>
          </a:xfrm>
          <a:prstGeom xmlns:a="http://schemas.openxmlformats.org/drawingml/2006/main" prst="rect">
            <a:avLst/>
          </a:prstGeom>
        </p:spPr>
      </p:pic>
      <p:sp>
        <p:nvSpPr>
          <p:cNvPr id="6" name="Shape 0">
            <a:extLst xmlns:a="http://schemas.openxmlformats.org/drawingml/2006/main">
              <a:ext uri="{FF2B5EF4-FFF2-40B4-BE49-F238E27FC236}">
                <a16:creationId xmlns:a16="http://schemas.microsoft.com/office/drawing/2014/main" id="{3EA1E4C6-0D0F-41B9-9BFE-3C5F04D0E8C7}"/>
              </a:ext>
            </a:extLst>
          </p:cNvPr>
          <p:cNvSpPr>
            <a:spLocks xmlns:a="http://schemas.openxmlformats.org/drawingml/2006/main" noGrp="1"/>
          </p:cNvSpPr>
          <p:nvPr/>
        </p:nvSpPr>
        <p:spPr>
          <a:xfrm xmlns:a="http://schemas.openxmlformats.org/drawingml/2006/main">
            <a:off x="12954305" y="3238805"/>
            <a:ext cx="4401007" cy="3829507"/>
          </a:xfrm>
          <a:prstGeom xmlns:a="http://schemas.openxmlformats.org/drawingml/2006/main" prst="roundRect">
            <a:avLst>
              <a:gd name="adj" fmla="val 501"/>
            </a:avLst>
          </a:prstGeom>
          <a:solidFill xmlns:a="http://schemas.openxmlformats.org/drawingml/2006/main">
            <a:srgbClr val="FFFFFF">
              <a:alpha val="4000"/>
            </a:srgbClr>
          </a:solidFill>
          <a:ln xmlns:a="http://schemas.openxmlformats.org/drawingml/2006/main" w="12700">
            <a:solidFill>
              <a:srgbClr val="FFFFFF">
                <a:alpha val="10000"/>
              </a:srgbClr>
            </a:solidFill>
            <a:prstDash val="solid"/>
          </a:ln>
        </p:spPr>
      </p:sp>
      <p:sp>
        <p:nvSpPr>
          <p:cNvPr id="7" name="Text 1">
            <a:extLst xmlns:a="http://schemas.openxmlformats.org/drawingml/2006/main">
              <a:ext uri="{FF2B5EF4-FFF2-40B4-BE49-F238E27FC236}">
                <a16:creationId xmlns:a16="http://schemas.microsoft.com/office/drawing/2014/main" id="{AD5C0D60-9440-4A1B-BA36-1632B60FC641}"/>
              </a:ext>
            </a:extLst>
          </p:cNvPr>
          <p:cNvSpPr>
            <a:spLocks xmlns:a="http://schemas.openxmlformats.org/drawingml/2006/main" noGrp="1"/>
          </p:cNvSpPr>
          <p:nvPr/>
        </p:nvSpPr>
        <p:spPr>
          <a:xfrm xmlns:a="http://schemas.openxmlformats.org/drawingml/2006/main">
            <a:off x="952805" y="761695"/>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FFFF">
                    <a:alpha val="55000"/>
                  </a:srgbClr>
                </a:solidFill>
                <a:latin typeface="JetBrains Mono"/>
                <a:ea typeface="JetBrains Mono"/>
                <a:cs typeface="JetBrains Mono"/>
              </a:rPr>
              <a:t>§ 10 · Discussion</a:t>
            </a:r>
          </a:p>
        </p:txBody>
      </p:sp>
      <p:sp>
        <p:nvSpPr>
          <p:cNvPr id="8" name="Text 2">
            <a:extLst xmlns:a="http://schemas.openxmlformats.org/drawingml/2006/main">
              <a:ext uri="{FF2B5EF4-FFF2-40B4-BE49-F238E27FC236}">
                <a16:creationId xmlns:a16="http://schemas.microsoft.com/office/drawing/2014/main" id="{6A3759CE-299E-4E2D-903F-A8E13E8886F7}"/>
              </a:ext>
            </a:extLst>
          </p:cNvPr>
          <p:cNvSpPr>
            <a:spLocks xmlns:a="http://schemas.openxmlformats.org/drawingml/2006/main" noGrp="1"/>
          </p:cNvSpPr>
          <p:nvPr/>
        </p:nvSpPr>
        <p:spPr>
          <a:xfrm xmlns:a="http://schemas.openxmlformats.org/drawingml/2006/main">
            <a:off x="15240305" y="761695"/>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FFFFFF">
                    <a:alpha val="55000"/>
                  </a:srgbClr>
                </a:solidFill>
                <a:latin typeface="JetBrains Mono"/>
                <a:ea typeface="JetBrains Mono"/>
                <a:cs typeface="JetBrains Mono"/>
              </a:rPr>
              <a:t>17 / 19</a:t>
            </a:r>
          </a:p>
        </p:txBody>
      </p:sp>
      <p:sp>
        <p:nvSpPr>
          <p:cNvPr id="9" name="Text 3">
            <a:extLst xmlns:a="http://schemas.openxmlformats.org/drawingml/2006/main">
              <a:ext uri="{FF2B5EF4-FFF2-40B4-BE49-F238E27FC236}">
                <a16:creationId xmlns:a16="http://schemas.microsoft.com/office/drawing/2014/main" id="{62F006FD-EA69-4115-8B2B-45797E658BBF}"/>
              </a:ext>
            </a:extLst>
          </p:cNvPr>
          <p:cNvSpPr>
            <a:spLocks xmlns:a="http://schemas.openxmlformats.org/drawingml/2006/main" noGrp="1"/>
          </p:cNvSpPr>
          <p:nvPr/>
        </p:nvSpPr>
        <p:spPr>
          <a:xfrm xmlns:a="http://schemas.openxmlformats.org/drawingml/2006/main">
            <a:off x="952805" y="1904695"/>
            <a:ext cx="13335610" cy="24003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21000" i="1">
                <a:solidFill>
                  <a:srgbClr val="FFFFFF">
                    <a:alpha val="10000"/>
                  </a:srgbClr>
                </a:solidFill>
                <a:latin typeface="Source Serif Pro"/>
                <a:ea typeface="Source Serif Pro"/>
                <a:cs typeface="Source Serif Pro"/>
              </a:rPr>
              <a:t>Q&amp;A</a:t>
            </a:r>
          </a:p>
        </p:txBody>
      </p:sp>
      <p:sp>
        <p:nvSpPr>
          <p:cNvPr id="10" name="Text 4">
            <a:extLst xmlns:a="http://schemas.openxmlformats.org/drawingml/2006/main">
              <a:ext uri="{FF2B5EF4-FFF2-40B4-BE49-F238E27FC236}">
                <a16:creationId xmlns:a16="http://schemas.microsoft.com/office/drawing/2014/main" id="{3B672DA6-ABEC-4516-ABE1-A4FEB0DD6DA3}"/>
              </a:ext>
            </a:extLst>
          </p:cNvPr>
          <p:cNvSpPr>
            <a:spLocks xmlns:a="http://schemas.openxmlformats.org/drawingml/2006/main" noGrp="1"/>
          </p:cNvSpPr>
          <p:nvPr/>
        </p:nvSpPr>
        <p:spPr>
          <a:xfrm xmlns:a="http://schemas.openxmlformats.org/drawingml/2006/main">
            <a:off x="952805" y="5524805"/>
            <a:ext cx="11430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FF5CA0"/>
                </a:solidFill>
                <a:latin typeface="JetBrains Mono"/>
                <a:ea typeface="JetBrains Mono"/>
                <a:cs typeface="JetBrains Mono"/>
              </a:rPr>
              <a:t>Five minutes for discussion</a:t>
            </a:r>
          </a:p>
        </p:txBody>
      </p:sp>
      <p:sp>
        <p:nvSpPr>
          <p:cNvPr id="11" name="Text 5">
            <a:extLst xmlns:a="http://schemas.openxmlformats.org/drawingml/2006/main">
              <a:ext uri="{FF2B5EF4-FFF2-40B4-BE49-F238E27FC236}">
                <a16:creationId xmlns:a16="http://schemas.microsoft.com/office/drawing/2014/main" id="{E9C74FAE-76A2-4458-921B-B9B3588D4984}"/>
              </a:ext>
            </a:extLst>
          </p:cNvPr>
          <p:cNvSpPr>
            <a:spLocks xmlns:a="http://schemas.openxmlformats.org/drawingml/2006/main" noGrp="1"/>
          </p:cNvSpPr>
          <p:nvPr/>
        </p:nvSpPr>
        <p:spPr>
          <a:xfrm xmlns:a="http://schemas.openxmlformats.org/drawingml/2006/main">
            <a:off x="952805" y="5905195"/>
            <a:ext cx="13376758" cy="9144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7200" b="1">
                <a:solidFill>
                  <a:srgbClr val="FFFFFF"/>
                </a:solidFill>
                <a:latin typeface="Inter"/>
                <a:ea typeface="Inter"/>
                <a:cs typeface="Inter"/>
              </a:rPr>
              <a:t>Questions and Discussion</a:t>
            </a:r>
          </a:p>
        </p:txBody>
      </p:sp>
      <p:sp>
        <p:nvSpPr>
          <p:cNvPr id="12" name="Text 6">
            <a:extLst xmlns:a="http://schemas.openxmlformats.org/drawingml/2006/main">
              <a:ext uri="{FF2B5EF4-FFF2-40B4-BE49-F238E27FC236}">
                <a16:creationId xmlns:a16="http://schemas.microsoft.com/office/drawing/2014/main" id="{7F8065DA-EBFC-4182-B896-8A4C6BE39992}"/>
              </a:ext>
            </a:extLst>
          </p:cNvPr>
          <p:cNvSpPr>
            <a:spLocks xmlns:a="http://schemas.openxmlformats.org/drawingml/2006/main" noGrp="1"/>
          </p:cNvSpPr>
          <p:nvPr/>
        </p:nvSpPr>
        <p:spPr>
          <a:xfrm xmlns:a="http://schemas.openxmlformats.org/drawingml/2006/main">
            <a:off x="952805" y="7125005"/>
            <a:ext cx="11430000" cy="7342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4800" b="1">
                <a:solidFill>
                  <a:srgbClr val="FF5CA0"/>
                </a:solidFill>
                <a:latin typeface="Inter"/>
                <a:ea typeface="Inter"/>
                <a:cs typeface="Inter"/>
              </a:rPr>
              <a:t>Questions?</a:t>
            </a:r>
          </a:p>
        </p:txBody>
      </p:sp>
      <p:sp>
        <p:nvSpPr>
          <p:cNvPr id="13" name="Text 7">
            <a:extLst xmlns:a="http://schemas.openxmlformats.org/drawingml/2006/main">
              <a:ext uri="{FF2B5EF4-FFF2-40B4-BE49-F238E27FC236}">
                <a16:creationId xmlns:a16="http://schemas.microsoft.com/office/drawing/2014/main" id="{DEC3C37D-8797-4FD5-B978-88536DF92469}"/>
              </a:ext>
            </a:extLst>
          </p:cNvPr>
          <p:cNvSpPr>
            <a:spLocks xmlns:a="http://schemas.openxmlformats.org/drawingml/2006/main" noGrp="1"/>
          </p:cNvSpPr>
          <p:nvPr/>
        </p:nvSpPr>
        <p:spPr>
          <a:xfrm xmlns:a="http://schemas.openxmlformats.org/drawingml/2006/main">
            <a:off x="952805" y="9239098"/>
            <a:ext cx="11430000" cy="22860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100">
                <a:solidFill>
                  <a:srgbClr val="FFFFFF">
                    <a:alpha val="70000"/>
                  </a:srgbClr>
                </a:solidFill>
                <a:latin typeface="JetBrains Mono"/>
                <a:ea typeface="JetBrains Mono"/>
                <a:cs typeface="JetBrains Mono"/>
              </a:rPr>
              <a:t>Suggested topics · methodology · threshold choice · explainability · fairness · pilot assumptions · limitations</a:t>
            </a:r>
          </a:p>
        </p:txBody>
      </p:sp>
      <p:sp>
        <p:nvSpPr>
          <p:cNvPr id="14" name="Text 8">
            <a:extLst xmlns:a="http://schemas.openxmlformats.org/drawingml/2006/main">
              <a:ext uri="{FF2B5EF4-FFF2-40B4-BE49-F238E27FC236}">
                <a16:creationId xmlns:a16="http://schemas.microsoft.com/office/drawing/2014/main" id="{96A86732-91DB-46AE-85F0-72770F0CAC21}"/>
              </a:ext>
            </a:extLst>
          </p:cNvPr>
          <p:cNvSpPr>
            <a:spLocks xmlns:a="http://schemas.openxmlformats.org/drawingml/2006/main" noGrp="1"/>
          </p:cNvSpPr>
          <p:nvPr/>
        </p:nvSpPr>
        <p:spPr>
          <a:xfrm xmlns:a="http://schemas.openxmlformats.org/drawingml/2006/main">
            <a:off x="13334695" y="3476549"/>
            <a:ext cx="3715207" cy="1243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800">
                <a:solidFill>
                  <a:srgbClr val="FFFFFF">
                    <a:alpha val="55000"/>
                  </a:srgbClr>
                </a:solidFill>
                <a:latin typeface="JetBrains Mono"/>
                <a:ea typeface="JetBrains Mono"/>
                <a:cs typeface="JetBrains Mono"/>
              </a:rPr>
              <a:t>Group 21</a:t>
            </a:r>
          </a:p>
        </p:txBody>
      </p:sp>
      <p:sp>
        <p:nvSpPr>
          <p:cNvPr id="15" name="Text 9">
            <a:extLst xmlns:a="http://schemas.openxmlformats.org/drawingml/2006/main">
              <a:ext uri="{FF2B5EF4-FFF2-40B4-BE49-F238E27FC236}">
                <a16:creationId xmlns:a16="http://schemas.microsoft.com/office/drawing/2014/main" id="{2F9133EF-123A-4170-86AA-3CC3D3E368EF}"/>
              </a:ext>
            </a:extLst>
          </p:cNvPr>
          <p:cNvSpPr>
            <a:spLocks xmlns:a="http://schemas.openxmlformats.org/drawingml/2006/main" noGrp="1"/>
          </p:cNvSpPr>
          <p:nvPr/>
        </p:nvSpPr>
        <p:spPr>
          <a:xfrm xmlns:a="http://schemas.openxmlformats.org/drawingml/2006/main">
            <a:off x="13334695" y="3706978"/>
            <a:ext cx="3715207" cy="7790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940"/>
              </a:lnSpc>
              <a:buNone/>
            </a:pPr>
            <a:r>
              <a:rPr sz="2100" b="1">
                <a:solidFill>
                  <a:srgbClr val="FFFFFF"/>
                </a:solidFill>
                <a:latin typeface="Inter"/>
                <a:ea typeface="Inter"/>
                <a:cs typeface="Inter"/>
              </a:rPr>
              <a:t>Xinyu Wang</a:t>
            </a:r>
          </a:p>
          <a:p xmlns:a="http://schemas.openxmlformats.org/drawingml/2006/main">
            <a:pPr marL="0" indent="0" algn="l">
              <a:lnSpc>
                <a:spcPts val="2940"/>
              </a:lnSpc>
              <a:buNone/>
            </a:pPr>
            <a:r>
              <a:rPr sz="2100" b="1">
                <a:solidFill>
                  <a:srgbClr val="FFFFFF"/>
                </a:solidFill>
                <a:latin typeface="Inter"/>
                <a:ea typeface="Inter"/>
                <a:cs typeface="Inter"/>
              </a:rPr>
              <a:t>Wu Hanming</a:t>
            </a:r>
          </a:p>
        </p:txBody>
      </p:sp>
      <p:sp>
        <p:nvSpPr>
          <p:cNvPr id="16" name="Shape 10">
            <a:extLst xmlns:a="http://schemas.openxmlformats.org/drawingml/2006/main">
              <a:ext uri="{FF2B5EF4-FFF2-40B4-BE49-F238E27FC236}">
                <a16:creationId xmlns:a16="http://schemas.microsoft.com/office/drawing/2014/main" id="{DC1389AD-1452-4889-A32D-C4A51EC26C61}"/>
              </a:ext>
            </a:extLst>
          </p:cNvPr>
          <p:cNvSpPr>
            <a:spLocks xmlns:a="http://schemas.openxmlformats.org/drawingml/2006/main" noGrp="1"/>
          </p:cNvSpPr>
          <p:nvPr/>
        </p:nvSpPr>
        <p:spPr>
          <a:xfrm xmlns:a="http://schemas.openxmlformats.org/drawingml/2006/main">
            <a:off x="13334695" y="4785055"/>
            <a:ext cx="3715207" cy="9144"/>
          </a:xfrm>
          <a:prstGeom xmlns:a="http://schemas.openxmlformats.org/drawingml/2006/main" prst="rect">
            <a:avLst/>
          </a:prstGeom>
          <a:solidFill xmlns:a="http://schemas.openxmlformats.org/drawingml/2006/main">
            <a:srgbClr val="FFFFFF">
              <a:alpha val="15000"/>
            </a:srgbClr>
          </a:solidFill>
          <a:ln xmlns:a="http://schemas.openxmlformats.org/drawingml/2006/main" w="12700">
            <a:solidFill>
              <a:srgbClr val="FFFFFF">
                <a:alpha val="0"/>
              </a:srgbClr>
            </a:solidFill>
            <a:prstDash val="solid"/>
          </a:ln>
        </p:spPr>
      </p:sp>
      <p:sp>
        <p:nvSpPr>
          <p:cNvPr id="17" name="Text 11">
            <a:extLst xmlns:a="http://schemas.openxmlformats.org/drawingml/2006/main">
              <a:ext uri="{FF2B5EF4-FFF2-40B4-BE49-F238E27FC236}">
                <a16:creationId xmlns:a16="http://schemas.microsoft.com/office/drawing/2014/main" id="{4CC6DD20-4831-4877-9D3E-1643366332B7}"/>
              </a:ext>
            </a:extLst>
          </p:cNvPr>
          <p:cNvSpPr>
            <a:spLocks xmlns:a="http://schemas.openxmlformats.org/drawingml/2006/main" noGrp="1"/>
          </p:cNvSpPr>
          <p:nvPr/>
        </p:nvSpPr>
        <p:spPr>
          <a:xfrm xmlns:a="http://schemas.openxmlformats.org/drawingml/2006/main">
            <a:off x="13334695" y="4937760"/>
            <a:ext cx="3715207" cy="1067105"/>
          </a:xfrm>
          <a:prstGeom xmlns:a="http://schemas.openxmlformats.org/drawingml/2006/main" prst="rect">
            <a:avLst/>
          </a:prstGeom>
          <a:solidFill xmlns:a="http://schemas.openxmlformats.org/drawingml/2006/main">
            <a:srgbClr val="FFFFFF">
              <a:alpha val="0"/>
            </a:srgbClr>
          </a:solidFill>
          <a:ln xmlns:a="http://schemas.openxmlformats.org/drawingml/2006/main">
            <a:solidFill>
              <a:srgbClr val="FFFFFF">
                <a:alpha val="0"/>
              </a:srgbClr>
            </a:solidFill>
          </a:ln>
        </p:spPr>
        <p:txBody>
          <a:bodyPr xmlns:a="http://schemas.openxmlformats.org/drawingml/2006/main" wrap="square" lIns="190500" tIns="0" rIns="190500" bIns="190500" anchor="t"/>
          <a:lstStyle xmlns:a="http://schemas.openxmlformats.org/drawingml/2006/main"/>
          <a:p xmlns:a="http://schemas.openxmlformats.org/drawingml/2006/main">
            <a:pPr marL="0" indent="0" algn="l">
              <a:lnSpc>
                <a:spcPts val="1995"/>
              </a:lnSpc>
              <a:buNone/>
            </a:pPr>
            <a:r>
              <a:rPr sz="1000">
                <a:solidFill>
                  <a:srgbClr val="FFFFFF">
                    <a:alpha val="70000"/>
                  </a:srgbClr>
                </a:solidFill>
                <a:latin typeface="JetBrains Mono"/>
                <a:ea typeface="JetBrains Mono"/>
                <a:cs typeface="JetBrains Mono"/>
              </a:rPr>
              <a:t>MBAI 5600G Capstone</a:t>
            </a:r>
          </a:p>
          <a:p xmlns:a="http://schemas.openxmlformats.org/drawingml/2006/main">
            <a:pPr marL="0" indent="0" algn="l">
              <a:lnSpc>
                <a:spcPts val="1995"/>
              </a:lnSpc>
              <a:buNone/>
            </a:pPr>
            <a:r>
              <a:rPr sz="1000">
                <a:solidFill>
                  <a:srgbClr val="FFFFFF">
                    <a:alpha val="70000"/>
                  </a:srgbClr>
                </a:solidFill>
                <a:latin typeface="JetBrains Mono"/>
                <a:ea typeface="JetBrains Mono"/>
                <a:cs typeface="JetBrains Mono"/>
              </a:rPr>
              <a:t>Faculty of Business and IT</a:t>
            </a:r>
          </a:p>
          <a:p xmlns:a="http://schemas.openxmlformats.org/drawingml/2006/main">
            <a:pPr marL="0" indent="0" algn="l">
              <a:lnSpc>
                <a:spcPts val="1995"/>
              </a:lnSpc>
              <a:buNone/>
            </a:pPr>
            <a:r>
              <a:rPr sz="1000">
                <a:solidFill>
                  <a:srgbClr val="FFFFFF">
                    <a:alpha val="70000"/>
                  </a:srgbClr>
                </a:solidFill>
                <a:latin typeface="JetBrains Mono"/>
                <a:ea typeface="JetBrains Mono"/>
                <a:cs typeface="JetBrains Mono"/>
              </a:rPr>
              <a:t>Ontario Tech University</a:t>
            </a:r>
          </a:p>
          <a:p xmlns:a="http://schemas.openxmlformats.org/drawingml/2006/main">
            <a:pPr marL="0" indent="0" algn="l">
              <a:lnSpc>
                <a:spcPts val="1995"/>
              </a:lnSpc>
              <a:buNone/>
            </a:pPr>
            <a:r>
              <a:rPr sz="1000">
                <a:solidFill>
                  <a:srgbClr val="FFFFFF">
                    <a:alpha val="70000"/>
                  </a:srgbClr>
                </a:solidFill>
                <a:latin typeface="JetBrains Mono"/>
                <a:ea typeface="JetBrains Mono"/>
                <a:cs typeface="JetBrains Mono"/>
              </a:rPr>
              <a:t>2026-08-10</a:t>
            </a:r>
          </a:p>
        </p:txBody>
      </p:sp>
      <p:sp>
        <p:nvSpPr>
          <p:cNvPr id="18" name="Shape 12">
            <a:extLst xmlns:a="http://schemas.openxmlformats.org/drawingml/2006/main">
              <a:ext uri="{FF2B5EF4-FFF2-40B4-BE49-F238E27FC236}">
                <a16:creationId xmlns:a16="http://schemas.microsoft.com/office/drawing/2014/main" id="{8625C5DB-58C6-4F1D-A3CB-61ECFCB8D99A}"/>
              </a:ext>
            </a:extLst>
          </p:cNvPr>
          <p:cNvSpPr>
            <a:spLocks xmlns:a="http://schemas.openxmlformats.org/drawingml/2006/main" noGrp="1"/>
          </p:cNvSpPr>
          <p:nvPr/>
        </p:nvSpPr>
        <p:spPr>
          <a:xfrm xmlns:a="http://schemas.openxmlformats.org/drawingml/2006/main">
            <a:off x="13334695" y="6227064"/>
            <a:ext cx="3715207" cy="9144"/>
          </a:xfrm>
          <a:prstGeom xmlns:a="http://schemas.openxmlformats.org/drawingml/2006/main" prst="rect">
            <a:avLst/>
          </a:prstGeom>
          <a:solidFill xmlns:a="http://schemas.openxmlformats.org/drawingml/2006/main">
            <a:srgbClr val="FFFFFF">
              <a:alpha val="15000"/>
            </a:srgbClr>
          </a:solidFill>
          <a:ln xmlns:a="http://schemas.openxmlformats.org/drawingml/2006/main" w="12700">
            <a:solidFill>
              <a:srgbClr val="FFFFFF">
                <a:alpha val="0"/>
              </a:srgbClr>
            </a:solidFill>
            <a:prstDash val="solid"/>
          </a:ln>
        </p:spPr>
      </p:sp>
      <p:sp>
        <p:nvSpPr>
          <p:cNvPr id="19" name="Text 13">
            <a:extLst xmlns:a="http://schemas.openxmlformats.org/drawingml/2006/main">
              <a:ext uri="{FF2B5EF4-FFF2-40B4-BE49-F238E27FC236}">
                <a16:creationId xmlns:a16="http://schemas.microsoft.com/office/drawing/2014/main" id="{EF2DE8C1-EEF3-4E4D-A927-E8674C7F3316}"/>
              </a:ext>
            </a:extLst>
          </p:cNvPr>
          <p:cNvSpPr>
            <a:spLocks xmlns:a="http://schemas.openxmlformats.org/drawingml/2006/main" noGrp="1"/>
          </p:cNvSpPr>
          <p:nvPr/>
        </p:nvSpPr>
        <p:spPr>
          <a:xfrm xmlns:a="http://schemas.openxmlformats.org/drawingml/2006/main">
            <a:off x="13334695" y="6388913"/>
            <a:ext cx="3715207" cy="400507"/>
          </a:xfrm>
          <a:prstGeom xmlns:a="http://schemas.openxmlformats.org/drawingml/2006/main" prst="rect">
            <a:avLst/>
          </a:prstGeom>
          <a:solidFill xmlns:a="http://schemas.openxmlformats.org/drawingml/2006/main">
            <a:srgbClr val="FFFFFF">
              <a:alpha val="0"/>
            </a:srgbClr>
          </a:solidFill>
          <a:ln xmlns:a="http://schemas.openxmlformats.org/drawingml/2006/main">
            <a:solidFill>
              <a:srgbClr val="FFFFFF">
                <a:alpha val="0"/>
              </a:srgbClr>
            </a:solidFill>
          </a:ln>
        </p:spPr>
        <p:txBody>
          <a:bodyPr xmlns:a="http://schemas.openxmlformats.org/drawingml/2006/main" wrap="square" lIns="152400" tIns="0" rIns="152400" bIns="152400" anchor="ctr"/>
          <a:lstStyle xmlns:a="http://schemas.openxmlformats.org/drawingml/2006/main"/>
          <a:p xmlns:a="http://schemas.openxmlformats.org/drawingml/2006/main">
            <a:pPr marL="0" indent="0" algn="l">
              <a:buNone/>
            </a:pPr>
            <a:r>
              <a:rPr sz="900">
                <a:solidFill>
                  <a:srgbClr val="FFFFFF">
                    <a:alpha val="50000"/>
                  </a:srgbClr>
                </a:solidFill>
                <a:latin typeface="JetBrains Mono"/>
                <a:ea typeface="JetBrains Mono"/>
                <a:cs typeface="JetBrains Mono"/>
              </a:rPr>
              <a:t>All figures produced from the project pipeline. Full references on slide 19.</a:t>
            </a:r>
          </a:p>
        </p:txBody>
      </p:sp>
    </p:spTree>
    <p:extLst>
      <p:ext uri="{BB962C8B-B14F-4D97-AF65-F5344CB8AC3E}">
        <p14:creationId xmlns:p14="http://schemas.microsoft.com/office/powerpoint/2010/main" val="1154100330"/>
      </p:ext>
    </p:extLst>
  </p:cSld>
</p:sld>
</file>

<file path=ppt/slides/slide18.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0012c14734ff4d6a"/>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1C7CB7DE-BCDE-431F-B889-4F4A3BA234C0}"/>
              </a:ext>
            </a:extLst>
          </p:cNvPr>
          <p:cNvSpPr>
            <a:spLocks xmlns:a="http://schemas.openxmlformats.org/drawingml/2006/main" noGrp="1"/>
          </p:cNvSpPr>
          <p:nvPr/>
        </p:nvSpPr>
        <p:spPr>
          <a:xfrm xmlns:a="http://schemas.openxmlformats.org/drawingml/2006/main">
            <a:off x="761695" y="2762402"/>
            <a:ext cx="8305495" cy="6495898"/>
          </a:xfrm>
          <a:prstGeom xmlns:a="http://schemas.openxmlformats.org/drawingml/2006/main" prst="roundRect">
            <a:avLst>
              <a:gd name="adj" fmla="val 296"/>
            </a:avLst>
          </a:prstGeom>
          <a:solidFill xmlns:a="http://schemas.openxmlformats.org/drawingml/2006/main">
            <a:srgbClr val="FFFFFF"/>
          </a:solidFill>
          <a:ln xmlns:a="http://schemas.openxmlformats.org/drawingml/2006/main" w="12700">
            <a:solidFill>
              <a:srgbClr val="E4E5EF"/>
            </a:solidFill>
            <a:prstDash val="solid"/>
          </a:ln>
        </p:spPr>
      </p:sp>
      <p:sp>
        <p:nvSpPr>
          <p:cNvPr id="4" name="Shape 1">
            <a:extLst xmlns:a="http://schemas.openxmlformats.org/drawingml/2006/main">
              <a:ext uri="{FF2B5EF4-FFF2-40B4-BE49-F238E27FC236}">
                <a16:creationId xmlns:a16="http://schemas.microsoft.com/office/drawing/2014/main" id="{886F26FD-D06A-4C6B-8379-63AF94E2B96B}"/>
              </a:ext>
            </a:extLst>
          </p:cNvPr>
          <p:cNvSpPr>
            <a:spLocks xmlns:a="http://schemas.openxmlformats.org/drawingml/2006/main" noGrp="1"/>
          </p:cNvSpPr>
          <p:nvPr/>
        </p:nvSpPr>
        <p:spPr>
          <a:xfrm xmlns:a="http://schemas.openxmlformats.org/drawingml/2006/main">
            <a:off x="9239098" y="2762402"/>
            <a:ext cx="8287207" cy="6476695"/>
          </a:xfrm>
          <a:prstGeom xmlns:a="http://schemas.openxmlformats.org/drawingml/2006/main" prst="roundRect">
            <a:avLst>
              <a:gd name="adj" fmla="val 296"/>
            </a:avLst>
          </a:prstGeom>
          <a:solidFill xmlns:a="http://schemas.openxmlformats.org/drawingml/2006/main">
            <a:srgbClr val="1A1D5C"/>
          </a:solidFill>
          <a:ln xmlns:a="http://schemas.openxmlformats.org/drawingml/2006/main" w="12700">
            <a:solidFill>
              <a:srgbClr val="FFFFFF">
                <a:alpha val="0"/>
              </a:srgbClr>
            </a:solidFill>
            <a:prstDash val="solid"/>
          </a:ln>
        </p:spPr>
      </p:sp>
      <p:sp>
        <p:nvSpPr>
          <p:cNvPr id="5" name="Text 2">
            <a:extLst xmlns:a="http://schemas.openxmlformats.org/drawingml/2006/main">
              <a:ext uri="{FF2B5EF4-FFF2-40B4-BE49-F238E27FC236}">
                <a16:creationId xmlns:a16="http://schemas.microsoft.com/office/drawing/2014/main" id="{BAF51B3B-8398-4B58-AADA-C1A2EF73A58C}"/>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Appendix · Detailed assumptions (not spoken)</a:t>
            </a:r>
          </a:p>
        </p:txBody>
      </p:sp>
      <p:sp>
        <p:nvSpPr>
          <p:cNvPr id="6" name="Text 3">
            <a:extLst xmlns:a="http://schemas.openxmlformats.org/drawingml/2006/main">
              <a:ext uri="{FF2B5EF4-FFF2-40B4-BE49-F238E27FC236}">
                <a16:creationId xmlns:a16="http://schemas.microsoft.com/office/drawing/2014/main" id="{0305CB88-351D-46AD-BE09-50E2F9CA892D}"/>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18 / 19</a:t>
            </a:r>
          </a:p>
        </p:txBody>
      </p:sp>
      <p:sp>
        <p:nvSpPr>
          <p:cNvPr id="7" name="Text 4">
            <a:extLst xmlns:a="http://schemas.openxmlformats.org/drawingml/2006/main">
              <a:ext uri="{FF2B5EF4-FFF2-40B4-BE49-F238E27FC236}">
                <a16:creationId xmlns:a16="http://schemas.microsoft.com/office/drawing/2014/main" id="{B1E223A2-34F7-489E-A141-94EC097F586C}"/>
              </a:ext>
            </a:extLst>
          </p:cNvPr>
          <p:cNvSpPr>
            <a:spLocks xmlns:a="http://schemas.openxmlformats.org/drawingml/2006/main" noGrp="1"/>
          </p:cNvSpPr>
          <p:nvPr/>
        </p:nvSpPr>
        <p:spPr>
          <a:xfrm xmlns:a="http://schemas.openxmlformats.org/drawingml/2006/main">
            <a:off x="761695" y="1238098"/>
            <a:ext cx="16764610" cy="562356"/>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4200" b="1">
                <a:solidFill>
                  <a:srgbClr val="0F1226"/>
                </a:solidFill>
                <a:latin typeface="Inter"/>
                <a:ea typeface="Inter"/>
                <a:cs typeface="Inter"/>
              </a:rPr>
              <a:t>Detailed assumptions &amp; evaluation criteria.</a:t>
            </a:r>
          </a:p>
        </p:txBody>
      </p:sp>
      <p:sp>
        <p:nvSpPr>
          <p:cNvPr id="8" name="Text 5">
            <a:extLst xmlns:a="http://schemas.openxmlformats.org/drawingml/2006/main">
              <a:ext uri="{FF2B5EF4-FFF2-40B4-BE49-F238E27FC236}">
                <a16:creationId xmlns:a16="http://schemas.microsoft.com/office/drawing/2014/main" id="{CA1C26BC-C394-493D-8D5A-50E9B72D670C}"/>
              </a:ext>
            </a:extLst>
          </p:cNvPr>
          <p:cNvSpPr>
            <a:spLocks xmlns:a="http://schemas.openxmlformats.org/drawingml/2006/main" noGrp="1"/>
          </p:cNvSpPr>
          <p:nvPr/>
        </p:nvSpPr>
        <p:spPr>
          <a:xfrm xmlns:a="http://schemas.openxmlformats.org/drawingml/2006/main">
            <a:off x="761695" y="1931213"/>
            <a:ext cx="16764610" cy="21031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i="1">
                <a:solidFill>
                  <a:srgbClr val="6A6F8C"/>
                </a:solidFill>
                <a:latin typeface="Source Serif Pro"/>
                <a:ea typeface="Source Serif Pro"/>
                <a:cs typeface="Source Serif Pro"/>
              </a:rPr>
              <a:t>Reference material for the written submission and Q&amp;A — not part of the spoken talk.</a:t>
            </a:r>
          </a:p>
        </p:txBody>
      </p:sp>
      <p:sp>
        <p:nvSpPr>
          <p:cNvPr id="9" name="Text 6">
            <a:extLst xmlns:a="http://schemas.openxmlformats.org/drawingml/2006/main">
              <a:ext uri="{FF2B5EF4-FFF2-40B4-BE49-F238E27FC236}">
                <a16:creationId xmlns:a16="http://schemas.microsoft.com/office/drawing/2014/main" id="{AFF922E4-0D75-408F-B975-97E974FF4916}"/>
              </a:ext>
            </a:extLst>
          </p:cNvPr>
          <p:cNvSpPr>
            <a:spLocks xmlns:a="http://schemas.openxmlformats.org/drawingml/2006/main" noGrp="1"/>
          </p:cNvSpPr>
          <p:nvPr/>
        </p:nvSpPr>
        <p:spPr>
          <a:xfrm xmlns:a="http://schemas.openxmlformats.org/drawingml/2006/main">
            <a:off x="1143000" y="3047695"/>
            <a:ext cx="75255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Working assumptions</a:t>
            </a:r>
          </a:p>
        </p:txBody>
      </p:sp>
      <p:sp>
        <p:nvSpPr>
          <p:cNvPr id="10" name="Text 7">
            <a:extLst xmlns:a="http://schemas.openxmlformats.org/drawingml/2006/main">
              <a:ext uri="{FF2B5EF4-FFF2-40B4-BE49-F238E27FC236}">
                <a16:creationId xmlns:a16="http://schemas.microsoft.com/office/drawing/2014/main" id="{53532896-9CF0-45C7-8B7A-430362A9180E}"/>
              </a:ext>
            </a:extLst>
          </p:cNvPr>
          <p:cNvSpPr>
            <a:spLocks xmlns:a="http://schemas.openxmlformats.org/drawingml/2006/main" noGrp="1"/>
          </p:cNvSpPr>
          <p:nvPr/>
        </p:nvSpPr>
        <p:spPr>
          <a:xfrm xmlns:a="http://schemas.openxmlformats.org/drawingml/2006/main">
            <a:off x="1143000" y="3276295"/>
            <a:ext cx="7525512" cy="3054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800" b="1">
                <a:solidFill>
                  <a:srgbClr val="0F1226"/>
                </a:solidFill>
                <a:latin typeface="Inter"/>
                <a:ea typeface="Inter"/>
                <a:cs typeface="Inter"/>
              </a:rPr>
              <a:t>What has to hold for the results to be meaningful.</a:t>
            </a:r>
          </a:p>
        </p:txBody>
      </p:sp>
      <p:sp>
        <p:nvSpPr>
          <p:cNvPr id="11" name="Shape 8">
            <a:extLst xmlns:a="http://schemas.openxmlformats.org/drawingml/2006/main">
              <a:ext uri="{FF2B5EF4-FFF2-40B4-BE49-F238E27FC236}">
                <a16:creationId xmlns:a16="http://schemas.microsoft.com/office/drawing/2014/main" id="{DBEABBAD-B968-488E-83F0-743C761B79A1}"/>
              </a:ext>
            </a:extLst>
          </p:cNvPr>
          <p:cNvSpPr>
            <a:spLocks xmlns:a="http://schemas.openxmlformats.org/drawingml/2006/main" noGrp="1"/>
          </p:cNvSpPr>
          <p:nvPr/>
        </p:nvSpPr>
        <p:spPr>
          <a:xfrm xmlns:a="http://schemas.openxmlformats.org/drawingml/2006/main">
            <a:off x="1143000" y="3782873"/>
            <a:ext cx="75245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12" name="Text 9">
            <a:extLst xmlns:a="http://schemas.openxmlformats.org/drawingml/2006/main">
              <a:ext uri="{FF2B5EF4-FFF2-40B4-BE49-F238E27FC236}">
                <a16:creationId xmlns:a16="http://schemas.microsoft.com/office/drawing/2014/main" id="{D9763B12-3254-41C5-AF6C-1C919896CAD8}"/>
              </a:ext>
            </a:extLst>
          </p:cNvPr>
          <p:cNvSpPr>
            <a:spLocks xmlns:a="http://schemas.openxmlformats.org/drawingml/2006/main" noGrp="1"/>
          </p:cNvSpPr>
          <p:nvPr/>
        </p:nvSpPr>
        <p:spPr>
          <a:xfrm xmlns:a="http://schemas.openxmlformats.org/drawingml/2006/main">
            <a:off x="1143000" y="3983126"/>
            <a:ext cx="8211312" cy="2770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A1</a:t>
            </a:r>
            <a:r>
              <a:rPr sz="1200">
                <a:solidFill>
                  <a:srgbClr val="2A2E4B"/>
                </a:solidFill>
                <a:latin typeface="Inter"/>
                <a:ea typeface="Inter"/>
                <a:cs typeface="Inter"/>
              </a:rPr>
              <a:t>Historical patterns are a fair proxy for the next cohort within the same institution.</a:t>
            </a:r>
          </a:p>
        </p:txBody>
      </p:sp>
      <p:sp>
        <p:nvSpPr>
          <p:cNvPr id="13" name="Text 10">
            <a:extLst xmlns:a="http://schemas.openxmlformats.org/drawingml/2006/main">
              <a:ext uri="{FF2B5EF4-FFF2-40B4-BE49-F238E27FC236}">
                <a16:creationId xmlns:a16="http://schemas.microsoft.com/office/drawing/2014/main" id="{8F1E6A98-D8AE-407B-9D3F-03D9D71508B6}"/>
              </a:ext>
            </a:extLst>
          </p:cNvPr>
          <p:cNvSpPr>
            <a:spLocks xmlns:a="http://schemas.openxmlformats.org/drawingml/2006/main" noGrp="1"/>
          </p:cNvSpPr>
          <p:nvPr/>
        </p:nvSpPr>
        <p:spPr>
          <a:xfrm xmlns:a="http://schemas.openxmlformats.org/drawingml/2006/main">
            <a:off x="1143000" y="4449470"/>
            <a:ext cx="8211312" cy="2770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A2</a:t>
            </a:r>
            <a:r>
              <a:rPr sz="1200">
                <a:solidFill>
                  <a:srgbClr val="2A2E4B"/>
                </a:solidFill>
                <a:latin typeface="Inter"/>
                <a:ea typeface="Inter"/>
                <a:cs typeface="Inter"/>
              </a:rPr>
              <a:t>1st-semester (UCI) and first-75-day (OULAD) windows are institutionally actionable.</a:t>
            </a:r>
          </a:p>
        </p:txBody>
      </p:sp>
      <p:sp>
        <p:nvSpPr>
          <p:cNvPr id="14" name="Text 11">
            <a:extLst xmlns:a="http://schemas.openxmlformats.org/drawingml/2006/main">
              <a:ext uri="{FF2B5EF4-FFF2-40B4-BE49-F238E27FC236}">
                <a16:creationId xmlns:a16="http://schemas.microsoft.com/office/drawing/2014/main" id="{6E2A7488-1047-41CD-ACB7-F212DF52A249}"/>
              </a:ext>
            </a:extLst>
          </p:cNvPr>
          <p:cNvSpPr>
            <a:spLocks xmlns:a="http://schemas.openxmlformats.org/drawingml/2006/main" noGrp="1"/>
          </p:cNvSpPr>
          <p:nvPr/>
        </p:nvSpPr>
        <p:spPr>
          <a:xfrm xmlns:a="http://schemas.openxmlformats.org/drawingml/2006/main">
            <a:off x="1143000" y="4914900"/>
            <a:ext cx="8211312" cy="2770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A3</a:t>
            </a:r>
            <a:r>
              <a:rPr sz="1200">
                <a:solidFill>
                  <a:srgbClr val="2A2E4B"/>
                </a:solidFill>
                <a:latin typeface="Inter"/>
                <a:ea typeface="Inter"/>
                <a:cs typeface="Inter"/>
              </a:rPr>
              <a:t>Withdrawal on OULAD is a reasonable proxy for dropout for early-warning purposes.</a:t>
            </a:r>
          </a:p>
        </p:txBody>
      </p:sp>
      <p:sp>
        <p:nvSpPr>
          <p:cNvPr id="15" name="Text 12">
            <a:extLst xmlns:a="http://schemas.openxmlformats.org/drawingml/2006/main">
              <a:ext uri="{FF2B5EF4-FFF2-40B4-BE49-F238E27FC236}">
                <a16:creationId xmlns:a16="http://schemas.microsoft.com/office/drawing/2014/main" id="{9434A96A-D1EE-4A17-9FCD-62CD70327C4F}"/>
              </a:ext>
            </a:extLst>
          </p:cNvPr>
          <p:cNvSpPr>
            <a:spLocks xmlns:a="http://schemas.openxmlformats.org/drawingml/2006/main" noGrp="1"/>
          </p:cNvSpPr>
          <p:nvPr/>
        </p:nvSpPr>
        <p:spPr>
          <a:xfrm xmlns:a="http://schemas.openxmlformats.org/drawingml/2006/main">
            <a:off x="1143000" y="5380330"/>
            <a:ext cx="7525512" cy="2770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A4</a:t>
            </a:r>
            <a:r>
              <a:rPr sz="1200">
                <a:solidFill>
                  <a:srgbClr val="2A2E4B"/>
                </a:solidFill>
                <a:latin typeface="Inter"/>
                <a:ea typeface="Inter"/>
                <a:cs typeface="Inter"/>
              </a:rPr>
              <a:t>Advisors keep the loop closed — the model ranks, humans decide.</a:t>
            </a:r>
          </a:p>
        </p:txBody>
      </p:sp>
      <p:sp>
        <p:nvSpPr>
          <p:cNvPr id="16" name="Text 13">
            <a:extLst xmlns:a="http://schemas.openxmlformats.org/drawingml/2006/main">
              <a:ext uri="{FF2B5EF4-FFF2-40B4-BE49-F238E27FC236}">
                <a16:creationId xmlns:a16="http://schemas.microsoft.com/office/drawing/2014/main" id="{7FF2A26A-6A97-4607-8CD9-D90C8049CD6D}"/>
              </a:ext>
            </a:extLst>
          </p:cNvPr>
          <p:cNvSpPr>
            <a:spLocks xmlns:a="http://schemas.openxmlformats.org/drawingml/2006/main" noGrp="1"/>
          </p:cNvSpPr>
          <p:nvPr/>
        </p:nvSpPr>
        <p:spPr>
          <a:xfrm xmlns:a="http://schemas.openxmlformats.org/drawingml/2006/main">
            <a:off x="1143000" y="5846674"/>
            <a:ext cx="8211312" cy="277063"/>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A5</a:t>
            </a:r>
            <a:r>
              <a:rPr sz="1200">
                <a:solidFill>
                  <a:srgbClr val="2A2E4B"/>
                </a:solidFill>
                <a:latin typeface="Inter"/>
                <a:ea typeface="Inter"/>
                <a:cs typeface="Inter"/>
              </a:rPr>
              <a:t>Cost and value figures are illustrative planning assumptions, not audited numbers.</a:t>
            </a:r>
          </a:p>
        </p:txBody>
      </p:sp>
      <p:sp>
        <p:nvSpPr>
          <p:cNvPr id="17" name="Text 14">
            <a:extLst xmlns:a="http://schemas.openxmlformats.org/drawingml/2006/main">
              <a:ext uri="{FF2B5EF4-FFF2-40B4-BE49-F238E27FC236}">
                <a16:creationId xmlns:a16="http://schemas.microsoft.com/office/drawing/2014/main" id="{C3CE9D7B-4850-48A7-9706-2034D602651D}"/>
              </a:ext>
            </a:extLst>
          </p:cNvPr>
          <p:cNvSpPr>
            <a:spLocks xmlns:a="http://schemas.openxmlformats.org/drawingml/2006/main" noGrp="1"/>
          </p:cNvSpPr>
          <p:nvPr/>
        </p:nvSpPr>
        <p:spPr>
          <a:xfrm xmlns:a="http://schemas.openxmlformats.org/drawingml/2006/main">
            <a:off x="9620402" y="3047695"/>
            <a:ext cx="75255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Evidence considered</a:t>
            </a:r>
          </a:p>
        </p:txBody>
      </p:sp>
      <p:sp>
        <p:nvSpPr>
          <p:cNvPr id="18" name="Text 15">
            <a:extLst xmlns:a="http://schemas.openxmlformats.org/drawingml/2006/main">
              <a:ext uri="{FF2B5EF4-FFF2-40B4-BE49-F238E27FC236}">
                <a16:creationId xmlns:a16="http://schemas.microsoft.com/office/drawing/2014/main" id="{1F4A3EF0-DD4D-472F-AC27-48419F7F304B}"/>
              </a:ext>
            </a:extLst>
          </p:cNvPr>
          <p:cNvSpPr>
            <a:spLocks xmlns:a="http://schemas.openxmlformats.org/drawingml/2006/main" noGrp="1"/>
          </p:cNvSpPr>
          <p:nvPr/>
        </p:nvSpPr>
        <p:spPr>
          <a:xfrm xmlns:a="http://schemas.openxmlformats.org/drawingml/2006/main">
            <a:off x="9620402" y="3276295"/>
            <a:ext cx="7525512" cy="30541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800" b="1">
                <a:solidFill>
                  <a:srgbClr val="FFFFFF"/>
                </a:solidFill>
                <a:latin typeface="Inter"/>
                <a:ea typeface="Inter"/>
                <a:cs typeface="Inter"/>
              </a:rPr>
              <a:t>Evidence considered before recommending a pilot.</a:t>
            </a:r>
          </a:p>
        </p:txBody>
      </p:sp>
      <p:sp>
        <p:nvSpPr>
          <p:cNvPr id="19" name="Shape 16">
            <a:extLst xmlns:a="http://schemas.openxmlformats.org/drawingml/2006/main">
              <a:ext uri="{FF2B5EF4-FFF2-40B4-BE49-F238E27FC236}">
                <a16:creationId xmlns:a16="http://schemas.microsoft.com/office/drawing/2014/main" id="{5C913664-A5E7-481E-9A89-32A4A90CB840}"/>
              </a:ext>
            </a:extLst>
          </p:cNvPr>
          <p:cNvSpPr>
            <a:spLocks xmlns:a="http://schemas.openxmlformats.org/drawingml/2006/main" noGrp="1"/>
          </p:cNvSpPr>
          <p:nvPr/>
        </p:nvSpPr>
        <p:spPr>
          <a:xfrm xmlns:a="http://schemas.openxmlformats.org/drawingml/2006/main">
            <a:off x="9620402" y="3782873"/>
            <a:ext cx="7524598" cy="9144"/>
          </a:xfrm>
          <a:prstGeom xmlns:a="http://schemas.openxmlformats.org/drawingml/2006/main" prst="rect">
            <a:avLst/>
          </a:prstGeom>
          <a:solidFill xmlns:a="http://schemas.openxmlformats.org/drawingml/2006/main">
            <a:srgbClr val="FFFFFF">
              <a:alpha val="15000"/>
            </a:srgbClr>
          </a:solidFill>
          <a:ln xmlns:a="http://schemas.openxmlformats.org/drawingml/2006/main" w="12700">
            <a:solidFill>
              <a:srgbClr val="FFFFFF">
                <a:alpha val="0"/>
              </a:srgbClr>
            </a:solidFill>
            <a:prstDash val="solid"/>
          </a:ln>
        </p:spPr>
      </p:sp>
      <p:sp>
        <p:nvSpPr>
          <p:cNvPr id="20" name="Text 17">
            <a:extLst xmlns:a="http://schemas.openxmlformats.org/drawingml/2006/main">
              <a:ext uri="{FF2B5EF4-FFF2-40B4-BE49-F238E27FC236}">
                <a16:creationId xmlns:a16="http://schemas.microsoft.com/office/drawing/2014/main" id="{6210712A-26C3-487B-950D-70AE07127BA5}"/>
              </a:ext>
            </a:extLst>
          </p:cNvPr>
          <p:cNvSpPr>
            <a:spLocks xmlns:a="http://schemas.openxmlformats.org/drawingml/2006/main" noGrp="1"/>
          </p:cNvSpPr>
          <p:nvPr/>
        </p:nvSpPr>
        <p:spPr>
          <a:xfrm xmlns:a="http://schemas.openxmlformats.org/drawingml/2006/main">
            <a:off x="9620402" y="4002329"/>
            <a:ext cx="7525512"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Statistical</a:t>
            </a:r>
          </a:p>
        </p:txBody>
      </p:sp>
      <p:sp>
        <p:nvSpPr>
          <p:cNvPr id="21" name="Text 18">
            <a:extLst xmlns:a="http://schemas.openxmlformats.org/drawingml/2006/main">
              <a:ext uri="{FF2B5EF4-FFF2-40B4-BE49-F238E27FC236}">
                <a16:creationId xmlns:a16="http://schemas.microsoft.com/office/drawing/2014/main" id="{C34716C5-6EC1-41F7-BA55-F22CDE744AEF}"/>
              </a:ext>
            </a:extLst>
          </p:cNvPr>
          <p:cNvSpPr>
            <a:spLocks xmlns:a="http://schemas.openxmlformats.org/drawingml/2006/main" noGrp="1"/>
          </p:cNvSpPr>
          <p:nvPr/>
        </p:nvSpPr>
        <p:spPr>
          <a:xfrm xmlns:a="http://schemas.openxmlformats.org/drawingml/2006/main">
            <a:off x="9620402" y="4202582"/>
            <a:ext cx="752551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FFFFFF"/>
                </a:solidFill>
                <a:latin typeface="Inter"/>
                <a:ea typeface="Inter"/>
                <a:cs typeface="Inter"/>
              </a:rPr>
              <a:t>Held-out F1, recall, precision, ROC-AUC; comparison with baseline.</a:t>
            </a:r>
          </a:p>
        </p:txBody>
      </p:sp>
      <p:sp>
        <p:nvSpPr>
          <p:cNvPr id="22" name="Text 19">
            <a:extLst xmlns:a="http://schemas.openxmlformats.org/drawingml/2006/main">
              <a:ext uri="{FF2B5EF4-FFF2-40B4-BE49-F238E27FC236}">
                <a16:creationId xmlns:a16="http://schemas.microsoft.com/office/drawing/2014/main" id="{AB7D4FF3-FF8C-4FF3-88E0-FF12BBA7104E}"/>
              </a:ext>
            </a:extLst>
          </p:cNvPr>
          <p:cNvSpPr>
            <a:spLocks xmlns:a="http://schemas.openxmlformats.org/drawingml/2006/main" noGrp="1"/>
          </p:cNvSpPr>
          <p:nvPr/>
        </p:nvSpPr>
        <p:spPr>
          <a:xfrm xmlns:a="http://schemas.openxmlformats.org/drawingml/2006/main">
            <a:off x="9620402" y="4662526"/>
            <a:ext cx="7525512"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Operational</a:t>
            </a:r>
          </a:p>
        </p:txBody>
      </p:sp>
      <p:sp>
        <p:nvSpPr>
          <p:cNvPr id="23" name="Text 20">
            <a:extLst xmlns:a="http://schemas.openxmlformats.org/drawingml/2006/main">
              <a:ext uri="{FF2B5EF4-FFF2-40B4-BE49-F238E27FC236}">
                <a16:creationId xmlns:a16="http://schemas.microsoft.com/office/drawing/2014/main" id="{5280E9B3-E6B8-4CD5-BD27-96DB39860EAF}"/>
              </a:ext>
            </a:extLst>
          </p:cNvPr>
          <p:cNvSpPr>
            <a:spLocks xmlns:a="http://schemas.openxmlformats.org/drawingml/2006/main" noGrp="1"/>
          </p:cNvSpPr>
          <p:nvPr/>
        </p:nvSpPr>
        <p:spPr>
          <a:xfrm xmlns:a="http://schemas.openxmlformats.org/drawingml/2006/main">
            <a:off x="9620402" y="4862779"/>
            <a:ext cx="752551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FFFFFF"/>
                </a:solidFill>
                <a:latin typeface="Inter"/>
                <a:ea typeface="Inter"/>
                <a:cs typeface="Inter"/>
              </a:rPr>
              <a:t>Alerts and missed at-risk students per 1,000.</a:t>
            </a:r>
          </a:p>
        </p:txBody>
      </p:sp>
      <p:sp>
        <p:nvSpPr>
          <p:cNvPr id="24" name="Text 21">
            <a:extLst xmlns:a="http://schemas.openxmlformats.org/drawingml/2006/main">
              <a:ext uri="{FF2B5EF4-FFF2-40B4-BE49-F238E27FC236}">
                <a16:creationId xmlns:a16="http://schemas.microsoft.com/office/drawing/2014/main" id="{3A3FBAF0-00F9-4BAB-8626-DB5BBC0CBC3E}"/>
              </a:ext>
            </a:extLst>
          </p:cNvPr>
          <p:cNvSpPr>
            <a:spLocks xmlns:a="http://schemas.openxmlformats.org/drawingml/2006/main" noGrp="1"/>
          </p:cNvSpPr>
          <p:nvPr/>
        </p:nvSpPr>
        <p:spPr>
          <a:xfrm xmlns:a="http://schemas.openxmlformats.org/drawingml/2006/main">
            <a:off x="9620402" y="5323637"/>
            <a:ext cx="7525512"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Fairness</a:t>
            </a:r>
          </a:p>
        </p:txBody>
      </p:sp>
      <p:sp>
        <p:nvSpPr>
          <p:cNvPr id="25" name="Text 22">
            <a:extLst xmlns:a="http://schemas.openxmlformats.org/drawingml/2006/main">
              <a:ext uri="{FF2B5EF4-FFF2-40B4-BE49-F238E27FC236}">
                <a16:creationId xmlns:a16="http://schemas.microsoft.com/office/drawing/2014/main" id="{397ACCBA-D56C-44C9-A143-40722E52C8CE}"/>
              </a:ext>
            </a:extLst>
          </p:cNvPr>
          <p:cNvSpPr>
            <a:spLocks xmlns:a="http://schemas.openxmlformats.org/drawingml/2006/main" noGrp="1"/>
          </p:cNvSpPr>
          <p:nvPr/>
        </p:nvSpPr>
        <p:spPr>
          <a:xfrm xmlns:a="http://schemas.openxmlformats.org/drawingml/2006/main">
            <a:off x="9620402" y="5522976"/>
            <a:ext cx="752551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FFFFFF"/>
                </a:solidFill>
                <a:latin typeface="Inter"/>
                <a:ea typeface="Inter"/>
                <a:cs typeface="Inter"/>
              </a:rPr>
              <a:t>Initial subgroup recall review; no formal parity claim.</a:t>
            </a:r>
          </a:p>
        </p:txBody>
      </p:sp>
      <p:sp>
        <p:nvSpPr>
          <p:cNvPr id="26" name="Text 23">
            <a:extLst xmlns:a="http://schemas.openxmlformats.org/drawingml/2006/main">
              <a:ext uri="{FF2B5EF4-FFF2-40B4-BE49-F238E27FC236}">
                <a16:creationId xmlns:a16="http://schemas.microsoft.com/office/drawing/2014/main" id="{F3A571CC-BE09-4615-8614-517CB4853BB8}"/>
              </a:ext>
            </a:extLst>
          </p:cNvPr>
          <p:cNvSpPr>
            <a:spLocks xmlns:a="http://schemas.openxmlformats.org/drawingml/2006/main" noGrp="1"/>
          </p:cNvSpPr>
          <p:nvPr/>
        </p:nvSpPr>
        <p:spPr>
          <a:xfrm xmlns:a="http://schemas.openxmlformats.org/drawingml/2006/main">
            <a:off x="9620402" y="5983834"/>
            <a:ext cx="7525512" cy="1435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FF5CA0"/>
                </a:solidFill>
                <a:latin typeface="JetBrains Mono"/>
                <a:ea typeface="JetBrains Mono"/>
                <a:cs typeface="JetBrains Mono"/>
              </a:rPr>
              <a:t>Robustness</a:t>
            </a:r>
          </a:p>
        </p:txBody>
      </p:sp>
      <p:sp>
        <p:nvSpPr>
          <p:cNvPr id="27" name="Text 24">
            <a:extLst xmlns:a="http://schemas.openxmlformats.org/drawingml/2006/main">
              <a:ext uri="{FF2B5EF4-FFF2-40B4-BE49-F238E27FC236}">
                <a16:creationId xmlns:a16="http://schemas.microsoft.com/office/drawing/2014/main" id="{A3B86138-72EB-4588-91E9-C6FD0F01146B}"/>
              </a:ext>
            </a:extLst>
          </p:cNvPr>
          <p:cNvSpPr>
            <a:spLocks xmlns:a="http://schemas.openxmlformats.org/drawingml/2006/main" noGrp="1"/>
          </p:cNvSpPr>
          <p:nvPr/>
        </p:nvSpPr>
        <p:spPr>
          <a:xfrm xmlns:a="http://schemas.openxmlformats.org/drawingml/2006/main">
            <a:off x="9620402" y="6184087"/>
            <a:ext cx="7525512" cy="25786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FFFFFF"/>
                </a:solidFill>
                <a:latin typeface="Inter"/>
                <a:ea typeface="Inter"/>
                <a:cs typeface="Inter"/>
              </a:rPr>
              <a:t>Repeated splits, missingness sensitivity, numeric-noise sensitivity.</a:t>
            </a:r>
          </a:p>
        </p:txBody>
      </p:sp>
    </p:spTree>
    <p:extLst>
      <p:ext uri="{BB962C8B-B14F-4D97-AF65-F5344CB8AC3E}">
        <p14:creationId xmlns:p14="http://schemas.microsoft.com/office/powerpoint/2010/main" val="1727159421"/>
      </p:ext>
    </p:extLst>
  </p:cSld>
</p:sld>
</file>

<file path=ppt/slides/slide19.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cd81441b3ca04003"/>
          <a:srcRect xmlns:a="http://schemas.openxmlformats.org/drawingml/2006/main" l="-2083" t="0" r="-2083" b="0"/>
          <a:stretch xmlns:a="http://schemas.openxmlformats.org/drawingml/2006/main"/>
        </p:blipFill>
        <p:spPr>
          <a:xfrm xmlns:a="http://schemas.openxmlformats.org/drawingml/2006/main">
            <a:off x="761695" y="761695"/>
            <a:ext cx="16763695" cy="9144"/>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4915CC32-86E8-40BB-9978-80B1802D4B0D}"/>
              </a:ext>
            </a:extLst>
          </p:cNvPr>
          <p:cNvSpPr>
            <a:spLocks xmlns:a="http://schemas.openxmlformats.org/drawingml/2006/main" noGrp="1"/>
          </p:cNvSpPr>
          <p:nvPr/>
        </p:nvSpPr>
        <p:spPr>
          <a:xfrm xmlns:a="http://schemas.openxmlformats.org/drawingml/2006/main">
            <a:off x="761695" y="2762402"/>
            <a:ext cx="8305495" cy="6495898"/>
          </a:xfrm>
          <a:prstGeom xmlns:a="http://schemas.openxmlformats.org/drawingml/2006/main" prst="roundRect">
            <a:avLst>
              <a:gd name="adj" fmla="val 296"/>
            </a:avLst>
          </a:prstGeom>
          <a:solidFill xmlns:a="http://schemas.openxmlformats.org/drawingml/2006/main">
            <a:srgbClr val="FFFFFF"/>
          </a:solidFill>
          <a:ln xmlns:a="http://schemas.openxmlformats.org/drawingml/2006/main" w="12700">
            <a:solidFill>
              <a:srgbClr val="E4E5EF"/>
            </a:solidFill>
            <a:prstDash val="solid"/>
          </a:ln>
        </p:spPr>
      </p:sp>
      <p:sp>
        <p:nvSpPr>
          <p:cNvPr id="4" name="Shape 1">
            <a:extLst xmlns:a="http://schemas.openxmlformats.org/drawingml/2006/main">
              <a:ext uri="{FF2B5EF4-FFF2-40B4-BE49-F238E27FC236}">
                <a16:creationId xmlns:a16="http://schemas.microsoft.com/office/drawing/2014/main" id="{E47B3416-A0BC-408A-A570-BF38CBF4C611}"/>
              </a:ext>
            </a:extLst>
          </p:cNvPr>
          <p:cNvSpPr>
            <a:spLocks xmlns:a="http://schemas.openxmlformats.org/drawingml/2006/main" noGrp="1"/>
          </p:cNvSpPr>
          <p:nvPr/>
        </p:nvSpPr>
        <p:spPr>
          <a:xfrm xmlns:a="http://schemas.openxmlformats.org/drawingml/2006/main">
            <a:off x="9239098" y="2762402"/>
            <a:ext cx="8305495" cy="6495898"/>
          </a:xfrm>
          <a:prstGeom xmlns:a="http://schemas.openxmlformats.org/drawingml/2006/main" prst="roundRect">
            <a:avLst>
              <a:gd name="adj" fmla="val 296"/>
            </a:avLst>
          </a:prstGeom>
          <a:solidFill xmlns:a="http://schemas.openxmlformats.org/drawingml/2006/main">
            <a:srgbClr val="FFFFFF"/>
          </a:solidFill>
          <a:ln xmlns:a="http://schemas.openxmlformats.org/drawingml/2006/main" w="12700">
            <a:solidFill>
              <a:srgbClr val="E4E5EF"/>
            </a:solidFill>
            <a:prstDash val="solid"/>
          </a:ln>
        </p:spPr>
      </p:sp>
      <p:sp>
        <p:nvSpPr>
          <p:cNvPr id="5" name="Text 2">
            <a:extLst xmlns:a="http://schemas.openxmlformats.org/drawingml/2006/main">
              <a:ext uri="{FF2B5EF4-FFF2-40B4-BE49-F238E27FC236}">
                <a16:creationId xmlns:a16="http://schemas.microsoft.com/office/drawing/2014/main" id="{A83F5886-9141-47C6-A99D-4CF77D6D01E2}"/>
              </a:ext>
            </a:extLst>
          </p:cNvPr>
          <p:cNvSpPr>
            <a:spLocks xmlns:a="http://schemas.openxmlformats.org/drawingml/2006/main" noGrp="1"/>
          </p:cNvSpPr>
          <p:nvPr/>
        </p:nvSpPr>
        <p:spPr>
          <a:xfrm xmlns:a="http://schemas.openxmlformats.org/drawingml/2006/main">
            <a:off x="761695" y="428854"/>
            <a:ext cx="85725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000">
                <a:solidFill>
                  <a:srgbClr val="6A6F8C"/>
                </a:solidFill>
                <a:latin typeface="JetBrains Mono"/>
                <a:ea typeface="JetBrains Mono"/>
                <a:cs typeface="JetBrains Mono"/>
              </a:rPr>
              <a:t>Appendix · References (not spoken)</a:t>
            </a:r>
          </a:p>
        </p:txBody>
      </p:sp>
      <p:sp>
        <p:nvSpPr>
          <p:cNvPr id="6" name="Text 3">
            <a:extLst xmlns:a="http://schemas.openxmlformats.org/drawingml/2006/main">
              <a:ext uri="{FF2B5EF4-FFF2-40B4-BE49-F238E27FC236}">
                <a16:creationId xmlns:a16="http://schemas.microsoft.com/office/drawing/2014/main" id="{6D672A9B-D3F3-4D9B-B1C6-B1720EDBC51A}"/>
              </a:ext>
            </a:extLst>
          </p:cNvPr>
          <p:cNvSpPr>
            <a:spLocks xmlns:a="http://schemas.openxmlformats.org/drawingml/2006/main" noGrp="1"/>
          </p:cNvSpPr>
          <p:nvPr/>
        </p:nvSpPr>
        <p:spPr>
          <a:xfrm xmlns:a="http://schemas.openxmlformats.org/drawingml/2006/main">
            <a:off x="15240305" y="428854"/>
            <a:ext cx="2286000" cy="152705"/>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r">
              <a:buNone/>
            </a:pPr>
            <a:r>
              <a:rPr sz="1000">
                <a:solidFill>
                  <a:srgbClr val="6A6F8C"/>
                </a:solidFill>
                <a:latin typeface="JetBrains Mono"/>
                <a:ea typeface="JetBrains Mono"/>
                <a:cs typeface="JetBrains Mono"/>
              </a:rPr>
              <a:t>19 / 19</a:t>
            </a:r>
          </a:p>
        </p:txBody>
      </p:sp>
      <p:sp>
        <p:nvSpPr>
          <p:cNvPr id="7" name="Text 4">
            <a:extLst xmlns:a="http://schemas.openxmlformats.org/drawingml/2006/main">
              <a:ext uri="{FF2B5EF4-FFF2-40B4-BE49-F238E27FC236}">
                <a16:creationId xmlns:a16="http://schemas.microsoft.com/office/drawing/2014/main" id="{3CDA930A-188E-471B-A58C-C0B1ADAB7BC2}"/>
              </a:ext>
            </a:extLst>
          </p:cNvPr>
          <p:cNvSpPr>
            <a:spLocks xmlns:a="http://schemas.openxmlformats.org/drawingml/2006/main" noGrp="1"/>
          </p:cNvSpPr>
          <p:nvPr/>
        </p:nvSpPr>
        <p:spPr>
          <a:xfrm xmlns:a="http://schemas.openxmlformats.org/drawingml/2006/main">
            <a:off x="761695" y="1238098"/>
            <a:ext cx="16764610" cy="562356"/>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4200" b="1">
                <a:solidFill>
                  <a:srgbClr val="0F1226"/>
                </a:solidFill>
                <a:latin typeface="Inter"/>
                <a:ea typeface="Inter"/>
                <a:cs typeface="Inter"/>
              </a:rPr>
              <a:t>References</a:t>
            </a:r>
          </a:p>
        </p:txBody>
      </p:sp>
      <p:sp>
        <p:nvSpPr>
          <p:cNvPr id="8" name="Text 5">
            <a:extLst xmlns:a="http://schemas.openxmlformats.org/drawingml/2006/main">
              <a:ext uri="{FF2B5EF4-FFF2-40B4-BE49-F238E27FC236}">
                <a16:creationId xmlns:a16="http://schemas.microsoft.com/office/drawing/2014/main" id="{7CC31A86-968B-4670-B102-BD9B71D7E12F}"/>
              </a:ext>
            </a:extLst>
          </p:cNvPr>
          <p:cNvSpPr>
            <a:spLocks xmlns:a="http://schemas.openxmlformats.org/drawingml/2006/main" noGrp="1"/>
          </p:cNvSpPr>
          <p:nvPr/>
        </p:nvSpPr>
        <p:spPr>
          <a:xfrm xmlns:a="http://schemas.openxmlformats.org/drawingml/2006/main">
            <a:off x="761695" y="1931213"/>
            <a:ext cx="16764610" cy="21031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500" i="1">
                <a:solidFill>
                  <a:srgbClr val="6A6F8C"/>
                </a:solidFill>
                <a:latin typeface="Source Serif Pro"/>
                <a:ea typeface="Source Serif Pro"/>
                <a:cs typeface="Source Serif Pro"/>
              </a:rPr>
              <a:t>IEEE style · appendix for the written submission</a:t>
            </a:r>
          </a:p>
        </p:txBody>
      </p:sp>
      <p:sp>
        <p:nvSpPr>
          <p:cNvPr id="9" name="Text 6">
            <a:extLst xmlns:a="http://schemas.openxmlformats.org/drawingml/2006/main">
              <a:ext uri="{FF2B5EF4-FFF2-40B4-BE49-F238E27FC236}">
                <a16:creationId xmlns:a16="http://schemas.microsoft.com/office/drawing/2014/main" id="{3CD11F9A-BBA5-43FC-8409-FF611EE6CA2A}"/>
              </a:ext>
            </a:extLst>
          </p:cNvPr>
          <p:cNvSpPr>
            <a:spLocks xmlns:a="http://schemas.openxmlformats.org/drawingml/2006/main" noGrp="1"/>
          </p:cNvSpPr>
          <p:nvPr/>
        </p:nvSpPr>
        <p:spPr>
          <a:xfrm xmlns:a="http://schemas.openxmlformats.org/drawingml/2006/main">
            <a:off x="1143000" y="3047695"/>
            <a:ext cx="75255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Primary literature &amp; datasets</a:t>
            </a:r>
          </a:p>
        </p:txBody>
      </p:sp>
      <p:sp>
        <p:nvSpPr>
          <p:cNvPr id="10" name="Shape 7">
            <a:extLst xmlns:a="http://schemas.openxmlformats.org/drawingml/2006/main">
              <a:ext uri="{FF2B5EF4-FFF2-40B4-BE49-F238E27FC236}">
                <a16:creationId xmlns:a16="http://schemas.microsoft.com/office/drawing/2014/main" id="{EB1BACE4-06CE-4BD9-A4B9-2F1529640FDA}"/>
              </a:ext>
            </a:extLst>
          </p:cNvPr>
          <p:cNvSpPr>
            <a:spLocks xmlns:a="http://schemas.openxmlformats.org/drawingml/2006/main" noGrp="1"/>
          </p:cNvSpPr>
          <p:nvPr/>
        </p:nvSpPr>
        <p:spPr>
          <a:xfrm xmlns:a="http://schemas.openxmlformats.org/drawingml/2006/main">
            <a:off x="1143000" y="3333902"/>
            <a:ext cx="75245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11" name="Text 8">
            <a:extLst xmlns:a="http://schemas.openxmlformats.org/drawingml/2006/main">
              <a:ext uri="{FF2B5EF4-FFF2-40B4-BE49-F238E27FC236}">
                <a16:creationId xmlns:a16="http://schemas.microsoft.com/office/drawing/2014/main" id="{E2E54BC4-0B33-4DC2-8F1C-F7FF12F03955}"/>
              </a:ext>
            </a:extLst>
          </p:cNvPr>
          <p:cNvSpPr>
            <a:spLocks xmlns:a="http://schemas.openxmlformats.org/drawingml/2006/main" noGrp="1"/>
          </p:cNvSpPr>
          <p:nvPr/>
        </p:nvSpPr>
        <p:spPr>
          <a:xfrm xmlns:a="http://schemas.openxmlformats.org/drawingml/2006/main">
            <a:off x="1143000" y="3534156"/>
            <a:ext cx="419710" cy="7150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[1]</a:t>
            </a:r>
          </a:p>
        </p:txBody>
      </p:sp>
      <p:sp>
        <p:nvSpPr>
          <p:cNvPr id="12" name="Text 9">
            <a:extLst xmlns:a="http://schemas.openxmlformats.org/drawingml/2006/main">
              <a:ext uri="{FF2B5EF4-FFF2-40B4-BE49-F238E27FC236}">
                <a16:creationId xmlns:a16="http://schemas.microsoft.com/office/drawing/2014/main" id="{15AFF8ED-4EDD-4B67-8DB2-9B6F6DD83347}"/>
              </a:ext>
            </a:extLst>
          </p:cNvPr>
          <p:cNvSpPr>
            <a:spLocks xmlns:a="http://schemas.openxmlformats.org/drawingml/2006/main" noGrp="1"/>
          </p:cNvSpPr>
          <p:nvPr/>
        </p:nvSpPr>
        <p:spPr>
          <a:xfrm xmlns:a="http://schemas.openxmlformats.org/drawingml/2006/main">
            <a:off x="1638605" y="3534156"/>
            <a:ext cx="7029907" cy="71506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M. M. Islam et al., "The integration of explainable AI in Educational Data Mining for student academic performance prediction and support system," </a:t>
            </a:r>
            <a:r>
              <a:rPr sz="1200" i="1">
                <a:solidFill>
                  <a:srgbClr val="2A2E4B"/>
                </a:solidFill>
                <a:latin typeface="Inter"/>
                <a:ea typeface="Inter"/>
                <a:cs typeface="Inter"/>
              </a:rPr>
              <a:t>Telematics and Informatics Reports</a:t>
            </a:r>
            <a:r>
              <a:rPr sz="1200">
                <a:solidFill>
                  <a:srgbClr val="2A2E4B"/>
                </a:solidFill>
                <a:latin typeface="Inter"/>
                <a:ea typeface="Inter"/>
                <a:cs typeface="Inter"/>
              </a:rPr>
              <a:t>, vol. 18, Art. no. 100203, 2025.</a:t>
            </a:r>
          </a:p>
        </p:txBody>
      </p:sp>
      <p:sp>
        <p:nvSpPr>
          <p:cNvPr id="13" name="Text 10">
            <a:extLst xmlns:a="http://schemas.openxmlformats.org/drawingml/2006/main">
              <a:ext uri="{FF2B5EF4-FFF2-40B4-BE49-F238E27FC236}">
                <a16:creationId xmlns:a16="http://schemas.microsoft.com/office/drawing/2014/main" id="{6D5C5CC4-DA2A-49CB-81E8-D24DD97EFA16}"/>
              </a:ext>
            </a:extLst>
          </p:cNvPr>
          <p:cNvSpPr>
            <a:spLocks xmlns:a="http://schemas.openxmlformats.org/drawingml/2006/main" noGrp="1"/>
          </p:cNvSpPr>
          <p:nvPr/>
        </p:nvSpPr>
        <p:spPr>
          <a:xfrm xmlns:a="http://schemas.openxmlformats.org/drawingml/2006/main">
            <a:off x="1143000" y="4413809"/>
            <a:ext cx="419710"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[2]</a:t>
            </a:r>
          </a:p>
        </p:txBody>
      </p:sp>
      <p:sp>
        <p:nvSpPr>
          <p:cNvPr id="14" name="Text 11">
            <a:extLst xmlns:a="http://schemas.openxmlformats.org/drawingml/2006/main">
              <a:ext uri="{FF2B5EF4-FFF2-40B4-BE49-F238E27FC236}">
                <a16:creationId xmlns:a16="http://schemas.microsoft.com/office/drawing/2014/main" id="{064B8C6F-CBEA-46C2-B6B9-B86487F3E9AE}"/>
              </a:ext>
            </a:extLst>
          </p:cNvPr>
          <p:cNvSpPr>
            <a:spLocks xmlns:a="http://schemas.openxmlformats.org/drawingml/2006/main" noGrp="1"/>
          </p:cNvSpPr>
          <p:nvPr/>
        </p:nvSpPr>
        <p:spPr>
          <a:xfrm xmlns:a="http://schemas.openxmlformats.org/drawingml/2006/main">
            <a:off x="1638605" y="4413809"/>
            <a:ext cx="7029907"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V. Realinho et al., "Predicting Student Dropout and Academic Success," </a:t>
            </a:r>
            <a:r>
              <a:rPr sz="1200" i="1">
                <a:solidFill>
                  <a:srgbClr val="2A2E4B"/>
                </a:solidFill>
                <a:latin typeface="Inter"/>
                <a:ea typeface="Inter"/>
                <a:cs typeface="Inter"/>
              </a:rPr>
              <a:t>Data</a:t>
            </a:r>
            <a:r>
              <a:rPr sz="1200">
                <a:solidFill>
                  <a:srgbClr val="2A2E4B"/>
                </a:solidFill>
                <a:latin typeface="Inter"/>
                <a:ea typeface="Inter"/>
                <a:cs typeface="Inter"/>
              </a:rPr>
              <a:t>, vol. 7, no. 11, Art. no. 146, 2022.</a:t>
            </a:r>
          </a:p>
        </p:txBody>
      </p:sp>
      <p:sp>
        <p:nvSpPr>
          <p:cNvPr id="15" name="Text 12">
            <a:extLst xmlns:a="http://schemas.openxmlformats.org/drawingml/2006/main">
              <a:ext uri="{FF2B5EF4-FFF2-40B4-BE49-F238E27FC236}">
                <a16:creationId xmlns:a16="http://schemas.microsoft.com/office/drawing/2014/main" id="{21FE9CFC-AD55-4A67-801F-437201E51A83}"/>
              </a:ext>
            </a:extLst>
          </p:cNvPr>
          <p:cNvSpPr>
            <a:spLocks xmlns:a="http://schemas.openxmlformats.org/drawingml/2006/main" noGrp="1"/>
          </p:cNvSpPr>
          <p:nvPr/>
        </p:nvSpPr>
        <p:spPr>
          <a:xfrm xmlns:a="http://schemas.openxmlformats.org/drawingml/2006/main">
            <a:off x="1143000" y="5057546"/>
            <a:ext cx="419710"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[3]</a:t>
            </a:r>
          </a:p>
        </p:txBody>
      </p:sp>
      <p:sp>
        <p:nvSpPr>
          <p:cNvPr id="16" name="Text 13">
            <a:extLst xmlns:a="http://schemas.openxmlformats.org/drawingml/2006/main">
              <a:ext uri="{FF2B5EF4-FFF2-40B4-BE49-F238E27FC236}">
                <a16:creationId xmlns:a16="http://schemas.microsoft.com/office/drawing/2014/main" id="{1D424695-1737-4E22-BE19-FC9D098612D3}"/>
              </a:ext>
            </a:extLst>
          </p:cNvPr>
          <p:cNvSpPr>
            <a:spLocks xmlns:a="http://schemas.openxmlformats.org/drawingml/2006/main" noGrp="1"/>
          </p:cNvSpPr>
          <p:nvPr/>
        </p:nvSpPr>
        <p:spPr>
          <a:xfrm xmlns:a="http://schemas.openxmlformats.org/drawingml/2006/main">
            <a:off x="1638605" y="5057546"/>
            <a:ext cx="7029907"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V. Realinho et al., </a:t>
            </a:r>
            <a:r>
              <a:rPr sz="1200" i="1">
                <a:solidFill>
                  <a:srgbClr val="2A2E4B"/>
                </a:solidFill>
                <a:latin typeface="Inter"/>
                <a:ea typeface="Inter"/>
                <a:cs typeface="Inter"/>
              </a:rPr>
              <a:t>Predict Students' Dropout and Academic Success</a:t>
            </a:r>
            <a:r>
              <a:rPr sz="1200">
                <a:solidFill>
                  <a:srgbClr val="2A2E4B"/>
                </a:solidFill>
                <a:latin typeface="Inter"/>
                <a:ea typeface="Inter"/>
                <a:cs typeface="Inter"/>
              </a:rPr>
              <a:t>, UCI Machine Learning Repository, 2021.</a:t>
            </a:r>
          </a:p>
        </p:txBody>
      </p:sp>
      <p:sp>
        <p:nvSpPr>
          <p:cNvPr id="17" name="Text 14">
            <a:extLst xmlns:a="http://schemas.openxmlformats.org/drawingml/2006/main">
              <a:ext uri="{FF2B5EF4-FFF2-40B4-BE49-F238E27FC236}">
                <a16:creationId xmlns:a16="http://schemas.microsoft.com/office/drawing/2014/main" id="{4AB1EA9F-B45A-470F-BC5B-89DD38E9BD05}"/>
              </a:ext>
            </a:extLst>
          </p:cNvPr>
          <p:cNvSpPr>
            <a:spLocks xmlns:a="http://schemas.openxmlformats.org/drawingml/2006/main" noGrp="1"/>
          </p:cNvSpPr>
          <p:nvPr/>
        </p:nvSpPr>
        <p:spPr>
          <a:xfrm xmlns:a="http://schemas.openxmlformats.org/drawingml/2006/main">
            <a:off x="1143000" y="5701284"/>
            <a:ext cx="419710"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[4]</a:t>
            </a:r>
          </a:p>
        </p:txBody>
      </p:sp>
      <p:sp>
        <p:nvSpPr>
          <p:cNvPr id="18" name="Text 15">
            <a:extLst xmlns:a="http://schemas.openxmlformats.org/drawingml/2006/main">
              <a:ext uri="{FF2B5EF4-FFF2-40B4-BE49-F238E27FC236}">
                <a16:creationId xmlns:a16="http://schemas.microsoft.com/office/drawing/2014/main" id="{42A0F141-FA1B-46DD-B4C6-E41D8E9B5A08}"/>
              </a:ext>
            </a:extLst>
          </p:cNvPr>
          <p:cNvSpPr>
            <a:spLocks xmlns:a="http://schemas.openxmlformats.org/drawingml/2006/main" noGrp="1"/>
          </p:cNvSpPr>
          <p:nvPr/>
        </p:nvSpPr>
        <p:spPr>
          <a:xfrm xmlns:a="http://schemas.openxmlformats.org/drawingml/2006/main">
            <a:off x="1638605" y="5701284"/>
            <a:ext cx="7029907"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J. Kuzilek, M. Hlosta, and Z. Zdrahal, "Open University Learning Analytics dataset," </a:t>
            </a:r>
            <a:r>
              <a:rPr sz="1200" i="1">
                <a:solidFill>
                  <a:srgbClr val="2A2E4B"/>
                </a:solidFill>
                <a:latin typeface="Inter"/>
                <a:ea typeface="Inter"/>
                <a:cs typeface="Inter"/>
              </a:rPr>
              <a:t>Scientific Data</a:t>
            </a:r>
            <a:r>
              <a:rPr sz="1200">
                <a:solidFill>
                  <a:srgbClr val="2A2E4B"/>
                </a:solidFill>
                <a:latin typeface="Inter"/>
                <a:ea typeface="Inter"/>
                <a:cs typeface="Inter"/>
              </a:rPr>
              <a:t>, vol. 4, Art. no. 170171, 2017.</a:t>
            </a:r>
          </a:p>
        </p:txBody>
      </p:sp>
      <p:sp>
        <p:nvSpPr>
          <p:cNvPr id="19" name="Text 16">
            <a:extLst xmlns:a="http://schemas.openxmlformats.org/drawingml/2006/main">
              <a:ext uri="{FF2B5EF4-FFF2-40B4-BE49-F238E27FC236}">
                <a16:creationId xmlns:a16="http://schemas.microsoft.com/office/drawing/2014/main" id="{3CFD3A47-C1C4-4EF7-8CBA-51EFFC948956}"/>
              </a:ext>
            </a:extLst>
          </p:cNvPr>
          <p:cNvSpPr>
            <a:spLocks xmlns:a="http://schemas.openxmlformats.org/drawingml/2006/main" noGrp="1"/>
          </p:cNvSpPr>
          <p:nvPr/>
        </p:nvSpPr>
        <p:spPr>
          <a:xfrm xmlns:a="http://schemas.openxmlformats.org/drawingml/2006/main">
            <a:off x="9620402" y="3047695"/>
            <a:ext cx="7525512" cy="133502"/>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900">
                <a:solidFill>
                  <a:srgbClr val="E4237A"/>
                </a:solidFill>
                <a:latin typeface="JetBrains Mono"/>
                <a:ea typeface="JetBrains Mono"/>
                <a:cs typeface="JetBrains Mono"/>
              </a:rPr>
              <a:t>Methods &amp; external benchmark</a:t>
            </a:r>
          </a:p>
        </p:txBody>
      </p:sp>
      <p:sp>
        <p:nvSpPr>
          <p:cNvPr id="20" name="Shape 17">
            <a:extLst xmlns:a="http://schemas.openxmlformats.org/drawingml/2006/main">
              <a:ext uri="{FF2B5EF4-FFF2-40B4-BE49-F238E27FC236}">
                <a16:creationId xmlns:a16="http://schemas.microsoft.com/office/drawing/2014/main" id="{25B902B2-7A81-4656-8948-DDE29FBD9870}"/>
              </a:ext>
            </a:extLst>
          </p:cNvPr>
          <p:cNvSpPr>
            <a:spLocks xmlns:a="http://schemas.openxmlformats.org/drawingml/2006/main" noGrp="1"/>
          </p:cNvSpPr>
          <p:nvPr/>
        </p:nvSpPr>
        <p:spPr>
          <a:xfrm xmlns:a="http://schemas.openxmlformats.org/drawingml/2006/main">
            <a:off x="9620402" y="3333902"/>
            <a:ext cx="75245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21" name="Text 18">
            <a:extLst xmlns:a="http://schemas.openxmlformats.org/drawingml/2006/main">
              <a:ext uri="{FF2B5EF4-FFF2-40B4-BE49-F238E27FC236}">
                <a16:creationId xmlns:a16="http://schemas.microsoft.com/office/drawing/2014/main" id="{0F7351A4-463E-4C38-89F7-F1FE1A9040CD}"/>
              </a:ext>
            </a:extLst>
          </p:cNvPr>
          <p:cNvSpPr>
            <a:spLocks xmlns:a="http://schemas.openxmlformats.org/drawingml/2006/main" noGrp="1"/>
          </p:cNvSpPr>
          <p:nvPr/>
        </p:nvSpPr>
        <p:spPr>
          <a:xfrm xmlns:a="http://schemas.openxmlformats.org/drawingml/2006/main">
            <a:off x="9620402" y="3534156"/>
            <a:ext cx="419710" cy="2386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[5]</a:t>
            </a:r>
          </a:p>
        </p:txBody>
      </p:sp>
      <p:sp>
        <p:nvSpPr>
          <p:cNvPr id="22" name="Text 19">
            <a:extLst xmlns:a="http://schemas.openxmlformats.org/drawingml/2006/main">
              <a:ext uri="{FF2B5EF4-FFF2-40B4-BE49-F238E27FC236}">
                <a16:creationId xmlns:a16="http://schemas.microsoft.com/office/drawing/2014/main" id="{B835DB80-09F1-408C-8448-2648FC16AB15}"/>
              </a:ext>
            </a:extLst>
          </p:cNvPr>
          <p:cNvSpPr>
            <a:spLocks xmlns:a="http://schemas.openxmlformats.org/drawingml/2006/main" noGrp="1"/>
          </p:cNvSpPr>
          <p:nvPr/>
        </p:nvSpPr>
        <p:spPr>
          <a:xfrm xmlns:a="http://schemas.openxmlformats.org/drawingml/2006/main">
            <a:off x="10116007" y="3534156"/>
            <a:ext cx="7715707" cy="23865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T. Chen and C. Guestrin, "XGBoost: A scalable tree boosting system," </a:t>
            </a:r>
            <a:r>
              <a:rPr sz="1200" i="1">
                <a:solidFill>
                  <a:srgbClr val="2A2E4B"/>
                </a:solidFill>
                <a:latin typeface="Inter"/>
                <a:ea typeface="Inter"/>
                <a:cs typeface="Inter"/>
              </a:rPr>
              <a:t>Proc. ACM SIGKDD</a:t>
            </a:r>
            <a:r>
              <a:rPr sz="1200">
                <a:solidFill>
                  <a:srgbClr val="2A2E4B"/>
                </a:solidFill>
                <a:latin typeface="Inter"/>
                <a:ea typeface="Inter"/>
                <a:cs typeface="Inter"/>
              </a:rPr>
              <a:t>, 2016.</a:t>
            </a:r>
          </a:p>
        </p:txBody>
      </p:sp>
      <p:sp>
        <p:nvSpPr>
          <p:cNvPr id="23" name="Text 20">
            <a:extLst xmlns:a="http://schemas.openxmlformats.org/drawingml/2006/main">
              <a:ext uri="{FF2B5EF4-FFF2-40B4-BE49-F238E27FC236}">
                <a16:creationId xmlns:a16="http://schemas.microsoft.com/office/drawing/2014/main" id="{7B995A66-90EF-45C6-A040-32CB01A434E8}"/>
              </a:ext>
            </a:extLst>
          </p:cNvPr>
          <p:cNvSpPr>
            <a:spLocks xmlns:a="http://schemas.openxmlformats.org/drawingml/2006/main" noGrp="1"/>
          </p:cNvSpPr>
          <p:nvPr/>
        </p:nvSpPr>
        <p:spPr>
          <a:xfrm xmlns:a="http://schemas.openxmlformats.org/drawingml/2006/main">
            <a:off x="9620402" y="3941064"/>
            <a:ext cx="419710"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[6]</a:t>
            </a:r>
          </a:p>
        </p:txBody>
      </p:sp>
      <p:sp>
        <p:nvSpPr>
          <p:cNvPr id="24" name="Text 21">
            <a:extLst xmlns:a="http://schemas.openxmlformats.org/drawingml/2006/main">
              <a:ext uri="{FF2B5EF4-FFF2-40B4-BE49-F238E27FC236}">
                <a16:creationId xmlns:a16="http://schemas.microsoft.com/office/drawing/2014/main" id="{F7A03887-80B3-4C68-B509-D90276C69675}"/>
              </a:ext>
            </a:extLst>
          </p:cNvPr>
          <p:cNvSpPr>
            <a:spLocks xmlns:a="http://schemas.openxmlformats.org/drawingml/2006/main" noGrp="1"/>
          </p:cNvSpPr>
          <p:nvPr/>
        </p:nvSpPr>
        <p:spPr>
          <a:xfrm xmlns:a="http://schemas.openxmlformats.org/drawingml/2006/main">
            <a:off x="10116007" y="3941064"/>
            <a:ext cx="7029907"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S. M. Lundberg and S.-I. Lee, "A unified approach to interpreting model predictions," </a:t>
            </a:r>
            <a:r>
              <a:rPr sz="1200" i="1">
                <a:solidFill>
                  <a:srgbClr val="2A2E4B"/>
                </a:solidFill>
                <a:latin typeface="Inter"/>
                <a:ea typeface="Inter"/>
                <a:cs typeface="Inter"/>
              </a:rPr>
              <a:t>NeurIPS</a:t>
            </a:r>
            <a:r>
              <a:rPr sz="1200">
                <a:solidFill>
                  <a:srgbClr val="2A2E4B"/>
                </a:solidFill>
                <a:latin typeface="Inter"/>
                <a:ea typeface="Inter"/>
                <a:cs typeface="Inter"/>
              </a:rPr>
              <a:t>, 2017.</a:t>
            </a:r>
          </a:p>
        </p:txBody>
      </p:sp>
      <p:sp>
        <p:nvSpPr>
          <p:cNvPr id="25" name="Text 22">
            <a:extLst xmlns:a="http://schemas.openxmlformats.org/drawingml/2006/main">
              <a:ext uri="{FF2B5EF4-FFF2-40B4-BE49-F238E27FC236}">
                <a16:creationId xmlns:a16="http://schemas.microsoft.com/office/drawing/2014/main" id="{7DBB5208-E8B2-43CD-AB98-09689DC9F144}"/>
              </a:ext>
            </a:extLst>
          </p:cNvPr>
          <p:cNvSpPr>
            <a:spLocks xmlns:a="http://schemas.openxmlformats.org/drawingml/2006/main" noGrp="1"/>
          </p:cNvSpPr>
          <p:nvPr/>
        </p:nvSpPr>
        <p:spPr>
          <a:xfrm xmlns:a="http://schemas.openxmlformats.org/drawingml/2006/main">
            <a:off x="9620402" y="4584802"/>
            <a:ext cx="419710"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[7]</a:t>
            </a:r>
          </a:p>
        </p:txBody>
      </p:sp>
      <p:sp>
        <p:nvSpPr>
          <p:cNvPr id="26" name="Text 23">
            <a:extLst xmlns:a="http://schemas.openxmlformats.org/drawingml/2006/main">
              <a:ext uri="{FF2B5EF4-FFF2-40B4-BE49-F238E27FC236}">
                <a16:creationId xmlns:a16="http://schemas.microsoft.com/office/drawing/2014/main" id="{91F6B3DF-422F-44A9-BE12-53B480713885}"/>
              </a:ext>
            </a:extLst>
          </p:cNvPr>
          <p:cNvSpPr>
            <a:spLocks xmlns:a="http://schemas.openxmlformats.org/drawingml/2006/main" noGrp="1"/>
          </p:cNvSpPr>
          <p:nvPr/>
        </p:nvSpPr>
        <p:spPr>
          <a:xfrm xmlns:a="http://schemas.openxmlformats.org/drawingml/2006/main">
            <a:off x="10116007" y="4584802"/>
            <a:ext cx="7029907"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D. Zhou et al., "Comparative Performance of Machine Learning Models for Predicting At-Risk Students Using the OULAD Dataset," </a:t>
            </a:r>
            <a:r>
              <a:rPr sz="1200" i="1">
                <a:solidFill>
                  <a:srgbClr val="2A2E4B"/>
                </a:solidFill>
                <a:latin typeface="Inter"/>
                <a:ea typeface="Inter"/>
                <a:cs typeface="Inter"/>
              </a:rPr>
              <a:t>IECA</a:t>
            </a:r>
            <a:r>
              <a:rPr sz="1200">
                <a:solidFill>
                  <a:srgbClr val="2A2E4B"/>
                </a:solidFill>
                <a:latin typeface="Inter"/>
                <a:ea typeface="Inter"/>
                <a:cs typeface="Inter"/>
              </a:rPr>
              <a:t>, 2026, doi: 10.1145/3802133.3802174.</a:t>
            </a:r>
          </a:p>
        </p:txBody>
      </p:sp>
      <p:sp>
        <p:nvSpPr>
          <p:cNvPr id="27" name="Text 24">
            <a:extLst xmlns:a="http://schemas.openxmlformats.org/drawingml/2006/main">
              <a:ext uri="{FF2B5EF4-FFF2-40B4-BE49-F238E27FC236}">
                <a16:creationId xmlns:a16="http://schemas.microsoft.com/office/drawing/2014/main" id="{41A015EB-9D15-4568-BCB5-235CBE5E576B}"/>
              </a:ext>
            </a:extLst>
          </p:cNvPr>
          <p:cNvSpPr>
            <a:spLocks xmlns:a="http://schemas.openxmlformats.org/drawingml/2006/main" noGrp="1"/>
          </p:cNvSpPr>
          <p:nvPr/>
        </p:nvSpPr>
        <p:spPr>
          <a:xfrm xmlns:a="http://schemas.openxmlformats.org/drawingml/2006/main">
            <a:off x="9620402" y="5229454"/>
            <a:ext cx="419710"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2A2E7A"/>
                </a:solidFill>
                <a:latin typeface="JetBrains Mono"/>
                <a:ea typeface="JetBrains Mono"/>
                <a:cs typeface="JetBrains Mono"/>
              </a:rPr>
              <a:t>[8]</a:t>
            </a:r>
          </a:p>
        </p:txBody>
      </p:sp>
      <p:sp>
        <p:nvSpPr>
          <p:cNvPr id="28" name="Text 25">
            <a:extLst xmlns:a="http://schemas.openxmlformats.org/drawingml/2006/main">
              <a:ext uri="{FF2B5EF4-FFF2-40B4-BE49-F238E27FC236}">
                <a16:creationId xmlns:a16="http://schemas.microsoft.com/office/drawing/2014/main" id="{295F6AB0-3596-43F6-A93E-C46D3660A5EB}"/>
              </a:ext>
            </a:extLst>
          </p:cNvPr>
          <p:cNvSpPr>
            <a:spLocks xmlns:a="http://schemas.openxmlformats.org/drawingml/2006/main" noGrp="1"/>
          </p:cNvSpPr>
          <p:nvPr/>
        </p:nvSpPr>
        <p:spPr>
          <a:xfrm xmlns:a="http://schemas.openxmlformats.org/drawingml/2006/main">
            <a:off x="10116007" y="5229454"/>
            <a:ext cx="7029907" cy="47640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2A2E4B"/>
                </a:solidFill>
                <a:latin typeface="Inter"/>
                <a:ea typeface="Inter"/>
                <a:cs typeface="Inter"/>
              </a:rPr>
              <a:t>O. Kuznetsov, "OULAD Early Warning System: Interpretable Student Risk Detection," GitHub, 2025. github.com/KuznetsovKarazin/oulad-early-warning</a:t>
            </a:r>
          </a:p>
        </p:txBody>
      </p:sp>
      <p:sp>
        <p:nvSpPr>
          <p:cNvPr id="29" name="Shape 26">
            <a:extLst xmlns:a="http://schemas.openxmlformats.org/drawingml/2006/main">
              <a:ext uri="{FF2B5EF4-FFF2-40B4-BE49-F238E27FC236}">
                <a16:creationId xmlns:a16="http://schemas.microsoft.com/office/drawing/2014/main" id="{312DC4D2-3FD0-44A4-8A80-7DB76FC3AD95}"/>
              </a:ext>
            </a:extLst>
          </p:cNvPr>
          <p:cNvSpPr>
            <a:spLocks xmlns:a="http://schemas.openxmlformats.org/drawingml/2006/main" noGrp="1"/>
          </p:cNvSpPr>
          <p:nvPr/>
        </p:nvSpPr>
        <p:spPr>
          <a:xfrm xmlns:a="http://schemas.openxmlformats.org/drawingml/2006/main">
            <a:off x="9620402" y="5873191"/>
            <a:ext cx="7524598" cy="9144"/>
          </a:xfrm>
          <a:prstGeom xmlns:a="http://schemas.openxmlformats.org/drawingml/2006/main" prst="rect">
            <a:avLst/>
          </a:prstGeom>
          <a:solidFill xmlns:a="http://schemas.openxmlformats.org/drawingml/2006/main">
            <a:srgbClr val="E4E5EF"/>
          </a:solidFill>
          <a:ln xmlns:a="http://schemas.openxmlformats.org/drawingml/2006/main" w="12700">
            <a:solidFill>
              <a:srgbClr val="E4E5EF">
                <a:alpha val="0"/>
              </a:srgbClr>
            </a:solidFill>
            <a:prstDash val="solid"/>
          </a:ln>
        </p:spPr>
      </p:sp>
      <p:sp>
        <p:nvSpPr>
          <p:cNvPr id="30" name="Text 27">
            <a:extLst xmlns:a="http://schemas.openxmlformats.org/drawingml/2006/main">
              <a:ext uri="{FF2B5EF4-FFF2-40B4-BE49-F238E27FC236}">
                <a16:creationId xmlns:a16="http://schemas.microsoft.com/office/drawing/2014/main" id="{AF64ACED-9B11-4CF4-8804-A84FEAE28E87}"/>
              </a:ext>
            </a:extLst>
          </p:cNvPr>
          <p:cNvSpPr>
            <a:spLocks xmlns:a="http://schemas.openxmlformats.org/drawingml/2006/main" noGrp="1"/>
          </p:cNvSpPr>
          <p:nvPr/>
        </p:nvSpPr>
        <p:spPr>
          <a:xfrm xmlns:a="http://schemas.openxmlformats.org/drawingml/2006/main">
            <a:off x="9620402" y="6035040"/>
            <a:ext cx="7525512" cy="448056"/>
          </a:xfrm>
          <a:prstGeom xmlns:a="http://schemas.openxmlformats.org/drawingml/2006/main" prst="rect">
            <a:avLst/>
          </a:prstGeom>
          <a:solidFill xmlns:a="http://schemas.openxmlformats.org/drawingml/2006/main">
            <a:srgbClr val="FFFFFF">
              <a:alpha val="0"/>
            </a:srgbClr>
          </a:solidFill>
          <a:ln xmlns:a="http://schemas.openxmlformats.org/drawingml/2006/main">
            <a:solidFill>
              <a:srgbClr val="FFFFFF">
                <a:alpha val="0"/>
              </a:srgbClr>
            </a:solidFill>
          </a:ln>
        </p:spPr>
        <p:txBody>
          <a:bodyPr xmlns:a="http://schemas.openxmlformats.org/drawingml/2006/main" wrap="square" lIns="152400" tIns="0" rIns="152400" bIns="152400" anchor="ctr"/>
          <a:lstStyle xmlns:a="http://schemas.openxmlformats.org/drawingml/2006/main"/>
          <a:p xmlns:a="http://schemas.openxmlformats.org/drawingml/2006/main">
            <a:pPr marL="0" indent="0" algn="l">
              <a:buNone/>
            </a:pPr>
            <a:r>
              <a:rPr sz="1000">
                <a:solidFill>
                  <a:srgbClr val="2A2E4B"/>
                </a:solidFill>
                <a:latin typeface="JetBrains Mono"/>
                <a:ea typeface="JetBrains Mono"/>
                <a:cs typeface="JetBrains Mono"/>
              </a:rPr>
              <a:t>References [7]–[8] are the external OULAD comparators discussed on slide 14. Their target definitions and observation windows differ from ours; metrics are not directly comparable.</a:t>
            </a:r>
          </a:p>
        </p:txBody>
      </p:sp>
    </p:spTree>
    <p:extLst>
      <p:ext uri="{BB962C8B-B14F-4D97-AF65-F5344CB8AC3E}">
        <p14:creationId xmlns:p14="http://schemas.microsoft.com/office/powerpoint/2010/main" val="124716104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2026-07-22T20:31:46.0870000Z</dcterms:created>
  <dcterms:modified xsi:type="dcterms:W3CDTF">2026-07-22T20:31:46.0870000Z</dcterms:modified>
</coreProperties>
</file>