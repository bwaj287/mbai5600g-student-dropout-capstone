
<file path=[Content_Types].xml><?xml version="1.0" encoding="utf-8"?>
<Types xmlns="http://schemas.openxmlformats.org/package/2006/content-types">
  <Default Extension="xml" ContentType="application/vnd.openxmlformats-package.core-properties+xml"/>
  <Default Extension="png" ContentType="image/png"/>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slides/charts/chart1.xml" ContentType="application/vnd.openxmlformats-officedocument.drawingml.chart+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slides/charts/chart2.xml" ContentType="application/vnd.openxmlformats-officedocument.drawingml.chart+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b1b6a32f86b749f2" /><Relationship Type="http://schemas.openxmlformats.org/officeDocument/2006/relationships/extended-properties" Target="/docProps/app.xml" Id="Rc28c79df653044c9" /><Relationship Type="http://schemas.openxmlformats.org/officeDocument/2006/relationships/officeDocument" Target="/ppt/presentation.xml" Id="Ra619ef436f25479b" /></Relationships>
</file>

<file path=ppt/presentation.xml><?xml version="1.0" encoding="utf-8"?>
<p:presentation xmlns:p="http://schemas.openxmlformats.org/presentationml/2006/main">
  <p:sldMasterIdLst>
    <p:sldMasterId xmlns:r="http://schemas.openxmlformats.org/officeDocument/2006/relationships" id="2147483648" r:id="Ra4ca71c6bbdd45db"/>
  </p:sldMasterIdLst>
  <p:notesMasterIdLst>
    <p:notesMasterId xmlns:r="http://schemas.openxmlformats.org/officeDocument/2006/relationships" r:id="R6a1606b2d46c49ba"/>
  </p:notesMasterIdLst>
  <p:sldIdLst>
    <p:sldId xmlns:r="http://schemas.openxmlformats.org/officeDocument/2006/relationships" id="256" r:id="Rb2b781fc45d64596"/>
    <p:sldId xmlns:r="http://schemas.openxmlformats.org/officeDocument/2006/relationships" id="257" r:id="Rc7d8e88498124419"/>
    <p:sldId xmlns:r="http://schemas.openxmlformats.org/officeDocument/2006/relationships" id="258" r:id="R05f9391baaeb4373"/>
    <p:sldId xmlns:r="http://schemas.openxmlformats.org/officeDocument/2006/relationships" id="259" r:id="R5200005e80214448"/>
    <p:sldId xmlns:r="http://schemas.openxmlformats.org/officeDocument/2006/relationships" id="260" r:id="R793a587c91464192"/>
    <p:sldId xmlns:r="http://schemas.openxmlformats.org/officeDocument/2006/relationships" id="261" r:id="R44bcf88ca38a4577"/>
    <p:sldId xmlns:r="http://schemas.openxmlformats.org/officeDocument/2006/relationships" id="262" r:id="Rb6f32ac574cf45e0"/>
    <p:sldId xmlns:r="http://schemas.openxmlformats.org/officeDocument/2006/relationships" id="263" r:id="R5e4f84f8036c4841"/>
    <p:sldId xmlns:r="http://schemas.openxmlformats.org/officeDocument/2006/relationships" id="264" r:id="R39f4070bba384381"/>
    <p:sldId xmlns:r="http://schemas.openxmlformats.org/officeDocument/2006/relationships" id="265" r:id="R5d97159f823646eb"/>
    <p:sldId xmlns:r="http://schemas.openxmlformats.org/officeDocument/2006/relationships" id="266" r:id="R77ab3aee21b74ac3"/>
    <p:sldId xmlns:r="http://schemas.openxmlformats.org/officeDocument/2006/relationships" id="267" r:id="R111b66716300467e"/>
    <p:sldId xmlns:r="http://schemas.openxmlformats.org/officeDocument/2006/relationships" id="268" r:id="Rfd3a0b8cc5f74faf"/>
    <p:sldId xmlns:r="http://schemas.openxmlformats.org/officeDocument/2006/relationships" id="269" r:id="Ra5e19fa03e994823"/>
    <p:sldId xmlns:r="http://schemas.openxmlformats.org/officeDocument/2006/relationships" id="270" r:id="R6cb1a6cce83e4d7e"/>
    <p:sldId xmlns:r="http://schemas.openxmlformats.org/officeDocument/2006/relationships" id="271" r:id="Ra4e8dbbdf0a14abb"/>
    <p:sldId xmlns:r="http://schemas.openxmlformats.org/officeDocument/2006/relationships" id="272" r:id="R6bf3a7c042344b54"/>
    <p:sldId xmlns:r="http://schemas.openxmlformats.org/officeDocument/2006/relationships" id="273" r:id="R9541229042df43b2"/>
    <p:sldId xmlns:r="http://schemas.openxmlformats.org/officeDocument/2006/relationships" id="274" r:id="Rc28e5fd765d84730"/>
    <p:sldId xmlns:r="http://schemas.openxmlformats.org/officeDocument/2006/relationships" id="275" r:id="R82b68ab26ceb41f0"/>
  </p:sldIdLst>
  <p:sldSz cx="18288000" cy="10287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7921f19f22c048df" /><Relationship Type="http://schemas.openxmlformats.org/officeDocument/2006/relationships/slideMaster" Target="/ppt/slideMasters/slideMaster1.xml" Id="Ra4ca71c6bbdd45db" /><Relationship Type="http://schemas.openxmlformats.org/officeDocument/2006/relationships/notesMaster" Target="/ppt/notesMasters/notesMaster1.xml" Id="R6a1606b2d46c49ba" /><Relationship Type="http://schemas.openxmlformats.org/officeDocument/2006/relationships/presProps" Target="/ppt/presProps.xml" Id="Ra2b75ec970344e02" /><Relationship Type="http://schemas.openxmlformats.org/officeDocument/2006/relationships/viewProps" Target="/ppt/viewProps.xml" Id="Rd6b0f93602e545f4" /><Relationship Type="http://schemas.openxmlformats.org/officeDocument/2006/relationships/tableStyles" Target="/ppt/tableStyles.xml" Id="R897c4f4cc02e4637" /><Relationship Type="http://schemas.openxmlformats.org/officeDocument/2006/relationships/slide" Target="/ppt/slides/slide1.xml" Id="Rb2b781fc45d64596" /><Relationship Type="http://schemas.openxmlformats.org/officeDocument/2006/relationships/slide" Target="/ppt/slides/slide2.xml" Id="Rc7d8e88498124419" /><Relationship Type="http://schemas.openxmlformats.org/officeDocument/2006/relationships/slide" Target="/ppt/slides/slide3.xml" Id="R05f9391baaeb4373" /><Relationship Type="http://schemas.openxmlformats.org/officeDocument/2006/relationships/slide" Target="/ppt/slides/slide4.xml" Id="R5200005e80214448" /><Relationship Type="http://schemas.openxmlformats.org/officeDocument/2006/relationships/slide" Target="/ppt/slides/slide5.xml" Id="R793a587c91464192" /><Relationship Type="http://schemas.openxmlformats.org/officeDocument/2006/relationships/slide" Target="/ppt/slides/slide6.xml" Id="R44bcf88ca38a4577" /><Relationship Type="http://schemas.openxmlformats.org/officeDocument/2006/relationships/slide" Target="/ppt/slides/slide7.xml" Id="Rb6f32ac574cf45e0" /><Relationship Type="http://schemas.openxmlformats.org/officeDocument/2006/relationships/slide" Target="/ppt/slides/slide8.xml" Id="R5e4f84f8036c4841" /><Relationship Type="http://schemas.openxmlformats.org/officeDocument/2006/relationships/slide" Target="/ppt/slides/slide9.xml" Id="R39f4070bba384381" /><Relationship Type="http://schemas.openxmlformats.org/officeDocument/2006/relationships/slide" Target="/ppt/slides/slide10.xml" Id="R5d97159f823646eb" /><Relationship Type="http://schemas.openxmlformats.org/officeDocument/2006/relationships/slide" Target="/ppt/slides/slide11.xml" Id="R77ab3aee21b74ac3" /><Relationship Type="http://schemas.openxmlformats.org/officeDocument/2006/relationships/slide" Target="/ppt/slides/slide12.xml" Id="R111b66716300467e" /><Relationship Type="http://schemas.openxmlformats.org/officeDocument/2006/relationships/slide" Target="/ppt/slides/slide13.xml" Id="Rfd3a0b8cc5f74faf" /><Relationship Type="http://schemas.openxmlformats.org/officeDocument/2006/relationships/slide" Target="/ppt/slides/slide14.xml" Id="Ra5e19fa03e994823" /><Relationship Type="http://schemas.openxmlformats.org/officeDocument/2006/relationships/slide" Target="/ppt/slides/slide15.xml" Id="R6cb1a6cce83e4d7e" /><Relationship Type="http://schemas.openxmlformats.org/officeDocument/2006/relationships/slide" Target="/ppt/slides/slide16.xml" Id="Ra4e8dbbdf0a14abb" /><Relationship Type="http://schemas.openxmlformats.org/officeDocument/2006/relationships/slide" Target="/ppt/slides/slide17.xml" Id="R6bf3a7c042344b54" /><Relationship Type="http://schemas.openxmlformats.org/officeDocument/2006/relationships/slide" Target="/ppt/slides/slide18.xml" Id="R9541229042df43b2" /><Relationship Type="http://schemas.openxmlformats.org/officeDocument/2006/relationships/slide" Target="/ppt/slides/slide19.xml" Id="Rc28e5fd765d84730" /><Relationship Type="http://schemas.openxmlformats.org/officeDocument/2006/relationships/slide" Target="/ppt/slides/slide20.xml" Id="R82b68ab26ceb41f0"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4726e3a279b84983"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a73b96a2d83244e4" /><Relationship Type="http://schemas.openxmlformats.org/officeDocument/2006/relationships/notesMaster" Target="/ppt/notesMasters/notesMaster1.xml" Id="R1f8c5c809c844cfa" /></Relationships>
</file>

<file path=ppt/notesSlides/_rels/notesSlide2.xml.rels>&#65279;<?xml version="1.0" encoding="utf-8"?><Relationships xmlns="http://schemas.openxmlformats.org/package/2006/relationships"><Relationship Type="http://schemas.openxmlformats.org/officeDocument/2006/relationships/slide" Target="/ppt/slides/slide2.xml" Id="R5308c9bab4b4423a" /><Relationship Type="http://schemas.openxmlformats.org/officeDocument/2006/relationships/notesMaster" Target="/ppt/notesMasters/notesMaster1.xml" Id="R8df644febc524a05" /></Relationships>
</file>

<file path=ppt/notesSlides/_rels/notesSlide3.xml.rels>&#65279;<?xml version="1.0" encoding="utf-8"?><Relationships xmlns="http://schemas.openxmlformats.org/package/2006/relationships"><Relationship Type="http://schemas.openxmlformats.org/officeDocument/2006/relationships/slide" Target="/ppt/slides/slide3.xml" Id="R7c45e245c9664862" /><Relationship Type="http://schemas.openxmlformats.org/officeDocument/2006/relationships/notesMaster" Target="/ppt/notesMasters/notesMaster1.xml" Id="Rcca56d8bb83e4ef3" /></Relationships>
</file>

<file path=ppt/notesSlides/_rels/notesSlide4.xml.rels>&#65279;<?xml version="1.0" encoding="utf-8"?><Relationships xmlns="http://schemas.openxmlformats.org/package/2006/relationships"><Relationship Type="http://schemas.openxmlformats.org/officeDocument/2006/relationships/slide" Target="/ppt/slides/slide4.xml" Id="Rec2f67d9036c48ac" /><Relationship Type="http://schemas.openxmlformats.org/officeDocument/2006/relationships/notesMaster" Target="/ppt/notesMasters/notesMaster1.xml" Id="R48c6053bfdc347f8" /></Relationships>
</file>

<file path=ppt/notesSlides/_rels/notesSlide5.xml.rels>&#65279;<?xml version="1.0" encoding="utf-8"?><Relationships xmlns="http://schemas.openxmlformats.org/package/2006/relationships"><Relationship Type="http://schemas.openxmlformats.org/officeDocument/2006/relationships/slide" Target="/ppt/slides/slide5.xml" Id="Re96c7cd9c59d46c0" /><Relationship Type="http://schemas.openxmlformats.org/officeDocument/2006/relationships/notesMaster" Target="/ppt/notesMasters/notesMaster1.xml" Id="R4ecbe45c643c4c60" /></Relationships>
</file>

<file path=ppt/notesSlides/_rels/notesSlide6.xml.rels>&#65279;<?xml version="1.0" encoding="utf-8"?><Relationships xmlns="http://schemas.openxmlformats.org/package/2006/relationships"><Relationship Type="http://schemas.openxmlformats.org/officeDocument/2006/relationships/slide" Target="/ppt/slides/slide6.xml" Id="R6d7b3fecc972487f" /><Relationship Type="http://schemas.openxmlformats.org/officeDocument/2006/relationships/notesMaster" Target="/ppt/notesMasters/notesMaster1.xml" Id="R57f5d72ae8a54c33" /></Relationships>
</file>

<file path=ppt/notesSlides/_rels/notesSlide7.xml.rels>&#65279;<?xml version="1.0" encoding="utf-8"?><Relationships xmlns="http://schemas.openxmlformats.org/package/2006/relationships"><Relationship Type="http://schemas.openxmlformats.org/officeDocument/2006/relationships/slide" Target="/ppt/slides/slide7.xml" Id="Ra5347847982d47af" /><Relationship Type="http://schemas.openxmlformats.org/officeDocument/2006/relationships/notesMaster" Target="/ppt/notesMasters/notesMaster1.xml" Id="R1fff0ed2bbd742f6" /></Relationships>
</file>

<file path=ppt/notesSlides/_rels/notesSlide8.xml.rels>&#65279;<?xml version="1.0" encoding="utf-8"?><Relationships xmlns="http://schemas.openxmlformats.org/package/2006/relationships"><Relationship Type="http://schemas.openxmlformats.org/officeDocument/2006/relationships/slide" Target="/ppt/slides/slide8.xml" Id="R4d82945f5a354724" /><Relationship Type="http://schemas.openxmlformats.org/officeDocument/2006/relationships/notesMaster" Target="/ppt/notesMasters/notesMaster1.xml" Id="Re4e800ea91054ba6" /></Relationships>
</file>

<file path=ppt/notesSlides/_rels/notesSlide9.xml.rels>&#65279;<?xml version="1.0" encoding="utf-8"?><Relationships xmlns="http://schemas.openxmlformats.org/package/2006/relationships"><Relationship Type="http://schemas.openxmlformats.org/officeDocument/2006/relationships/slide" Target="/ppt/slides/slide9.xml" Id="R01c4c75300ab4709" /><Relationship Type="http://schemas.openxmlformats.org/officeDocument/2006/relationships/notesMaster" Target="/ppt/notesMasters/notesMaster1.xml" Id="R9b28d72c83aa420b"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4be7c81616884115" /><Relationship Type="http://schemas.openxmlformats.org/officeDocument/2006/relationships/notesMaster" Target="/ppt/notesMasters/notesMaster1.xml" Id="R87be1e8525d34d24"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6ccf9e2d8bdb4eca" /><Relationship Type="http://schemas.openxmlformats.org/officeDocument/2006/relationships/notesMaster" Target="/ppt/notesMasters/notesMaster1.xml" Id="R8dc05e6757994324"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bae4b3e6e2fa40ce" /><Relationship Type="http://schemas.openxmlformats.org/officeDocument/2006/relationships/notesMaster" Target="/ppt/notesMasters/notesMaster1.xml" Id="R1973fe94686f4466"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c7979ae2d06041b7" /><Relationship Type="http://schemas.openxmlformats.org/officeDocument/2006/relationships/notesMaster" Target="/ppt/notesMasters/notesMaster1.xml" Id="Rf4edfd09d06e4f48"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8553ac74490d4ba7" /><Relationship Type="http://schemas.openxmlformats.org/officeDocument/2006/relationships/notesMaster" Target="/ppt/notesMasters/notesMaster1.xml" Id="Rb268950cb4534b24"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e211911201184203" /><Relationship Type="http://schemas.openxmlformats.org/officeDocument/2006/relationships/notesMaster" Target="/ppt/notesMasters/notesMaster1.xml" Id="Ra7dc2a1f739f4223"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fb012a953999427c" /><Relationship Type="http://schemas.openxmlformats.org/officeDocument/2006/relationships/notesMaster" Target="/ppt/notesMasters/notesMaster1.xml" Id="R163062a784b44eb0"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b76acd61629b40c9" /><Relationship Type="http://schemas.openxmlformats.org/officeDocument/2006/relationships/notesMaster" Target="/ppt/notesMasters/notesMaster1.xml" Id="R81ef0631239440c8"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76be1eb3dbba4e4d" /><Relationship Type="http://schemas.openxmlformats.org/officeDocument/2006/relationships/notesMaster" Target="/ppt/notesMasters/notesMaster1.xml" Id="R0f15b9fc9a8a400b"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769eb477c4e74617" /><Relationship Type="http://schemas.openxmlformats.org/officeDocument/2006/relationships/notesMaster" Target="/ppt/notesMasters/notesMaster1.xml" Id="R3c128b02243645ac"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92272eec750946de" /><Relationship Type="http://schemas.openxmlformats.org/officeDocument/2006/relationships/notesMaster" Target="/ppt/notesMasters/notesMaster1.xml" Id="R5bd92c573eec462c"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Xinyu</a:t>
            </a:r>
          </a:p>
          <a:p xmlns:a="http://schemas.openxmlformats.org/drawingml/2006/main">
            <a:r>
              <a:t/>
            </a:r>
          </a:p>
          <a:p xmlns:a="http://schemas.openxmlformats.org/drawingml/2006/main">
            <a:r>
              <a:t>Good afternoon. Our project asks whether one fixed dropout model can be reused when schools store different raw columns and when new information arrives during a course. We designed a 16-feature semantic contract. Four fields are required and twelve are optional. UCI contributes an enrolment snapshot, while OULAD contributes enrolment and day-35, day-60, and day-75 snapshots. The same pooled XGBoost object scores every context. It reached an AUC of 0.771 on UCI enrolment and 0.677 to 0.694 on later OULAD snapshots. The later OULAD AUC is slightly below a local-only model, so our claim is practical reuse with a measured cost, not perfect transfer.</a:t>
            </a:r>
          </a:p>
          <a:p xmlns:a="http://schemas.openxmlformats.org/drawingml/2006/main">
            <a:r>
              <a:t/>
            </a:r>
          </a:p>
          <a:p xmlns:a="http://schemas.openxmlformats.org/drawingml/2006/main">
            <a:r>
              <a:t>[Sources]</a:t>
            </a:r>
          </a:p>
          <a:p xmlns:a="http://schemas.openxmlformats.org/drawingml/2006/main">
            <a:r>
              <a:t>- Project output: dynamic_unified_metrics.csv</a:t>
            </a:r>
          </a:p>
          <a:p xmlns:a="http://schemas.openxmlformats.org/drawingml/2006/main">
            <a:r>
              <a:t>- Project output: dynamic_unified_significance.csv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Xinyu</a:t>
            </a:r>
          </a:p>
          <a:p xmlns:a="http://schemas.openxmlformats.org/drawingml/2006/main">
            <a:r>
              <a:t/>
            </a:r>
          </a:p>
          <a:p xmlns:a="http://schemas.openxmlformats.org/drawingml/2006/main">
            <a:r>
              <a:t>I will first explain the problem and the two datasets. We then spend about three minutes on EDA because it determines which raw fields can be mapped and when they become available. After that, we explain the 16-feature contract, the dynamic snapshot workflow, and the local-only versus pooled comparison. The results section includes the portability cost, SHAP interpretation, and a supporting OULAD timing check. We finish with advisor use, limitations, and a third-school validation plan. Slides 19 and 20 are appendix material and are not part of the spoken presentation.</a:t>
            </a:r>
          </a:p>
          <a:p xmlns:a="http://schemas.openxmlformats.org/drawingml/2006/main">
            <a:r>
              <a:t/>
            </a:r>
          </a:p>
          <a:p xmlns:a="http://schemas.openxmlformats.org/drawingml/2006/main">
            <a:r>
              <a:t>[Sources]</a:t>
            </a:r>
          </a:p>
          <a:p xmlns:a="http://schemas.openxmlformats.org/drawingml/2006/main">
            <a:r>
              <a:t>- Activity 7 presentation requirements</a:t>
            </a:r>
          </a:p>
          <a:p xmlns:a="http://schemas.openxmlformats.org/drawingml/2006/main">
            <a:r>
              <a:t>- Project methodology and results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Xinyu</a:t>
            </a:r>
          </a:p>
          <a:p xmlns:a="http://schemas.openxmlformats.org/drawingml/2006/main">
            <a:r>
              <a:t/>
            </a:r>
          </a:p>
          <a:p xmlns:a="http://schemas.openxmlformats.org/drawingml/2006/main">
            <a:r>
              <a:t>The practical issue is that schools do not share one student table. UCI mainly contains administrative and enrolment records. OULAD also contains dated assessments and online activity. A model tied to exact raw columns cannot be moved safely. Our objective is to keep the model input fixed while allowing each school to build its own documented adapter. Every adapter must produce the same 16 numeric concepts on zero-to-one scales. Four core concepts are required. Optional background, assessment, and activity fields can remain blank when the source system does not have them. This lets us test one model at enrolment and again as course evidence becomes available.</a:t>
            </a:r>
          </a:p>
          <a:p xmlns:a="http://schemas.openxmlformats.org/drawingml/2006/main">
            <a:r>
              <a:t/>
            </a:r>
          </a:p>
          <a:p xmlns:a="http://schemas.openxmlformats.org/drawingml/2006/main">
            <a:r>
              <a:t>[Sources]</a:t>
            </a:r>
          </a:p>
          <a:p xmlns:a="http://schemas.openxmlformats.org/drawingml/2006/main">
            <a:r>
              <a:t>- UCI dataset 697</a:t>
            </a:r>
          </a:p>
          <a:p xmlns:a="http://schemas.openxmlformats.org/drawingml/2006/main">
            <a:r>
              <a:t>- Open University Learning Analytics Dataset</a:t>
            </a:r>
          </a:p>
          <a:p xmlns:a="http://schemas.openxmlformats.org/drawingml/2006/main">
            <a:r>
              <a:t>- unified_dynamic_feature_contract.json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Xinyu</a:t>
            </a:r>
          </a:p>
          <a:p xmlns:a="http://schemas.openxmlformats.org/drawingml/2006/main">
            <a:r>
              <a:t/>
            </a:r>
          </a:p>
          <a:p xmlns:a="http://schemas.openxmlformats.org/drawingml/2006/main">
            <a:r>
              <a:t>The business goal is consistent risk ranking without rebuilding the complete model for each school. The left side shows the scope and constraints. The right side shows the architecture. UCI maps age, tuition status, prior education, and registered load. OULAD maps age band, deprivation band, credits, dated assessments, and active days. Both produce the same 16-column order. This is not automatic field discovery. A new school must still decide which local columns represent the required concepts, document the scales, and check the mapped values. The model output is also a ranking score, not a calibrated personal probability.</a:t>
            </a:r>
          </a:p>
          <a:p xmlns:a="http://schemas.openxmlformats.org/drawingml/2006/main">
            <a:r>
              <a:t/>
            </a:r>
          </a:p>
          <a:p xmlns:a="http://schemas.openxmlformats.org/drawingml/2006/main">
            <a:r>
              <a:t>[Sources]</a:t>
            </a:r>
          </a:p>
          <a:p xmlns:a="http://schemas.openxmlformats.org/drawingml/2006/main">
            <a:r>
              <a:t>- unified_dynamic_feature_contract.json</a:t>
            </a:r>
          </a:p>
          <a:p xmlns:a="http://schemas.openxmlformats.org/drawingml/2006/main">
            <a:r>
              <a:t>- map_new_school_snapshots.py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Wu Hanming</a:t>
            </a:r>
          </a:p>
          <a:p xmlns:a="http://schemas.openxmlformats.org/drawingml/2006/main">
            <a:r>
              <a:t/>
            </a:r>
          </a:p>
          <a:p xmlns:a="http://schemas.openxmlformats.org/drawingml/2006/main">
            <a:r>
              <a:t>The EDA begins with the target distributions. UCI has 4,424 student records, with about 32 percent labelled Dropout. OULAD has 32,593 student-module records, with about 31 percent finally Withdrawn. At later landmarks, the future-withdrawal rate is lower because students who already withdrew are removed. UCI has no missing values in the downloaded table. OULAD has limited missingness in deprivation band and registration information. These differences matter. Average precision changes with class prevalence, and the later snapshots must be built only from events available by that day. Student identifiers, outcomes, and future events are never model inputs.</a:t>
            </a:r>
          </a:p>
          <a:p xmlns:a="http://schemas.openxmlformats.org/drawingml/2006/main">
            <a:r>
              <a:t/>
            </a:r>
          </a:p>
          <a:p xmlns:a="http://schemas.openxmlformats.org/drawingml/2006/main">
            <a:r>
              <a:t>[Sources]</a:t>
            </a:r>
          </a:p>
          <a:p xmlns:a="http://schemas.openxmlformats.org/drawingml/2006/main">
            <a:r>
              <a:t>- UCI Predict Students' Dropout and Academic Success dataset</a:t>
            </a:r>
          </a:p>
          <a:p xmlns:a="http://schemas.openxmlformats.org/drawingml/2006/main">
            <a:r>
              <a:t>- Open University Learning Analytics Dataset</a:t>
            </a:r>
          </a:p>
          <a:p xmlns:a="http://schemas.openxmlformats.org/drawingml/2006/main">
            <a:r>
              <a:t>- Project EDA outputs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Wu Hanming</a:t>
            </a:r>
          </a:p>
          <a:p xmlns:a="http://schemas.openxmlformats.org/drawingml/2006/main">
            <a:r>
              <a:t/>
            </a:r>
          </a:p>
          <a:p xmlns:a="http://schemas.openxmlformats.org/drawingml/2006/main">
            <a:r>
              <a:t>This UCI EDA shows that semester completion and grade separate the outcomes strongly. Dropout students approve fewer first-semester units, and academic variables are correlated. However, those values do not exist at enrolment. The redesigned portable model therefore does not use semester results for the UCI enrolment snapshot. Instead, UCI contributes entry-time background and study-load fields. We keep the old six-feature enrolment analysis only as a supporting baseline. This is a timing lesson from EDA: a feature may be predictive, but it is invalid if it appears after the prediction point. The chart is descriptive, not causal evidence.</a:t>
            </a:r>
          </a:p>
          <a:p xmlns:a="http://schemas.openxmlformats.org/drawingml/2006/main">
            <a:r>
              <a:t/>
            </a:r>
          </a:p>
          <a:p xmlns:a="http://schemas.openxmlformats.org/drawingml/2006/main">
            <a:r>
              <a:t>[Sources]</a:t>
            </a:r>
          </a:p>
          <a:p xmlns:a="http://schemas.openxmlformats.org/drawingml/2006/main">
            <a:r>
              <a:t>- UCI dataset</a:t>
            </a:r>
          </a:p>
          <a:p xmlns:a="http://schemas.openxmlformats.org/drawingml/2006/main">
            <a:r>
              <a:t>- Project UCI EDA figures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Wu Hanming</a:t>
            </a:r>
          </a:p>
          <a:p xmlns:a="http://schemas.openxmlformats.org/drawingml/2006/main">
            <a:r>
              <a:t/>
            </a:r>
          </a:p>
          <a:p xmlns:a="http://schemas.openxmlformats.org/drawingml/2006/main">
            <a:r>
              <a:t>OULAD gives us dated events that can be rebuilt at each snapshot. The full-course charts show that withdrawn students generally have lower activity and lower or missing assessment performance, although the groups overlap. For modelling, we do not use the final totals shown in EDA. At each day, we reconstruct assessment completion, normalized average score, active-day rate, inactivity recency, and recent activity using only events observed up to that day. Students who withdrew before the snapshot are removed because the task is future withdrawal. This avoids look-ahead leakage and gives the dynamic part of the model a realistic prediction time.</a:t>
            </a:r>
          </a:p>
          <a:p xmlns:a="http://schemas.openxmlformats.org/drawingml/2006/main">
            <a:r>
              <a:t/>
            </a:r>
          </a:p>
          <a:p xmlns:a="http://schemas.openxmlformats.org/drawingml/2006/main">
            <a:r>
              <a:t>[Sources]</a:t>
            </a:r>
          </a:p>
          <a:p xmlns:a="http://schemas.openxmlformats.org/drawingml/2006/main">
            <a:r>
              <a:t>- Open University Learning Analytics Dataset</a:t>
            </a:r>
          </a:p>
          <a:p xmlns:a="http://schemas.openxmlformats.org/drawingml/2006/main">
            <a:r>
              <a:t>- cross_school_dynamic_model.py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Wu Hanming</a:t>
            </a:r>
          </a:p>
          <a:p xmlns:a="http://schemas.openxmlformats.org/drawingml/2006/main">
            <a:r>
              <a:t/>
            </a:r>
          </a:p>
          <a:p xmlns:a="http://schemas.openxmlformats.org/drawingml/2006/main">
            <a:r>
              <a:t>This is the redesigned workflow. First, we audit local fields, choose a snapshot day, and define the future outcome. Second, the adapter maps the data into the fixed 16-column contract and validates every scale. We split by student so one person's records cannot appear in both training and testing. Pooled training gives equal total weight to each institution and outcome class. It also masks optional feature groups during training so that a missing assessment or activity feed is not completely unfamiliar. We compare the pooled model with local-only models on the same held-out records. Finally, we use one thousand student-cluster bootstraps, paired permutation tests, and SHAP.</a:t>
            </a:r>
          </a:p>
          <a:p xmlns:a="http://schemas.openxmlformats.org/drawingml/2006/main">
            <a:r>
              <a:t/>
            </a:r>
          </a:p>
          <a:p xmlns:a="http://schemas.openxmlformats.org/drawingml/2006/main">
            <a:r>
              <a:t>[Sources]</a:t>
            </a:r>
          </a:p>
          <a:p xmlns:a="http://schemas.openxmlformats.org/drawingml/2006/main">
            <a:r>
              <a:t>- cross_school_dynamic_model.py</a:t>
            </a:r>
          </a:p>
          <a:p xmlns:a="http://schemas.openxmlformats.org/drawingml/2006/main">
            <a:r>
              <a:t>- dynamic_unified_significance.csv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Xinyu</a:t>
            </a:r>
          </a:p>
          <a:p xmlns:a="http://schemas.openxmlformats.org/drawingml/2006/main">
            <a:r>
              <a:t/>
            </a:r>
          </a:p>
          <a:p xmlns:a="http://schemas.openxmlformats.org/drawingml/2006/main">
            <a:r>
              <a:t>The fixed contract has four required concepts. They are scaled age, prior education level, study load, and course progress ratio. Five optional background fields describe prior score, previous attempts, gender, support need, and financial stability. Four optional assessment fields summarize completion, average score, score availability, and late submissions. Three optional activity fields summarize active days, inactivity recency, and recent activity. The raw column names can differ, but the semantic definition and scale cannot. Optional fields may be blank. The pipeline imputes them using training information, while required fields are rejected if they are missing.</a:t>
            </a:r>
          </a:p>
          <a:p xmlns:a="http://schemas.openxmlformats.org/drawingml/2006/main">
            <a:r>
              <a:t/>
            </a:r>
          </a:p>
          <a:p xmlns:a="http://schemas.openxmlformats.org/drawingml/2006/main">
            <a:r>
              <a:t>[Sources]</a:t>
            </a:r>
          </a:p>
          <a:p xmlns:a="http://schemas.openxmlformats.org/drawingml/2006/main">
            <a:r>
              <a:t>- unified_dynamic_feature_contract.json</a:t>
            </a:r>
          </a:p>
          <a:p xmlns:a="http://schemas.openxmlformats.org/drawingml/2006/main">
            <a:r>
              <a:t>- map_new_school_snapshots.py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Xinyu</a:t>
            </a:r>
          </a:p>
          <a:p xmlns:a="http://schemas.openxmlformats.org/drawingml/2006/main">
            <a:r>
              <a:t/>
            </a:r>
          </a:p>
          <a:p xmlns:a="http://schemas.openxmlformats.org/drawingml/2006/main">
            <a:r>
              <a:t>This chart compares a local-only XGBoost with the same one pooled model across five held-out contexts. On UCI enrolment, pooled AUC is 0.771 versus 0.774 for local-only. At OULAD enrolment, they are 0.595 and 0.597. At days 35, 60, and 75, the pooled model reaches 0.677, 0.694, and 0.689. The local-only values are slightly higher. The important point is that one frozen estimator can rank students across all five contexts, but the convenience is not free. The next slide tests whether those small differences could be random.</a:t>
            </a:r>
          </a:p>
          <a:p xmlns:a="http://schemas.openxmlformats.org/drawingml/2006/main">
            <a:r>
              <a:t/>
            </a:r>
          </a:p>
          <a:p xmlns:a="http://schemas.openxmlformats.org/drawingml/2006/main">
            <a:r>
              <a:t>[Sources]</a:t>
            </a:r>
          </a:p>
          <a:p xmlns:a="http://schemas.openxmlformats.org/drawingml/2006/main">
            <a:r>
              <a:t>- dynamic_unified_metrics.csv</a:t>
            </a:r>
          </a:p>
          <a:p xmlns:a="http://schemas.openxmlformats.org/drawingml/2006/main">
            <a:r>
              <a:t>- dynamic_unified_significance.csv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Xinyu</a:t>
            </a:r>
          </a:p>
          <a:p xmlns:a="http://schemas.openxmlformats.org/drawingml/2006/main">
            <a:r>
              <a:t/>
            </a:r>
          </a:p>
          <a:p xmlns:a="http://schemas.openxmlformats.org/drawingml/2006/main">
            <a:r>
              <a:t>The significance tests compare pooled and local-only predictions on exactly the same held-out students. At UCI enrolment and OULAD enrolment, the AUC differences are not significant. At OULAD days 35, 60, and 75, pooled AUC is lower by about 0.009, 0.013, and 0.009. The paired permutation p-values are 0.005, 0.001, and 0.005. This means the later AUC cost is small but statistically real in this sample. Average-precision differences were not significant at the five-percent level. We therefore describe the result as model reuse with a measured portability cost and local validation, not as equal performance everywhere.</a:t>
            </a:r>
          </a:p>
          <a:p xmlns:a="http://schemas.openxmlformats.org/drawingml/2006/main">
            <a:r>
              <a:t/>
            </a:r>
          </a:p>
          <a:p xmlns:a="http://schemas.openxmlformats.org/drawingml/2006/main">
            <a:r>
              <a:t>[Sources]</a:t>
            </a:r>
          </a:p>
          <a:p xmlns:a="http://schemas.openxmlformats.org/drawingml/2006/main">
            <a:r>
              <a:t>- dynamic_unified_significance.csv</a:t>
            </a:r>
          </a:p>
          <a:p xmlns:a="http://schemas.openxmlformats.org/drawingml/2006/main">
            <a:r>
              <a:t>- dynamic_unified_performance.png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Xinyu</a:t>
            </a:r>
          </a:p>
          <a:p xmlns:a="http://schemas.openxmlformats.org/drawingml/2006/main">
            <a:r>
              <a:t/>
            </a:r>
          </a:p>
          <a:p xmlns:a="http://schemas.openxmlformats.org/drawingml/2006/main">
            <a:r>
              <a:t>This SHAP figure summarizes the same pooled model in five contexts. At enrolment, background fields such as financial stability and age contribute more because assessment and activity groups are blank. After day 35, assessment average becomes available and contributes to the ranking. Course progress ratio also has a large SHAP value because it tells one pooled model which stage the row represents. Within a single snapshot day, that ratio is constant, so it does not rank students by itself. SHAP describes model behaviour, not causes. Advisors still need local explanations and should connect a review flag to supportive outreach rather than an automatic decision.</a:t>
            </a:r>
          </a:p>
          <a:p xmlns:a="http://schemas.openxmlformats.org/drawingml/2006/main">
            <a:r>
              <a:t/>
            </a:r>
          </a:p>
          <a:p xmlns:a="http://schemas.openxmlformats.org/drawingml/2006/main">
            <a:r>
              <a:t>[Sources]</a:t>
            </a:r>
          </a:p>
          <a:p xmlns:a="http://schemas.openxmlformats.org/drawingml/2006/main">
            <a:r>
              <a:t>- dynamic_unified_shap.csv</a:t>
            </a:r>
          </a:p>
          <a:p xmlns:a="http://schemas.openxmlformats.org/drawingml/2006/main">
            <a:r>
              <a:t>- dynamic_unified_shap.png</a:t>
            </a:r>
          </a:p>
          <a:p xmlns:a="http://schemas.openxmlformats.org/drawingml/2006/main">
            <a:r>
              <a:t>- Lundberg and Lee, 2017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Wu Hanming</a:t>
            </a:r>
          </a:p>
          <a:p xmlns:a="http://schemas.openxmlformats.org/drawingml/2006/main">
            <a:r>
              <a:t/>
            </a:r>
          </a:p>
          <a:p xmlns:a="http://schemas.openxmlformats.org/drawingml/2006/main">
            <a:r>
              <a:t>This is a supporting OULAD-specific check rather than the main cross-school result. The larger 51-feature OULAD model uses platform and course-specific details that the portable model intentionally removes. Its Brier scores improve from day 35 to day 75, and a later 2014J cohort reaches an AUC of 0.678. The portable model is simpler and easier to map, while the OULAD-specific benchmark reaches about 0.717 AUC at the later snapshots. That gap shows the accuracy-versus-portability tradeoff. It also reminds us that ranking, calibration, and time stability must all be checked before an operational pilot.</a:t>
            </a:r>
          </a:p>
          <a:p xmlns:a="http://schemas.openxmlformats.org/drawingml/2006/main">
            <a:r>
              <a:t/>
            </a:r>
          </a:p>
          <a:p xmlns:a="http://schemas.openxmlformats.org/drawingml/2006/main">
            <a:r>
              <a:t>[Sources]</a:t>
            </a:r>
          </a:p>
          <a:p xmlns:a="http://schemas.openxmlformats.org/drawingml/2006/main">
            <a:r>
              <a:t>- OULAD landmark model outputs</a:t>
            </a:r>
          </a:p>
          <a:p xmlns:a="http://schemas.openxmlformats.org/drawingml/2006/main">
            <a:r>
              <a:t>- student_dropout_analysis.py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Wu Hanming</a:t>
            </a:r>
          </a:p>
          <a:p xmlns:a="http://schemas.openxmlformats.org/drawingml/2006/main">
            <a:r>
              <a:t/>
            </a:r>
          </a:p>
          <a:p xmlns:a="http://schemas.openxmlformats.org/drawingml/2006/main">
            <a:r>
              <a:t>The proposed business use is advisor prioritization. A new school first maps its fields and runs the frozen model on an untouched historical cohort. Scores should be converted into within-course percentiles. The example scoring script flags roughly the top 15 percent for review, but the actual share must match advisor capacity and an equity review. The chart on the left is an illustrative OULAD workload scenario from the supporting model, not a guaranteed result at another school. One model version can be shared, while each institution owns its adapter, review policy, and local validation evidence. Human review remains required.</a:t>
            </a:r>
          </a:p>
          <a:p xmlns:a="http://schemas.openxmlformats.org/drawingml/2006/main">
            <a:r>
              <a:t/>
            </a:r>
          </a:p>
          <a:p xmlns:a="http://schemas.openxmlformats.org/drawingml/2006/main">
            <a:r>
              <a:t>[Sources]</a:t>
            </a:r>
          </a:p>
          <a:p xmlns:a="http://schemas.openxmlformats.org/drawingml/2006/main">
            <a:r>
              <a:t>- score_new_school_dynamic.py</a:t>
            </a:r>
          </a:p>
          <a:p xmlns:a="http://schemas.openxmlformats.org/drawingml/2006/main">
            <a:r>
              <a:t>- OULAD capacity analysis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Wu Hanming</a:t>
            </a:r>
          </a:p>
          <a:p xmlns:a="http://schemas.openxmlformats.org/drawingml/2006/main">
            <a:r>
              <a:t/>
            </a:r>
          </a:p>
          <a:p xmlns:a="http://schemas.openxmlformats.org/drawingml/2006/main">
            <a:r>
              <a:t>Four limitations define the claim. First, only two public datasets are used. Second, UCI supplies only enrolment snapshots, while OULAD supplies all dynamic assessment and activity values. This means cross-school dynamic validity is not yet complete. Third, the mappings for age, education, load, and financial stability are documented but not identical measurements. Fourth, the later pooled OULAD AUC is slightly below local-only performance, and the difference is statistically significant. The project demonstrates a working portable prototype and a transparent test. It does not prove safe deployment at every school.</a:t>
            </a:r>
          </a:p>
          <a:p xmlns:a="http://schemas.openxmlformats.org/drawingml/2006/main">
            <a:r>
              <a:t/>
            </a:r>
          </a:p>
          <a:p xmlns:a="http://schemas.openxmlformats.org/drawingml/2006/main">
            <a:r>
              <a:t>[Sources]</a:t>
            </a:r>
          </a:p>
          <a:p xmlns:a="http://schemas.openxmlformats.org/drawingml/2006/main">
            <a:r>
              <a:t>- Project limitations</a:t>
            </a:r>
          </a:p>
          <a:p xmlns:a="http://schemas.openxmlformats.org/drawingml/2006/main">
            <a:r>
              <a:t>- dynamic_unified_significance.csv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Wu Hanming</a:t>
            </a:r>
          </a:p>
          <a:p xmlns:a="http://schemas.openxmlformats.org/drawingml/2006/main">
            <a:r>
              <a:t/>
            </a:r>
          </a:p>
          <a:p xmlns:a="http://schemas.openxmlformats.org/drawingml/2006/main">
            <a:r>
              <a:t>For a third school, we propose four stages. First, document raw fields and construct the four required features plus any optional groups. Second, score an untouched historical cohort with the frozen model and report feature coverage. Third, check ranking, calibration, subgroup results, and advisor workload. A silent shadow period should come before any limited support use. The model and local adapter should be versioned separately so a schema change can be reviewed without silently changing the estimator. The most important next study is a pre-registered third-school test with dated events, including missing optional feeds and a direct local-only comparison.</a:t>
            </a:r>
          </a:p>
          <a:p xmlns:a="http://schemas.openxmlformats.org/drawingml/2006/main">
            <a:r>
              <a:t/>
            </a:r>
          </a:p>
          <a:p xmlns:a="http://schemas.openxmlformats.org/drawingml/2006/main">
            <a:r>
              <a:t>[Sources]</a:t>
            </a:r>
          </a:p>
          <a:p xmlns:a="http://schemas.openxmlformats.org/drawingml/2006/main">
            <a:r>
              <a:t>- map_new_school_snapshots.py</a:t>
            </a:r>
          </a:p>
          <a:p xmlns:a="http://schemas.openxmlformats.org/drawingml/2006/main">
            <a:r>
              <a:t>- score_new_school_dynamic.py</a:t>
            </a:r>
          </a:p>
          <a:p xmlns:a="http://schemas.openxmlformats.org/drawingml/2006/main">
            <a:r>
              <a:t>- Project validation plan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Wu Hanming</a:t>
            </a:r>
          </a:p>
          <a:p xmlns:a="http://schemas.openxmlformats.org/drawingml/2006/main">
            <a:r>
              <a:t/>
            </a:r>
          </a:p>
          <a:p xmlns:a="http://schemas.openxmlformats.org/drawingml/2006/main">
            <a:r>
              <a:t>The main takeaway is that one fixed model can work with different raw columns only when a documented semantic adapter comes first. Our redesigned contribution is a 16-feature contract, two source adapters, one frozen XGBoost artifact, optional-group masking, paired significance tests, SHAP summaries, and a complete mapping and scoring example. Pooled AUC is 0.771 on UCI enrolment and between 0.677 and 0.694 on later OULAD snapshots. Local-only models remain slightly stronger later. Therefore, a third institution must validate the frozen model on local history, review calibration and subgroups, and complete a shadow pilot before advisor use.</a:t>
            </a:r>
          </a:p>
          <a:p xmlns:a="http://schemas.openxmlformats.org/drawingml/2006/main">
            <a:r>
              <a:t/>
            </a:r>
          </a:p>
          <a:p xmlns:a="http://schemas.openxmlformats.org/drawingml/2006/main">
            <a:r>
              <a:t>[Sources]</a:t>
            </a:r>
          </a:p>
          <a:p xmlns:a="http://schemas.openxmlformats.org/drawingml/2006/main">
            <a:r>
              <a:t>- Milestone 8 final report</a:t>
            </a:r>
          </a:p>
          <a:p xmlns:a="http://schemas.openxmlformats.org/drawingml/2006/main">
            <a:r>
              <a:t>- Project code and result package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SPEAKER: Xinyu</a:t>
            </a:r>
          </a:p>
          <a:p xmlns:a="http://schemas.openxmlformats.org/drawingml/2006/main">
            <a:r>
              <a:t/>
            </a:r>
          </a:p>
          <a:p xmlns:a="http://schemas.openxmlformats.org/drawingml/2006/main">
            <a:r>
              <a:t>Thank you. We are ready for questions about the 16-feature contract, the local adapter, pooled weighting, the measured portability cost, SHAP, statistical testing, or the limits of a third-school deployment.</a:t>
            </a:r>
          </a:p>
          <a:p xmlns:a="http://schemas.openxmlformats.org/drawingml/2006/main">
            <a:r>
              <a:t/>
            </a:r>
          </a:p>
          <a:p xmlns:a="http://schemas.openxmlformats.org/drawingml/2006/main">
            <a:r>
              <a:t>[Sources]</a:t>
            </a:r>
          </a:p>
          <a:p xmlns:a="http://schemas.openxmlformats.org/drawingml/2006/main">
            <a:r>
              <a:t>- Full project report and reproducibility package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APPENDIX</a:t>
            </a:r>
          </a:p>
          <a:p xmlns:a="http://schemas.openxmlformats.org/drawingml/2006/main">
            <a:r>
              <a:t/>
            </a:r>
          </a:p>
          <a:p xmlns:a="http://schemas.openxmlformats.org/drawingml/2006/main">
            <a:r>
              <a:t>Appendix only. Use this slide if the audience asks about working assumptions or the evidence required before a pilot.</a:t>
            </a:r>
          </a:p>
          <a:p xmlns:a="http://schemas.openxmlformats.org/drawingml/2006/main">
            <a:r>
              <a:t/>
            </a:r>
          </a:p>
          <a:p xmlns:a="http://schemas.openxmlformats.org/drawingml/2006/main">
            <a:r>
              <a:t>[Sources]</a:t>
            </a:r>
          </a:p>
          <a:p xmlns:a="http://schemas.openxmlformats.org/drawingml/2006/main">
            <a:r>
              <a:t>- Project methodology and evaluation criteria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APPENDIX</a:t>
            </a:r>
          </a:p>
          <a:p xmlns:a="http://schemas.openxmlformats.org/drawingml/2006/main">
            <a:r>
              <a:t/>
            </a:r>
          </a:p>
          <a:p xmlns:a="http://schemas.openxmlformats.org/drawingml/2006/main">
            <a:r>
              <a:t>Appendix only. This slide lists the main datasets, base paper, XGBoost and SHAP references, and recent OULAD comparison sources.</a:t>
            </a:r>
          </a:p>
          <a:p xmlns:a="http://schemas.openxmlformats.org/drawingml/2006/main">
            <a:r>
              <a:t/>
            </a:r>
          </a:p>
          <a:p xmlns:a="http://schemas.openxmlformats.org/drawingml/2006/main">
            <a:r>
              <a:t>[Sources]</a:t>
            </a:r>
          </a:p>
          <a:p xmlns:a="http://schemas.openxmlformats.org/drawingml/2006/main">
            <a:r>
              <a:t>- References shown on slide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fd00b7cdb93b4703" /></Relationships>
</file>

<file path=ppt/slideLayouts/slideLayout1.xml><?xml version="1.0" encoding="utf-8"?>
<p:sldLayout xmlns:p="http://schemas.openxmlformats.org/presentationml/2006/main" preserve="1">
  <p:cSld name="DEFAULT">
    <p:bg>
      <p:bgRef idx="1001">
        <a:schemeClr xmlns:a="http://schemas.openxmlformats.org/drawingml/2006/main" val="bg1"/>
      </p:bgRef>
    </p:bg>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50402624314e4e96" /><Relationship Type="http://schemas.openxmlformats.org/officeDocument/2006/relationships/slideLayout" Target="/ppt/slideLayouts/slideLayout1.xml" Id="Rb812c5a43ef04e95" /></Relationships>
</file>

<file path=ppt/slideMasters/slideMaster1.xml><?xml version="1.0" encoding="utf-8"?>
<p:sldMaster xmlns:p="http://schemas.openxmlformats.org/presentationml/2006/main">
  <p:cSld>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b812c5a43ef04e95"/>
  </p:sldLayoutIdLst>
  <p:hf sldNum="0" hdr="0" ftr="0" dt="0"/>
  <p:txStyles>
    <p:titleStyle>
      <a:lvl1pPr xmlns:a="http://schemas.openxmlformats.org/drawingml/2006/main" algn="ctr" defTabSz="9144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9144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9144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9144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9144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9144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9144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9144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9144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cb409ea2227d4505" /><Relationship Type="http://schemas.openxmlformats.org/officeDocument/2006/relationships/image" Target="/ppt/media/image.png" Id="R7d45cf98afec4a5f" /><Relationship Type="http://schemas.openxmlformats.org/officeDocument/2006/relationships/image" Target="/ppt/media/image2.png" Id="R31e843fe99764b6d" /><Relationship Type="http://schemas.openxmlformats.org/officeDocument/2006/relationships/image" Target="/ppt/media/image3.png" Id="R4da93e720b66493c" /><Relationship Type="http://schemas.openxmlformats.org/officeDocument/2006/relationships/image" Target="/ppt/media/image4.png" Id="Raf7881b413a54692" /><Relationship Type="http://schemas.openxmlformats.org/officeDocument/2006/relationships/notesSlide" Target="/ppt/notesSlides/notesSlide1.xml" Id="Rfcf54663c67146e2"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7c877e367b1a4268" /><Relationship Type="http://schemas.openxmlformats.org/officeDocument/2006/relationships/image" Target="/ppt/media/image5.png" Id="R914b775e9f3a4bfa" /><Relationship Type="http://schemas.openxmlformats.org/officeDocument/2006/relationships/notesSlide" Target="/ppt/notesSlides/notesSlide2.xml" Id="Rc25c16bbbe1f4b97"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db25b6b032884ff0" /><Relationship Type="http://schemas.openxmlformats.org/officeDocument/2006/relationships/image" Target="/ppt/media/image6.png" Id="R4369c0f0b6634038" /><Relationship Type="http://schemas.openxmlformats.org/officeDocument/2006/relationships/image" Target="/ppt/media/image7.png" Id="Rd8a12b90714148ac" /><Relationship Type="http://schemas.openxmlformats.org/officeDocument/2006/relationships/notesSlide" Target="/ppt/notesSlides/notesSlide3.xml" Id="R089c910a1adc425a"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776f9b2d378f4dc9" /><Relationship Type="http://schemas.openxmlformats.org/officeDocument/2006/relationships/image" Target="/ppt/media/image8.png" Id="R5b28155006614289" /><Relationship Type="http://schemas.openxmlformats.org/officeDocument/2006/relationships/image" Target="/ppt/media/image9.png" Id="Rb2f90afb13774dd6" /><Relationship Type="http://schemas.openxmlformats.org/officeDocument/2006/relationships/image" Target="/ppt/media/image10.png" Id="R453c0243ca834070" /><Relationship Type="http://schemas.openxmlformats.org/officeDocument/2006/relationships/image" Target="/ppt/media/image11.png" Id="R265829f4a24641e6" /><Relationship Type="http://schemas.openxmlformats.org/officeDocument/2006/relationships/notesSlide" Target="/ppt/notesSlides/notesSlide4.xml" Id="R7efab3c87f864629"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081ea01ea2a94899" /><Relationship Type="http://schemas.openxmlformats.org/officeDocument/2006/relationships/image" Target="/ppt/media/image12.png" Id="R0a4875cab18a4066" /><Relationship Type="http://schemas.openxmlformats.org/officeDocument/2006/relationships/image" Target="/ppt/media/image.jpeg" Id="R22d2313d014f492e" /><Relationship Type="http://schemas.openxmlformats.org/officeDocument/2006/relationships/image" Target="/ppt/media/image2.jpeg" Id="R4ce21d90a98f4724" /><Relationship Type="http://schemas.openxmlformats.org/officeDocument/2006/relationships/image" Target="/ppt/media/image13.png" Id="R6cf0917bb861473d" /><Relationship Type="http://schemas.openxmlformats.org/officeDocument/2006/relationships/notesSlide" Target="/ppt/notesSlides/notesSlide5.xml" Id="Ra791a03774024cba"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85dceacd35214ed0" /><Relationship Type="http://schemas.openxmlformats.org/officeDocument/2006/relationships/image" Target="/ppt/media/image14.png" Id="R732d88e3dca847b5" /><Relationship Type="http://schemas.openxmlformats.org/officeDocument/2006/relationships/image" Target="/ppt/media/image3.jpeg" Id="Rf00607cc4c134856" /><Relationship Type="http://schemas.openxmlformats.org/officeDocument/2006/relationships/image" Target="/ppt/media/image4.jpeg" Id="R8fc4adea3b7d4034" /><Relationship Type="http://schemas.openxmlformats.org/officeDocument/2006/relationships/notesSlide" Target="/ppt/notesSlides/notesSlide6.xml" Id="Rf461345bf98348f5"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90a8d8c66f0b45e9" /><Relationship Type="http://schemas.openxmlformats.org/officeDocument/2006/relationships/image" Target="/ppt/media/image15.png" Id="R5ee3b87f14ce4300" /><Relationship Type="http://schemas.openxmlformats.org/officeDocument/2006/relationships/image" Target="/ppt/media/image5.jpeg" Id="R7351c272767b4752" /><Relationship Type="http://schemas.openxmlformats.org/officeDocument/2006/relationships/image" Target="/ppt/media/image6.jpeg" Id="Rc76b2172b35d4883" /><Relationship Type="http://schemas.openxmlformats.org/officeDocument/2006/relationships/notesSlide" Target="/ppt/notesSlides/notesSlide7.xml" Id="R992f652ae8a04443"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d4d0988d5b584fce" /><Relationship Type="http://schemas.openxmlformats.org/officeDocument/2006/relationships/image" Target="/ppt/media/image16.png" Id="R25e7293de5104f72" /><Relationship Type="http://schemas.openxmlformats.org/officeDocument/2006/relationships/notesSlide" Target="/ppt/notesSlides/notesSlide8.xml" Id="R50fe6c1fd4b349bf"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df16834111054d12" /><Relationship Type="http://schemas.openxmlformats.org/officeDocument/2006/relationships/image" Target="/ppt/media/image17.png" Id="Re26d3827033f4ce9" /><Relationship Type="http://schemas.openxmlformats.org/officeDocument/2006/relationships/notesSlide" Target="/ppt/notesSlides/notesSlide9.xml" Id="R305ceebc16884624"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5fdf2967c0ef469d" /><Relationship Type="http://schemas.openxmlformats.org/officeDocument/2006/relationships/image" Target="/ppt/media/image18.png" Id="R2145b25f42434336" /><Relationship Type="http://schemas.openxmlformats.org/officeDocument/2006/relationships/chart" Target="/ppt/slides/charts/chart1.xml" Id="R0644f5aafdd24357" /><Relationship Type="http://schemas.openxmlformats.org/officeDocument/2006/relationships/notesSlide" Target="/ppt/notesSlides/notesSlide10.xml" Id="R7bd4973643664fe1"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37325ff1fdde4246" /><Relationship Type="http://schemas.openxmlformats.org/officeDocument/2006/relationships/image" Target="/ppt/media/image19.png" Id="R233576d92a1a46b1" /><Relationship Type="http://schemas.openxmlformats.org/officeDocument/2006/relationships/image" Target="/ppt/media/image20.png" Id="R09a3a9636f5140eb" /><Relationship Type="http://schemas.openxmlformats.org/officeDocument/2006/relationships/notesSlide" Target="/ppt/notesSlides/notesSlide11.xml" Id="Ra4d293baa7e44cb2"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4de5dbe80dd74862" /><Relationship Type="http://schemas.openxmlformats.org/officeDocument/2006/relationships/image" Target="/ppt/media/image19.png" Id="R2d925777a5394a89" /><Relationship Type="http://schemas.openxmlformats.org/officeDocument/2006/relationships/image" Target="/ppt/media/image21.png" Id="Reb80655c8cd4434d" /><Relationship Type="http://schemas.openxmlformats.org/officeDocument/2006/relationships/notesSlide" Target="/ppt/notesSlides/notesSlide12.xml" Id="R278e92dfd42a4611"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ac9ddf525fe7411e" /><Relationship Type="http://schemas.openxmlformats.org/officeDocument/2006/relationships/image" Target="/ppt/media/image22.png" Id="R72084ad58f2f466d" /><Relationship Type="http://schemas.openxmlformats.org/officeDocument/2006/relationships/image" Target="/ppt/media/image23.png" Id="R7e698b36996440fc" /><Relationship Type="http://schemas.openxmlformats.org/officeDocument/2006/relationships/notesSlide" Target="/ppt/notesSlides/notesSlide13.xml" Id="Rdcf68bd50802422d"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1f25c71dbfaf416c" /><Relationship Type="http://schemas.openxmlformats.org/officeDocument/2006/relationships/image" Target="/ppt/media/image24.png" Id="Re1d9fbc163f14a41" /><Relationship Type="http://schemas.openxmlformats.org/officeDocument/2006/relationships/chart" Target="/ppt/slides/charts/chart2.xml" Id="R69982ebcd672423e" /><Relationship Type="http://schemas.openxmlformats.org/officeDocument/2006/relationships/notesSlide" Target="/ppt/notesSlides/notesSlide14.xml" Id="Re3ec0c4ce05b4374"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b8138b26eaba4ca0" /><Relationship Type="http://schemas.openxmlformats.org/officeDocument/2006/relationships/image" Target="/ppt/media/image17.png" Id="R1ca6cbcdb410453e" /><Relationship Type="http://schemas.openxmlformats.org/officeDocument/2006/relationships/notesSlide" Target="/ppt/notesSlides/notesSlide15.xml" Id="R5b89c7acee944946"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048c5c8afae04dd6" /><Relationship Type="http://schemas.openxmlformats.org/officeDocument/2006/relationships/image" Target="/ppt/media/image25.png" Id="R1d9b1eed1b5b4ccd" /><Relationship Type="http://schemas.openxmlformats.org/officeDocument/2006/relationships/image" Target="/ppt/media/image26.png" Id="R42cfe5e7ebb94833" /><Relationship Type="http://schemas.openxmlformats.org/officeDocument/2006/relationships/notesSlide" Target="/ppt/notesSlides/notesSlide16.xml" Id="Rfb7fbc6f1bc74d54"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c896b814872f482b" /><Relationship Type="http://schemas.openxmlformats.org/officeDocument/2006/relationships/image" Target="/ppt/media/image27.png" Id="Rb6f8522a391247c1" /><Relationship Type="http://schemas.openxmlformats.org/officeDocument/2006/relationships/image" Target="/ppt/media/image28.png" Id="R8079b5bfe6104c48" /><Relationship Type="http://schemas.openxmlformats.org/officeDocument/2006/relationships/notesSlide" Target="/ppt/notesSlides/notesSlide17.xml" Id="R749fdb075c114c09"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159380ebbc0747cb" /><Relationship Type="http://schemas.openxmlformats.org/officeDocument/2006/relationships/image" Target="/ppt/media/image29.png" Id="R30c4ff07ca82499f" /><Relationship Type="http://schemas.openxmlformats.org/officeDocument/2006/relationships/image" Target="/ppt/media/image30.png" Id="R0fc13529161f4fbe" /><Relationship Type="http://schemas.openxmlformats.org/officeDocument/2006/relationships/image" Target="/ppt/media/image31.png" Id="Re8ddfa4b54d24268" /><Relationship Type="http://schemas.openxmlformats.org/officeDocument/2006/relationships/notesSlide" Target="/ppt/notesSlides/notesSlide18.xml" Id="R4aa341f5bed34818"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51979f653ba54528" /><Relationship Type="http://schemas.openxmlformats.org/officeDocument/2006/relationships/image" Target="/ppt/media/image32.png" Id="Rc33799ce8fc347e7" /><Relationship Type="http://schemas.openxmlformats.org/officeDocument/2006/relationships/notesSlide" Target="/ppt/notesSlides/notesSlide19.xml" Id="R5a960a4344b846d6"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c3ddac04a72e4852" /><Relationship Type="http://schemas.openxmlformats.org/officeDocument/2006/relationships/image" Target="/ppt/media/image33.png" Id="R81bdb0ff9fae438e" /><Relationship Type="http://schemas.openxmlformats.org/officeDocument/2006/relationships/notesSlide" Target="/ppt/notesSlides/notesSlide20.xml" Id="Rf7f231d7d388481c" /></Relationships>
</file>

<file path=ppt/slides/charts/chart1.xml><?xml version="1.0" encoding="utf-8"?>
<c:chartSpace xmlns:c="http://schemas.openxmlformats.org/drawingml/2006/chart">
  <c:lang val="en-US"/>
  <c:chart>
    <c:plotArea>
      <c:barChart>
        <c:barDir val="col"/>
        <c:grouping val="clustered"/>
        <c:varyColors val="0"/>
        <c:ser>
          <c:idx val="0"/>
          <c:order val="0"/>
          <c:tx>
            <c:v>Local-only</c:v>
          </c:tx>
          <c:spPr>
            <a:solidFill xmlns:a="http://schemas.openxmlformats.org/drawingml/2006/main">
              <a:srgbClr val="FF2A7F"/>
            </a:solidFill>
          </c:spPr>
          <c:cat>
            <c:strLit>
              <c:ptCount val="5"/>
              <c:pt idx="0">
                <c:v>UCI entry</c:v>
              </c:pt>
              <c:pt idx="1">
                <c:v>OULAD entry</c:v>
              </c:pt>
              <c:pt idx="2">
                <c:v>OULAD d35</c:v>
              </c:pt>
              <c:pt idx="3">
                <c:v>OULAD d60</c:v>
              </c:pt>
              <c:pt idx="4">
                <c:v>OULAD d75</c:v>
              </c:pt>
            </c:strLit>
          </c:cat>
          <c:val>
            <c:numLit>
              <c:formatCode>0.000</c:formatCode>
              <c:ptCount val="5"/>
              <c:pt idx="0">
                <c:v>0.773696</c:v>
              </c:pt>
              <c:pt idx="1">
                <c:v>0.596575</c:v>
              </c:pt>
              <c:pt idx="2">
                <c:v>0.685882</c:v>
              </c:pt>
              <c:pt idx="3">
                <c:v>0.706872</c:v>
              </c:pt>
              <c:pt idx="4">
                <c:v>0.69798</c:v>
              </c:pt>
            </c:numLit>
          </c:val>
        </c:ser>
        <c:ser>
          <c:idx val="1"/>
          <c:order val="1"/>
          <c:tx>
            <c:v>One pooled model</c:v>
          </c:tx>
          <c:spPr>
            <a:solidFill xmlns:a="http://schemas.openxmlformats.org/drawingml/2006/main">
              <a:srgbClr val="1C817E"/>
            </a:solidFill>
          </c:spPr>
          <c:cat>
            <c:strLit>
              <c:ptCount val="5"/>
              <c:pt idx="0">
                <c:v>UCI entry</c:v>
              </c:pt>
              <c:pt idx="1">
                <c:v>OULAD entry</c:v>
              </c:pt>
              <c:pt idx="2">
                <c:v>OULAD d35</c:v>
              </c:pt>
              <c:pt idx="3">
                <c:v>OULAD d60</c:v>
              </c:pt>
              <c:pt idx="4">
                <c:v>OULAD d75</c:v>
              </c:pt>
            </c:strLit>
          </c:cat>
          <c:val>
            <c:numLit>
              <c:formatCode>0.000</c:formatCode>
              <c:ptCount val="5"/>
              <c:pt idx="0">
                <c:v>0.771159</c:v>
              </c:pt>
              <c:pt idx="1">
                <c:v>0.595198</c:v>
              </c:pt>
              <c:pt idx="2">
                <c:v>0.676918</c:v>
              </c:pt>
              <c:pt idx="3">
                <c:v>0.694215</c:v>
              </c:pt>
              <c:pt idx="4">
                <c:v>0.689338</c:v>
              </c:pt>
            </c:numLit>
          </c:val>
        </c:ser>
        <c:dLbls>
          <c:txPr>
            <a:bodyPr xmlns:a="http://schemas.openxmlformats.org/drawingml/2006/main" anchorCtr="1"/>
            <a:lstStyle xmlns:a="http://schemas.openxmlformats.org/drawingml/2006/main"/>
            <a:p xmlns:a="http://schemas.openxmlformats.org/drawingml/2006/main">
              <a:pPr>
                <a:defRPr sz="900" b="1">
                  <a:solidFill>
                    <a:srgbClr val="202036"/>
                  </a:solidFill>
                </a:defRPr>
              </a:pPr>
            </a:p>
          </c:txPr>
          <c:dLblPos val="outEnd"/>
          <c:showLegendKey val="0"/>
          <c:showVal val="1"/>
          <c:showCatName val="0"/>
          <c:showSerName val="0"/>
          <c:showPercent val="0"/>
          <c:showBubbleSize val="0"/>
          <c:showLeaderLines val="0"/>
        </c:dLbls>
        <c:gapWidth val="7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ADBE8"/>
            </a:solidFill>
            <a:prstDash val="solid"/>
          </a:ln>
        </c:spPr>
        <c:txPr>
          <a:bodyPr xmlns:a="http://schemas.openxmlformats.org/drawingml/2006/main" anchorCtr="1"/>
          <a:lstStyle xmlns:a="http://schemas.openxmlformats.org/drawingml/2006/main"/>
          <a:p xmlns:a="http://schemas.openxmlformats.org/drawingml/2006/main">
            <a:pPr>
              <a:defRPr sz="1050">
                <a:solidFill>
                  <a:srgbClr val="32324A"/>
                </a:solidFill>
              </a:defRPr>
            </a:pPr>
          </a:p>
        </c:txPr>
        <c:crossAx val="48672768"/>
        <c:lblAlgn val="ctr"/>
        <c:lblOffset val="100"/>
        <c:noMultiLvlLbl val="0"/>
      </c:catAx>
      <c:valAx>
        <c:axId val="48672768"/>
        <c:scaling>
          <c:orientation val="minMax"/>
          <c:max val="0.95"/>
          <c:min val="0.45"/>
        </c:scaling>
        <c:delete val="0"/>
        <c:axPos val="l"/>
        <c:majorGridlines>
          <c:spPr>
            <a:ln xmlns:a="http://schemas.openxmlformats.org/drawingml/2006/main" w="9525">
              <a:solidFill>
                <a:srgbClr val="E7E8F0"/>
              </a:solidFill>
              <a:prstDash val="solid"/>
            </a:ln>
          </c:spPr>
        </c:majorGridlines>
        <c:title>
          <c:tx>
            <c:rich>
              <a:bodyPr xmlns:a="http://schemas.openxmlformats.org/drawingml/2006/main"/>
              <a:lstStyle xmlns:a="http://schemas.openxmlformats.org/drawingml/2006/main"/>
              <a:p xmlns:a="http://schemas.openxmlformats.org/drawingml/2006/main">
                <a:r>
                  <a:t>ROC-AUC</a:t>
                </a:r>
              </a:p>
            </c:rich>
          </c:tx>
        </c:title>
        <c:numFmt formatCode="0.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975">
                <a:solidFill>
                  <a:srgbClr val="55556A"/>
                </a:solidFill>
              </a:defRPr>
            </a:pPr>
          </a:p>
        </c:txPr>
        <c:crossAx val="48650112"/>
        <c:crossBetween val="between"/>
        <c:majorUnit val="0.1"/>
      </c:valAx>
      <c:spPr>
        <a:solidFill xmlns:a="http://schemas.openxmlformats.org/drawingml/2006/main">
          <a:srgbClr val="FFFFFF"/>
        </a:solidFill>
        <a:ln xmlns:a="http://schemas.openxmlformats.org/drawingml/2006/main" w="0">
          <a:solidFill>
            <a:srgbClr val="FFFFFF"/>
          </a:solidFill>
          <a:prstDash val="solid"/>
        </a:ln>
      </c:spPr>
    </c:plotArea>
    <c:legend>
      <c:legendPos val="b"/>
      <c:overlay val="0"/>
      <c:txPr>
        <a:bodyPr xmlns:a="http://schemas.openxmlformats.org/drawingml/2006/main" anchorCtr="1"/>
        <a:lstStyle xmlns:a="http://schemas.openxmlformats.org/drawingml/2006/main"/>
        <a:p xmlns:a="http://schemas.openxmlformats.org/drawingml/2006/main">
          <a:pPr>
            <a:defRPr sz="1050">
              <a:solidFill>
                <a:srgbClr val="32324A"/>
              </a:solidFill>
            </a:defRPr>
          </a:pPr>
        </a:p>
      </c:txPr>
    </c:legend>
    <c:plotVisOnly val="1"/>
  </c:chart>
  <c:spPr>
    <a:solidFill xmlns:a="http://schemas.openxmlformats.org/drawingml/2006/main">
      <a:srgbClr val="FFFFFF"/>
    </a:solidFill>
    <a:ln xmlns:a="http://schemas.openxmlformats.org/drawingml/2006/main" w="0">
      <a:solidFill>
        <a:srgbClr val="FFFFFF"/>
      </a:solidFill>
      <a:prstDash val="solid"/>
    </a:ln>
  </c:spPr>
</c:chartSpace>
</file>

<file path=ppt/slides/charts/chart2.xml><?xml version="1.0" encoding="utf-8"?>
<c:chartSpace xmlns:c="http://schemas.openxmlformats.org/drawingml/2006/chart">
  <c:lang val="en-US"/>
  <c:chart>
    <c:plotArea>
      <c:barChart>
        <c:barDir val="col"/>
        <c:grouping val="clustered"/>
        <c:varyColors val="0"/>
        <c:ser>
          <c:idx val="0"/>
          <c:order val="0"/>
          <c:tx>
            <c:v>Day 35</c:v>
          </c:tx>
          <c:spPr>
            <a:solidFill xmlns:a="http://schemas.openxmlformats.org/drawingml/2006/main">
              <a:srgbClr val="FF2A7F"/>
            </a:solidFill>
          </c:spPr>
          <c:cat>
            <c:strLit>
              <c:ptCount val="3"/>
              <c:pt idx="0">
                <c:v>True alerts</c:v>
              </c:pt>
              <c:pt idx="1">
                <c:v>False alerts</c:v>
              </c:pt>
              <c:pt idx="2">
                <c:v>Missed withdrawals</c:v>
              </c:pt>
            </c:strLit>
          </c:cat>
          <c:val>
            <c:numLit>
              <c:formatCode>General</c:formatCode>
              <c:ptCount val="3"/>
              <c:pt idx="0">
                <c:v>60.9</c:v>
              </c:pt>
              <c:pt idx="1">
                <c:v>90.9</c:v>
              </c:pt>
              <c:pt idx="2">
                <c:v>107.4</c:v>
              </c:pt>
            </c:numLit>
          </c:val>
        </c:ser>
        <c:ser>
          <c:idx val="1"/>
          <c:order val="1"/>
          <c:tx>
            <c:v>Day 60</c:v>
          </c:tx>
          <c:spPr>
            <a:solidFill xmlns:a="http://schemas.openxmlformats.org/drawingml/2006/main">
              <a:srgbClr val="F59E0B"/>
            </a:solidFill>
          </c:spPr>
          <c:cat>
            <c:strLit>
              <c:ptCount val="3"/>
              <c:pt idx="0">
                <c:v>True alerts</c:v>
              </c:pt>
              <c:pt idx="1">
                <c:v>False alerts</c:v>
              </c:pt>
              <c:pt idx="2">
                <c:v>Missed withdrawals</c:v>
              </c:pt>
            </c:strLit>
          </c:cat>
          <c:val>
            <c:numLit>
              <c:formatCode>General</c:formatCode>
              <c:ptCount val="3"/>
              <c:pt idx="0">
                <c:v>53.3</c:v>
              </c:pt>
              <c:pt idx="1">
                <c:v>99.4</c:v>
              </c:pt>
              <c:pt idx="2">
                <c:v>86</c:v>
              </c:pt>
            </c:numLit>
          </c:val>
        </c:ser>
        <c:ser>
          <c:idx val="2"/>
          <c:order val="2"/>
          <c:tx>
            <c:v>Day 75</c:v>
          </c:tx>
          <c:spPr>
            <a:solidFill xmlns:a="http://schemas.openxmlformats.org/drawingml/2006/main">
              <a:srgbClr val="1C817E"/>
            </a:solidFill>
          </c:spPr>
          <c:cat>
            <c:strLit>
              <c:ptCount val="3"/>
              <c:pt idx="0">
                <c:v>True alerts</c:v>
              </c:pt>
              <c:pt idx="1">
                <c:v>False alerts</c:v>
              </c:pt>
              <c:pt idx="2">
                <c:v>Missed withdrawals</c:v>
              </c:pt>
            </c:strLit>
          </c:cat>
          <c:val>
            <c:numLit>
              <c:formatCode>General</c:formatCode>
              <c:ptCount val="3"/>
              <c:pt idx="0">
                <c:v>45.4</c:v>
              </c:pt>
              <c:pt idx="1">
                <c:v>103.4</c:v>
              </c:pt>
              <c:pt idx="2">
                <c:v>79.8</c:v>
              </c:pt>
            </c:numLit>
          </c:val>
        </c:ser>
        <c:dLbls>
          <c:txPr>
            <a:bodyPr xmlns:a="http://schemas.openxmlformats.org/drawingml/2006/main" anchorCtr="1"/>
            <a:lstStyle xmlns:a="http://schemas.openxmlformats.org/drawingml/2006/main"/>
            <a:p xmlns:a="http://schemas.openxmlformats.org/drawingml/2006/main">
              <a:pPr>
                <a:defRPr sz="825" b="1">
                  <a:solidFill>
                    <a:srgbClr val="202036"/>
                  </a:solidFill>
                </a:defRPr>
              </a:pPr>
            </a:p>
          </c:txPr>
          <c:dLblPos val="outEnd"/>
          <c:showLegendKey val="0"/>
          <c:showVal val="1"/>
          <c:showCatName val="0"/>
          <c:showSerName val="0"/>
          <c:showPercent val="0"/>
          <c:showBubbleSize val="0"/>
          <c:showLeaderLines val="0"/>
        </c:dLbls>
        <c:gapWidth val="7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ADBE8"/>
            </a:solidFill>
            <a:prstDash val="solid"/>
          </a:ln>
        </c:spPr>
        <c:txPr>
          <a:bodyPr xmlns:a="http://schemas.openxmlformats.org/drawingml/2006/main" anchorCtr="1"/>
          <a:lstStyle xmlns:a="http://schemas.openxmlformats.org/drawingml/2006/main"/>
          <a:p xmlns:a="http://schemas.openxmlformats.org/drawingml/2006/main">
            <a:pPr>
              <a:defRPr sz="1050">
                <a:solidFill>
                  <a:srgbClr val="32324A"/>
                </a:solidFill>
              </a:defRPr>
            </a:pPr>
          </a:p>
        </c:txPr>
        <c:crossAx val="48672768"/>
        <c:lblAlgn val="ctr"/>
        <c:lblOffset val="100"/>
        <c:noMultiLvlLbl val="0"/>
      </c:catAx>
      <c:valAx>
        <c:axId val="48672768"/>
        <c:scaling>
          <c:orientation val="minMax"/>
          <c:max val="120"/>
          <c:min val="0"/>
        </c:scaling>
        <c:delete val="0"/>
        <c:axPos val="l"/>
        <c:majorGridlines>
          <c:spPr>
            <a:ln xmlns:a="http://schemas.openxmlformats.org/drawingml/2006/main" w="9525">
              <a:solidFill>
                <a:srgbClr val="E7E8F0"/>
              </a:solidFill>
              <a:prstDash val="solid"/>
            </a:ln>
          </c:spPr>
        </c:majorGridlines>
        <c:title>
          <c:tx>
            <c:rich>
              <a:bodyPr xmlns:a="http://schemas.openxmlformats.org/drawingml/2006/main"/>
              <a:lstStyle xmlns:a="http://schemas.openxmlformats.org/drawingml/2006/main"/>
              <a:p xmlns:a="http://schemas.openxmlformats.org/drawingml/2006/main">
                <a:r>
                  <a:rPr sz="975">
                    <a:solidFill>
                      <a:srgbClr val="55556A"/>
                    </a:solidFill>
                  </a:rPr>
                  <a:t>Students per 1,000 eligible</a:t>
                </a:r>
              </a:p>
            </c:rich>
          </c:tx>
          <c:txPr>
            <a:bodyPr xmlns:a="http://schemas.openxmlformats.org/drawingml/2006/main" anchorCtr="1"/>
            <a:lstStyle xmlns:a="http://schemas.openxmlformats.org/drawingml/2006/main"/>
            <a:p xmlns:a="http://schemas.openxmlformats.org/drawingml/2006/main">
              <a:pPr>
                <a:defRPr sz="975">
                  <a:solidFill>
                    <a:srgbClr val="55556A"/>
                  </a:solidFil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975">
                <a:solidFill>
                  <a:srgbClr val="55556A"/>
                </a:solidFill>
              </a:defRPr>
            </a:pPr>
          </a:p>
        </c:txPr>
        <c:crossAx val="48650112"/>
        <c:crossBetween val="between"/>
        <c:majorUnit val="20"/>
      </c:valAx>
      <c:spPr>
        <a:solidFill xmlns:a="http://schemas.openxmlformats.org/drawingml/2006/main">
          <a:srgbClr val="FFFFFF"/>
        </a:solidFill>
        <a:ln xmlns:a="http://schemas.openxmlformats.org/drawingml/2006/main" w="0">
          <a:solidFill>
            <a:srgbClr val="FFFFFF"/>
          </a:solidFill>
          <a:prstDash val="solid"/>
        </a:ln>
      </c:spPr>
    </c:plotArea>
    <c:legend>
      <c:legendPos val="b"/>
      <c:overlay val="0"/>
      <c:txPr>
        <a:bodyPr xmlns:a="http://schemas.openxmlformats.org/drawingml/2006/main" anchorCtr="1"/>
        <a:lstStyle xmlns:a="http://schemas.openxmlformats.org/drawingml/2006/main"/>
        <a:p xmlns:a="http://schemas.openxmlformats.org/drawingml/2006/main">
          <a:pPr>
            <a:defRPr sz="1050">
              <a:solidFill>
                <a:srgbClr val="32324A"/>
              </a:solidFill>
            </a:defRPr>
          </a:pPr>
        </a:p>
      </c:txPr>
    </c:legend>
    <c:plotVisOnly val="1"/>
  </c:chart>
  <c:spPr>
    <a:solidFill xmlns:a="http://schemas.openxmlformats.org/drawingml/2006/main">
      <a:srgbClr val="FFFFFF"/>
    </a:solidFill>
    <a:ln xmlns:a="http://schemas.openxmlformats.org/drawingml/2006/main" w="0">
      <a:solidFill>
        <a:srgbClr val="FFFFFF"/>
      </a:solidFill>
      <a:prstDash val="solid"/>
    </a:ln>
  </c:spPr>
</c:chartSpace>
</file>

<file path=ppt/slides/slide1.xml><?xml version="1.0" encoding="utf-8"?>
<p:sld xmlns:p="http://schemas.openxmlformats.org/presentationml/2006/main">
  <p:cSld>
    <p:bg>
      <p:bgPr>
        <a:solidFill xmlns:a="http://schemas.openxmlformats.org/drawingml/2006/main">
          <a:srgbClr val="F7F7FB"/>
        </a:solidFill>
      </p:bgPr>
    </p:bg>
    <p:spTree>
      <p:nvGrpSpPr>
        <p:cNvPr id="1" name=""/>
        <p:cNvGrpSpPr/>
        <p:nvPr/>
      </p:nvGrpSpPr>
      <p:grpSpPr>
        <a:xfrm xmlns:a="http://schemas.openxmlformats.org/drawingml/2006/main"/>
      </p:grpSpPr>
      <p:pic>
        <p:nvPicPr>
          <p:cNvPr id="43" name="Image 0"/>
          <p:cNvPicPr>
            <a:picLocks xmlns:a="http://schemas.openxmlformats.org/drawingml/2006/main" noChangeAspect="1"/>
          </p:cNvPicPr>
          <p:nvPr/>
        </p:nvPicPr>
        <p:blipFill>
          <a:blip xmlns:r="http://schemas.openxmlformats.org/officeDocument/2006/relationships" xmlns:a="http://schemas.openxmlformats.org/drawingml/2006/main" r:embed="R7d45cf98afec4a5f"/>
          <a:srcRect xmlns:a="http://schemas.openxmlformats.org/drawingml/2006/main" l="-2" t="0" r="-2" b="0"/>
          <a:stretch xmlns:a="http://schemas.openxmlformats.org/drawingml/2006/main"/>
        </p:blipFill>
        <p:spPr>
          <a:xfrm xmlns:a="http://schemas.openxmlformats.org/drawingml/2006/main">
            <a:off x="0" y="0"/>
            <a:ext cx="7810805" cy="10287000"/>
          </a:xfrm>
          <a:prstGeom xmlns:a="http://schemas.openxmlformats.org/drawingml/2006/main" prst="rect">
            <a:avLst/>
          </a:prstGeom>
        </p:spPr>
      </p:pic>
      <p:pic>
        <p:nvPicPr>
          <p:cNvPr id="44" name="Image 1"/>
          <p:cNvPicPr>
            <a:picLocks xmlns:a="http://schemas.openxmlformats.org/drawingml/2006/main" noChangeAspect="1"/>
          </p:cNvPicPr>
          <p:nvPr/>
        </p:nvPicPr>
        <p:blipFill>
          <a:blip xmlns:r="http://schemas.openxmlformats.org/officeDocument/2006/relationships" xmlns:a="http://schemas.openxmlformats.org/drawingml/2006/main" r:embed="R31e843fe99764b6d"/>
          <a:srcRect xmlns:a="http://schemas.openxmlformats.org/drawingml/2006/main" l="0" t="-201" r="0" b="-201"/>
          <a:stretch xmlns:a="http://schemas.openxmlformats.org/drawingml/2006/main"/>
        </p:blipFill>
        <p:spPr>
          <a:xfrm xmlns:a="http://schemas.openxmlformats.org/drawingml/2006/main">
            <a:off x="7810805" y="0"/>
            <a:ext cx="75895" cy="10287000"/>
          </a:xfrm>
          <a:prstGeom xmlns:a="http://schemas.openxmlformats.org/drawingml/2006/main" prst="rect">
            <a:avLst/>
          </a:prstGeom>
        </p:spPr>
      </p:pic>
      <p:sp>
        <p:nvSpPr>
          <p:cNvPr id="5" name="Shape 0">
            <a:extLst xmlns:a="http://schemas.openxmlformats.org/drawingml/2006/main">
              <a:ext uri="{FF2B5EF4-FFF2-40B4-BE49-F238E27FC236}">
                <a16:creationId xmlns:a16="http://schemas.microsoft.com/office/drawing/2014/main" id="{9CC1D203-C276-4DAD-BAF0-9D4370D8B67E}"/>
              </a:ext>
            </a:extLst>
          </p:cNvPr>
          <p:cNvSpPr>
            <a:spLocks xmlns:a="http://schemas.openxmlformats.org/drawingml/2006/main" noGrp="1"/>
          </p:cNvSpPr>
          <p:nvPr/>
        </p:nvSpPr>
        <p:spPr>
          <a:xfrm xmlns:a="http://schemas.openxmlformats.org/drawingml/2006/main">
            <a:off x="8572500" y="1714500"/>
            <a:ext cx="8781898" cy="2686507"/>
          </a:xfrm>
          <a:prstGeom xmlns:a="http://schemas.openxmlformats.org/drawingml/2006/main" prst="roundRect">
            <a:avLst>
              <a:gd name="adj" fmla="val 715"/>
            </a:avLst>
          </a:prstGeom>
          <a:solidFill xmlns:a="http://schemas.openxmlformats.org/drawingml/2006/main">
            <a:srgbClr val="FFFFFF"/>
          </a:solidFill>
          <a:ln xmlns:a="http://schemas.openxmlformats.org/drawingml/2006/main" w="12700">
            <a:solidFill>
              <a:srgbClr val="E4E5EF"/>
            </a:solidFill>
            <a:prstDash val="solid"/>
          </a:ln>
        </p:spPr>
      </p:sp>
      <p:sp>
        <p:nvSpPr>
          <p:cNvPr id="6" name="Shape 1">
            <a:extLst xmlns:a="http://schemas.openxmlformats.org/drawingml/2006/main">
              <a:ext uri="{FF2B5EF4-FFF2-40B4-BE49-F238E27FC236}">
                <a16:creationId xmlns:a16="http://schemas.microsoft.com/office/drawing/2014/main" id="{CE9DE7E3-D65C-4F0D-87C1-EA4602AF3E2C}"/>
              </a:ext>
            </a:extLst>
          </p:cNvPr>
          <p:cNvSpPr>
            <a:spLocks xmlns:a="http://schemas.openxmlformats.org/drawingml/2006/main" noGrp="1"/>
          </p:cNvSpPr>
          <p:nvPr/>
        </p:nvSpPr>
        <p:spPr>
          <a:xfrm xmlns:a="http://schemas.openxmlformats.org/drawingml/2006/main">
            <a:off x="8572500" y="4762195"/>
            <a:ext cx="4257446" cy="2115007"/>
          </a:xfrm>
          <a:prstGeom xmlns:a="http://schemas.openxmlformats.org/drawingml/2006/main" prst="roundRect">
            <a:avLst>
              <a:gd name="adj" fmla="val 908"/>
            </a:avLst>
          </a:prstGeom>
          <a:solidFill xmlns:a="http://schemas.openxmlformats.org/drawingml/2006/main">
            <a:srgbClr val="FFFFFF"/>
          </a:solidFill>
          <a:ln xmlns:a="http://schemas.openxmlformats.org/drawingml/2006/main" w="12700">
            <a:solidFill>
              <a:srgbClr val="E4E5EF"/>
            </a:solidFill>
            <a:prstDash val="solid"/>
          </a:ln>
        </p:spPr>
      </p:sp>
      <p:sp>
        <p:nvSpPr>
          <p:cNvPr id="7" name="Shape 2">
            <a:extLst xmlns:a="http://schemas.openxmlformats.org/drawingml/2006/main">
              <a:ext uri="{FF2B5EF4-FFF2-40B4-BE49-F238E27FC236}">
                <a16:creationId xmlns:a16="http://schemas.microsoft.com/office/drawing/2014/main" id="{90A2FE41-EE1A-423B-8102-88D88639CFE1}"/>
              </a:ext>
            </a:extLst>
          </p:cNvPr>
          <p:cNvSpPr>
            <a:spLocks xmlns:a="http://schemas.openxmlformats.org/drawingml/2006/main" noGrp="1"/>
          </p:cNvSpPr>
          <p:nvPr/>
        </p:nvSpPr>
        <p:spPr>
          <a:xfrm xmlns:a="http://schemas.openxmlformats.org/drawingml/2006/main">
            <a:off x="13096951" y="4762195"/>
            <a:ext cx="4257446" cy="2115007"/>
          </a:xfrm>
          <a:prstGeom xmlns:a="http://schemas.openxmlformats.org/drawingml/2006/main" prst="roundRect">
            <a:avLst>
              <a:gd name="adj" fmla="val 908"/>
            </a:avLst>
          </a:prstGeom>
          <a:solidFill xmlns:a="http://schemas.openxmlformats.org/drawingml/2006/main">
            <a:srgbClr val="FFFFFF"/>
          </a:solidFill>
          <a:ln xmlns:a="http://schemas.openxmlformats.org/drawingml/2006/main" w="12700">
            <a:solidFill>
              <a:srgbClr val="E4E5EF"/>
            </a:solidFill>
            <a:prstDash val="solid"/>
          </a:ln>
        </p:spPr>
      </p:sp>
      <p:sp>
        <p:nvSpPr>
          <p:cNvPr id="8" name="Shape 3">
            <a:extLst xmlns:a="http://schemas.openxmlformats.org/drawingml/2006/main">
              <a:ext uri="{FF2B5EF4-FFF2-40B4-BE49-F238E27FC236}">
                <a16:creationId xmlns:a16="http://schemas.microsoft.com/office/drawing/2014/main" id="{AA5CC052-9A25-4527-96B6-06EBCE455EC9}"/>
              </a:ext>
            </a:extLst>
          </p:cNvPr>
          <p:cNvSpPr>
            <a:spLocks xmlns:a="http://schemas.openxmlformats.org/drawingml/2006/main" noGrp="1"/>
          </p:cNvSpPr>
          <p:nvPr/>
        </p:nvSpPr>
        <p:spPr>
          <a:xfrm xmlns:a="http://schemas.openxmlformats.org/drawingml/2006/main">
            <a:off x="8572500" y="7239305"/>
            <a:ext cx="8781898" cy="1923898"/>
          </a:xfrm>
          <a:prstGeom xmlns:a="http://schemas.openxmlformats.org/drawingml/2006/main" prst="roundRect">
            <a:avLst>
              <a:gd name="adj" fmla="val 998"/>
            </a:avLst>
          </a:prstGeom>
          <a:solidFill xmlns:a="http://schemas.openxmlformats.org/drawingml/2006/main">
            <a:srgbClr val="FFFFFF"/>
          </a:solidFill>
          <a:ln xmlns:a="http://schemas.openxmlformats.org/drawingml/2006/main" w="12700">
            <a:solidFill>
              <a:srgbClr val="E4E5EF"/>
            </a:solidFill>
            <a:prstDash val="solid"/>
          </a:ln>
        </p:spPr>
      </p:sp>
      <p:pic>
        <p:nvPicPr>
          <p:cNvPr id="49" name="Image 2"/>
          <p:cNvPicPr>
            <a:picLocks xmlns:a="http://schemas.openxmlformats.org/drawingml/2006/main" noChangeAspect="1"/>
          </p:cNvPicPr>
          <p:nvPr/>
        </p:nvPicPr>
        <p:blipFill>
          <a:blip xmlns:r="http://schemas.openxmlformats.org/officeDocument/2006/relationships" xmlns:a="http://schemas.openxmlformats.org/drawingml/2006/main" r:embed="R4da93e720b66493c"/>
          <a:srcRect xmlns:a="http://schemas.openxmlformats.org/drawingml/2006/main" l="0" t="-2100" r="0" b="-2100"/>
          <a:stretch xmlns:a="http://schemas.openxmlformats.org/drawingml/2006/main"/>
        </p:blipFill>
        <p:spPr>
          <a:xfrm xmlns:a="http://schemas.openxmlformats.org/drawingml/2006/main">
            <a:off x="13334695" y="2476195"/>
            <a:ext cx="9144" cy="1429207"/>
          </a:xfrm>
          <a:prstGeom xmlns:a="http://schemas.openxmlformats.org/drawingml/2006/main" prst="rect">
            <a:avLst/>
          </a:prstGeom>
        </p:spPr>
      </p:pic>
      <p:pic>
        <p:nvPicPr>
          <p:cNvPr id="50" name="Image 3"/>
          <p:cNvPicPr>
            <a:picLocks xmlns:a="http://schemas.openxmlformats.org/drawingml/2006/main" noChangeAspect="1"/>
          </p:cNvPicPr>
          <p:nvPr/>
        </p:nvPicPr>
        <p:blipFill>
          <a:blip xmlns:r="http://schemas.openxmlformats.org/officeDocument/2006/relationships" xmlns:a="http://schemas.openxmlformats.org/drawingml/2006/main" r:embed="Raf7881b413a54692"/>
          <a:srcRect xmlns:a="http://schemas.openxmlformats.org/drawingml/2006/main" l="-2083" t="0" r="-2083" b="0"/>
          <a:stretch xmlns:a="http://schemas.openxmlformats.org/drawingml/2006/main"/>
        </p:blipFill>
        <p:spPr>
          <a:xfrm xmlns:a="http://schemas.openxmlformats.org/drawingml/2006/main">
            <a:off x="7810805" y="9715500"/>
            <a:ext cx="10477195" cy="9144"/>
          </a:xfrm>
          <a:prstGeom xmlns:a="http://schemas.openxmlformats.org/drawingml/2006/main" prst="rect">
            <a:avLst/>
          </a:prstGeom>
        </p:spPr>
      </p:pic>
      <p:sp>
        <p:nvSpPr>
          <p:cNvPr id="11" name="Text 4">
            <a:extLst xmlns:a="http://schemas.openxmlformats.org/drawingml/2006/main">
              <a:ext uri="{FF2B5EF4-FFF2-40B4-BE49-F238E27FC236}">
                <a16:creationId xmlns:a16="http://schemas.microsoft.com/office/drawing/2014/main" id="{C4E9E62F-1639-48E7-AADE-90A3BF5182F6}"/>
              </a:ext>
            </a:extLst>
          </p:cNvPr>
          <p:cNvSpPr>
            <a:spLocks xmlns:a="http://schemas.openxmlformats.org/drawingml/2006/main" noGrp="1"/>
          </p:cNvSpPr>
          <p:nvPr/>
        </p:nvSpPr>
        <p:spPr>
          <a:xfrm xmlns:a="http://schemas.openxmlformats.org/drawingml/2006/main">
            <a:off x="952805" y="1047902"/>
            <a:ext cx="6096305" cy="181051"/>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200">
                <a:solidFill>
                  <a:srgbClr val="FFFFFF">
                    <a:alpha val="55000"/>
                  </a:srgbClr>
                </a:solidFill>
                <a:latin typeface="JetBrains Mono"/>
                <a:ea typeface="JetBrains Mono"/>
                <a:cs typeface="JetBrains Mono"/>
              </a:rPr>
              <a:t>MBAI 5600G · CAPSTONE · MILESTONE 7</a:t>
            </a:r>
          </a:p>
        </p:txBody>
      </p:sp>
      <p:sp>
        <p:nvSpPr>
          <p:cNvPr id="12" name="Text 5">
            <a:extLst xmlns:a="http://schemas.openxmlformats.org/drawingml/2006/main">
              <a:ext uri="{FF2B5EF4-FFF2-40B4-BE49-F238E27FC236}">
                <a16:creationId xmlns:a16="http://schemas.microsoft.com/office/drawing/2014/main" id="{B33F1B22-AC55-4697-ABEB-35C23FC65F2F}"/>
              </a:ext>
            </a:extLst>
          </p:cNvPr>
          <p:cNvSpPr>
            <a:spLocks xmlns:a="http://schemas.openxmlformats.org/drawingml/2006/main" noGrp="1"/>
          </p:cNvSpPr>
          <p:nvPr/>
        </p:nvSpPr>
        <p:spPr>
          <a:xfrm xmlns:a="http://schemas.openxmlformats.org/drawingml/2006/main">
            <a:off x="952805" y="1619402"/>
            <a:ext cx="6096305" cy="152705"/>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000">
                <a:solidFill>
                  <a:srgbClr val="FFFFFF">
                    <a:alpha val="40000"/>
                  </a:srgbClr>
                </a:solidFill>
                <a:latin typeface="JetBrains Mono"/>
                <a:ea typeface="JetBrains Mono"/>
                <a:cs typeface="JetBrains Mono"/>
              </a:rPr>
              <a:t>/ project · cross-school dropout EWS · final</a:t>
            </a:r>
          </a:p>
        </p:txBody>
      </p:sp>
      <p:sp>
        <p:nvSpPr>
          <p:cNvPr id="13" name="Text 6">
            <a:extLst xmlns:a="http://schemas.openxmlformats.org/drawingml/2006/main">
              <a:ext uri="{FF2B5EF4-FFF2-40B4-BE49-F238E27FC236}">
                <a16:creationId xmlns:a16="http://schemas.microsoft.com/office/drawing/2014/main" id="{E1D06B86-FE4E-45C2-8323-B83CCF34FD45}"/>
              </a:ext>
            </a:extLst>
          </p:cNvPr>
          <p:cNvSpPr>
            <a:spLocks xmlns:a="http://schemas.openxmlformats.org/drawingml/2006/main" noGrp="1"/>
          </p:cNvSpPr>
          <p:nvPr/>
        </p:nvSpPr>
        <p:spPr>
          <a:xfrm xmlns:a="http://schemas.openxmlformats.org/drawingml/2006/main">
            <a:off x="952805" y="2952598"/>
            <a:ext cx="6286500" cy="1924812"/>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buNone/>
            </a:pPr>
            <a:r>
              <a:rPr sz="4800" b="1">
                <a:solidFill>
                  <a:srgbClr val="FFFFFF"/>
                </a:solidFill>
                <a:latin typeface="Inter"/>
                <a:ea typeface="Inter"/>
                <a:cs typeface="Inter"/>
              </a:rPr>
              <a:t>Cross-Institution Student Dropout Early Warning System</a:t>
            </a:r>
          </a:p>
        </p:txBody>
      </p:sp>
      <p:sp>
        <p:nvSpPr>
          <p:cNvPr id="14" name="Text 7">
            <a:extLst xmlns:a="http://schemas.openxmlformats.org/drawingml/2006/main">
              <a:ext uri="{FF2B5EF4-FFF2-40B4-BE49-F238E27FC236}">
                <a16:creationId xmlns:a16="http://schemas.microsoft.com/office/drawing/2014/main" id="{012688D6-BAF5-4BC2-9873-1DAA70C0C25F}"/>
              </a:ext>
            </a:extLst>
          </p:cNvPr>
          <p:cNvSpPr>
            <a:spLocks xmlns:a="http://schemas.openxmlformats.org/drawingml/2006/main" noGrp="1"/>
          </p:cNvSpPr>
          <p:nvPr/>
        </p:nvSpPr>
        <p:spPr>
          <a:xfrm xmlns:a="http://schemas.openxmlformats.org/drawingml/2006/main">
            <a:off x="952805" y="6261811"/>
            <a:ext cx="6286500" cy="720547"/>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2730"/>
              </a:lnSpc>
              <a:buNone/>
            </a:pPr>
            <a:r>
              <a:rPr sz="1900" i="1">
                <a:solidFill>
                  <a:srgbClr val="FFFFFF">
                    <a:alpha val="85000"/>
                  </a:srgbClr>
                </a:solidFill>
                <a:latin typeface="Source Serif Pro"/>
                <a:ea typeface="Source Serif Pro"/>
                <a:cs typeface="Source Serif Pro"/>
              </a:rPr>
              <a:t>One Fixed Model for Enrolment and In-Course Snapshots</a:t>
            </a:r>
          </a:p>
        </p:txBody>
      </p:sp>
      <p:sp>
        <p:nvSpPr>
          <p:cNvPr id="15" name="Text 8">
            <a:extLst xmlns:a="http://schemas.openxmlformats.org/drawingml/2006/main">
              <a:ext uri="{FF2B5EF4-FFF2-40B4-BE49-F238E27FC236}">
                <a16:creationId xmlns:a16="http://schemas.microsoft.com/office/drawing/2014/main" id="{0186ADE0-9B1B-44FF-AFBF-76003491975E}"/>
              </a:ext>
            </a:extLst>
          </p:cNvPr>
          <p:cNvSpPr>
            <a:spLocks xmlns:a="http://schemas.openxmlformats.org/drawingml/2006/main" noGrp="1"/>
          </p:cNvSpPr>
          <p:nvPr/>
        </p:nvSpPr>
        <p:spPr>
          <a:xfrm xmlns:a="http://schemas.openxmlformats.org/drawingml/2006/main">
            <a:off x="952805" y="8572500"/>
            <a:ext cx="6096305" cy="152705"/>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000">
                <a:solidFill>
                  <a:srgbClr val="FFFFFF">
                    <a:alpha val="50000"/>
                  </a:srgbClr>
                </a:solidFill>
                <a:latin typeface="JetBrains Mono"/>
                <a:ea typeface="JetBrains Mono"/>
                <a:cs typeface="JetBrains Mono"/>
              </a:rPr>
              <a:t>Group 21 · Oral Presentation</a:t>
            </a:r>
          </a:p>
        </p:txBody>
      </p:sp>
      <p:sp>
        <p:nvSpPr>
          <p:cNvPr id="16" name="Text 9">
            <a:extLst xmlns:a="http://schemas.openxmlformats.org/drawingml/2006/main">
              <a:ext uri="{FF2B5EF4-FFF2-40B4-BE49-F238E27FC236}">
                <a16:creationId xmlns:a16="http://schemas.microsoft.com/office/drawing/2014/main" id="{8A94C4EE-73D7-408B-B123-C839097DFBD9}"/>
              </a:ext>
            </a:extLst>
          </p:cNvPr>
          <p:cNvSpPr>
            <a:spLocks xmlns:a="http://schemas.openxmlformats.org/drawingml/2006/main" noGrp="1"/>
          </p:cNvSpPr>
          <p:nvPr/>
        </p:nvSpPr>
        <p:spPr>
          <a:xfrm xmlns:a="http://schemas.openxmlformats.org/drawingml/2006/main">
            <a:off x="952805" y="8820302"/>
            <a:ext cx="6096305" cy="2478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600">
                <a:solidFill>
                  <a:srgbClr val="FFFFFF"/>
                </a:solidFill>
                <a:latin typeface="Inter"/>
                <a:ea typeface="Inter"/>
                <a:cs typeface="Inter"/>
              </a:rPr>
              <a:t>Xinyu Wang · Wu Hanming</a:t>
            </a:r>
          </a:p>
        </p:txBody>
      </p:sp>
      <p:sp>
        <p:nvSpPr>
          <p:cNvPr id="17" name="Text 10">
            <a:extLst xmlns:a="http://schemas.openxmlformats.org/drawingml/2006/main">
              <a:ext uri="{FF2B5EF4-FFF2-40B4-BE49-F238E27FC236}">
                <a16:creationId xmlns:a16="http://schemas.microsoft.com/office/drawing/2014/main" id="{C489C127-1981-4FBB-B564-4BE26D445E46}"/>
              </a:ext>
            </a:extLst>
          </p:cNvPr>
          <p:cNvSpPr>
            <a:spLocks xmlns:a="http://schemas.openxmlformats.org/drawingml/2006/main" noGrp="1"/>
          </p:cNvSpPr>
          <p:nvPr/>
        </p:nvSpPr>
        <p:spPr>
          <a:xfrm xmlns:a="http://schemas.openxmlformats.org/drawingml/2006/main">
            <a:off x="952805" y="9144000"/>
            <a:ext cx="6096305" cy="152705"/>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000">
                <a:solidFill>
                  <a:srgbClr val="FFFFFF">
                    <a:alpha val="50000"/>
                  </a:srgbClr>
                </a:solidFill>
                <a:latin typeface="JetBrains Mono"/>
                <a:ea typeface="JetBrains Mono"/>
                <a:cs typeface="JetBrains Mono"/>
              </a:rPr>
              <a:t>August 11, 2026 / Faculty of Business and IT</a:t>
            </a:r>
          </a:p>
        </p:txBody>
      </p:sp>
      <p:sp>
        <p:nvSpPr>
          <p:cNvPr id="18" name="Text 11">
            <a:extLst xmlns:a="http://schemas.openxmlformats.org/drawingml/2006/main">
              <a:ext uri="{FF2B5EF4-FFF2-40B4-BE49-F238E27FC236}">
                <a16:creationId xmlns:a16="http://schemas.microsoft.com/office/drawing/2014/main" id="{CB6807BE-7F91-4752-B06D-6BB1A195544D}"/>
              </a:ext>
            </a:extLst>
          </p:cNvPr>
          <p:cNvSpPr>
            <a:spLocks xmlns:a="http://schemas.openxmlformats.org/drawingml/2006/main" noGrp="1"/>
          </p:cNvSpPr>
          <p:nvPr/>
        </p:nvSpPr>
        <p:spPr>
          <a:xfrm xmlns:a="http://schemas.openxmlformats.org/drawingml/2006/main">
            <a:off x="8953805" y="2000707"/>
            <a:ext cx="8001000" cy="152705"/>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000">
                <a:solidFill>
                  <a:srgbClr val="E4237A"/>
                </a:solidFill>
                <a:latin typeface="JetBrains Mono"/>
                <a:ea typeface="JetBrains Mono"/>
                <a:cs typeface="JetBrains Mono"/>
              </a:rPr>
              <a:t>PORTABLE DYNAMIC MODEL | HELD-OUT PERFORMANCE</a:t>
            </a:r>
          </a:p>
        </p:txBody>
      </p:sp>
      <p:sp>
        <p:nvSpPr>
          <p:cNvPr id="19" name="Text 12">
            <a:extLst xmlns:a="http://schemas.openxmlformats.org/drawingml/2006/main">
              <a:ext uri="{FF2B5EF4-FFF2-40B4-BE49-F238E27FC236}">
                <a16:creationId xmlns:a16="http://schemas.microsoft.com/office/drawing/2014/main" id="{C6356918-6BCF-4DE2-98D9-DDEC42C284C7}"/>
              </a:ext>
            </a:extLst>
          </p:cNvPr>
          <p:cNvSpPr>
            <a:spLocks xmlns:a="http://schemas.openxmlformats.org/drawingml/2006/main" noGrp="1"/>
          </p:cNvSpPr>
          <p:nvPr/>
        </p:nvSpPr>
        <p:spPr>
          <a:xfrm xmlns:a="http://schemas.openxmlformats.org/drawingml/2006/main">
            <a:off x="8953805" y="2476195"/>
            <a:ext cx="3810305" cy="143561"/>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6A6F8C"/>
                </a:solidFill>
                <a:latin typeface="JetBrains Mono"/>
                <a:ea typeface="JetBrains Mono"/>
                <a:cs typeface="JetBrains Mono"/>
              </a:rPr>
              <a:t>UCI enrolment | pooled XGBoost</a:t>
            </a:r>
          </a:p>
        </p:txBody>
      </p:sp>
      <p:sp>
        <p:nvSpPr>
          <p:cNvPr id="20" name="Text 13">
            <a:extLst xmlns:a="http://schemas.openxmlformats.org/drawingml/2006/main">
              <a:ext uri="{FF2B5EF4-FFF2-40B4-BE49-F238E27FC236}">
                <a16:creationId xmlns:a16="http://schemas.microsoft.com/office/drawing/2014/main" id="{F51CF628-0245-4123-855F-F3F698AB1483}"/>
              </a:ext>
            </a:extLst>
          </p:cNvPr>
          <p:cNvSpPr>
            <a:spLocks xmlns:a="http://schemas.openxmlformats.org/drawingml/2006/main" noGrp="1"/>
          </p:cNvSpPr>
          <p:nvPr/>
        </p:nvSpPr>
        <p:spPr>
          <a:xfrm xmlns:a="http://schemas.openxmlformats.org/drawingml/2006/main">
            <a:off x="8953805" y="2714854"/>
            <a:ext cx="2067458" cy="685800"/>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5400" b="1">
                <a:solidFill>
                  <a:srgbClr val="2A2E7A"/>
                </a:solidFill>
                <a:latin typeface="JetBrains Mono"/>
                <a:ea typeface="JetBrains Mono"/>
                <a:cs typeface="JetBrains Mono"/>
              </a:rPr>
              <a:t>0.771</a:t>
            </a:r>
          </a:p>
        </p:txBody>
      </p:sp>
      <p:sp>
        <p:nvSpPr>
          <p:cNvPr id="21" name="Text 14">
            <a:extLst xmlns:a="http://schemas.openxmlformats.org/drawingml/2006/main">
              <a:ext uri="{FF2B5EF4-FFF2-40B4-BE49-F238E27FC236}">
                <a16:creationId xmlns:a16="http://schemas.microsoft.com/office/drawing/2014/main" id="{DC9977EE-6471-4237-A021-E80AB2DF3CF7}"/>
              </a:ext>
            </a:extLst>
          </p:cNvPr>
          <p:cNvSpPr>
            <a:spLocks xmlns:a="http://schemas.openxmlformats.org/drawingml/2006/main" noGrp="1"/>
          </p:cNvSpPr>
          <p:nvPr/>
        </p:nvSpPr>
        <p:spPr>
          <a:xfrm xmlns:a="http://schemas.openxmlformats.org/drawingml/2006/main">
            <a:off x="11144707" y="3133649"/>
            <a:ext cx="724205" cy="191110"/>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200">
                <a:solidFill>
                  <a:srgbClr val="6A6F8C"/>
                </a:solidFill>
                <a:latin typeface="Inter"/>
                <a:ea typeface="Inter"/>
                <a:cs typeface="Inter"/>
              </a:rPr>
              <a:t>ROC-AUC</a:t>
            </a:r>
          </a:p>
        </p:txBody>
      </p:sp>
      <p:sp>
        <p:nvSpPr>
          <p:cNvPr id="22" name="Text 15">
            <a:extLst xmlns:a="http://schemas.openxmlformats.org/drawingml/2006/main">
              <a:ext uri="{FF2B5EF4-FFF2-40B4-BE49-F238E27FC236}">
                <a16:creationId xmlns:a16="http://schemas.microsoft.com/office/drawing/2014/main" id="{91332028-442E-48AF-B0FB-B8862FBBEF54}"/>
              </a:ext>
            </a:extLst>
          </p:cNvPr>
          <p:cNvSpPr>
            <a:spLocks xmlns:a="http://schemas.openxmlformats.org/drawingml/2006/main" noGrp="1"/>
          </p:cNvSpPr>
          <p:nvPr/>
        </p:nvSpPr>
        <p:spPr>
          <a:xfrm xmlns:a="http://schemas.openxmlformats.org/drawingml/2006/main">
            <a:off x="8953805" y="3534156"/>
            <a:ext cx="3810305" cy="181051"/>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200">
                <a:solidFill>
                  <a:srgbClr val="2A2E4B"/>
                </a:solidFill>
                <a:latin typeface="JetBrains Mono"/>
                <a:ea typeface="JetBrains Mono"/>
                <a:cs typeface="JetBrains Mono"/>
              </a:rPr>
              <a:t>AP 0.635 | local-only AUC 0.774</a:t>
            </a:r>
          </a:p>
        </p:txBody>
      </p:sp>
      <p:sp>
        <p:nvSpPr>
          <p:cNvPr id="23" name="Text 16">
            <a:extLst xmlns:a="http://schemas.openxmlformats.org/drawingml/2006/main">
              <a:ext uri="{FF2B5EF4-FFF2-40B4-BE49-F238E27FC236}">
                <a16:creationId xmlns:a16="http://schemas.microsoft.com/office/drawing/2014/main" id="{6B27BD43-EE30-4C4B-A85B-13B834F8B9DA}"/>
              </a:ext>
            </a:extLst>
          </p:cNvPr>
          <p:cNvSpPr>
            <a:spLocks xmlns:a="http://schemas.openxmlformats.org/drawingml/2006/main" noGrp="1"/>
          </p:cNvSpPr>
          <p:nvPr/>
        </p:nvSpPr>
        <p:spPr>
          <a:xfrm xmlns:a="http://schemas.openxmlformats.org/drawingml/2006/main">
            <a:off x="13716000" y="2476195"/>
            <a:ext cx="3238805" cy="143561"/>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6A6F8C"/>
                </a:solidFill>
                <a:latin typeface="JetBrains Mono"/>
                <a:ea typeface="JetBrains Mono"/>
                <a:cs typeface="JetBrains Mono"/>
              </a:rPr>
              <a:t>OULAD day 35 | pooled XGBoost</a:t>
            </a:r>
          </a:p>
        </p:txBody>
      </p:sp>
      <p:sp>
        <p:nvSpPr>
          <p:cNvPr id="24" name="Text 17">
            <a:extLst xmlns:a="http://schemas.openxmlformats.org/drawingml/2006/main">
              <a:ext uri="{FF2B5EF4-FFF2-40B4-BE49-F238E27FC236}">
                <a16:creationId xmlns:a16="http://schemas.microsoft.com/office/drawing/2014/main" id="{AE5EDE2D-9CE3-4178-A7F1-3C4F20AFEF92}"/>
              </a:ext>
            </a:extLst>
          </p:cNvPr>
          <p:cNvSpPr>
            <a:spLocks xmlns:a="http://schemas.openxmlformats.org/drawingml/2006/main" noGrp="1"/>
          </p:cNvSpPr>
          <p:nvPr/>
        </p:nvSpPr>
        <p:spPr>
          <a:xfrm xmlns:a="http://schemas.openxmlformats.org/drawingml/2006/main">
            <a:off x="13716000" y="2714854"/>
            <a:ext cx="2067458" cy="685800"/>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5400" b="1">
                <a:solidFill>
                  <a:srgbClr val="2A2E7A"/>
                </a:solidFill>
                <a:latin typeface="JetBrains Mono"/>
                <a:ea typeface="JetBrains Mono"/>
                <a:cs typeface="JetBrains Mono"/>
              </a:rPr>
              <a:t>0.677</a:t>
            </a:r>
          </a:p>
        </p:txBody>
      </p:sp>
      <p:sp>
        <p:nvSpPr>
          <p:cNvPr id="25" name="Text 18">
            <a:extLst xmlns:a="http://schemas.openxmlformats.org/drawingml/2006/main">
              <a:ext uri="{FF2B5EF4-FFF2-40B4-BE49-F238E27FC236}">
                <a16:creationId xmlns:a16="http://schemas.microsoft.com/office/drawing/2014/main" id="{A96C6437-4C37-42DA-9809-5B65527DBA22}"/>
              </a:ext>
            </a:extLst>
          </p:cNvPr>
          <p:cNvSpPr>
            <a:spLocks xmlns:a="http://schemas.openxmlformats.org/drawingml/2006/main" noGrp="1"/>
          </p:cNvSpPr>
          <p:nvPr/>
        </p:nvSpPr>
        <p:spPr>
          <a:xfrm xmlns:a="http://schemas.openxmlformats.org/drawingml/2006/main">
            <a:off x="15906902" y="3133649"/>
            <a:ext cx="724205" cy="191110"/>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200">
                <a:solidFill>
                  <a:srgbClr val="6A6F8C"/>
                </a:solidFill>
                <a:latin typeface="Inter"/>
                <a:ea typeface="Inter"/>
                <a:cs typeface="Inter"/>
              </a:rPr>
              <a:t>ROC-AUC</a:t>
            </a:r>
          </a:p>
        </p:txBody>
      </p:sp>
      <p:sp>
        <p:nvSpPr>
          <p:cNvPr id="26" name="Text 19">
            <a:extLst xmlns:a="http://schemas.openxmlformats.org/drawingml/2006/main">
              <a:ext uri="{FF2B5EF4-FFF2-40B4-BE49-F238E27FC236}">
                <a16:creationId xmlns:a16="http://schemas.microsoft.com/office/drawing/2014/main" id="{F84E70CD-9A5E-49A5-8248-5DD8169A0DB5}"/>
              </a:ext>
            </a:extLst>
          </p:cNvPr>
          <p:cNvSpPr>
            <a:spLocks xmlns:a="http://schemas.openxmlformats.org/drawingml/2006/main" noGrp="1"/>
          </p:cNvSpPr>
          <p:nvPr/>
        </p:nvSpPr>
        <p:spPr>
          <a:xfrm xmlns:a="http://schemas.openxmlformats.org/drawingml/2006/main">
            <a:off x="13716000" y="3534156"/>
            <a:ext cx="3238805" cy="181051"/>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200">
                <a:solidFill>
                  <a:srgbClr val="2A2E4B"/>
                </a:solidFill>
                <a:latin typeface="JetBrains Mono"/>
                <a:ea typeface="JetBrains Mono"/>
                <a:cs typeface="JetBrains Mono"/>
              </a:rPr>
              <a:t>AP 0.311 | local-only AUC 0.686</a:t>
            </a:r>
          </a:p>
        </p:txBody>
      </p:sp>
      <p:sp>
        <p:nvSpPr>
          <p:cNvPr id="27" name="Text 20">
            <a:extLst xmlns:a="http://schemas.openxmlformats.org/drawingml/2006/main">
              <a:ext uri="{FF2B5EF4-FFF2-40B4-BE49-F238E27FC236}">
                <a16:creationId xmlns:a16="http://schemas.microsoft.com/office/drawing/2014/main" id="{8F99F50B-4DA5-4727-9F90-9BFFB1B64280}"/>
              </a:ext>
            </a:extLst>
          </p:cNvPr>
          <p:cNvSpPr>
            <a:spLocks xmlns:a="http://schemas.openxmlformats.org/drawingml/2006/main" noGrp="1"/>
          </p:cNvSpPr>
          <p:nvPr/>
        </p:nvSpPr>
        <p:spPr>
          <a:xfrm xmlns:a="http://schemas.openxmlformats.org/drawingml/2006/main">
            <a:off x="8858707" y="5000854"/>
            <a:ext cx="3715207" cy="124358"/>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800">
                <a:solidFill>
                  <a:srgbClr val="6A6F8C"/>
                </a:solidFill>
                <a:latin typeface="JetBrains Mono"/>
                <a:ea typeface="JetBrains Mono"/>
                <a:cs typeface="JetBrains Mono"/>
              </a:rPr>
              <a:t>Best OULAD snapshot</a:t>
            </a:r>
          </a:p>
        </p:txBody>
      </p:sp>
      <p:sp>
        <p:nvSpPr>
          <p:cNvPr id="28" name="Text 21">
            <a:extLst xmlns:a="http://schemas.openxmlformats.org/drawingml/2006/main">
              <a:ext uri="{FF2B5EF4-FFF2-40B4-BE49-F238E27FC236}">
                <a16:creationId xmlns:a16="http://schemas.microsoft.com/office/drawing/2014/main" id="{131E24FA-5EE0-4D94-945F-234C033BCE5D}"/>
              </a:ext>
            </a:extLst>
          </p:cNvPr>
          <p:cNvSpPr>
            <a:spLocks xmlns:a="http://schemas.openxmlformats.org/drawingml/2006/main" noGrp="1"/>
          </p:cNvSpPr>
          <p:nvPr/>
        </p:nvSpPr>
        <p:spPr>
          <a:xfrm xmlns:a="http://schemas.openxmlformats.org/drawingml/2006/main">
            <a:off x="8858707" y="5257800"/>
            <a:ext cx="3715207" cy="5907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4200" b="1">
                <a:solidFill>
                  <a:srgbClr val="2A2E7A"/>
                </a:solidFill>
                <a:latin typeface="JetBrains Mono"/>
                <a:ea typeface="JetBrains Mono"/>
                <a:cs typeface="JetBrains Mono"/>
              </a:rPr>
              <a:t>0.694</a:t>
            </a:r>
          </a:p>
        </p:txBody>
      </p:sp>
      <p:sp>
        <p:nvSpPr>
          <p:cNvPr id="29" name="Text 22">
            <a:extLst xmlns:a="http://schemas.openxmlformats.org/drawingml/2006/main">
              <a:ext uri="{FF2B5EF4-FFF2-40B4-BE49-F238E27FC236}">
                <a16:creationId xmlns:a16="http://schemas.microsoft.com/office/drawing/2014/main" id="{9158B5CD-F8C5-4D12-BEFC-D1E64FD74518}"/>
              </a:ext>
            </a:extLst>
          </p:cNvPr>
          <p:cNvSpPr>
            <a:spLocks xmlns:a="http://schemas.openxmlformats.org/drawingml/2006/main" noGrp="1"/>
          </p:cNvSpPr>
          <p:nvPr/>
        </p:nvSpPr>
        <p:spPr>
          <a:xfrm xmlns:a="http://schemas.openxmlformats.org/drawingml/2006/main">
            <a:off x="8858707" y="5901538"/>
            <a:ext cx="3715207" cy="191110"/>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200">
                <a:solidFill>
                  <a:srgbClr val="2A2E4B"/>
                </a:solidFill>
                <a:latin typeface="Inter"/>
                <a:ea typeface="Inter"/>
                <a:cs typeface="Inter"/>
              </a:rPr>
              <a:t>ROC-AUC | day 60</a:t>
            </a:r>
          </a:p>
        </p:txBody>
      </p:sp>
      <p:sp>
        <p:nvSpPr>
          <p:cNvPr id="30" name="Text 23">
            <a:extLst xmlns:a="http://schemas.openxmlformats.org/drawingml/2006/main">
              <a:ext uri="{FF2B5EF4-FFF2-40B4-BE49-F238E27FC236}">
                <a16:creationId xmlns:a16="http://schemas.microsoft.com/office/drawing/2014/main" id="{9F8CB18A-908B-424C-96B7-FF0FF66DB7B6}"/>
              </a:ext>
            </a:extLst>
          </p:cNvPr>
          <p:cNvSpPr>
            <a:spLocks xmlns:a="http://schemas.openxmlformats.org/drawingml/2006/main" noGrp="1"/>
          </p:cNvSpPr>
          <p:nvPr/>
        </p:nvSpPr>
        <p:spPr>
          <a:xfrm xmlns:a="http://schemas.openxmlformats.org/drawingml/2006/main">
            <a:off x="8858707" y="6225235"/>
            <a:ext cx="3715207" cy="152705"/>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000">
                <a:solidFill>
                  <a:srgbClr val="6A6F8C"/>
                </a:solidFill>
                <a:latin typeface="JetBrains Mono"/>
                <a:ea typeface="JetBrains Mono"/>
                <a:cs typeface="JetBrains Mono"/>
              </a:rPr>
              <a:t>One pooled 16-feature model</a:t>
            </a:r>
          </a:p>
        </p:txBody>
      </p:sp>
      <p:sp>
        <p:nvSpPr>
          <p:cNvPr id="31" name="Text 24">
            <a:extLst xmlns:a="http://schemas.openxmlformats.org/drawingml/2006/main">
              <a:ext uri="{FF2B5EF4-FFF2-40B4-BE49-F238E27FC236}">
                <a16:creationId xmlns:a16="http://schemas.microsoft.com/office/drawing/2014/main" id="{FF38C41B-6D66-49D6-AFFB-73EC77B53A70}"/>
              </a:ext>
            </a:extLst>
          </p:cNvPr>
          <p:cNvSpPr>
            <a:spLocks xmlns:a="http://schemas.openxmlformats.org/drawingml/2006/main" noGrp="1"/>
          </p:cNvSpPr>
          <p:nvPr/>
        </p:nvSpPr>
        <p:spPr>
          <a:xfrm xmlns:a="http://schemas.openxmlformats.org/drawingml/2006/main">
            <a:off x="13382244" y="5000854"/>
            <a:ext cx="3715207" cy="124358"/>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800">
                <a:solidFill>
                  <a:srgbClr val="6A6F8C"/>
                </a:solidFill>
                <a:latin typeface="JetBrains Mono"/>
                <a:ea typeface="JetBrains Mono"/>
                <a:cs typeface="JetBrains Mono"/>
              </a:rPr>
              <a:t>Later OULAD portability cost</a:t>
            </a:r>
          </a:p>
        </p:txBody>
      </p:sp>
      <p:sp>
        <p:nvSpPr>
          <p:cNvPr id="32" name="Text 25">
            <a:extLst xmlns:a="http://schemas.openxmlformats.org/drawingml/2006/main">
              <a:ext uri="{FF2B5EF4-FFF2-40B4-BE49-F238E27FC236}">
                <a16:creationId xmlns:a16="http://schemas.microsoft.com/office/drawing/2014/main" id="{AB8AC009-7263-44F4-92B2-D7213198E88E}"/>
              </a:ext>
            </a:extLst>
          </p:cNvPr>
          <p:cNvSpPr>
            <a:spLocks xmlns:a="http://schemas.openxmlformats.org/drawingml/2006/main" noGrp="1"/>
          </p:cNvSpPr>
          <p:nvPr/>
        </p:nvSpPr>
        <p:spPr>
          <a:xfrm xmlns:a="http://schemas.openxmlformats.org/drawingml/2006/main">
            <a:off x="13382244" y="5257800"/>
            <a:ext cx="3715207" cy="5907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4200" b="1">
                <a:solidFill>
                  <a:srgbClr val="2A2E7A"/>
                </a:solidFill>
                <a:latin typeface="JetBrains Mono"/>
                <a:ea typeface="JetBrains Mono"/>
                <a:cs typeface="JetBrains Mono"/>
              </a:rPr>
              <a:t>0.009-0.013</a:t>
            </a:r>
          </a:p>
        </p:txBody>
      </p:sp>
      <p:sp>
        <p:nvSpPr>
          <p:cNvPr id="33" name="Text 26">
            <a:extLst xmlns:a="http://schemas.openxmlformats.org/drawingml/2006/main">
              <a:ext uri="{FF2B5EF4-FFF2-40B4-BE49-F238E27FC236}">
                <a16:creationId xmlns:a16="http://schemas.microsoft.com/office/drawing/2014/main" id="{D8AA4493-746E-461B-B95B-A9E710F01840}"/>
              </a:ext>
            </a:extLst>
          </p:cNvPr>
          <p:cNvSpPr>
            <a:spLocks xmlns:a="http://schemas.openxmlformats.org/drawingml/2006/main" noGrp="1"/>
          </p:cNvSpPr>
          <p:nvPr/>
        </p:nvSpPr>
        <p:spPr>
          <a:xfrm xmlns:a="http://schemas.openxmlformats.org/drawingml/2006/main">
            <a:off x="13382244" y="5901538"/>
            <a:ext cx="3715207" cy="191110"/>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200">
                <a:solidFill>
                  <a:srgbClr val="2A2E4B"/>
                </a:solidFill>
                <a:latin typeface="Inter"/>
                <a:ea typeface="Inter"/>
                <a:cs typeface="Inter"/>
              </a:rPr>
              <a:t>ROC-AUC below local-only</a:t>
            </a:r>
          </a:p>
        </p:txBody>
      </p:sp>
      <p:sp>
        <p:nvSpPr>
          <p:cNvPr id="34" name="Text 27">
            <a:extLst xmlns:a="http://schemas.openxmlformats.org/drawingml/2006/main">
              <a:ext uri="{FF2B5EF4-FFF2-40B4-BE49-F238E27FC236}">
                <a16:creationId xmlns:a16="http://schemas.microsoft.com/office/drawing/2014/main" id="{77C5139C-D4AB-4F88-9764-D675D63F0C7C}"/>
              </a:ext>
            </a:extLst>
          </p:cNvPr>
          <p:cNvSpPr>
            <a:spLocks xmlns:a="http://schemas.openxmlformats.org/drawingml/2006/main" noGrp="1"/>
          </p:cNvSpPr>
          <p:nvPr/>
        </p:nvSpPr>
        <p:spPr>
          <a:xfrm xmlns:a="http://schemas.openxmlformats.org/drawingml/2006/main">
            <a:off x="13382244" y="6225235"/>
            <a:ext cx="3715207" cy="152705"/>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000">
                <a:solidFill>
                  <a:srgbClr val="6A6F8C"/>
                </a:solidFill>
                <a:latin typeface="JetBrains Mono"/>
                <a:ea typeface="JetBrains Mono"/>
                <a:cs typeface="JetBrains Mono"/>
              </a:rPr>
              <a:t>Significant AUC gaps at days 35, 60, and 75</a:t>
            </a:r>
          </a:p>
        </p:txBody>
      </p:sp>
      <p:sp>
        <p:nvSpPr>
          <p:cNvPr id="35" name="Text 28">
            <a:extLst xmlns:a="http://schemas.openxmlformats.org/drawingml/2006/main">
              <a:ext uri="{FF2B5EF4-FFF2-40B4-BE49-F238E27FC236}">
                <a16:creationId xmlns:a16="http://schemas.microsoft.com/office/drawing/2014/main" id="{968D3FAE-3EF2-4CD8-9C5B-953DE367A2C5}"/>
              </a:ext>
            </a:extLst>
          </p:cNvPr>
          <p:cNvSpPr>
            <a:spLocks xmlns:a="http://schemas.openxmlformats.org/drawingml/2006/main" noGrp="1"/>
          </p:cNvSpPr>
          <p:nvPr/>
        </p:nvSpPr>
        <p:spPr>
          <a:xfrm xmlns:a="http://schemas.openxmlformats.org/drawingml/2006/main">
            <a:off x="8953805" y="7477049"/>
            <a:ext cx="8001000" cy="124358"/>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800">
                <a:solidFill>
                  <a:srgbClr val="E4237A"/>
                </a:solidFill>
                <a:latin typeface="JetBrains Mono"/>
                <a:ea typeface="JetBrains Mono"/>
                <a:cs typeface="JetBrains Mono"/>
              </a:rPr>
              <a:t>RECOMMENDATION</a:t>
            </a:r>
          </a:p>
        </p:txBody>
      </p:sp>
      <p:sp>
        <p:nvSpPr>
          <p:cNvPr id="36" name="Text 29">
            <a:extLst xmlns:a="http://schemas.openxmlformats.org/drawingml/2006/main">
              <a:ext uri="{FF2B5EF4-FFF2-40B4-BE49-F238E27FC236}">
                <a16:creationId xmlns:a16="http://schemas.microsoft.com/office/drawing/2014/main" id="{C2950F5B-CC80-476D-B23A-5F8ED1D19254}"/>
              </a:ext>
            </a:extLst>
          </p:cNvPr>
          <p:cNvSpPr>
            <a:spLocks xmlns:a="http://schemas.openxmlformats.org/drawingml/2006/main" noGrp="1"/>
          </p:cNvSpPr>
          <p:nvPr/>
        </p:nvSpPr>
        <p:spPr>
          <a:xfrm xmlns:a="http://schemas.openxmlformats.org/drawingml/2006/main">
            <a:off x="8953805" y="7715707"/>
            <a:ext cx="8001000" cy="724205"/>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2100">
                <a:solidFill>
                  <a:srgbClr val="0F1226"/>
                </a:solidFill>
                <a:latin typeface="Source Serif Pro"/>
                <a:ea typeface="Source Serif Pro"/>
                <a:cs typeface="Source Serif Pro"/>
              </a:rPr>
              <a:t>Use one frozen model behind a documented local adapter, then rank and validate locally.</a:t>
            </a:r>
          </a:p>
        </p:txBody>
      </p:sp>
      <p:sp>
        <p:nvSpPr>
          <p:cNvPr id="37" name="Text 30">
            <a:extLst xmlns:a="http://schemas.openxmlformats.org/drawingml/2006/main">
              <a:ext uri="{FF2B5EF4-FFF2-40B4-BE49-F238E27FC236}">
                <a16:creationId xmlns:a16="http://schemas.microsoft.com/office/drawing/2014/main" id="{D8A53AE7-E873-4590-8954-063C81A2BFED}"/>
              </a:ext>
            </a:extLst>
          </p:cNvPr>
          <p:cNvSpPr>
            <a:spLocks xmlns:a="http://schemas.openxmlformats.org/drawingml/2006/main" noGrp="1"/>
          </p:cNvSpPr>
          <p:nvPr/>
        </p:nvSpPr>
        <p:spPr>
          <a:xfrm xmlns:a="http://schemas.openxmlformats.org/drawingml/2006/main">
            <a:off x="8953805" y="8568842"/>
            <a:ext cx="8001000" cy="152705"/>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E8A93A"/>
                </a:solidFill>
                <a:latin typeface="JetBrains Mono"/>
                <a:ea typeface="JetBrains Mono"/>
                <a:cs typeface="JetBrains Mono"/>
              </a:rPr>
              <a:t>Different raw columns are acceptable | 4 required fields | 12 optional fields | human review remains required</a:t>
            </a:r>
          </a:p>
        </p:txBody>
      </p:sp>
      <p:sp>
        <p:nvSpPr>
          <p:cNvPr id="38" name="Text 31">
            <a:extLst xmlns:a="http://schemas.openxmlformats.org/drawingml/2006/main">
              <a:ext uri="{FF2B5EF4-FFF2-40B4-BE49-F238E27FC236}">
                <a16:creationId xmlns:a16="http://schemas.microsoft.com/office/drawing/2014/main" id="{C1BFE0A0-62FC-46D7-BC63-AFDEC87F6886}"/>
              </a:ext>
            </a:extLst>
          </p:cNvPr>
          <p:cNvSpPr>
            <a:spLocks xmlns:a="http://schemas.openxmlformats.org/drawingml/2006/main" noGrp="1"/>
          </p:cNvSpPr>
          <p:nvPr/>
        </p:nvSpPr>
        <p:spPr>
          <a:xfrm xmlns:a="http://schemas.openxmlformats.org/drawingml/2006/main">
            <a:off x="8572500" y="9858146"/>
            <a:ext cx="9525305" cy="1335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6A6F8C"/>
                </a:solidFill>
                <a:latin typeface="JetBrains Mono"/>
                <a:ea typeface="JetBrains Mono"/>
                <a:cs typeface="JetBrains Mono"/>
              </a:rPr>
              <a:t>01 / 20 · Cover</a:t>
            </a:r>
          </a:p>
        </p:txBody>
      </p:sp>
    </p:spTree>
    <p:extLst>
      <p:ext uri="{BB962C8B-B14F-4D97-AF65-F5344CB8AC3E}">
        <p14:creationId xmlns:p14="http://schemas.microsoft.com/office/powerpoint/2010/main" val="1162803196"/>
      </p:ext>
    </p:extLst>
  </p:cSld>
</p:sld>
</file>

<file path=ppt/slides/slide2.xml><?xml version="1.0" encoding="utf-8"?>
<p:sld xmlns:p="http://schemas.openxmlformats.org/presentationml/2006/main">
  <p:cSld>
    <p:bg>
      <p:bgPr>
        <a:solidFill xmlns:a="http://schemas.openxmlformats.org/drawingml/2006/main">
          <a:srgbClr val="F7F7FB"/>
        </a:solidFill>
      </p:bgPr>
    </p:bg>
    <p:spTree>
      <p:nvGrpSpPr>
        <p:cNvPr id="1" name=""/>
        <p:cNvGrpSpPr/>
        <p:nvPr/>
      </p:nvGrpSpPr>
      <p:grpSpPr>
        <a:xfrm xmlns:a="http://schemas.openxmlformats.org/drawingml/2006/main"/>
      </p:grpSpPr>
      <p:pic>
        <p:nvPicPr>
          <p:cNvPr id="55" name="Image 0"/>
          <p:cNvPicPr>
            <a:picLocks xmlns:a="http://schemas.openxmlformats.org/drawingml/2006/main" noChangeAspect="1"/>
          </p:cNvPicPr>
          <p:nvPr/>
        </p:nvPicPr>
        <p:blipFill>
          <a:blip xmlns:r="http://schemas.openxmlformats.org/officeDocument/2006/relationships" xmlns:a="http://schemas.openxmlformats.org/drawingml/2006/main" r:embed="R914b775e9f3a4bfa"/>
          <a:srcRect xmlns:a="http://schemas.openxmlformats.org/drawingml/2006/main" l="-2083" t="0" r="-2083" b="0"/>
          <a:stretch xmlns:a="http://schemas.openxmlformats.org/drawingml/2006/main"/>
        </p:blipFill>
        <p:spPr>
          <a:xfrm xmlns:a="http://schemas.openxmlformats.org/drawingml/2006/main">
            <a:off x="761695" y="761695"/>
            <a:ext cx="16763695" cy="9144"/>
          </a:xfrm>
          <a:prstGeom xmlns:a="http://schemas.openxmlformats.org/drawingml/2006/main" prst="rect">
            <a:avLst/>
          </a:prstGeom>
        </p:spPr>
      </p:pic>
      <p:pic>
        <p:nvPicPr>
          <p:cNvPr id="56" name="Image 1"/>
          <p:cNvPicPr>
            <a:picLocks xmlns:a="http://schemas.openxmlformats.org/drawingml/2006/main" noChangeAspect="1"/>
          </p:cNvPicPr>
          <p:nvPr/>
        </p:nvPicPr>
        <p:blipFill>
          <a:blip xmlns:r="http://schemas.openxmlformats.org/officeDocument/2006/relationships" xmlns:a="http://schemas.openxmlformats.org/drawingml/2006/main" r:embed="R914b775e9f3a4bfa"/>
          <a:srcRect xmlns:a="http://schemas.openxmlformats.org/drawingml/2006/main" l="-2083" t="0" r="-2083" b="0"/>
          <a:stretch xmlns:a="http://schemas.openxmlformats.org/drawingml/2006/main"/>
        </p:blipFill>
        <p:spPr>
          <a:xfrm xmlns:a="http://schemas.openxmlformats.org/drawingml/2006/main">
            <a:off x="761695" y="9144000"/>
            <a:ext cx="16763695" cy="9144"/>
          </a:xfrm>
          <a:prstGeom xmlns:a="http://schemas.openxmlformats.org/drawingml/2006/main" prst="rect">
            <a:avLst/>
          </a:prstGeom>
        </p:spPr>
      </p:pic>
      <p:sp>
        <p:nvSpPr>
          <p:cNvPr id="5" name="Text 0">
            <a:extLst xmlns:a="http://schemas.openxmlformats.org/drawingml/2006/main">
              <a:ext uri="{FF2B5EF4-FFF2-40B4-BE49-F238E27FC236}">
                <a16:creationId xmlns:a16="http://schemas.microsoft.com/office/drawing/2014/main" id="{8DBD2D02-2985-421D-B93C-C468929E6339}"/>
              </a:ext>
            </a:extLst>
          </p:cNvPr>
          <p:cNvSpPr>
            <a:spLocks xmlns:a="http://schemas.openxmlformats.org/drawingml/2006/main" noGrp="1"/>
          </p:cNvSpPr>
          <p:nvPr/>
        </p:nvSpPr>
        <p:spPr>
          <a:xfrm xmlns:a="http://schemas.openxmlformats.org/drawingml/2006/main">
            <a:off x="761695" y="428854"/>
            <a:ext cx="8572500" cy="152705"/>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000">
                <a:solidFill>
                  <a:srgbClr val="6A6F8C"/>
                </a:solidFill>
                <a:latin typeface="JetBrains Mono"/>
                <a:ea typeface="JetBrains Mono"/>
                <a:cs typeface="JetBrains Mono"/>
              </a:rPr>
              <a:t>§ 00 · Agenda</a:t>
            </a:r>
          </a:p>
        </p:txBody>
      </p:sp>
      <p:sp>
        <p:nvSpPr>
          <p:cNvPr id="6" name="Text 1">
            <a:extLst xmlns:a="http://schemas.openxmlformats.org/drawingml/2006/main">
              <a:ext uri="{FF2B5EF4-FFF2-40B4-BE49-F238E27FC236}">
                <a16:creationId xmlns:a16="http://schemas.microsoft.com/office/drawing/2014/main" id="{E2E63C8D-BED1-40A3-BEA9-1531C9BCB59F}"/>
              </a:ext>
            </a:extLst>
          </p:cNvPr>
          <p:cNvSpPr>
            <a:spLocks xmlns:a="http://schemas.openxmlformats.org/drawingml/2006/main" noGrp="1"/>
          </p:cNvSpPr>
          <p:nvPr/>
        </p:nvSpPr>
        <p:spPr>
          <a:xfrm xmlns:a="http://schemas.openxmlformats.org/drawingml/2006/main">
            <a:off x="15240305" y="428854"/>
            <a:ext cx="2286000" cy="152705"/>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r">
              <a:buNone/>
            </a:pPr>
            <a:r>
              <a:rPr sz="1000">
                <a:solidFill>
                  <a:srgbClr val="6A6F8C"/>
                </a:solidFill>
                <a:latin typeface="JetBrains Mono"/>
                <a:ea typeface="JetBrains Mono"/>
                <a:cs typeface="JetBrains Mono"/>
              </a:rPr>
              <a:t>02 / 20</a:t>
            </a:r>
          </a:p>
        </p:txBody>
      </p:sp>
      <p:sp>
        <p:nvSpPr>
          <p:cNvPr id="7" name="Text 2">
            <a:extLst xmlns:a="http://schemas.openxmlformats.org/drawingml/2006/main">
              <a:ext uri="{FF2B5EF4-FFF2-40B4-BE49-F238E27FC236}">
                <a16:creationId xmlns:a16="http://schemas.microsoft.com/office/drawing/2014/main" id="{2131F6FD-6147-460D-9F45-89C2EEF11685}"/>
              </a:ext>
            </a:extLst>
          </p:cNvPr>
          <p:cNvSpPr>
            <a:spLocks xmlns:a="http://schemas.openxmlformats.org/drawingml/2006/main" noGrp="1"/>
          </p:cNvSpPr>
          <p:nvPr/>
        </p:nvSpPr>
        <p:spPr>
          <a:xfrm xmlns:a="http://schemas.openxmlformats.org/drawingml/2006/main">
            <a:off x="761695" y="1238098"/>
            <a:ext cx="11430000" cy="66751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5200" b="1">
                <a:solidFill>
                  <a:srgbClr val="0F1226"/>
                </a:solidFill>
                <a:latin typeface="Inter"/>
                <a:ea typeface="Inter"/>
                <a:cs typeface="Inter"/>
              </a:rPr>
              <a:t>What we'll cover</a:t>
            </a:r>
          </a:p>
        </p:txBody>
      </p:sp>
      <p:sp>
        <p:nvSpPr>
          <p:cNvPr id="8" name="Text 3">
            <a:extLst xmlns:a="http://schemas.openxmlformats.org/drawingml/2006/main">
              <a:ext uri="{FF2B5EF4-FFF2-40B4-BE49-F238E27FC236}">
                <a16:creationId xmlns:a16="http://schemas.microsoft.com/office/drawing/2014/main" id="{88708CE1-3117-4552-832C-B69B8F4191D5}"/>
              </a:ext>
            </a:extLst>
          </p:cNvPr>
          <p:cNvSpPr>
            <a:spLocks xmlns:a="http://schemas.openxmlformats.org/drawingml/2006/main" noGrp="1"/>
          </p:cNvSpPr>
          <p:nvPr/>
        </p:nvSpPr>
        <p:spPr>
          <a:xfrm xmlns:a="http://schemas.openxmlformats.org/drawingml/2006/main">
            <a:off x="761695" y="2057400"/>
            <a:ext cx="11430000" cy="238658"/>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600" i="1">
                <a:solidFill>
                  <a:srgbClr val="6A6F8C"/>
                </a:solidFill>
                <a:latin typeface="Source Serif Pro"/>
                <a:ea typeface="Source Serif Pro"/>
                <a:cs typeface="Source Serif Pro"/>
              </a:rPr>
              <a:t>Nine sections · 20 minutes talk · 5 minutes Q&amp;A</a:t>
            </a:r>
          </a:p>
        </p:txBody>
      </p:sp>
      <p:sp>
        <p:nvSpPr>
          <p:cNvPr id="9" name="Text 4">
            <a:extLst xmlns:a="http://schemas.openxmlformats.org/drawingml/2006/main">
              <a:ext uri="{FF2B5EF4-FFF2-40B4-BE49-F238E27FC236}">
                <a16:creationId xmlns:a16="http://schemas.microsoft.com/office/drawing/2014/main" id="{4AA5644B-BE61-44A1-8347-5FC66E64C074}"/>
              </a:ext>
            </a:extLst>
          </p:cNvPr>
          <p:cNvSpPr>
            <a:spLocks xmlns:a="http://schemas.openxmlformats.org/drawingml/2006/main" noGrp="1"/>
          </p:cNvSpPr>
          <p:nvPr/>
        </p:nvSpPr>
        <p:spPr>
          <a:xfrm xmlns:a="http://schemas.openxmlformats.org/drawingml/2006/main">
            <a:off x="761695" y="3238805"/>
            <a:ext cx="76261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600" b="1">
                <a:solidFill>
                  <a:srgbClr val="E4237A"/>
                </a:solidFill>
                <a:latin typeface="JetBrains Mono"/>
                <a:ea typeface="JetBrains Mono"/>
                <a:cs typeface="JetBrains Mono"/>
              </a:rPr>
              <a:t>01</a:t>
            </a:r>
          </a:p>
        </p:txBody>
      </p:sp>
      <p:sp>
        <p:nvSpPr>
          <p:cNvPr id="10" name="Text 5">
            <a:extLst xmlns:a="http://schemas.openxmlformats.org/drawingml/2006/main">
              <a:ext uri="{FF2B5EF4-FFF2-40B4-BE49-F238E27FC236}">
                <a16:creationId xmlns:a16="http://schemas.microsoft.com/office/drawing/2014/main" id="{EBAA946B-B1B9-4B87-AC8D-B42B34A1AF98}"/>
              </a:ext>
            </a:extLst>
          </p:cNvPr>
          <p:cNvSpPr>
            <a:spLocks xmlns:a="http://schemas.openxmlformats.org/drawingml/2006/main" noGrp="1"/>
          </p:cNvSpPr>
          <p:nvPr/>
        </p:nvSpPr>
        <p:spPr>
          <a:xfrm xmlns:a="http://schemas.openxmlformats.org/drawingml/2006/main">
            <a:off x="1714500" y="3238805"/>
            <a:ext cx="5906110" cy="2478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600" b="1">
                <a:solidFill>
                  <a:srgbClr val="0F1226"/>
                </a:solidFill>
                <a:latin typeface="Inter"/>
                <a:ea typeface="Inter"/>
                <a:cs typeface="Inter"/>
              </a:rPr>
              <a:t>Introduction</a:t>
            </a:r>
          </a:p>
        </p:txBody>
      </p:sp>
      <p:sp>
        <p:nvSpPr>
          <p:cNvPr id="11" name="Text 6">
            <a:extLst xmlns:a="http://schemas.openxmlformats.org/drawingml/2006/main">
              <a:ext uri="{FF2B5EF4-FFF2-40B4-BE49-F238E27FC236}">
                <a16:creationId xmlns:a16="http://schemas.microsoft.com/office/drawing/2014/main" id="{D3085D4C-100A-4166-AEB9-EA690465E00D}"/>
              </a:ext>
            </a:extLst>
          </p:cNvPr>
          <p:cNvSpPr>
            <a:spLocks xmlns:a="http://schemas.openxmlformats.org/drawingml/2006/main" noGrp="1"/>
          </p:cNvSpPr>
          <p:nvPr/>
        </p:nvSpPr>
        <p:spPr>
          <a:xfrm xmlns:a="http://schemas.openxmlformats.org/drawingml/2006/main">
            <a:off x="1714500" y="3524098"/>
            <a:ext cx="5906110" cy="171907"/>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100">
                <a:solidFill>
                  <a:srgbClr val="6A6F8C"/>
                </a:solidFill>
                <a:latin typeface="JetBrains Mono"/>
                <a:ea typeface="JetBrains Mono"/>
                <a:cs typeface="JetBrains Mono"/>
              </a:rPr>
              <a:t>Why a transferable model is needed</a:t>
            </a:r>
          </a:p>
        </p:txBody>
      </p:sp>
      <p:sp>
        <p:nvSpPr>
          <p:cNvPr id="12" name="Text 7">
            <a:extLst xmlns:a="http://schemas.openxmlformats.org/drawingml/2006/main">
              <a:ext uri="{FF2B5EF4-FFF2-40B4-BE49-F238E27FC236}">
                <a16:creationId xmlns:a16="http://schemas.microsoft.com/office/drawing/2014/main" id="{30E0E2B3-35B3-4F52-B1AE-B89A899BC9C0}"/>
              </a:ext>
            </a:extLst>
          </p:cNvPr>
          <p:cNvSpPr>
            <a:spLocks xmlns:a="http://schemas.openxmlformats.org/drawingml/2006/main" noGrp="1"/>
          </p:cNvSpPr>
          <p:nvPr/>
        </p:nvSpPr>
        <p:spPr>
          <a:xfrm xmlns:a="http://schemas.openxmlformats.org/drawingml/2006/main">
            <a:off x="7810805" y="3238805"/>
            <a:ext cx="952805"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1200">
                <a:solidFill>
                  <a:srgbClr val="6A6F8C"/>
                </a:solidFill>
                <a:latin typeface="JetBrains Mono"/>
                <a:ea typeface="JetBrains Mono"/>
                <a:cs typeface="JetBrains Mono"/>
              </a:rPr>
              <a:t>1.5 min</a:t>
            </a:r>
          </a:p>
        </p:txBody>
      </p:sp>
      <p:sp>
        <p:nvSpPr>
          <p:cNvPr id="13" name="Text 8">
            <a:extLst xmlns:a="http://schemas.openxmlformats.org/drawingml/2006/main">
              <a:ext uri="{FF2B5EF4-FFF2-40B4-BE49-F238E27FC236}">
                <a16:creationId xmlns:a16="http://schemas.microsoft.com/office/drawing/2014/main" id="{891CC6AA-F1E8-4884-BB30-D334DB2B8E94}"/>
              </a:ext>
            </a:extLst>
          </p:cNvPr>
          <p:cNvSpPr>
            <a:spLocks xmlns:a="http://schemas.openxmlformats.org/drawingml/2006/main" noGrp="1"/>
          </p:cNvSpPr>
          <p:nvPr/>
        </p:nvSpPr>
        <p:spPr>
          <a:xfrm xmlns:a="http://schemas.openxmlformats.org/drawingml/2006/main">
            <a:off x="761695" y="3886200"/>
            <a:ext cx="76261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600" b="1">
                <a:solidFill>
                  <a:srgbClr val="E4237A"/>
                </a:solidFill>
                <a:latin typeface="JetBrains Mono"/>
                <a:ea typeface="JetBrains Mono"/>
                <a:cs typeface="JetBrains Mono"/>
              </a:rPr>
              <a:t>02</a:t>
            </a:r>
          </a:p>
        </p:txBody>
      </p:sp>
      <p:sp>
        <p:nvSpPr>
          <p:cNvPr id="14" name="Text 9">
            <a:extLst xmlns:a="http://schemas.openxmlformats.org/drawingml/2006/main">
              <a:ext uri="{FF2B5EF4-FFF2-40B4-BE49-F238E27FC236}">
                <a16:creationId xmlns:a16="http://schemas.microsoft.com/office/drawing/2014/main" id="{C7D0C29D-AB08-4989-82CD-A173597A4A86}"/>
              </a:ext>
            </a:extLst>
          </p:cNvPr>
          <p:cNvSpPr>
            <a:spLocks xmlns:a="http://schemas.openxmlformats.org/drawingml/2006/main" noGrp="1"/>
          </p:cNvSpPr>
          <p:nvPr/>
        </p:nvSpPr>
        <p:spPr>
          <a:xfrm xmlns:a="http://schemas.openxmlformats.org/drawingml/2006/main">
            <a:off x="1714500" y="3886200"/>
            <a:ext cx="5906110" cy="2478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600" b="1">
                <a:solidFill>
                  <a:srgbClr val="0F1226"/>
                </a:solidFill>
                <a:latin typeface="Inter"/>
                <a:ea typeface="Inter"/>
                <a:cs typeface="Inter"/>
              </a:rPr>
              <a:t>Problem Definition</a:t>
            </a:r>
          </a:p>
        </p:txBody>
      </p:sp>
      <p:sp>
        <p:nvSpPr>
          <p:cNvPr id="15" name="Text 10">
            <a:extLst xmlns:a="http://schemas.openxmlformats.org/drawingml/2006/main">
              <a:ext uri="{FF2B5EF4-FFF2-40B4-BE49-F238E27FC236}">
                <a16:creationId xmlns:a16="http://schemas.microsoft.com/office/drawing/2014/main" id="{3CD2D62D-1932-4BC3-A819-BE31CF473E88}"/>
              </a:ext>
            </a:extLst>
          </p:cNvPr>
          <p:cNvSpPr>
            <a:spLocks xmlns:a="http://schemas.openxmlformats.org/drawingml/2006/main" noGrp="1"/>
          </p:cNvSpPr>
          <p:nvPr/>
        </p:nvSpPr>
        <p:spPr>
          <a:xfrm xmlns:a="http://schemas.openxmlformats.org/drawingml/2006/main">
            <a:off x="1714500" y="4172407"/>
            <a:ext cx="5906110" cy="171907"/>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100">
                <a:solidFill>
                  <a:srgbClr val="6A6F8C"/>
                </a:solidFill>
                <a:latin typeface="JetBrains Mono"/>
                <a:ea typeface="JetBrains Mono"/>
                <a:cs typeface="JetBrains Mono"/>
              </a:rPr>
              <a:t>Different columns -&gt; one fixed 16-feature contract</a:t>
            </a:r>
          </a:p>
        </p:txBody>
      </p:sp>
      <p:sp>
        <p:nvSpPr>
          <p:cNvPr id="16" name="Text 11">
            <a:extLst xmlns:a="http://schemas.openxmlformats.org/drawingml/2006/main">
              <a:ext uri="{FF2B5EF4-FFF2-40B4-BE49-F238E27FC236}">
                <a16:creationId xmlns:a16="http://schemas.microsoft.com/office/drawing/2014/main" id="{17139D00-A50E-4262-80B0-BFDCF0A6B7F3}"/>
              </a:ext>
            </a:extLst>
          </p:cNvPr>
          <p:cNvSpPr>
            <a:spLocks xmlns:a="http://schemas.openxmlformats.org/drawingml/2006/main" noGrp="1"/>
          </p:cNvSpPr>
          <p:nvPr/>
        </p:nvSpPr>
        <p:spPr>
          <a:xfrm xmlns:a="http://schemas.openxmlformats.org/drawingml/2006/main">
            <a:off x="7810805" y="3886200"/>
            <a:ext cx="952805"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1200">
                <a:solidFill>
                  <a:srgbClr val="6A6F8C"/>
                </a:solidFill>
                <a:latin typeface="JetBrains Mono"/>
                <a:ea typeface="JetBrains Mono"/>
                <a:cs typeface="JetBrains Mono"/>
              </a:rPr>
              <a:t>1.5 min</a:t>
            </a:r>
          </a:p>
        </p:txBody>
      </p:sp>
      <p:sp>
        <p:nvSpPr>
          <p:cNvPr id="17" name="Text 12">
            <a:extLst xmlns:a="http://schemas.openxmlformats.org/drawingml/2006/main">
              <a:ext uri="{FF2B5EF4-FFF2-40B4-BE49-F238E27FC236}">
                <a16:creationId xmlns:a16="http://schemas.microsoft.com/office/drawing/2014/main" id="{F3C2ADC2-5976-4F82-9692-68DB2F4FA593}"/>
              </a:ext>
            </a:extLst>
          </p:cNvPr>
          <p:cNvSpPr>
            <a:spLocks xmlns:a="http://schemas.openxmlformats.org/drawingml/2006/main" noGrp="1"/>
          </p:cNvSpPr>
          <p:nvPr/>
        </p:nvSpPr>
        <p:spPr>
          <a:xfrm xmlns:a="http://schemas.openxmlformats.org/drawingml/2006/main">
            <a:off x="761695" y="4533595"/>
            <a:ext cx="76261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600" b="1">
                <a:solidFill>
                  <a:srgbClr val="E4237A"/>
                </a:solidFill>
                <a:latin typeface="JetBrains Mono"/>
                <a:ea typeface="JetBrains Mono"/>
                <a:cs typeface="JetBrains Mono"/>
              </a:rPr>
              <a:t>03</a:t>
            </a:r>
          </a:p>
        </p:txBody>
      </p:sp>
      <p:sp>
        <p:nvSpPr>
          <p:cNvPr id="18" name="Text 13">
            <a:extLst xmlns:a="http://schemas.openxmlformats.org/drawingml/2006/main">
              <a:ext uri="{FF2B5EF4-FFF2-40B4-BE49-F238E27FC236}">
                <a16:creationId xmlns:a16="http://schemas.microsoft.com/office/drawing/2014/main" id="{F348EA2A-1ACE-4F3B-B4D9-2A38A3754F0A}"/>
              </a:ext>
            </a:extLst>
          </p:cNvPr>
          <p:cNvSpPr>
            <a:spLocks xmlns:a="http://schemas.openxmlformats.org/drawingml/2006/main" noGrp="1"/>
          </p:cNvSpPr>
          <p:nvPr/>
        </p:nvSpPr>
        <p:spPr>
          <a:xfrm xmlns:a="http://schemas.openxmlformats.org/drawingml/2006/main">
            <a:off x="1714500" y="4533595"/>
            <a:ext cx="5906110" cy="2478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600" b="1">
                <a:solidFill>
                  <a:srgbClr val="0F1226"/>
                </a:solidFill>
                <a:latin typeface="Inter"/>
                <a:ea typeface="Inter"/>
                <a:cs typeface="Inter"/>
              </a:rPr>
              <a:t>Data &amp; EDA</a:t>
            </a:r>
          </a:p>
        </p:txBody>
      </p:sp>
      <p:sp>
        <p:nvSpPr>
          <p:cNvPr id="19" name="Text 14">
            <a:extLst xmlns:a="http://schemas.openxmlformats.org/drawingml/2006/main">
              <a:ext uri="{FF2B5EF4-FFF2-40B4-BE49-F238E27FC236}">
                <a16:creationId xmlns:a16="http://schemas.microsoft.com/office/drawing/2014/main" id="{9FDC0E5B-5841-41D6-A1C9-8EA49FC4AF63}"/>
              </a:ext>
            </a:extLst>
          </p:cNvPr>
          <p:cNvSpPr>
            <a:spLocks xmlns:a="http://schemas.openxmlformats.org/drawingml/2006/main" noGrp="1"/>
          </p:cNvSpPr>
          <p:nvPr/>
        </p:nvSpPr>
        <p:spPr>
          <a:xfrm xmlns:a="http://schemas.openxmlformats.org/drawingml/2006/main">
            <a:off x="1714500" y="4819802"/>
            <a:ext cx="5906110" cy="171907"/>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100">
                <a:solidFill>
                  <a:srgbClr val="6A6F8C"/>
                </a:solidFill>
                <a:latin typeface="JetBrains Mono"/>
                <a:ea typeface="JetBrains Mono"/>
                <a:cs typeface="JetBrains Mono"/>
              </a:rPr>
              <a:t>Profiles · UCI findings · OULAD findings</a:t>
            </a:r>
          </a:p>
        </p:txBody>
      </p:sp>
      <p:sp>
        <p:nvSpPr>
          <p:cNvPr id="20" name="Text 15">
            <a:extLst xmlns:a="http://schemas.openxmlformats.org/drawingml/2006/main">
              <a:ext uri="{FF2B5EF4-FFF2-40B4-BE49-F238E27FC236}">
                <a16:creationId xmlns:a16="http://schemas.microsoft.com/office/drawing/2014/main" id="{BFF2C30B-BAD8-4A75-86C3-5ECF73721B00}"/>
              </a:ext>
            </a:extLst>
          </p:cNvPr>
          <p:cNvSpPr>
            <a:spLocks xmlns:a="http://schemas.openxmlformats.org/drawingml/2006/main" noGrp="1"/>
          </p:cNvSpPr>
          <p:nvPr/>
        </p:nvSpPr>
        <p:spPr>
          <a:xfrm xmlns:a="http://schemas.openxmlformats.org/drawingml/2006/main">
            <a:off x="7810805" y="4533595"/>
            <a:ext cx="952805"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1200" b="1">
                <a:solidFill>
                  <a:srgbClr val="E4237A"/>
                </a:solidFill>
                <a:latin typeface="JetBrains Mono"/>
                <a:ea typeface="JetBrains Mono"/>
                <a:cs typeface="JetBrains Mono"/>
              </a:rPr>
              <a:t>3 min</a:t>
            </a:r>
          </a:p>
        </p:txBody>
      </p:sp>
      <p:sp>
        <p:nvSpPr>
          <p:cNvPr id="21" name="Text 16">
            <a:extLst xmlns:a="http://schemas.openxmlformats.org/drawingml/2006/main">
              <a:ext uri="{FF2B5EF4-FFF2-40B4-BE49-F238E27FC236}">
                <a16:creationId xmlns:a16="http://schemas.microsoft.com/office/drawing/2014/main" id="{F62F6358-A91C-4957-9A70-EA2839388528}"/>
              </a:ext>
            </a:extLst>
          </p:cNvPr>
          <p:cNvSpPr>
            <a:spLocks xmlns:a="http://schemas.openxmlformats.org/drawingml/2006/main" noGrp="1"/>
          </p:cNvSpPr>
          <p:nvPr/>
        </p:nvSpPr>
        <p:spPr>
          <a:xfrm xmlns:a="http://schemas.openxmlformats.org/drawingml/2006/main">
            <a:off x="761695" y="5181905"/>
            <a:ext cx="76261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600" b="1">
                <a:solidFill>
                  <a:srgbClr val="E4237A"/>
                </a:solidFill>
                <a:latin typeface="JetBrains Mono"/>
                <a:ea typeface="JetBrains Mono"/>
                <a:cs typeface="JetBrains Mono"/>
              </a:rPr>
              <a:t>04</a:t>
            </a:r>
          </a:p>
        </p:txBody>
      </p:sp>
      <p:sp>
        <p:nvSpPr>
          <p:cNvPr id="22" name="Text 17">
            <a:extLst xmlns:a="http://schemas.openxmlformats.org/drawingml/2006/main">
              <a:ext uri="{FF2B5EF4-FFF2-40B4-BE49-F238E27FC236}">
                <a16:creationId xmlns:a16="http://schemas.microsoft.com/office/drawing/2014/main" id="{CCEFC811-D392-4899-BFD1-38901B5A0A6D}"/>
              </a:ext>
            </a:extLst>
          </p:cNvPr>
          <p:cNvSpPr>
            <a:spLocks xmlns:a="http://schemas.openxmlformats.org/drawingml/2006/main" noGrp="1"/>
          </p:cNvSpPr>
          <p:nvPr/>
        </p:nvSpPr>
        <p:spPr>
          <a:xfrm xmlns:a="http://schemas.openxmlformats.org/drawingml/2006/main">
            <a:off x="1714500" y="5181905"/>
            <a:ext cx="5906110" cy="2478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600" b="1">
                <a:solidFill>
                  <a:srgbClr val="0F1226"/>
                </a:solidFill>
                <a:latin typeface="Inter"/>
                <a:ea typeface="Inter"/>
                <a:cs typeface="Inter"/>
              </a:rPr>
              <a:t>Methodology &amp; Shared Schema</a:t>
            </a:r>
          </a:p>
        </p:txBody>
      </p:sp>
      <p:sp>
        <p:nvSpPr>
          <p:cNvPr id="23" name="Text 18">
            <a:extLst xmlns:a="http://schemas.openxmlformats.org/drawingml/2006/main">
              <a:ext uri="{FF2B5EF4-FFF2-40B4-BE49-F238E27FC236}">
                <a16:creationId xmlns:a16="http://schemas.microsoft.com/office/drawing/2014/main" id="{A735B104-E01B-47CC-89F7-1BFD81A6B20D}"/>
              </a:ext>
            </a:extLst>
          </p:cNvPr>
          <p:cNvSpPr>
            <a:spLocks xmlns:a="http://schemas.openxmlformats.org/drawingml/2006/main" noGrp="1"/>
          </p:cNvSpPr>
          <p:nvPr/>
        </p:nvSpPr>
        <p:spPr>
          <a:xfrm xmlns:a="http://schemas.openxmlformats.org/drawingml/2006/main">
            <a:off x="1714500" y="5467198"/>
            <a:ext cx="5906110" cy="171907"/>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100">
                <a:solidFill>
                  <a:srgbClr val="6A6F8C"/>
                </a:solidFill>
                <a:latin typeface="JetBrains Mono"/>
                <a:ea typeface="JetBrains Mono"/>
                <a:cs typeface="JetBrains Mono"/>
              </a:rPr>
              <a:t>Adapters | dynamic snapshots | validation</a:t>
            </a:r>
          </a:p>
        </p:txBody>
      </p:sp>
      <p:sp>
        <p:nvSpPr>
          <p:cNvPr id="24" name="Text 19">
            <a:extLst xmlns:a="http://schemas.openxmlformats.org/drawingml/2006/main">
              <a:ext uri="{FF2B5EF4-FFF2-40B4-BE49-F238E27FC236}">
                <a16:creationId xmlns:a16="http://schemas.microsoft.com/office/drawing/2014/main" id="{74BA92F5-58D0-4757-BDFC-3CA9BA44B311}"/>
              </a:ext>
            </a:extLst>
          </p:cNvPr>
          <p:cNvSpPr>
            <a:spLocks xmlns:a="http://schemas.openxmlformats.org/drawingml/2006/main" noGrp="1"/>
          </p:cNvSpPr>
          <p:nvPr/>
        </p:nvSpPr>
        <p:spPr>
          <a:xfrm xmlns:a="http://schemas.openxmlformats.org/drawingml/2006/main">
            <a:off x="7810805" y="5181905"/>
            <a:ext cx="952805"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1200">
                <a:solidFill>
                  <a:srgbClr val="6A6F8C"/>
                </a:solidFill>
                <a:latin typeface="JetBrains Mono"/>
                <a:ea typeface="JetBrains Mono"/>
                <a:cs typeface="JetBrains Mono"/>
              </a:rPr>
              <a:t>4 min</a:t>
            </a:r>
          </a:p>
        </p:txBody>
      </p:sp>
      <p:sp>
        <p:nvSpPr>
          <p:cNvPr id="25" name="Text 20">
            <a:extLst xmlns:a="http://schemas.openxmlformats.org/drawingml/2006/main">
              <a:ext uri="{FF2B5EF4-FFF2-40B4-BE49-F238E27FC236}">
                <a16:creationId xmlns:a16="http://schemas.microsoft.com/office/drawing/2014/main" id="{F3232775-796D-42E3-B755-412A4B0D4920}"/>
              </a:ext>
            </a:extLst>
          </p:cNvPr>
          <p:cNvSpPr>
            <a:spLocks xmlns:a="http://schemas.openxmlformats.org/drawingml/2006/main" noGrp="1"/>
          </p:cNvSpPr>
          <p:nvPr/>
        </p:nvSpPr>
        <p:spPr>
          <a:xfrm xmlns:a="http://schemas.openxmlformats.org/drawingml/2006/main">
            <a:off x="761695" y="5829300"/>
            <a:ext cx="76261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600" b="1">
                <a:solidFill>
                  <a:srgbClr val="E4237A"/>
                </a:solidFill>
                <a:latin typeface="JetBrains Mono"/>
                <a:ea typeface="JetBrains Mono"/>
                <a:cs typeface="JetBrains Mono"/>
              </a:rPr>
              <a:t>05</a:t>
            </a:r>
          </a:p>
        </p:txBody>
      </p:sp>
      <p:sp>
        <p:nvSpPr>
          <p:cNvPr id="26" name="Text 21">
            <a:extLst xmlns:a="http://schemas.openxmlformats.org/drawingml/2006/main">
              <a:ext uri="{FF2B5EF4-FFF2-40B4-BE49-F238E27FC236}">
                <a16:creationId xmlns:a16="http://schemas.microsoft.com/office/drawing/2014/main" id="{80CDA0EF-3C94-4358-92E0-B4331668AC84}"/>
              </a:ext>
            </a:extLst>
          </p:cNvPr>
          <p:cNvSpPr>
            <a:spLocks xmlns:a="http://schemas.openxmlformats.org/drawingml/2006/main" noGrp="1"/>
          </p:cNvSpPr>
          <p:nvPr/>
        </p:nvSpPr>
        <p:spPr>
          <a:xfrm xmlns:a="http://schemas.openxmlformats.org/drawingml/2006/main">
            <a:off x="1714500" y="5829300"/>
            <a:ext cx="5906110" cy="2478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600" b="1">
                <a:solidFill>
                  <a:srgbClr val="0F1226"/>
                </a:solidFill>
                <a:latin typeface="Inter"/>
                <a:ea typeface="Inter"/>
                <a:cs typeface="Inter"/>
              </a:rPr>
              <a:t>Results &amp; Interpretation</a:t>
            </a:r>
          </a:p>
        </p:txBody>
      </p:sp>
      <p:sp>
        <p:nvSpPr>
          <p:cNvPr id="27" name="Text 22">
            <a:extLst xmlns:a="http://schemas.openxmlformats.org/drawingml/2006/main">
              <a:ext uri="{FF2B5EF4-FFF2-40B4-BE49-F238E27FC236}">
                <a16:creationId xmlns:a16="http://schemas.microsoft.com/office/drawing/2014/main" id="{63F21DA4-E1BF-4AA4-BD12-892FE4D93168}"/>
              </a:ext>
            </a:extLst>
          </p:cNvPr>
          <p:cNvSpPr>
            <a:spLocks xmlns:a="http://schemas.openxmlformats.org/drawingml/2006/main" noGrp="1"/>
          </p:cNvSpPr>
          <p:nvPr/>
        </p:nvSpPr>
        <p:spPr>
          <a:xfrm xmlns:a="http://schemas.openxmlformats.org/drawingml/2006/main">
            <a:off x="1714500" y="6115507"/>
            <a:ext cx="5906110" cy="171907"/>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100">
                <a:solidFill>
                  <a:srgbClr val="6A6F8C"/>
                </a:solidFill>
                <a:latin typeface="JetBrains Mono"/>
                <a:ea typeface="JetBrains Mono"/>
                <a:cs typeface="JetBrains Mono"/>
              </a:rPr>
              <a:t>Pooled model | portability cost | SHAP | validity</a:t>
            </a:r>
          </a:p>
        </p:txBody>
      </p:sp>
      <p:sp>
        <p:nvSpPr>
          <p:cNvPr id="28" name="Text 23">
            <a:extLst xmlns:a="http://schemas.openxmlformats.org/drawingml/2006/main">
              <a:ext uri="{FF2B5EF4-FFF2-40B4-BE49-F238E27FC236}">
                <a16:creationId xmlns:a16="http://schemas.microsoft.com/office/drawing/2014/main" id="{572DAAF2-850D-43AC-957F-787B07371D38}"/>
              </a:ext>
            </a:extLst>
          </p:cNvPr>
          <p:cNvSpPr>
            <a:spLocks xmlns:a="http://schemas.openxmlformats.org/drawingml/2006/main" noGrp="1"/>
          </p:cNvSpPr>
          <p:nvPr/>
        </p:nvSpPr>
        <p:spPr>
          <a:xfrm xmlns:a="http://schemas.openxmlformats.org/drawingml/2006/main">
            <a:off x="7810805" y="5829300"/>
            <a:ext cx="952805"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1200">
                <a:solidFill>
                  <a:srgbClr val="6A6F8C"/>
                </a:solidFill>
                <a:latin typeface="JetBrains Mono"/>
                <a:ea typeface="JetBrains Mono"/>
                <a:cs typeface="JetBrains Mono"/>
              </a:rPr>
              <a:t>4 min</a:t>
            </a:r>
          </a:p>
        </p:txBody>
      </p:sp>
      <p:sp>
        <p:nvSpPr>
          <p:cNvPr id="29" name="Text 24">
            <a:extLst xmlns:a="http://schemas.openxmlformats.org/drawingml/2006/main">
              <a:ext uri="{FF2B5EF4-FFF2-40B4-BE49-F238E27FC236}">
                <a16:creationId xmlns:a16="http://schemas.microsoft.com/office/drawing/2014/main" id="{5B9E5A00-68AF-4D0B-9110-F1D2D0DEC36B}"/>
              </a:ext>
            </a:extLst>
          </p:cNvPr>
          <p:cNvSpPr>
            <a:spLocks xmlns:a="http://schemas.openxmlformats.org/drawingml/2006/main" noGrp="1"/>
          </p:cNvSpPr>
          <p:nvPr/>
        </p:nvSpPr>
        <p:spPr>
          <a:xfrm xmlns:a="http://schemas.openxmlformats.org/drawingml/2006/main">
            <a:off x="9525305" y="3238805"/>
            <a:ext cx="76261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600" b="1">
                <a:solidFill>
                  <a:srgbClr val="E4237A"/>
                </a:solidFill>
                <a:latin typeface="JetBrains Mono"/>
                <a:ea typeface="JetBrains Mono"/>
                <a:cs typeface="JetBrains Mono"/>
              </a:rPr>
              <a:t>06</a:t>
            </a:r>
          </a:p>
        </p:txBody>
      </p:sp>
      <p:sp>
        <p:nvSpPr>
          <p:cNvPr id="30" name="Text 25">
            <a:extLst xmlns:a="http://schemas.openxmlformats.org/drawingml/2006/main">
              <a:ext uri="{FF2B5EF4-FFF2-40B4-BE49-F238E27FC236}">
                <a16:creationId xmlns:a16="http://schemas.microsoft.com/office/drawing/2014/main" id="{D331C574-F040-482A-91A4-A4CC9F1F1176}"/>
              </a:ext>
            </a:extLst>
          </p:cNvPr>
          <p:cNvSpPr>
            <a:spLocks xmlns:a="http://schemas.openxmlformats.org/drawingml/2006/main" noGrp="1"/>
          </p:cNvSpPr>
          <p:nvPr/>
        </p:nvSpPr>
        <p:spPr>
          <a:xfrm xmlns:a="http://schemas.openxmlformats.org/drawingml/2006/main">
            <a:off x="10477195" y="3238805"/>
            <a:ext cx="5906110" cy="2478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600" b="1">
                <a:solidFill>
                  <a:srgbClr val="0F1226"/>
                </a:solidFill>
                <a:latin typeface="Inter"/>
                <a:ea typeface="Inter"/>
                <a:cs typeface="Inter"/>
              </a:rPr>
              <a:t>Business Impact</a:t>
            </a:r>
          </a:p>
        </p:txBody>
      </p:sp>
      <p:sp>
        <p:nvSpPr>
          <p:cNvPr id="31" name="Text 26">
            <a:extLst xmlns:a="http://schemas.openxmlformats.org/drawingml/2006/main">
              <a:ext uri="{FF2B5EF4-FFF2-40B4-BE49-F238E27FC236}">
                <a16:creationId xmlns:a16="http://schemas.microsoft.com/office/drawing/2014/main" id="{863E7779-EF24-4CE2-810E-9E0A29E7BB8B}"/>
              </a:ext>
            </a:extLst>
          </p:cNvPr>
          <p:cNvSpPr>
            <a:spLocks xmlns:a="http://schemas.openxmlformats.org/drawingml/2006/main" noGrp="1"/>
          </p:cNvSpPr>
          <p:nvPr/>
        </p:nvSpPr>
        <p:spPr>
          <a:xfrm xmlns:a="http://schemas.openxmlformats.org/drawingml/2006/main">
            <a:off x="10477195" y="3524098"/>
            <a:ext cx="5906110" cy="171907"/>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100">
                <a:solidFill>
                  <a:srgbClr val="6A6F8C"/>
                </a:solidFill>
                <a:latin typeface="JetBrains Mono"/>
                <a:ea typeface="JetBrains Mono"/>
                <a:cs typeface="JetBrains Mono"/>
              </a:rPr>
              <a:t>Transfer steps and advisor workload</a:t>
            </a:r>
          </a:p>
        </p:txBody>
      </p:sp>
      <p:sp>
        <p:nvSpPr>
          <p:cNvPr id="32" name="Text 27">
            <a:extLst xmlns:a="http://schemas.openxmlformats.org/drawingml/2006/main">
              <a:ext uri="{FF2B5EF4-FFF2-40B4-BE49-F238E27FC236}">
                <a16:creationId xmlns:a16="http://schemas.microsoft.com/office/drawing/2014/main" id="{6ED5776D-31D1-4CDC-A83C-4DC062327BB5}"/>
              </a:ext>
            </a:extLst>
          </p:cNvPr>
          <p:cNvSpPr>
            <a:spLocks xmlns:a="http://schemas.openxmlformats.org/drawingml/2006/main" noGrp="1"/>
          </p:cNvSpPr>
          <p:nvPr/>
        </p:nvSpPr>
        <p:spPr>
          <a:xfrm xmlns:a="http://schemas.openxmlformats.org/drawingml/2006/main">
            <a:off x="16573500" y="3238805"/>
            <a:ext cx="952805"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1200">
                <a:solidFill>
                  <a:srgbClr val="6A6F8C"/>
                </a:solidFill>
                <a:latin typeface="JetBrains Mono"/>
                <a:ea typeface="JetBrains Mono"/>
                <a:cs typeface="JetBrains Mono"/>
              </a:rPr>
              <a:t>2 min</a:t>
            </a:r>
          </a:p>
        </p:txBody>
      </p:sp>
      <p:sp>
        <p:nvSpPr>
          <p:cNvPr id="33" name="Text 28">
            <a:extLst xmlns:a="http://schemas.openxmlformats.org/drawingml/2006/main">
              <a:ext uri="{FF2B5EF4-FFF2-40B4-BE49-F238E27FC236}">
                <a16:creationId xmlns:a16="http://schemas.microsoft.com/office/drawing/2014/main" id="{874FE7DF-96A6-490D-8FF9-BEEB68FF697C}"/>
              </a:ext>
            </a:extLst>
          </p:cNvPr>
          <p:cNvSpPr>
            <a:spLocks xmlns:a="http://schemas.openxmlformats.org/drawingml/2006/main" noGrp="1"/>
          </p:cNvSpPr>
          <p:nvPr/>
        </p:nvSpPr>
        <p:spPr>
          <a:xfrm xmlns:a="http://schemas.openxmlformats.org/drawingml/2006/main">
            <a:off x="9525305" y="3886200"/>
            <a:ext cx="76261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600" b="1">
                <a:solidFill>
                  <a:srgbClr val="E4237A"/>
                </a:solidFill>
                <a:latin typeface="JetBrains Mono"/>
                <a:ea typeface="JetBrains Mono"/>
                <a:cs typeface="JetBrains Mono"/>
              </a:rPr>
              <a:t>07</a:t>
            </a:r>
          </a:p>
        </p:txBody>
      </p:sp>
      <p:sp>
        <p:nvSpPr>
          <p:cNvPr id="34" name="Text 29">
            <a:extLst xmlns:a="http://schemas.openxmlformats.org/drawingml/2006/main">
              <a:ext uri="{FF2B5EF4-FFF2-40B4-BE49-F238E27FC236}">
                <a16:creationId xmlns:a16="http://schemas.microsoft.com/office/drawing/2014/main" id="{41E7F215-EB0F-446D-AF45-86DCC0AF9B8B}"/>
              </a:ext>
            </a:extLst>
          </p:cNvPr>
          <p:cNvSpPr>
            <a:spLocks xmlns:a="http://schemas.openxmlformats.org/drawingml/2006/main" noGrp="1"/>
          </p:cNvSpPr>
          <p:nvPr/>
        </p:nvSpPr>
        <p:spPr>
          <a:xfrm xmlns:a="http://schemas.openxmlformats.org/drawingml/2006/main">
            <a:off x="10477195" y="3886200"/>
            <a:ext cx="5906110" cy="2478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600" b="1">
                <a:solidFill>
                  <a:srgbClr val="0F1226"/>
                </a:solidFill>
                <a:latin typeface="Inter"/>
                <a:ea typeface="Inter"/>
                <a:cs typeface="Inter"/>
              </a:rPr>
              <a:t>Limitations &amp; Ethics</a:t>
            </a:r>
          </a:p>
        </p:txBody>
      </p:sp>
      <p:sp>
        <p:nvSpPr>
          <p:cNvPr id="35" name="Text 30">
            <a:extLst xmlns:a="http://schemas.openxmlformats.org/drawingml/2006/main">
              <a:ext uri="{FF2B5EF4-FFF2-40B4-BE49-F238E27FC236}">
                <a16:creationId xmlns:a16="http://schemas.microsoft.com/office/drawing/2014/main" id="{D6BEB6CF-70E3-4FFD-9C67-DA9EB70B3EC4}"/>
              </a:ext>
            </a:extLst>
          </p:cNvPr>
          <p:cNvSpPr>
            <a:spLocks xmlns:a="http://schemas.openxmlformats.org/drawingml/2006/main" noGrp="1"/>
          </p:cNvSpPr>
          <p:nvPr/>
        </p:nvSpPr>
        <p:spPr>
          <a:xfrm xmlns:a="http://schemas.openxmlformats.org/drawingml/2006/main">
            <a:off x="10477195" y="4172407"/>
            <a:ext cx="5906110" cy="171907"/>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100">
                <a:solidFill>
                  <a:srgbClr val="6A6F8C"/>
                </a:solidFill>
                <a:latin typeface="JetBrains Mono"/>
                <a:ea typeface="JetBrains Mono"/>
                <a:cs typeface="JetBrains Mono"/>
              </a:rPr>
              <a:t>Transfer limits · fairness · scope</a:t>
            </a:r>
          </a:p>
        </p:txBody>
      </p:sp>
      <p:sp>
        <p:nvSpPr>
          <p:cNvPr id="36" name="Text 31">
            <a:extLst xmlns:a="http://schemas.openxmlformats.org/drawingml/2006/main">
              <a:ext uri="{FF2B5EF4-FFF2-40B4-BE49-F238E27FC236}">
                <a16:creationId xmlns:a16="http://schemas.microsoft.com/office/drawing/2014/main" id="{618B3F4D-592A-4CC6-9978-875A812094F7}"/>
              </a:ext>
            </a:extLst>
          </p:cNvPr>
          <p:cNvSpPr>
            <a:spLocks xmlns:a="http://schemas.openxmlformats.org/drawingml/2006/main" noGrp="1"/>
          </p:cNvSpPr>
          <p:nvPr/>
        </p:nvSpPr>
        <p:spPr>
          <a:xfrm xmlns:a="http://schemas.openxmlformats.org/drawingml/2006/main">
            <a:off x="16573500" y="3886200"/>
            <a:ext cx="952805"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1200">
                <a:solidFill>
                  <a:srgbClr val="6A6F8C"/>
                </a:solidFill>
                <a:latin typeface="JetBrains Mono"/>
                <a:ea typeface="JetBrains Mono"/>
                <a:cs typeface="JetBrains Mono"/>
              </a:rPr>
              <a:t>1 min</a:t>
            </a:r>
          </a:p>
        </p:txBody>
      </p:sp>
      <p:sp>
        <p:nvSpPr>
          <p:cNvPr id="37" name="Text 32">
            <a:extLst xmlns:a="http://schemas.openxmlformats.org/drawingml/2006/main">
              <a:ext uri="{FF2B5EF4-FFF2-40B4-BE49-F238E27FC236}">
                <a16:creationId xmlns:a16="http://schemas.microsoft.com/office/drawing/2014/main" id="{E3B450BA-05EB-476E-9D59-BEAE7EF1A8A8}"/>
              </a:ext>
            </a:extLst>
          </p:cNvPr>
          <p:cNvSpPr>
            <a:spLocks xmlns:a="http://schemas.openxmlformats.org/drawingml/2006/main" noGrp="1"/>
          </p:cNvSpPr>
          <p:nvPr/>
        </p:nvSpPr>
        <p:spPr>
          <a:xfrm xmlns:a="http://schemas.openxmlformats.org/drawingml/2006/main">
            <a:off x="9525305" y="4533595"/>
            <a:ext cx="76261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600" b="1">
                <a:solidFill>
                  <a:srgbClr val="E4237A"/>
                </a:solidFill>
                <a:latin typeface="JetBrains Mono"/>
                <a:ea typeface="JetBrains Mono"/>
                <a:cs typeface="JetBrains Mono"/>
              </a:rPr>
              <a:t>08</a:t>
            </a:r>
          </a:p>
        </p:txBody>
      </p:sp>
      <p:sp>
        <p:nvSpPr>
          <p:cNvPr id="38" name="Text 33">
            <a:extLst xmlns:a="http://schemas.openxmlformats.org/drawingml/2006/main">
              <a:ext uri="{FF2B5EF4-FFF2-40B4-BE49-F238E27FC236}">
                <a16:creationId xmlns:a16="http://schemas.microsoft.com/office/drawing/2014/main" id="{1E425F29-EFEE-45E3-B915-FAF39063933D}"/>
              </a:ext>
            </a:extLst>
          </p:cNvPr>
          <p:cNvSpPr>
            <a:spLocks xmlns:a="http://schemas.openxmlformats.org/drawingml/2006/main" noGrp="1"/>
          </p:cNvSpPr>
          <p:nvPr/>
        </p:nvSpPr>
        <p:spPr>
          <a:xfrm xmlns:a="http://schemas.openxmlformats.org/drawingml/2006/main">
            <a:off x="10477195" y="4533595"/>
            <a:ext cx="5906110" cy="2478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600" b="1">
                <a:solidFill>
                  <a:srgbClr val="0F1226"/>
                </a:solidFill>
                <a:latin typeface="Inter"/>
                <a:ea typeface="Inter"/>
                <a:cs typeface="Inter"/>
              </a:rPr>
              <a:t>Deployment &amp; Future Work</a:t>
            </a:r>
          </a:p>
        </p:txBody>
      </p:sp>
      <p:sp>
        <p:nvSpPr>
          <p:cNvPr id="39" name="Text 34">
            <a:extLst xmlns:a="http://schemas.openxmlformats.org/drawingml/2006/main">
              <a:ext uri="{FF2B5EF4-FFF2-40B4-BE49-F238E27FC236}">
                <a16:creationId xmlns:a16="http://schemas.microsoft.com/office/drawing/2014/main" id="{FF5AC14F-8EFD-4250-A4BA-FE1E85F4B9F1}"/>
              </a:ext>
            </a:extLst>
          </p:cNvPr>
          <p:cNvSpPr>
            <a:spLocks xmlns:a="http://schemas.openxmlformats.org/drawingml/2006/main" noGrp="1"/>
          </p:cNvSpPr>
          <p:nvPr/>
        </p:nvSpPr>
        <p:spPr>
          <a:xfrm xmlns:a="http://schemas.openxmlformats.org/drawingml/2006/main">
            <a:off x="10477195" y="4819802"/>
            <a:ext cx="5906110" cy="171907"/>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100">
                <a:solidFill>
                  <a:srgbClr val="6A6F8C"/>
                </a:solidFill>
                <a:latin typeface="JetBrains Mono"/>
                <a:ea typeface="JetBrains Mono"/>
                <a:cs typeface="JetBrains Mono"/>
              </a:rPr>
              <a:t>Adapter | shadow test | local ranking</a:t>
            </a:r>
          </a:p>
        </p:txBody>
      </p:sp>
      <p:sp>
        <p:nvSpPr>
          <p:cNvPr id="40" name="Text 35">
            <a:extLst xmlns:a="http://schemas.openxmlformats.org/drawingml/2006/main">
              <a:ext uri="{FF2B5EF4-FFF2-40B4-BE49-F238E27FC236}">
                <a16:creationId xmlns:a16="http://schemas.microsoft.com/office/drawing/2014/main" id="{E6AC853A-321B-4A4D-BE41-8CCE3E695B95}"/>
              </a:ext>
            </a:extLst>
          </p:cNvPr>
          <p:cNvSpPr>
            <a:spLocks xmlns:a="http://schemas.openxmlformats.org/drawingml/2006/main" noGrp="1"/>
          </p:cNvSpPr>
          <p:nvPr/>
        </p:nvSpPr>
        <p:spPr>
          <a:xfrm xmlns:a="http://schemas.openxmlformats.org/drawingml/2006/main">
            <a:off x="16573500" y="4533595"/>
            <a:ext cx="952805"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1200">
                <a:solidFill>
                  <a:srgbClr val="6A6F8C"/>
                </a:solidFill>
                <a:latin typeface="JetBrains Mono"/>
                <a:ea typeface="JetBrains Mono"/>
                <a:cs typeface="JetBrains Mono"/>
              </a:rPr>
              <a:t>1.5 min</a:t>
            </a:r>
          </a:p>
        </p:txBody>
      </p:sp>
      <p:sp>
        <p:nvSpPr>
          <p:cNvPr id="41" name="Text 36">
            <a:extLst xmlns:a="http://schemas.openxmlformats.org/drawingml/2006/main">
              <a:ext uri="{FF2B5EF4-FFF2-40B4-BE49-F238E27FC236}">
                <a16:creationId xmlns:a16="http://schemas.microsoft.com/office/drawing/2014/main" id="{19383146-2662-4F8C-B06B-AD32F49930FF}"/>
              </a:ext>
            </a:extLst>
          </p:cNvPr>
          <p:cNvSpPr>
            <a:spLocks xmlns:a="http://schemas.openxmlformats.org/drawingml/2006/main" noGrp="1"/>
          </p:cNvSpPr>
          <p:nvPr/>
        </p:nvSpPr>
        <p:spPr>
          <a:xfrm xmlns:a="http://schemas.openxmlformats.org/drawingml/2006/main">
            <a:off x="9525305" y="5181905"/>
            <a:ext cx="76261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600" b="1">
                <a:solidFill>
                  <a:srgbClr val="E4237A"/>
                </a:solidFill>
                <a:latin typeface="JetBrains Mono"/>
                <a:ea typeface="JetBrains Mono"/>
                <a:cs typeface="JetBrains Mono"/>
              </a:rPr>
              <a:t>09</a:t>
            </a:r>
          </a:p>
        </p:txBody>
      </p:sp>
      <p:sp>
        <p:nvSpPr>
          <p:cNvPr id="42" name="Text 37">
            <a:extLst xmlns:a="http://schemas.openxmlformats.org/drawingml/2006/main">
              <a:ext uri="{FF2B5EF4-FFF2-40B4-BE49-F238E27FC236}">
                <a16:creationId xmlns:a16="http://schemas.microsoft.com/office/drawing/2014/main" id="{8C0FEB75-1995-47B0-860E-58BF21D304F8}"/>
              </a:ext>
            </a:extLst>
          </p:cNvPr>
          <p:cNvSpPr>
            <a:spLocks xmlns:a="http://schemas.openxmlformats.org/drawingml/2006/main" noGrp="1"/>
          </p:cNvSpPr>
          <p:nvPr/>
        </p:nvSpPr>
        <p:spPr>
          <a:xfrm xmlns:a="http://schemas.openxmlformats.org/drawingml/2006/main">
            <a:off x="10477195" y="5181905"/>
            <a:ext cx="5906110" cy="2478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600" b="1">
                <a:solidFill>
                  <a:srgbClr val="0F1226"/>
                </a:solidFill>
                <a:latin typeface="Inter"/>
                <a:ea typeface="Inter"/>
                <a:cs typeface="Inter"/>
              </a:rPr>
              <a:t>Key Takeaways</a:t>
            </a:r>
          </a:p>
        </p:txBody>
      </p:sp>
      <p:sp>
        <p:nvSpPr>
          <p:cNvPr id="43" name="Text 38">
            <a:extLst xmlns:a="http://schemas.openxmlformats.org/drawingml/2006/main">
              <a:ext uri="{FF2B5EF4-FFF2-40B4-BE49-F238E27FC236}">
                <a16:creationId xmlns:a16="http://schemas.microsoft.com/office/drawing/2014/main" id="{8D3A2435-2E3A-44A9-AEF2-EC031F2DB779}"/>
              </a:ext>
            </a:extLst>
          </p:cNvPr>
          <p:cNvSpPr>
            <a:spLocks xmlns:a="http://schemas.openxmlformats.org/drawingml/2006/main" noGrp="1"/>
          </p:cNvSpPr>
          <p:nvPr/>
        </p:nvSpPr>
        <p:spPr>
          <a:xfrm xmlns:a="http://schemas.openxmlformats.org/drawingml/2006/main">
            <a:off x="10477195" y="5467198"/>
            <a:ext cx="5906110" cy="171907"/>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100">
                <a:solidFill>
                  <a:srgbClr val="6A6F8C"/>
                </a:solidFill>
                <a:latin typeface="JetBrains Mono"/>
                <a:ea typeface="JetBrains Mono"/>
                <a:cs typeface="JetBrains Mono"/>
              </a:rPr>
              <a:t>Primary message</a:t>
            </a:r>
          </a:p>
        </p:txBody>
      </p:sp>
      <p:sp>
        <p:nvSpPr>
          <p:cNvPr id="44" name="Text 39">
            <a:extLst xmlns:a="http://schemas.openxmlformats.org/drawingml/2006/main">
              <a:ext uri="{FF2B5EF4-FFF2-40B4-BE49-F238E27FC236}">
                <a16:creationId xmlns:a16="http://schemas.microsoft.com/office/drawing/2014/main" id="{AC70BE4F-7799-4CE7-BB3E-E8D6E876A651}"/>
              </a:ext>
            </a:extLst>
          </p:cNvPr>
          <p:cNvSpPr>
            <a:spLocks xmlns:a="http://schemas.openxmlformats.org/drawingml/2006/main" noGrp="1"/>
          </p:cNvSpPr>
          <p:nvPr/>
        </p:nvSpPr>
        <p:spPr>
          <a:xfrm xmlns:a="http://schemas.openxmlformats.org/drawingml/2006/main">
            <a:off x="16573500" y="5181905"/>
            <a:ext cx="952805"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1200">
                <a:solidFill>
                  <a:srgbClr val="6A6F8C"/>
                </a:solidFill>
                <a:latin typeface="JetBrains Mono"/>
                <a:ea typeface="JetBrains Mono"/>
                <a:cs typeface="JetBrains Mono"/>
              </a:rPr>
              <a:t>0.5–1 min</a:t>
            </a:r>
          </a:p>
        </p:txBody>
      </p:sp>
      <p:sp>
        <p:nvSpPr>
          <p:cNvPr id="45" name="Text 40">
            <a:extLst xmlns:a="http://schemas.openxmlformats.org/drawingml/2006/main">
              <a:ext uri="{FF2B5EF4-FFF2-40B4-BE49-F238E27FC236}">
                <a16:creationId xmlns:a16="http://schemas.microsoft.com/office/drawing/2014/main" id="{46D83D51-E9AC-45B1-B6B9-6F9481F45D5B}"/>
              </a:ext>
            </a:extLst>
          </p:cNvPr>
          <p:cNvSpPr>
            <a:spLocks xmlns:a="http://schemas.openxmlformats.org/drawingml/2006/main" noGrp="1"/>
          </p:cNvSpPr>
          <p:nvPr/>
        </p:nvSpPr>
        <p:spPr>
          <a:xfrm xmlns:a="http://schemas.openxmlformats.org/drawingml/2006/main">
            <a:off x="9525305" y="5829300"/>
            <a:ext cx="76261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600" b="1">
                <a:solidFill>
                  <a:srgbClr val="E4237A"/>
                </a:solidFill>
                <a:latin typeface="JetBrains Mono"/>
                <a:ea typeface="JetBrains Mono"/>
                <a:cs typeface="JetBrains Mono"/>
              </a:rPr>
              <a:t>10</a:t>
            </a:r>
          </a:p>
        </p:txBody>
      </p:sp>
      <p:sp>
        <p:nvSpPr>
          <p:cNvPr id="46" name="Text 41">
            <a:extLst xmlns:a="http://schemas.openxmlformats.org/drawingml/2006/main">
              <a:ext uri="{FF2B5EF4-FFF2-40B4-BE49-F238E27FC236}">
                <a16:creationId xmlns:a16="http://schemas.microsoft.com/office/drawing/2014/main" id="{9D9DCD3D-B548-4A18-A66D-84631135086A}"/>
              </a:ext>
            </a:extLst>
          </p:cNvPr>
          <p:cNvSpPr>
            <a:spLocks xmlns:a="http://schemas.openxmlformats.org/drawingml/2006/main" noGrp="1"/>
          </p:cNvSpPr>
          <p:nvPr/>
        </p:nvSpPr>
        <p:spPr>
          <a:xfrm xmlns:a="http://schemas.openxmlformats.org/drawingml/2006/main">
            <a:off x="10477195" y="5829300"/>
            <a:ext cx="5906110" cy="2478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600" b="1">
                <a:solidFill>
                  <a:srgbClr val="0F1226"/>
                </a:solidFill>
                <a:latin typeface="Inter"/>
                <a:ea typeface="Inter"/>
                <a:cs typeface="Inter"/>
              </a:rPr>
              <a:t>Questions &amp; Discussion</a:t>
            </a:r>
          </a:p>
        </p:txBody>
      </p:sp>
      <p:sp>
        <p:nvSpPr>
          <p:cNvPr id="47" name="Text 42">
            <a:extLst xmlns:a="http://schemas.openxmlformats.org/drawingml/2006/main">
              <a:ext uri="{FF2B5EF4-FFF2-40B4-BE49-F238E27FC236}">
                <a16:creationId xmlns:a16="http://schemas.microsoft.com/office/drawing/2014/main" id="{331222EA-20E3-4315-B3B7-5E2ADF86745D}"/>
              </a:ext>
            </a:extLst>
          </p:cNvPr>
          <p:cNvSpPr>
            <a:spLocks xmlns:a="http://schemas.openxmlformats.org/drawingml/2006/main" noGrp="1"/>
          </p:cNvSpPr>
          <p:nvPr/>
        </p:nvSpPr>
        <p:spPr>
          <a:xfrm xmlns:a="http://schemas.openxmlformats.org/drawingml/2006/main">
            <a:off x="10477195" y="6115507"/>
            <a:ext cx="5906110" cy="171907"/>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100">
                <a:solidFill>
                  <a:srgbClr val="6A6F8C"/>
                </a:solidFill>
                <a:latin typeface="JetBrains Mono"/>
                <a:ea typeface="JetBrains Mono"/>
                <a:cs typeface="JetBrains Mono"/>
              </a:rPr>
              <a:t>Open floor · appendix + references</a:t>
            </a:r>
          </a:p>
        </p:txBody>
      </p:sp>
      <p:sp>
        <p:nvSpPr>
          <p:cNvPr id="48" name="Text 43">
            <a:extLst xmlns:a="http://schemas.openxmlformats.org/drawingml/2006/main">
              <a:ext uri="{FF2B5EF4-FFF2-40B4-BE49-F238E27FC236}">
                <a16:creationId xmlns:a16="http://schemas.microsoft.com/office/drawing/2014/main" id="{5783D835-F09E-4D4A-9BA8-D8F87F66F87B}"/>
              </a:ext>
            </a:extLst>
          </p:cNvPr>
          <p:cNvSpPr>
            <a:spLocks xmlns:a="http://schemas.openxmlformats.org/drawingml/2006/main" noGrp="1"/>
          </p:cNvSpPr>
          <p:nvPr/>
        </p:nvSpPr>
        <p:spPr>
          <a:xfrm xmlns:a="http://schemas.openxmlformats.org/drawingml/2006/main">
            <a:off x="16573500" y="5829300"/>
            <a:ext cx="952805"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1200">
                <a:solidFill>
                  <a:srgbClr val="6A6F8C"/>
                </a:solidFill>
                <a:latin typeface="JetBrains Mono"/>
                <a:ea typeface="JetBrains Mono"/>
                <a:cs typeface="JetBrains Mono"/>
              </a:rPr>
              <a:t>5 min</a:t>
            </a:r>
          </a:p>
        </p:txBody>
      </p:sp>
      <p:sp>
        <p:nvSpPr>
          <p:cNvPr id="49" name="Text 44">
            <a:extLst xmlns:a="http://schemas.openxmlformats.org/drawingml/2006/main">
              <a:ext uri="{FF2B5EF4-FFF2-40B4-BE49-F238E27FC236}">
                <a16:creationId xmlns:a16="http://schemas.microsoft.com/office/drawing/2014/main" id="{D0307994-DDD5-4EE3-8716-C5108CBC2B12}"/>
              </a:ext>
            </a:extLst>
          </p:cNvPr>
          <p:cNvSpPr>
            <a:spLocks xmlns:a="http://schemas.openxmlformats.org/drawingml/2006/main" noGrp="1"/>
          </p:cNvSpPr>
          <p:nvPr/>
        </p:nvSpPr>
        <p:spPr>
          <a:xfrm xmlns:a="http://schemas.openxmlformats.org/drawingml/2006/main">
            <a:off x="761695" y="9381744"/>
            <a:ext cx="1381658" cy="171907"/>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100" b="1">
                <a:solidFill>
                  <a:srgbClr val="2A2E7A"/>
                </a:solidFill>
                <a:latin typeface="JetBrains Mono"/>
                <a:ea typeface="JetBrains Mono"/>
                <a:cs typeface="JetBrains Mono"/>
              </a:rPr>
              <a:t>18 spoken slides</a:t>
            </a:r>
          </a:p>
        </p:txBody>
      </p:sp>
      <p:sp>
        <p:nvSpPr>
          <p:cNvPr id="50" name="Text 45">
            <a:extLst xmlns:a="http://schemas.openxmlformats.org/drawingml/2006/main">
              <a:ext uri="{FF2B5EF4-FFF2-40B4-BE49-F238E27FC236}">
                <a16:creationId xmlns:a16="http://schemas.microsoft.com/office/drawing/2014/main" id="{EDE0DFDB-482B-46AB-9BC7-E681FE84CD88}"/>
              </a:ext>
            </a:extLst>
          </p:cNvPr>
          <p:cNvSpPr>
            <a:spLocks xmlns:a="http://schemas.openxmlformats.org/drawingml/2006/main" noGrp="1"/>
          </p:cNvSpPr>
          <p:nvPr/>
        </p:nvSpPr>
        <p:spPr>
          <a:xfrm xmlns:a="http://schemas.openxmlformats.org/drawingml/2006/main">
            <a:off x="2667305" y="9381744"/>
            <a:ext cx="2581351" cy="171907"/>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100" b="1">
                <a:solidFill>
                  <a:srgbClr val="2A2E7A"/>
                </a:solidFill>
                <a:latin typeface="JetBrains Mono"/>
                <a:ea typeface="JetBrains Mono"/>
                <a:cs typeface="JetBrains Mono"/>
              </a:rPr>
              <a:t>2</a:t>
            </a:r>
            <a:r>
              <a:rPr sz="1100">
                <a:solidFill>
                  <a:srgbClr val="6A6F8C"/>
                </a:solidFill>
                <a:latin typeface="JetBrains Mono"/>
                <a:ea typeface="JetBrains Mono"/>
                <a:cs typeface="JetBrains Mono"/>
              </a:rPr>
              <a:t> appendix slides (not spoken)</a:t>
            </a:r>
          </a:p>
        </p:txBody>
      </p:sp>
      <p:sp>
        <p:nvSpPr>
          <p:cNvPr id="51" name="Text 46">
            <a:extLst xmlns:a="http://schemas.openxmlformats.org/drawingml/2006/main">
              <a:ext uri="{FF2B5EF4-FFF2-40B4-BE49-F238E27FC236}">
                <a16:creationId xmlns:a16="http://schemas.microsoft.com/office/drawing/2014/main" id="{7357E6C7-E7BA-46A3-8347-5DD80E038D73}"/>
              </a:ext>
            </a:extLst>
          </p:cNvPr>
          <p:cNvSpPr>
            <a:spLocks xmlns:a="http://schemas.openxmlformats.org/drawingml/2006/main" noGrp="1"/>
          </p:cNvSpPr>
          <p:nvPr/>
        </p:nvSpPr>
        <p:spPr>
          <a:xfrm xmlns:a="http://schemas.openxmlformats.org/drawingml/2006/main">
            <a:off x="5773522" y="9381744"/>
            <a:ext cx="1895551" cy="171907"/>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100" b="1">
                <a:solidFill>
                  <a:srgbClr val="2A2E7A"/>
                </a:solidFill>
                <a:latin typeface="JetBrains Mono"/>
                <a:ea typeface="JetBrains Mono"/>
                <a:cs typeface="JetBrains Mono"/>
              </a:rPr>
              <a:t>3 min allocated to EDA</a:t>
            </a:r>
          </a:p>
        </p:txBody>
      </p:sp>
      <p:sp>
        <p:nvSpPr>
          <p:cNvPr id="52" name="Text 47">
            <a:extLst xmlns:a="http://schemas.openxmlformats.org/drawingml/2006/main">
              <a:ext uri="{FF2B5EF4-FFF2-40B4-BE49-F238E27FC236}">
                <a16:creationId xmlns:a16="http://schemas.microsoft.com/office/drawing/2014/main" id="{9D0E84F8-818A-4137-97E1-AAAFF45ADC88}"/>
              </a:ext>
            </a:extLst>
          </p:cNvPr>
          <p:cNvSpPr>
            <a:spLocks xmlns:a="http://schemas.openxmlformats.org/drawingml/2006/main" noGrp="1"/>
          </p:cNvSpPr>
          <p:nvPr/>
        </p:nvSpPr>
        <p:spPr>
          <a:xfrm xmlns:a="http://schemas.openxmlformats.org/drawingml/2006/main">
            <a:off x="8193024" y="9381744"/>
            <a:ext cx="1981505" cy="171907"/>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100" b="1">
                <a:solidFill>
                  <a:srgbClr val="2A2E7A"/>
                </a:solidFill>
                <a:latin typeface="JetBrains Mono"/>
                <a:ea typeface="JetBrains Mono"/>
                <a:cs typeface="JetBrains Mono"/>
              </a:rPr>
              <a:t>20 min</a:t>
            </a:r>
            <a:r>
              <a:rPr sz="1100">
                <a:solidFill>
                  <a:srgbClr val="6A6F8C"/>
                </a:solidFill>
                <a:latin typeface="JetBrains Mono"/>
                <a:ea typeface="JetBrains Mono"/>
                <a:cs typeface="JetBrains Mono"/>
              </a:rPr>
              <a:t> talk · </a:t>
            </a:r>
            <a:r>
              <a:rPr sz="1100" b="1">
                <a:solidFill>
                  <a:srgbClr val="2A2E7A"/>
                </a:solidFill>
                <a:latin typeface="JetBrains Mono"/>
                <a:ea typeface="JetBrains Mono"/>
                <a:cs typeface="JetBrains Mono"/>
              </a:rPr>
              <a:t>5 min</a:t>
            </a:r>
            <a:r>
              <a:rPr sz="1100">
                <a:solidFill>
                  <a:srgbClr val="6A6F8C"/>
                </a:solidFill>
                <a:latin typeface="JetBrains Mono"/>
                <a:ea typeface="JetBrains Mono"/>
                <a:cs typeface="JetBrains Mono"/>
              </a:rPr>
              <a:t> Q&amp;A</a:t>
            </a:r>
          </a:p>
        </p:txBody>
      </p:sp>
    </p:spTree>
    <p:extLst>
      <p:ext uri="{BB962C8B-B14F-4D97-AF65-F5344CB8AC3E}">
        <p14:creationId xmlns:p14="http://schemas.microsoft.com/office/powerpoint/2010/main" val="1766052746"/>
      </p:ext>
    </p:extLst>
  </p:cSld>
</p:sld>
</file>

<file path=ppt/slides/slide3.xml><?xml version="1.0" encoding="utf-8"?>
<p:sld xmlns:p="http://schemas.openxmlformats.org/presentationml/2006/main">
  <p:cSld>
    <p:bg>
      <p:bgPr>
        <a:solidFill xmlns:a="http://schemas.openxmlformats.org/drawingml/2006/main">
          <a:srgbClr val="F7F7FB"/>
        </a:solidFill>
      </p:bgPr>
    </p:bg>
    <p:spTree>
      <p:nvGrpSpPr>
        <p:cNvPr id="1" name=""/>
        <p:cNvGrpSpPr/>
        <p:nvPr/>
      </p:nvGrpSpPr>
      <p:grpSpPr>
        <a:xfrm xmlns:a="http://schemas.openxmlformats.org/drawingml/2006/main"/>
      </p:grpSpPr>
      <p:pic>
        <p:nvPicPr>
          <p:cNvPr id="34" name="Image 0"/>
          <p:cNvPicPr>
            <a:picLocks xmlns:a="http://schemas.openxmlformats.org/drawingml/2006/main" noChangeAspect="1"/>
          </p:cNvPicPr>
          <p:nvPr/>
        </p:nvPicPr>
        <p:blipFill>
          <a:blip xmlns:r="http://schemas.openxmlformats.org/officeDocument/2006/relationships" xmlns:a="http://schemas.openxmlformats.org/drawingml/2006/main" r:embed="R4369c0f0b6634038"/>
          <a:srcRect xmlns:a="http://schemas.openxmlformats.org/drawingml/2006/main" l="-2083" t="0" r="-2083" b="0"/>
          <a:stretch xmlns:a="http://schemas.openxmlformats.org/drawingml/2006/main"/>
        </p:blipFill>
        <p:spPr>
          <a:xfrm xmlns:a="http://schemas.openxmlformats.org/drawingml/2006/main">
            <a:off x="761695" y="761695"/>
            <a:ext cx="16763695" cy="9144"/>
          </a:xfrm>
          <a:prstGeom xmlns:a="http://schemas.openxmlformats.org/drawingml/2006/main" prst="rect">
            <a:avLst/>
          </a:prstGeom>
        </p:spPr>
      </p:pic>
      <p:sp>
        <p:nvSpPr>
          <p:cNvPr id="4" name="Shape 0">
            <a:extLst xmlns:a="http://schemas.openxmlformats.org/drawingml/2006/main">
              <a:ext uri="{FF2B5EF4-FFF2-40B4-BE49-F238E27FC236}">
                <a16:creationId xmlns:a16="http://schemas.microsoft.com/office/drawing/2014/main" id="{12505B32-BF9C-4836-99F4-CDB287587699}"/>
              </a:ext>
            </a:extLst>
          </p:cNvPr>
          <p:cNvSpPr>
            <a:spLocks xmlns:a="http://schemas.openxmlformats.org/drawingml/2006/main" noGrp="1"/>
          </p:cNvSpPr>
          <p:nvPr/>
        </p:nvSpPr>
        <p:spPr>
          <a:xfrm xmlns:a="http://schemas.openxmlformats.org/drawingml/2006/main">
            <a:off x="12287707" y="1380744"/>
            <a:ext cx="5238598" cy="8238744"/>
          </a:xfrm>
          <a:prstGeom xmlns:a="http://schemas.openxmlformats.org/drawingml/2006/main" prst="roundRect">
            <a:avLst>
              <a:gd name="adj" fmla="val 367"/>
            </a:avLst>
          </a:prstGeom>
          <a:solidFill xmlns:a="http://schemas.openxmlformats.org/drawingml/2006/main">
            <a:srgbClr val="1A1D5C"/>
          </a:solidFill>
          <a:ln xmlns:a="http://schemas.openxmlformats.org/drawingml/2006/main" w="12700">
            <a:solidFill>
              <a:srgbClr val="FFFFFF">
                <a:alpha val="0"/>
              </a:srgbClr>
            </a:solidFill>
            <a:prstDash val="solid"/>
          </a:ln>
        </p:spPr>
      </p:sp>
      <p:sp>
        <p:nvSpPr>
          <p:cNvPr id="5" name="Shape 1">
            <a:extLst xmlns:a="http://schemas.openxmlformats.org/drawingml/2006/main">
              <a:ext uri="{FF2B5EF4-FFF2-40B4-BE49-F238E27FC236}">
                <a16:creationId xmlns:a16="http://schemas.microsoft.com/office/drawing/2014/main" id="{4437CF63-DCFE-4AF2-831E-4B82FEA7EAF6}"/>
              </a:ext>
            </a:extLst>
          </p:cNvPr>
          <p:cNvSpPr>
            <a:spLocks xmlns:a="http://schemas.openxmlformats.org/drawingml/2006/main" noGrp="1"/>
          </p:cNvSpPr>
          <p:nvPr/>
        </p:nvSpPr>
        <p:spPr>
          <a:xfrm xmlns:a="http://schemas.openxmlformats.org/drawingml/2006/main">
            <a:off x="761695" y="6381598"/>
            <a:ext cx="10925251" cy="3258007"/>
          </a:xfrm>
          <a:prstGeom xmlns:a="http://schemas.openxmlformats.org/drawingml/2006/main" prst="roundRect">
            <a:avLst>
              <a:gd name="adj" fmla="val 589"/>
            </a:avLst>
          </a:prstGeom>
          <a:solidFill xmlns:a="http://schemas.openxmlformats.org/drawingml/2006/main">
            <a:srgbClr val="FFFFFF"/>
          </a:solidFill>
          <a:ln xmlns:a="http://schemas.openxmlformats.org/drawingml/2006/main" w="12700">
            <a:solidFill>
              <a:srgbClr val="E4E5EF"/>
            </a:solidFill>
            <a:prstDash val="solid"/>
          </a:ln>
        </p:spPr>
      </p:sp>
      <p:sp>
        <p:nvSpPr>
          <p:cNvPr id="6" name="Shape 2">
            <a:extLst xmlns:a="http://schemas.openxmlformats.org/drawingml/2006/main">
              <a:ext uri="{FF2B5EF4-FFF2-40B4-BE49-F238E27FC236}">
                <a16:creationId xmlns:a16="http://schemas.microsoft.com/office/drawing/2014/main" id="{D89A933D-0746-464A-B7F0-D7DD64BD29A3}"/>
              </a:ext>
            </a:extLst>
          </p:cNvPr>
          <p:cNvSpPr>
            <a:spLocks xmlns:a="http://schemas.openxmlformats.org/drawingml/2006/main" noGrp="1"/>
          </p:cNvSpPr>
          <p:nvPr/>
        </p:nvSpPr>
        <p:spPr>
          <a:xfrm xmlns:a="http://schemas.openxmlformats.org/drawingml/2006/main">
            <a:off x="761695" y="6381598"/>
            <a:ext cx="57607" cy="3258007"/>
          </a:xfrm>
          <a:prstGeom xmlns:a="http://schemas.openxmlformats.org/drawingml/2006/main" prst="roundRect">
            <a:avLst>
              <a:gd name="adj" fmla="val 33333"/>
            </a:avLst>
          </a:prstGeom>
          <a:solidFill xmlns:a="http://schemas.openxmlformats.org/drawingml/2006/main">
            <a:srgbClr val="E4237A"/>
          </a:solidFill>
          <a:ln xmlns:a="http://schemas.openxmlformats.org/drawingml/2006/main" w="12700">
            <a:solidFill>
              <a:srgbClr val="E4237A">
                <a:alpha val="0"/>
              </a:srgbClr>
            </a:solidFill>
            <a:prstDash val="solid"/>
          </a:ln>
        </p:spPr>
      </p:sp>
      <p:pic>
        <p:nvPicPr>
          <p:cNvPr id="38" name="Image 1"/>
          <p:cNvPicPr>
            <a:picLocks xmlns:a="http://schemas.openxmlformats.org/drawingml/2006/main" noChangeAspect="1"/>
          </p:cNvPicPr>
          <p:nvPr/>
        </p:nvPicPr>
        <p:blipFill>
          <a:blip xmlns:r="http://schemas.openxmlformats.org/officeDocument/2006/relationships" xmlns:a="http://schemas.openxmlformats.org/drawingml/2006/main" r:embed="Rd8a12b90714148ac"/>
          <a:srcRect xmlns:a="http://schemas.openxmlformats.org/drawingml/2006/main" l="-2083" t="0" r="-2083" b="0"/>
          <a:stretch xmlns:a="http://schemas.openxmlformats.org/drawingml/2006/main"/>
        </p:blipFill>
        <p:spPr>
          <a:xfrm xmlns:a="http://schemas.openxmlformats.org/drawingml/2006/main">
            <a:off x="12668098" y="3905402"/>
            <a:ext cx="4476902" cy="9144"/>
          </a:xfrm>
          <a:prstGeom xmlns:a="http://schemas.openxmlformats.org/drawingml/2006/main" prst="rect">
            <a:avLst/>
          </a:prstGeom>
        </p:spPr>
      </p:pic>
      <p:pic>
        <p:nvPicPr>
          <p:cNvPr id="39" name="Image 2"/>
          <p:cNvPicPr>
            <a:picLocks xmlns:a="http://schemas.openxmlformats.org/drawingml/2006/main" noChangeAspect="1"/>
          </p:cNvPicPr>
          <p:nvPr/>
        </p:nvPicPr>
        <p:blipFill>
          <a:blip xmlns:r="http://schemas.openxmlformats.org/officeDocument/2006/relationships" xmlns:a="http://schemas.openxmlformats.org/drawingml/2006/main" r:embed="Rd8a12b90714148ac"/>
          <a:srcRect xmlns:a="http://schemas.openxmlformats.org/drawingml/2006/main" l="-2083" t="0" r="-2083" b="0"/>
          <a:stretch xmlns:a="http://schemas.openxmlformats.org/drawingml/2006/main"/>
        </p:blipFill>
        <p:spPr>
          <a:xfrm xmlns:a="http://schemas.openxmlformats.org/drawingml/2006/main">
            <a:off x="12668098" y="5810098"/>
            <a:ext cx="4476902" cy="9144"/>
          </a:xfrm>
          <a:prstGeom xmlns:a="http://schemas.openxmlformats.org/drawingml/2006/main" prst="rect">
            <a:avLst/>
          </a:prstGeom>
        </p:spPr>
      </p:pic>
      <p:sp>
        <p:nvSpPr>
          <p:cNvPr id="9" name="Text 3">
            <a:extLst xmlns:a="http://schemas.openxmlformats.org/drawingml/2006/main">
              <a:ext uri="{FF2B5EF4-FFF2-40B4-BE49-F238E27FC236}">
                <a16:creationId xmlns:a16="http://schemas.microsoft.com/office/drawing/2014/main" id="{94C08DFC-82A2-458A-89E7-178940579D1A}"/>
              </a:ext>
            </a:extLst>
          </p:cNvPr>
          <p:cNvSpPr>
            <a:spLocks xmlns:a="http://schemas.openxmlformats.org/drawingml/2006/main" noGrp="1"/>
          </p:cNvSpPr>
          <p:nvPr/>
        </p:nvSpPr>
        <p:spPr>
          <a:xfrm xmlns:a="http://schemas.openxmlformats.org/drawingml/2006/main">
            <a:off x="761695" y="428854"/>
            <a:ext cx="8572500" cy="152705"/>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000">
                <a:solidFill>
                  <a:srgbClr val="6A6F8C"/>
                </a:solidFill>
                <a:latin typeface="JetBrains Mono"/>
                <a:ea typeface="JetBrains Mono"/>
                <a:cs typeface="JetBrains Mono"/>
              </a:rPr>
              <a:t>§ 01 · Introduction</a:t>
            </a:r>
          </a:p>
        </p:txBody>
      </p:sp>
      <p:sp>
        <p:nvSpPr>
          <p:cNvPr id="10" name="Text 4">
            <a:extLst xmlns:a="http://schemas.openxmlformats.org/drawingml/2006/main">
              <a:ext uri="{FF2B5EF4-FFF2-40B4-BE49-F238E27FC236}">
                <a16:creationId xmlns:a16="http://schemas.microsoft.com/office/drawing/2014/main" id="{526EF9C6-86B8-4B69-8C0D-B19612812624}"/>
              </a:ext>
            </a:extLst>
          </p:cNvPr>
          <p:cNvSpPr>
            <a:spLocks xmlns:a="http://schemas.openxmlformats.org/drawingml/2006/main" noGrp="1"/>
          </p:cNvSpPr>
          <p:nvPr/>
        </p:nvSpPr>
        <p:spPr>
          <a:xfrm xmlns:a="http://schemas.openxmlformats.org/drawingml/2006/main">
            <a:off x="15240305" y="428854"/>
            <a:ext cx="2286000" cy="152705"/>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r">
              <a:buNone/>
            </a:pPr>
            <a:r>
              <a:rPr sz="1000">
                <a:solidFill>
                  <a:srgbClr val="6A6F8C"/>
                </a:solidFill>
                <a:latin typeface="JetBrains Mono"/>
                <a:ea typeface="JetBrains Mono"/>
                <a:cs typeface="JetBrains Mono"/>
              </a:rPr>
              <a:t>03 / 20</a:t>
            </a:r>
          </a:p>
        </p:txBody>
      </p:sp>
      <p:sp>
        <p:nvSpPr>
          <p:cNvPr id="11" name="Text 5">
            <a:extLst xmlns:a="http://schemas.openxmlformats.org/drawingml/2006/main">
              <a:ext uri="{FF2B5EF4-FFF2-40B4-BE49-F238E27FC236}">
                <a16:creationId xmlns:a16="http://schemas.microsoft.com/office/drawing/2014/main" id="{31AF0EBB-E5B5-4238-83A8-A7A8F42FC3A8}"/>
              </a:ext>
            </a:extLst>
          </p:cNvPr>
          <p:cNvSpPr>
            <a:spLocks xmlns:a="http://schemas.openxmlformats.org/drawingml/2006/main" noGrp="1"/>
          </p:cNvSpPr>
          <p:nvPr/>
        </p:nvSpPr>
        <p:spPr>
          <a:xfrm xmlns:a="http://schemas.openxmlformats.org/drawingml/2006/main">
            <a:off x="761695" y="1380744"/>
            <a:ext cx="10858500" cy="152705"/>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000">
                <a:solidFill>
                  <a:srgbClr val="E4237A"/>
                </a:solidFill>
                <a:latin typeface="JetBrains Mono"/>
                <a:ea typeface="JetBrains Mono"/>
                <a:cs typeface="JetBrains Mono"/>
              </a:rPr>
              <a:t>THE CONTEXT</a:t>
            </a:r>
          </a:p>
        </p:txBody>
      </p:sp>
      <p:sp>
        <p:nvSpPr>
          <p:cNvPr id="12" name="Text 6">
            <a:extLst xmlns:a="http://schemas.openxmlformats.org/drawingml/2006/main">
              <a:ext uri="{FF2B5EF4-FFF2-40B4-BE49-F238E27FC236}">
                <a16:creationId xmlns:a16="http://schemas.microsoft.com/office/drawing/2014/main" id="{02DA261D-CCC4-4366-812A-427F60DF14C5}"/>
              </a:ext>
            </a:extLst>
          </p:cNvPr>
          <p:cNvSpPr>
            <a:spLocks xmlns:a="http://schemas.openxmlformats.org/drawingml/2006/main" noGrp="1"/>
          </p:cNvSpPr>
          <p:nvPr/>
        </p:nvSpPr>
        <p:spPr>
          <a:xfrm xmlns:a="http://schemas.openxmlformats.org/drawingml/2006/main">
            <a:off x="761695" y="1762049"/>
            <a:ext cx="10858500" cy="1638605"/>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3900" b="1">
                <a:solidFill>
                  <a:srgbClr val="0F1226"/>
                </a:solidFill>
                <a:latin typeface="Inter"/>
                <a:ea typeface="Inter"/>
                <a:cs typeface="Inter"/>
              </a:rPr>
              <a:t>Schools collect useful student data, but their column names, scales, and systems rarely match.</a:t>
            </a:r>
          </a:p>
        </p:txBody>
      </p:sp>
      <p:sp>
        <p:nvSpPr>
          <p:cNvPr id="13" name="Text 7">
            <a:extLst xmlns:a="http://schemas.openxmlformats.org/drawingml/2006/main">
              <a:ext uri="{FF2B5EF4-FFF2-40B4-BE49-F238E27FC236}">
                <a16:creationId xmlns:a16="http://schemas.microsoft.com/office/drawing/2014/main" id="{9BA98CE4-7BDE-4DC7-BC46-3E628977D6B7}"/>
              </a:ext>
            </a:extLst>
          </p:cNvPr>
          <p:cNvSpPr>
            <a:spLocks xmlns:a="http://schemas.openxmlformats.org/drawingml/2006/main" noGrp="1"/>
          </p:cNvSpPr>
          <p:nvPr/>
        </p:nvSpPr>
        <p:spPr>
          <a:xfrm xmlns:a="http://schemas.openxmlformats.org/drawingml/2006/main">
            <a:off x="761695" y="4238244"/>
            <a:ext cx="10858500" cy="943661"/>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600" i="1">
                <a:solidFill>
                  <a:srgbClr val="2A2E4B"/>
                </a:solidFill>
                <a:latin typeface="Source Serif Pro"/>
                <a:ea typeface="Source Serif Pro"/>
                <a:cs typeface="Source Serif Pro"/>
              </a:rPr>
              <a:t>A model built for only one institution is difficult to reuse. UCI and OULAD provide a practical test because one dataset is mainly administrative while the other includes online learning behaviour.</a:t>
            </a:r>
          </a:p>
        </p:txBody>
      </p:sp>
      <p:sp>
        <p:nvSpPr>
          <p:cNvPr id="14" name="Text 8">
            <a:extLst xmlns:a="http://schemas.openxmlformats.org/drawingml/2006/main">
              <a:ext uri="{FF2B5EF4-FFF2-40B4-BE49-F238E27FC236}">
                <a16:creationId xmlns:a16="http://schemas.microsoft.com/office/drawing/2014/main" id="{C3275E84-8450-4C69-A0C6-218B9AD6C644}"/>
              </a:ext>
            </a:extLst>
          </p:cNvPr>
          <p:cNvSpPr>
            <a:spLocks xmlns:a="http://schemas.openxmlformats.org/drawingml/2006/main" noGrp="1"/>
          </p:cNvSpPr>
          <p:nvPr/>
        </p:nvSpPr>
        <p:spPr>
          <a:xfrm xmlns:a="http://schemas.openxmlformats.org/drawingml/2006/main">
            <a:off x="1143000" y="6620256"/>
            <a:ext cx="10287000" cy="1335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6A6F8C"/>
                </a:solidFill>
                <a:latin typeface="JetBrains Mono"/>
                <a:ea typeface="JetBrains Mono"/>
                <a:cs typeface="JetBrains Mono"/>
              </a:rPr>
              <a:t>RESEARCH OBJECTIVE</a:t>
            </a:r>
          </a:p>
        </p:txBody>
      </p:sp>
      <p:sp>
        <p:nvSpPr>
          <p:cNvPr id="15" name="Text 9">
            <a:extLst xmlns:a="http://schemas.openxmlformats.org/drawingml/2006/main">
              <a:ext uri="{FF2B5EF4-FFF2-40B4-BE49-F238E27FC236}">
                <a16:creationId xmlns:a16="http://schemas.microsoft.com/office/drawing/2014/main" id="{86064429-373A-4F0F-AE2B-3E6DF6F759E0}"/>
              </a:ext>
            </a:extLst>
          </p:cNvPr>
          <p:cNvSpPr>
            <a:spLocks xmlns:a="http://schemas.openxmlformats.org/drawingml/2006/main" noGrp="1"/>
          </p:cNvSpPr>
          <p:nvPr/>
        </p:nvSpPr>
        <p:spPr>
          <a:xfrm xmlns:a="http://schemas.openxmlformats.org/drawingml/2006/main">
            <a:off x="1143000" y="6886346"/>
            <a:ext cx="10287000" cy="1086307"/>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2100" b="1">
                <a:solidFill>
                  <a:srgbClr val="0F1226"/>
                </a:solidFill>
                <a:latin typeface="Inter"/>
                <a:ea typeface="Inter"/>
                <a:cs typeface="Inter"/>
              </a:rPr>
              <a:t>Build one fixed model, then test whether local adapters can convert different raw inputs and snapshot feeds into the same semantic feature contract.</a:t>
            </a:r>
          </a:p>
        </p:txBody>
      </p:sp>
      <p:sp>
        <p:nvSpPr>
          <p:cNvPr id="16" name="Text 10">
            <a:extLst xmlns:a="http://schemas.openxmlformats.org/drawingml/2006/main">
              <a:ext uri="{FF2B5EF4-FFF2-40B4-BE49-F238E27FC236}">
                <a16:creationId xmlns:a16="http://schemas.microsoft.com/office/drawing/2014/main" id="{22D30F0D-BD71-4269-9214-776C5084C918}"/>
              </a:ext>
            </a:extLst>
          </p:cNvPr>
          <p:cNvSpPr>
            <a:spLocks xmlns:a="http://schemas.openxmlformats.org/drawingml/2006/main" noGrp="1"/>
          </p:cNvSpPr>
          <p:nvPr/>
        </p:nvSpPr>
        <p:spPr>
          <a:xfrm xmlns:a="http://schemas.openxmlformats.org/drawingml/2006/main">
            <a:off x="1143000" y="8176565"/>
            <a:ext cx="10287000" cy="523951"/>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200">
                <a:solidFill>
                  <a:srgbClr val="6A6F8C"/>
                </a:solidFill>
                <a:latin typeface="JetBrains Mono"/>
                <a:ea typeface="JetBrains Mono"/>
                <a:cs typeface="JetBrains Mono"/>
              </a:rPr>
              <a:t>Target: Dropout / future Withdrawn vs persistence | One 16-feature schema | Enrolment and day-35/60/75 tests</a:t>
            </a:r>
          </a:p>
        </p:txBody>
      </p:sp>
      <p:sp>
        <p:nvSpPr>
          <p:cNvPr id="17" name="Text 11">
            <a:extLst xmlns:a="http://schemas.openxmlformats.org/drawingml/2006/main">
              <a:ext uri="{FF2B5EF4-FFF2-40B4-BE49-F238E27FC236}">
                <a16:creationId xmlns:a16="http://schemas.microsoft.com/office/drawing/2014/main" id="{5D2DB68D-80A9-4EA5-B670-3F1DF6E0F931}"/>
              </a:ext>
            </a:extLst>
          </p:cNvPr>
          <p:cNvSpPr>
            <a:spLocks xmlns:a="http://schemas.openxmlformats.org/drawingml/2006/main" noGrp="1"/>
          </p:cNvSpPr>
          <p:nvPr/>
        </p:nvSpPr>
        <p:spPr>
          <a:xfrm xmlns:a="http://schemas.openxmlformats.org/drawingml/2006/main">
            <a:off x="12668098" y="1714500"/>
            <a:ext cx="4476902" cy="1335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FFFFFF">
                    <a:alpha val="50000"/>
                  </a:srgbClr>
                </a:solidFill>
                <a:latin typeface="JetBrains Mono"/>
                <a:ea typeface="JetBrains Mono"/>
                <a:cs typeface="JetBrains Mono"/>
              </a:rPr>
              <a:t>THE PROJECT AT A GLANCE</a:t>
            </a:r>
          </a:p>
        </p:txBody>
      </p:sp>
      <p:sp>
        <p:nvSpPr>
          <p:cNvPr id="18" name="Text 12">
            <a:extLst xmlns:a="http://schemas.openxmlformats.org/drawingml/2006/main">
              <a:ext uri="{FF2B5EF4-FFF2-40B4-BE49-F238E27FC236}">
                <a16:creationId xmlns:a16="http://schemas.microsoft.com/office/drawing/2014/main" id="{7F72215E-35C0-422E-99D7-7620B552C52E}"/>
              </a:ext>
            </a:extLst>
          </p:cNvPr>
          <p:cNvSpPr>
            <a:spLocks xmlns:a="http://schemas.openxmlformats.org/drawingml/2006/main" noGrp="1"/>
          </p:cNvSpPr>
          <p:nvPr/>
        </p:nvSpPr>
        <p:spPr>
          <a:xfrm xmlns:a="http://schemas.openxmlformats.org/drawingml/2006/main">
            <a:off x="12668098" y="2286000"/>
            <a:ext cx="4476902" cy="143561"/>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FFFFFF">
                    <a:alpha val="60000"/>
                  </a:srgbClr>
                </a:solidFill>
                <a:latin typeface="JetBrains Mono"/>
                <a:ea typeface="JetBrains Mono"/>
                <a:cs typeface="JetBrains Mono"/>
              </a:rPr>
              <a:t>UCI · Portuguese higher education institution</a:t>
            </a:r>
          </a:p>
        </p:txBody>
      </p:sp>
      <p:sp>
        <p:nvSpPr>
          <p:cNvPr id="19" name="Text 13">
            <a:extLst xmlns:a="http://schemas.openxmlformats.org/drawingml/2006/main">
              <a:ext uri="{FF2B5EF4-FFF2-40B4-BE49-F238E27FC236}">
                <a16:creationId xmlns:a16="http://schemas.microsoft.com/office/drawing/2014/main" id="{B547D20A-4449-4040-8B3A-3983968133CA}"/>
              </a:ext>
            </a:extLst>
          </p:cNvPr>
          <p:cNvSpPr>
            <a:spLocks xmlns:a="http://schemas.openxmlformats.org/drawingml/2006/main" noGrp="1"/>
          </p:cNvSpPr>
          <p:nvPr/>
        </p:nvSpPr>
        <p:spPr>
          <a:xfrm xmlns:a="http://schemas.openxmlformats.org/drawingml/2006/main">
            <a:off x="12668098" y="2542946"/>
            <a:ext cx="1724558" cy="571500"/>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4500" b="1">
                <a:solidFill>
                  <a:srgbClr val="FFFFFF"/>
                </a:solidFill>
                <a:latin typeface="JetBrains Mono"/>
                <a:ea typeface="JetBrains Mono"/>
                <a:cs typeface="JetBrains Mono"/>
              </a:rPr>
              <a:t>4,424</a:t>
            </a:r>
          </a:p>
        </p:txBody>
      </p:sp>
      <p:sp>
        <p:nvSpPr>
          <p:cNvPr id="20" name="Text 14">
            <a:extLst xmlns:a="http://schemas.openxmlformats.org/drawingml/2006/main">
              <a:ext uri="{FF2B5EF4-FFF2-40B4-BE49-F238E27FC236}">
                <a16:creationId xmlns:a16="http://schemas.microsoft.com/office/drawing/2014/main" id="{2E8DE730-70BE-4A65-95A5-B8894C2E2ADD}"/>
              </a:ext>
            </a:extLst>
          </p:cNvPr>
          <p:cNvSpPr>
            <a:spLocks xmlns:a="http://schemas.openxmlformats.org/drawingml/2006/main" noGrp="1"/>
          </p:cNvSpPr>
          <p:nvPr/>
        </p:nvSpPr>
        <p:spPr>
          <a:xfrm xmlns:a="http://schemas.openxmlformats.org/drawingml/2006/main">
            <a:off x="14496898" y="2866644"/>
            <a:ext cx="1360627" cy="191110"/>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200">
                <a:solidFill>
                  <a:srgbClr val="FFFFFF">
                    <a:alpha val="60000"/>
                  </a:srgbClr>
                </a:solidFill>
                <a:latin typeface="Inter"/>
                <a:ea typeface="Inter"/>
                <a:cs typeface="Inter"/>
              </a:rPr>
              <a:t>student records</a:t>
            </a:r>
          </a:p>
        </p:txBody>
      </p:sp>
      <p:sp>
        <p:nvSpPr>
          <p:cNvPr id="21" name="Text 15">
            <a:extLst xmlns:a="http://schemas.openxmlformats.org/drawingml/2006/main">
              <a:ext uri="{FF2B5EF4-FFF2-40B4-BE49-F238E27FC236}">
                <a16:creationId xmlns:a16="http://schemas.microsoft.com/office/drawing/2014/main" id="{61BA2D6D-66F9-4DB9-AC3E-97FD833B4A8D}"/>
              </a:ext>
            </a:extLst>
          </p:cNvPr>
          <p:cNvSpPr>
            <a:spLocks xmlns:a="http://schemas.openxmlformats.org/drawingml/2006/main" noGrp="1"/>
          </p:cNvSpPr>
          <p:nvPr/>
        </p:nvSpPr>
        <p:spPr>
          <a:xfrm xmlns:a="http://schemas.openxmlformats.org/drawingml/2006/main">
            <a:off x="12668098" y="3191256"/>
            <a:ext cx="4476902" cy="152705"/>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000">
                <a:solidFill>
                  <a:srgbClr val="FFFFFF">
                    <a:alpha val="55000"/>
                  </a:srgbClr>
                </a:solidFill>
                <a:latin typeface="JetBrains Mono"/>
                <a:ea typeface="JetBrains Mono"/>
                <a:cs typeface="JetBrains Mono"/>
              </a:rPr>
              <a:t>3 outcomes · Dropout / Enrolled / Graduate</a:t>
            </a:r>
          </a:p>
        </p:txBody>
      </p:sp>
      <p:sp>
        <p:nvSpPr>
          <p:cNvPr id="22" name="Text 16">
            <a:extLst xmlns:a="http://schemas.openxmlformats.org/drawingml/2006/main">
              <a:ext uri="{FF2B5EF4-FFF2-40B4-BE49-F238E27FC236}">
                <a16:creationId xmlns:a16="http://schemas.microsoft.com/office/drawing/2014/main" id="{1C1F0C2A-C301-40BD-9FE8-566CE3580325}"/>
              </a:ext>
            </a:extLst>
          </p:cNvPr>
          <p:cNvSpPr>
            <a:spLocks xmlns:a="http://schemas.openxmlformats.org/drawingml/2006/main" noGrp="1"/>
          </p:cNvSpPr>
          <p:nvPr/>
        </p:nvSpPr>
        <p:spPr>
          <a:xfrm xmlns:a="http://schemas.openxmlformats.org/drawingml/2006/main">
            <a:off x="12668098" y="4190695"/>
            <a:ext cx="4476902" cy="143561"/>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FFFFFF">
                    <a:alpha val="60000"/>
                  </a:srgbClr>
                </a:solidFill>
                <a:latin typeface="JetBrains Mono"/>
                <a:ea typeface="JetBrains Mono"/>
                <a:cs typeface="JetBrains Mono"/>
              </a:rPr>
              <a:t>OULAD · Open University UK</a:t>
            </a:r>
          </a:p>
        </p:txBody>
      </p:sp>
      <p:sp>
        <p:nvSpPr>
          <p:cNvPr id="23" name="Text 17">
            <a:extLst xmlns:a="http://schemas.openxmlformats.org/drawingml/2006/main">
              <a:ext uri="{FF2B5EF4-FFF2-40B4-BE49-F238E27FC236}">
                <a16:creationId xmlns:a16="http://schemas.microsoft.com/office/drawing/2014/main" id="{07C1145F-F8AF-4907-9B17-91835CA1BEB9}"/>
              </a:ext>
            </a:extLst>
          </p:cNvPr>
          <p:cNvSpPr>
            <a:spLocks xmlns:a="http://schemas.openxmlformats.org/drawingml/2006/main" noGrp="1"/>
          </p:cNvSpPr>
          <p:nvPr/>
        </p:nvSpPr>
        <p:spPr>
          <a:xfrm xmlns:a="http://schemas.openxmlformats.org/drawingml/2006/main">
            <a:off x="12668098" y="4448556"/>
            <a:ext cx="2067458" cy="571500"/>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4500" b="1">
                <a:solidFill>
                  <a:srgbClr val="FFFFFF"/>
                </a:solidFill>
                <a:latin typeface="JetBrains Mono"/>
                <a:ea typeface="JetBrains Mono"/>
                <a:cs typeface="JetBrains Mono"/>
              </a:rPr>
              <a:t>32,593</a:t>
            </a:r>
          </a:p>
        </p:txBody>
      </p:sp>
      <p:sp>
        <p:nvSpPr>
          <p:cNvPr id="24" name="Text 18">
            <a:extLst xmlns:a="http://schemas.openxmlformats.org/drawingml/2006/main">
              <a:ext uri="{FF2B5EF4-FFF2-40B4-BE49-F238E27FC236}">
                <a16:creationId xmlns:a16="http://schemas.microsoft.com/office/drawing/2014/main" id="{78B76598-E083-4DDF-87B6-A1B6ACA985AC}"/>
              </a:ext>
            </a:extLst>
          </p:cNvPr>
          <p:cNvSpPr>
            <a:spLocks xmlns:a="http://schemas.openxmlformats.org/drawingml/2006/main" noGrp="1"/>
          </p:cNvSpPr>
          <p:nvPr/>
        </p:nvSpPr>
        <p:spPr>
          <a:xfrm xmlns:a="http://schemas.openxmlformats.org/drawingml/2006/main">
            <a:off x="14840712" y="4772254"/>
            <a:ext cx="1799539" cy="191110"/>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200">
                <a:solidFill>
                  <a:srgbClr val="FFFFFF">
                    <a:alpha val="60000"/>
                  </a:srgbClr>
                </a:solidFill>
                <a:latin typeface="Inter"/>
                <a:ea typeface="Inter"/>
                <a:cs typeface="Inter"/>
              </a:rPr>
              <a:t>student-module rows</a:t>
            </a:r>
          </a:p>
        </p:txBody>
      </p:sp>
      <p:sp>
        <p:nvSpPr>
          <p:cNvPr id="25" name="Text 19">
            <a:extLst xmlns:a="http://schemas.openxmlformats.org/drawingml/2006/main">
              <a:ext uri="{FF2B5EF4-FFF2-40B4-BE49-F238E27FC236}">
                <a16:creationId xmlns:a16="http://schemas.microsoft.com/office/drawing/2014/main" id="{7410CD55-BB0D-4F92-9037-8E18783FC0B0}"/>
              </a:ext>
            </a:extLst>
          </p:cNvPr>
          <p:cNvSpPr>
            <a:spLocks xmlns:a="http://schemas.openxmlformats.org/drawingml/2006/main" noGrp="1"/>
          </p:cNvSpPr>
          <p:nvPr/>
        </p:nvSpPr>
        <p:spPr>
          <a:xfrm xmlns:a="http://schemas.openxmlformats.org/drawingml/2006/main">
            <a:off x="12668098" y="5095951"/>
            <a:ext cx="4476902" cy="152705"/>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000">
                <a:solidFill>
                  <a:srgbClr val="FFFFFF">
                    <a:alpha val="55000"/>
                  </a:srgbClr>
                </a:solidFill>
                <a:latin typeface="JetBrains Mono"/>
                <a:ea typeface="JetBrains Mono"/>
                <a:cs typeface="JetBrains Mono"/>
              </a:rPr>
              <a:t>4 outcomes · Pass / Distinction / Fail / Withdrawn</a:t>
            </a:r>
          </a:p>
        </p:txBody>
      </p:sp>
      <p:sp>
        <p:nvSpPr>
          <p:cNvPr id="26" name="Text 20">
            <a:extLst xmlns:a="http://schemas.openxmlformats.org/drawingml/2006/main">
              <a:ext uri="{FF2B5EF4-FFF2-40B4-BE49-F238E27FC236}">
                <a16:creationId xmlns:a16="http://schemas.microsoft.com/office/drawing/2014/main" id="{0E7ABA84-D30E-4DC0-9719-EEC4F4A072A4}"/>
              </a:ext>
            </a:extLst>
          </p:cNvPr>
          <p:cNvSpPr>
            <a:spLocks xmlns:a="http://schemas.openxmlformats.org/drawingml/2006/main" noGrp="1"/>
          </p:cNvSpPr>
          <p:nvPr/>
        </p:nvSpPr>
        <p:spPr>
          <a:xfrm xmlns:a="http://schemas.openxmlformats.org/drawingml/2006/main">
            <a:off x="12668098" y="6096305"/>
            <a:ext cx="4476902" cy="143561"/>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FFFFFF">
                    <a:alpha val="60000"/>
                  </a:srgbClr>
                </a:solidFill>
                <a:latin typeface="JetBrains Mono"/>
                <a:ea typeface="JetBrains Mono"/>
                <a:cs typeface="JetBrains Mono"/>
              </a:rPr>
              <a:t>Shared model input</a:t>
            </a:r>
          </a:p>
        </p:txBody>
      </p:sp>
      <p:sp>
        <p:nvSpPr>
          <p:cNvPr id="27" name="Text 21">
            <a:extLst xmlns:a="http://schemas.openxmlformats.org/drawingml/2006/main">
              <a:ext uri="{FF2B5EF4-FFF2-40B4-BE49-F238E27FC236}">
                <a16:creationId xmlns:a16="http://schemas.microsoft.com/office/drawing/2014/main" id="{DED59055-B24B-42A2-8C94-FE38A8A80A07}"/>
              </a:ext>
            </a:extLst>
          </p:cNvPr>
          <p:cNvSpPr>
            <a:spLocks xmlns:a="http://schemas.openxmlformats.org/drawingml/2006/main" noGrp="1"/>
          </p:cNvSpPr>
          <p:nvPr/>
        </p:nvSpPr>
        <p:spPr>
          <a:xfrm xmlns:a="http://schemas.openxmlformats.org/drawingml/2006/main">
            <a:off x="12668098" y="6295644"/>
            <a:ext cx="4476902" cy="400507"/>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2700" b="1">
                <a:solidFill>
                  <a:srgbClr val="FFFFFF"/>
                </a:solidFill>
                <a:latin typeface="JetBrains Mono"/>
                <a:ea typeface="JetBrains Mono"/>
                <a:cs typeface="JetBrains Mono"/>
              </a:rPr>
              <a:t>16 semantic features</a:t>
            </a:r>
          </a:p>
        </p:txBody>
      </p:sp>
      <p:sp>
        <p:nvSpPr>
          <p:cNvPr id="28" name="Text 22">
            <a:extLst xmlns:a="http://schemas.openxmlformats.org/drawingml/2006/main">
              <a:ext uri="{FF2B5EF4-FFF2-40B4-BE49-F238E27FC236}">
                <a16:creationId xmlns:a16="http://schemas.microsoft.com/office/drawing/2014/main" id="{8C81F6A0-0BF4-4D04-B4EB-F7D15821805B}"/>
              </a:ext>
            </a:extLst>
          </p:cNvPr>
          <p:cNvSpPr>
            <a:spLocks xmlns:a="http://schemas.openxmlformats.org/drawingml/2006/main" noGrp="1"/>
          </p:cNvSpPr>
          <p:nvPr/>
        </p:nvSpPr>
        <p:spPr>
          <a:xfrm xmlns:a="http://schemas.openxmlformats.org/drawingml/2006/main">
            <a:off x="12668098" y="6772046"/>
            <a:ext cx="4476902" cy="181051"/>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100" i="1">
                <a:solidFill>
                  <a:srgbClr val="FFFFFF">
                    <a:alpha val="55000"/>
                  </a:srgbClr>
                </a:solidFill>
                <a:latin typeface="Inter"/>
                <a:ea typeface="Inter"/>
                <a:cs typeface="Inter"/>
              </a:rPr>
              <a:t>Four required fields plus 12 optional fields on documented 0-1 scales</a:t>
            </a:r>
          </a:p>
        </p:txBody>
      </p:sp>
      <p:sp>
        <p:nvSpPr>
          <p:cNvPr id="29" name="Text 23">
            <a:extLst xmlns:a="http://schemas.openxmlformats.org/drawingml/2006/main">
              <a:ext uri="{FF2B5EF4-FFF2-40B4-BE49-F238E27FC236}">
                <a16:creationId xmlns:a16="http://schemas.microsoft.com/office/drawing/2014/main" id="{0A0C2713-C293-469E-BC44-0210584F8127}"/>
              </a:ext>
            </a:extLst>
          </p:cNvPr>
          <p:cNvSpPr>
            <a:spLocks xmlns:a="http://schemas.openxmlformats.org/drawingml/2006/main" noGrp="1"/>
          </p:cNvSpPr>
          <p:nvPr/>
        </p:nvSpPr>
        <p:spPr>
          <a:xfrm xmlns:a="http://schemas.openxmlformats.org/drawingml/2006/main">
            <a:off x="12668098" y="7905902"/>
            <a:ext cx="4476902" cy="143561"/>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FFFFFF">
                    <a:alpha val="60000"/>
                  </a:srgbClr>
                </a:solidFill>
                <a:latin typeface="JetBrains Mono"/>
                <a:ea typeface="JetBrains Mono"/>
                <a:cs typeface="JetBrains Mono"/>
              </a:rPr>
              <a:t>Deliverable</a:t>
            </a:r>
          </a:p>
        </p:txBody>
      </p:sp>
      <p:sp>
        <p:nvSpPr>
          <p:cNvPr id="30" name="Text 24">
            <a:extLst xmlns:a="http://schemas.openxmlformats.org/drawingml/2006/main">
              <a:ext uri="{FF2B5EF4-FFF2-40B4-BE49-F238E27FC236}">
                <a16:creationId xmlns:a16="http://schemas.microsoft.com/office/drawing/2014/main" id="{930D8B59-8CC1-4FAC-BF6E-3D4661916079}"/>
              </a:ext>
            </a:extLst>
          </p:cNvPr>
          <p:cNvSpPr>
            <a:spLocks xmlns:a="http://schemas.openxmlformats.org/drawingml/2006/main" noGrp="1"/>
          </p:cNvSpPr>
          <p:nvPr/>
        </p:nvSpPr>
        <p:spPr>
          <a:xfrm xmlns:a="http://schemas.openxmlformats.org/drawingml/2006/main">
            <a:off x="12668098" y="8143646"/>
            <a:ext cx="4476902" cy="59070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600" i="1">
                <a:solidFill>
                  <a:srgbClr val="FFFFFF"/>
                </a:solidFill>
                <a:latin typeface="Source Serif Pro"/>
                <a:ea typeface="Source Serif Pro"/>
                <a:cs typeface="Source Serif Pro"/>
              </a:rPr>
              <a:t>Adapters, one frozen model, a feature contract, scoring scripts, and a cautious pilot plan.</a:t>
            </a:r>
          </a:p>
        </p:txBody>
      </p:sp>
    </p:spTree>
    <p:extLst>
      <p:ext uri="{BB962C8B-B14F-4D97-AF65-F5344CB8AC3E}">
        <p14:creationId xmlns:p14="http://schemas.microsoft.com/office/powerpoint/2010/main" val="1287508928"/>
      </p:ext>
    </p:extLst>
  </p:cSld>
</p:sld>
</file>

<file path=ppt/slides/slide4.xml><?xml version="1.0" encoding="utf-8"?>
<p:sld xmlns:p="http://schemas.openxmlformats.org/presentationml/2006/main">
  <p:cSld>
    <p:bg>
      <p:bgPr>
        <a:solidFill xmlns:a="http://schemas.openxmlformats.org/drawingml/2006/main">
          <a:srgbClr val="F7F7FB"/>
        </a:solidFill>
      </p:bgPr>
    </p:bg>
    <p:spTree>
      <p:nvGrpSpPr>
        <p:cNvPr id="1" name=""/>
        <p:cNvGrpSpPr/>
        <p:nvPr/>
      </p:nvGrpSpPr>
      <p:grpSpPr>
        <a:xfrm xmlns:a="http://schemas.openxmlformats.org/drawingml/2006/main"/>
      </p:grpSpPr>
      <p:pic>
        <p:nvPicPr>
          <p:cNvPr id="53" name="Image 0"/>
          <p:cNvPicPr>
            <a:picLocks xmlns:a="http://schemas.openxmlformats.org/drawingml/2006/main" noChangeAspect="1"/>
          </p:cNvPicPr>
          <p:nvPr/>
        </p:nvPicPr>
        <p:blipFill>
          <a:blip xmlns:r="http://schemas.openxmlformats.org/officeDocument/2006/relationships" xmlns:a="http://schemas.openxmlformats.org/drawingml/2006/main" r:embed="R5b28155006614289"/>
          <a:srcRect xmlns:a="http://schemas.openxmlformats.org/drawingml/2006/main" l="-2083" t="0" r="-2083" b="0"/>
          <a:stretch xmlns:a="http://schemas.openxmlformats.org/drawingml/2006/main"/>
        </p:blipFill>
        <p:spPr>
          <a:xfrm xmlns:a="http://schemas.openxmlformats.org/drawingml/2006/main">
            <a:off x="761695" y="761695"/>
            <a:ext cx="16763695" cy="9144"/>
          </a:xfrm>
          <a:prstGeom xmlns:a="http://schemas.openxmlformats.org/drawingml/2006/main" prst="rect">
            <a:avLst/>
          </a:prstGeom>
        </p:spPr>
      </p:pic>
      <p:sp>
        <p:nvSpPr>
          <p:cNvPr id="4" name="Shape 0">
            <a:extLst xmlns:a="http://schemas.openxmlformats.org/drawingml/2006/main">
              <a:ext uri="{FF2B5EF4-FFF2-40B4-BE49-F238E27FC236}">
                <a16:creationId xmlns:a16="http://schemas.microsoft.com/office/drawing/2014/main" id="{D4501A0D-C3C6-4DFD-A5F5-1B9408378017}"/>
              </a:ext>
            </a:extLst>
          </p:cNvPr>
          <p:cNvSpPr>
            <a:spLocks xmlns:a="http://schemas.openxmlformats.org/drawingml/2006/main" noGrp="1"/>
          </p:cNvSpPr>
          <p:nvPr/>
        </p:nvSpPr>
        <p:spPr>
          <a:xfrm xmlns:a="http://schemas.openxmlformats.org/drawingml/2006/main">
            <a:off x="761695" y="2381098"/>
            <a:ext cx="5352898" cy="6877202"/>
          </a:xfrm>
          <a:prstGeom xmlns:a="http://schemas.openxmlformats.org/drawingml/2006/main" prst="roundRect">
            <a:avLst>
              <a:gd name="adj" fmla="val 359"/>
            </a:avLst>
          </a:prstGeom>
          <a:solidFill xmlns:a="http://schemas.openxmlformats.org/drawingml/2006/main">
            <a:srgbClr val="FFFFFF"/>
          </a:solidFill>
          <a:ln xmlns:a="http://schemas.openxmlformats.org/drawingml/2006/main" w="12700">
            <a:solidFill>
              <a:srgbClr val="E4E5EF"/>
            </a:solidFill>
            <a:prstDash val="solid"/>
          </a:ln>
        </p:spPr>
      </p:sp>
      <p:sp>
        <p:nvSpPr>
          <p:cNvPr id="5" name="Shape 1">
            <a:extLst xmlns:a="http://schemas.openxmlformats.org/drawingml/2006/main">
              <a:ext uri="{FF2B5EF4-FFF2-40B4-BE49-F238E27FC236}">
                <a16:creationId xmlns:a16="http://schemas.microsoft.com/office/drawing/2014/main" id="{6439A774-2635-4F57-86CA-0AFEB35113A7}"/>
              </a:ext>
            </a:extLst>
          </p:cNvPr>
          <p:cNvSpPr>
            <a:spLocks xmlns:a="http://schemas.openxmlformats.org/drawingml/2006/main" noGrp="1"/>
          </p:cNvSpPr>
          <p:nvPr/>
        </p:nvSpPr>
        <p:spPr>
          <a:xfrm xmlns:a="http://schemas.openxmlformats.org/drawingml/2006/main">
            <a:off x="7048195" y="2381098"/>
            <a:ext cx="10477195" cy="6858000"/>
          </a:xfrm>
          <a:prstGeom xmlns:a="http://schemas.openxmlformats.org/drawingml/2006/main" prst="roundRect">
            <a:avLst>
              <a:gd name="adj" fmla="val 280"/>
            </a:avLst>
          </a:prstGeom>
          <a:solidFill xmlns:a="http://schemas.openxmlformats.org/drawingml/2006/main">
            <a:srgbClr val="1A1D5C"/>
          </a:solidFill>
          <a:ln xmlns:a="http://schemas.openxmlformats.org/drawingml/2006/main" w="12700">
            <a:solidFill>
              <a:srgbClr val="FFFFFF">
                <a:alpha val="0"/>
              </a:srgbClr>
            </a:solidFill>
            <a:prstDash val="solid"/>
          </a:ln>
        </p:spPr>
      </p:sp>
      <p:pic>
        <p:nvPicPr>
          <p:cNvPr id="56" name="Image 1"/>
          <p:cNvPicPr>
            <a:picLocks xmlns:a="http://schemas.openxmlformats.org/drawingml/2006/main" noChangeAspect="1"/>
          </p:cNvPicPr>
          <p:nvPr/>
        </p:nvPicPr>
        <p:blipFill>
          <a:blip xmlns:r="http://schemas.openxmlformats.org/officeDocument/2006/relationships" xmlns:a="http://schemas.openxmlformats.org/drawingml/2006/main" r:embed="Rb2f90afb13774dd6"/>
          <a:srcRect xmlns:a="http://schemas.openxmlformats.org/drawingml/2006/main" l="-400" t="0" r="-400" b="0"/>
          <a:stretch xmlns:a="http://schemas.openxmlformats.org/drawingml/2006/main"/>
        </p:blipFill>
        <p:spPr>
          <a:xfrm xmlns:a="http://schemas.openxmlformats.org/drawingml/2006/main">
            <a:off x="761695" y="2381098"/>
            <a:ext cx="57607" cy="6858000"/>
          </a:xfrm>
          <a:prstGeom xmlns:a="http://schemas.openxmlformats.org/drawingml/2006/main" prst="rect">
            <a:avLst/>
          </a:prstGeom>
        </p:spPr>
      </p:pic>
      <p:pic>
        <p:nvPicPr>
          <p:cNvPr id="57" name="Image 2"/>
          <p:cNvPicPr>
            <a:picLocks xmlns:a="http://schemas.openxmlformats.org/drawingml/2006/main" noChangeAspect="1"/>
          </p:cNvPicPr>
          <p:nvPr/>
        </p:nvPicPr>
        <p:blipFill>
          <a:blip xmlns:r="http://schemas.openxmlformats.org/officeDocument/2006/relationships" xmlns:a="http://schemas.openxmlformats.org/drawingml/2006/main" r:embed="R453c0243ca834070"/>
          <a:srcRect xmlns:a="http://schemas.openxmlformats.org/drawingml/2006/main" l="0" t="-2078" r="0" b="-2078"/>
          <a:stretch xmlns:a="http://schemas.openxmlformats.org/drawingml/2006/main"/>
        </p:blipFill>
        <p:spPr>
          <a:xfrm xmlns:a="http://schemas.openxmlformats.org/drawingml/2006/main">
            <a:off x="12382805" y="4095598"/>
            <a:ext cx="9144" cy="3619195"/>
          </a:xfrm>
          <a:prstGeom xmlns:a="http://schemas.openxmlformats.org/drawingml/2006/main" prst="rect">
            <a:avLst/>
          </a:prstGeom>
        </p:spPr>
      </p:pic>
      <p:pic>
        <p:nvPicPr>
          <p:cNvPr id="58" name="Image 3"/>
          <p:cNvPicPr>
            <a:picLocks xmlns:a="http://schemas.openxmlformats.org/drawingml/2006/main" noChangeAspect="1"/>
          </p:cNvPicPr>
          <p:nvPr/>
        </p:nvPicPr>
        <p:blipFill>
          <a:blip xmlns:r="http://schemas.openxmlformats.org/officeDocument/2006/relationships" xmlns:a="http://schemas.openxmlformats.org/drawingml/2006/main" r:embed="R265829f4a24641e6"/>
          <a:srcRect xmlns:a="http://schemas.openxmlformats.org/drawingml/2006/main" l="-2083" t="0" r="-2083" b="0"/>
          <a:stretch xmlns:a="http://schemas.openxmlformats.org/drawingml/2006/main"/>
        </p:blipFill>
        <p:spPr>
          <a:xfrm xmlns:a="http://schemas.openxmlformats.org/drawingml/2006/main">
            <a:off x="7429500" y="8143646"/>
            <a:ext cx="9715500" cy="9144"/>
          </a:xfrm>
          <a:prstGeom xmlns:a="http://schemas.openxmlformats.org/drawingml/2006/main" prst="rect">
            <a:avLst/>
          </a:prstGeom>
        </p:spPr>
      </p:pic>
      <p:sp>
        <p:nvSpPr>
          <p:cNvPr id="9" name="Text 2">
            <a:extLst xmlns:a="http://schemas.openxmlformats.org/drawingml/2006/main">
              <a:ext uri="{FF2B5EF4-FFF2-40B4-BE49-F238E27FC236}">
                <a16:creationId xmlns:a16="http://schemas.microsoft.com/office/drawing/2014/main" id="{B948EDB6-04DC-4791-9319-30EDCBE59C33}"/>
              </a:ext>
            </a:extLst>
          </p:cNvPr>
          <p:cNvSpPr>
            <a:spLocks xmlns:a="http://schemas.openxmlformats.org/drawingml/2006/main" noGrp="1"/>
          </p:cNvSpPr>
          <p:nvPr/>
        </p:nvSpPr>
        <p:spPr>
          <a:xfrm xmlns:a="http://schemas.openxmlformats.org/drawingml/2006/main">
            <a:off x="761695" y="428854"/>
            <a:ext cx="8572500" cy="152705"/>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000">
                <a:solidFill>
                  <a:srgbClr val="6A6F8C"/>
                </a:solidFill>
                <a:latin typeface="JetBrains Mono"/>
                <a:ea typeface="JetBrains Mono"/>
                <a:cs typeface="JetBrains Mono"/>
              </a:rPr>
              <a:t>§ 02 · Problem, scope &amp; success</a:t>
            </a:r>
          </a:p>
        </p:txBody>
      </p:sp>
      <p:sp>
        <p:nvSpPr>
          <p:cNvPr id="10" name="Text 3">
            <a:extLst xmlns:a="http://schemas.openxmlformats.org/drawingml/2006/main">
              <a:ext uri="{FF2B5EF4-FFF2-40B4-BE49-F238E27FC236}">
                <a16:creationId xmlns:a16="http://schemas.microsoft.com/office/drawing/2014/main" id="{FC5E838E-D08C-4D49-BD38-946D51FA9FEB}"/>
              </a:ext>
            </a:extLst>
          </p:cNvPr>
          <p:cNvSpPr>
            <a:spLocks xmlns:a="http://schemas.openxmlformats.org/drawingml/2006/main" noGrp="1"/>
          </p:cNvSpPr>
          <p:nvPr/>
        </p:nvSpPr>
        <p:spPr>
          <a:xfrm xmlns:a="http://schemas.openxmlformats.org/drawingml/2006/main">
            <a:off x="15240305" y="428854"/>
            <a:ext cx="2286000" cy="152705"/>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r">
              <a:buNone/>
            </a:pPr>
            <a:r>
              <a:rPr sz="1000">
                <a:solidFill>
                  <a:srgbClr val="6A6F8C"/>
                </a:solidFill>
                <a:latin typeface="JetBrains Mono"/>
                <a:ea typeface="JetBrains Mono"/>
                <a:cs typeface="JetBrains Mono"/>
              </a:rPr>
              <a:t>04 / 20</a:t>
            </a:r>
          </a:p>
        </p:txBody>
      </p:sp>
      <p:sp>
        <p:nvSpPr>
          <p:cNvPr id="11" name="Text 4">
            <a:extLst xmlns:a="http://schemas.openxmlformats.org/drawingml/2006/main">
              <a:ext uri="{FF2B5EF4-FFF2-40B4-BE49-F238E27FC236}">
                <a16:creationId xmlns:a16="http://schemas.microsoft.com/office/drawing/2014/main" id="{8CB03A6C-795F-4B47-956A-14340DC62C62}"/>
              </a:ext>
            </a:extLst>
          </p:cNvPr>
          <p:cNvSpPr>
            <a:spLocks xmlns:a="http://schemas.openxmlformats.org/drawingml/2006/main" noGrp="1"/>
          </p:cNvSpPr>
          <p:nvPr/>
        </p:nvSpPr>
        <p:spPr>
          <a:xfrm xmlns:a="http://schemas.openxmlformats.org/drawingml/2006/main">
            <a:off x="761695" y="1238098"/>
            <a:ext cx="16764610" cy="457200"/>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3300" b="1">
                <a:solidFill>
                  <a:srgbClr val="0F1226"/>
                </a:solidFill>
                <a:latin typeface="Inter"/>
                <a:ea typeface="Inter"/>
                <a:cs typeface="Inter"/>
              </a:rPr>
              <a:t>Different school tables should not require a completely new model.</a:t>
            </a:r>
          </a:p>
        </p:txBody>
      </p:sp>
      <p:sp>
        <p:nvSpPr>
          <p:cNvPr id="12" name="Text 5">
            <a:extLst xmlns:a="http://schemas.openxmlformats.org/drawingml/2006/main">
              <a:ext uri="{FF2B5EF4-FFF2-40B4-BE49-F238E27FC236}">
                <a16:creationId xmlns:a16="http://schemas.microsoft.com/office/drawing/2014/main" id="{327B59A3-7EA2-4E97-A80E-C42A938F1735}"/>
              </a:ext>
            </a:extLst>
          </p:cNvPr>
          <p:cNvSpPr>
            <a:spLocks xmlns:a="http://schemas.openxmlformats.org/drawingml/2006/main" noGrp="1"/>
          </p:cNvSpPr>
          <p:nvPr/>
        </p:nvSpPr>
        <p:spPr>
          <a:xfrm xmlns:a="http://schemas.openxmlformats.org/drawingml/2006/main">
            <a:off x="761695" y="1766621"/>
            <a:ext cx="16764610" cy="200254"/>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300" i="1">
                <a:solidFill>
                  <a:srgbClr val="6A6F8C"/>
                </a:solidFill>
                <a:latin typeface="Source Serif Pro"/>
                <a:ea typeface="Source Serif Pro"/>
                <a:cs typeface="Source Serif Pro"/>
              </a:rPr>
              <a:t>The shared meaning of a feature matters more than its local column name.</a:t>
            </a:r>
          </a:p>
        </p:txBody>
      </p:sp>
      <p:sp>
        <p:nvSpPr>
          <p:cNvPr id="13" name="Text 6">
            <a:extLst xmlns:a="http://schemas.openxmlformats.org/drawingml/2006/main">
              <a:ext uri="{FF2B5EF4-FFF2-40B4-BE49-F238E27FC236}">
                <a16:creationId xmlns:a16="http://schemas.microsoft.com/office/drawing/2014/main" id="{7A45FFE9-FA45-43D6-A4D2-543BB6966D36}"/>
              </a:ext>
            </a:extLst>
          </p:cNvPr>
          <p:cNvSpPr>
            <a:spLocks xmlns:a="http://schemas.openxmlformats.org/drawingml/2006/main" noGrp="1"/>
          </p:cNvSpPr>
          <p:nvPr/>
        </p:nvSpPr>
        <p:spPr>
          <a:xfrm xmlns:a="http://schemas.openxmlformats.org/drawingml/2006/main">
            <a:off x="1143000" y="2619756"/>
            <a:ext cx="4668012" cy="1335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6A6F8C"/>
                </a:solidFill>
                <a:latin typeface="JetBrains Mono"/>
                <a:ea typeface="JetBrains Mono"/>
                <a:cs typeface="JetBrains Mono"/>
              </a:rPr>
              <a:t>Business problem</a:t>
            </a:r>
          </a:p>
        </p:txBody>
      </p:sp>
      <p:sp>
        <p:nvSpPr>
          <p:cNvPr id="14" name="Text 7">
            <a:extLst xmlns:a="http://schemas.openxmlformats.org/drawingml/2006/main">
              <a:ext uri="{FF2B5EF4-FFF2-40B4-BE49-F238E27FC236}">
                <a16:creationId xmlns:a16="http://schemas.microsoft.com/office/drawing/2014/main" id="{FCB38353-B614-4C81-8ED6-4884C21CFE75}"/>
              </a:ext>
            </a:extLst>
          </p:cNvPr>
          <p:cNvSpPr>
            <a:spLocks xmlns:a="http://schemas.openxmlformats.org/drawingml/2006/main" noGrp="1"/>
          </p:cNvSpPr>
          <p:nvPr/>
        </p:nvSpPr>
        <p:spPr>
          <a:xfrm xmlns:a="http://schemas.openxmlformats.org/drawingml/2006/main">
            <a:off x="1143000" y="2848356"/>
            <a:ext cx="4668012" cy="600761"/>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800" b="1">
                <a:solidFill>
                  <a:srgbClr val="0F1226"/>
                </a:solidFill>
                <a:latin typeface="Inter"/>
                <a:ea typeface="Inter"/>
                <a:cs typeface="Inter"/>
              </a:rPr>
              <a:t>Identify at-risk students with one reusable modelling pipeline.</a:t>
            </a:r>
          </a:p>
        </p:txBody>
      </p:sp>
      <p:sp>
        <p:nvSpPr>
          <p:cNvPr id="15" name="Text 8">
            <a:extLst xmlns:a="http://schemas.openxmlformats.org/drawingml/2006/main">
              <a:ext uri="{FF2B5EF4-FFF2-40B4-BE49-F238E27FC236}">
                <a16:creationId xmlns:a16="http://schemas.microsoft.com/office/drawing/2014/main" id="{0FE420B4-7049-47C2-ABD6-0718086A1FA6}"/>
              </a:ext>
            </a:extLst>
          </p:cNvPr>
          <p:cNvSpPr>
            <a:spLocks xmlns:a="http://schemas.openxmlformats.org/drawingml/2006/main" noGrp="1"/>
          </p:cNvSpPr>
          <p:nvPr/>
        </p:nvSpPr>
        <p:spPr>
          <a:xfrm xmlns:a="http://schemas.openxmlformats.org/drawingml/2006/main">
            <a:off x="1143000" y="3594506"/>
            <a:ext cx="5353812" cy="238658"/>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100">
                <a:solidFill>
                  <a:srgbClr val="E4237A"/>
                </a:solidFill>
                <a:latin typeface="JetBrains Mono"/>
                <a:ea typeface="JetBrains Mono"/>
                <a:cs typeface="JetBrains Mono"/>
              </a:rPr>
              <a:t>· Local systems use different names, coding rules, and available columns.</a:t>
            </a:r>
          </a:p>
        </p:txBody>
      </p:sp>
      <p:sp>
        <p:nvSpPr>
          <p:cNvPr id="16" name="Text 9">
            <a:extLst xmlns:a="http://schemas.openxmlformats.org/drawingml/2006/main">
              <a:ext uri="{FF2B5EF4-FFF2-40B4-BE49-F238E27FC236}">
                <a16:creationId xmlns:a16="http://schemas.microsoft.com/office/drawing/2014/main" id="{2A9FBC90-21CB-4AA9-96C0-61F893D4E3E9}"/>
              </a:ext>
            </a:extLst>
          </p:cNvPr>
          <p:cNvSpPr>
            <a:spLocks xmlns:a="http://schemas.openxmlformats.org/drawingml/2006/main" noGrp="1"/>
          </p:cNvSpPr>
          <p:nvPr/>
        </p:nvSpPr>
        <p:spPr>
          <a:xfrm xmlns:a="http://schemas.openxmlformats.org/drawingml/2006/main">
            <a:off x="1143000" y="3906317"/>
            <a:ext cx="5172761" cy="238658"/>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100">
                <a:solidFill>
                  <a:srgbClr val="E4237A"/>
                </a:solidFill>
                <a:latin typeface="JetBrains Mono"/>
                <a:ea typeface="JetBrains Mono"/>
                <a:cs typeface="JetBrains Mono"/>
              </a:rPr>
              <a:t>· A raw-column model breaks when another school's schema changes.</a:t>
            </a:r>
          </a:p>
        </p:txBody>
      </p:sp>
      <p:sp>
        <p:nvSpPr>
          <p:cNvPr id="17" name="Text 10">
            <a:extLst xmlns:a="http://schemas.openxmlformats.org/drawingml/2006/main">
              <a:ext uri="{FF2B5EF4-FFF2-40B4-BE49-F238E27FC236}">
                <a16:creationId xmlns:a16="http://schemas.microsoft.com/office/drawing/2014/main" id="{6814BF4F-4510-4B1F-AABA-A4FE00BF9052}"/>
              </a:ext>
            </a:extLst>
          </p:cNvPr>
          <p:cNvSpPr>
            <a:spLocks xmlns:a="http://schemas.openxmlformats.org/drawingml/2006/main" noGrp="1"/>
          </p:cNvSpPr>
          <p:nvPr/>
        </p:nvSpPr>
        <p:spPr>
          <a:xfrm xmlns:a="http://schemas.openxmlformats.org/drawingml/2006/main">
            <a:off x="1143000" y="4218127"/>
            <a:ext cx="5086807" cy="238658"/>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100">
                <a:solidFill>
                  <a:srgbClr val="E4237A"/>
                </a:solidFill>
                <a:latin typeface="JetBrains Mono"/>
                <a:ea typeface="JetBrains Mono"/>
                <a:cs typeface="JetBrains Mono"/>
              </a:rPr>
              <a:t>· A semantic adapter can preserve one model while keeping local data ownership.</a:t>
            </a:r>
          </a:p>
        </p:txBody>
      </p:sp>
      <p:sp>
        <p:nvSpPr>
          <p:cNvPr id="18" name="Shape 11">
            <a:extLst xmlns:a="http://schemas.openxmlformats.org/drawingml/2006/main">
              <a:ext uri="{FF2B5EF4-FFF2-40B4-BE49-F238E27FC236}">
                <a16:creationId xmlns:a16="http://schemas.microsoft.com/office/drawing/2014/main" id="{82A6BA5D-24F6-480E-B486-80C45CD82898}"/>
              </a:ext>
            </a:extLst>
          </p:cNvPr>
          <p:cNvSpPr>
            <a:spLocks xmlns:a="http://schemas.openxmlformats.org/drawingml/2006/main" noGrp="1"/>
          </p:cNvSpPr>
          <p:nvPr/>
        </p:nvSpPr>
        <p:spPr>
          <a:xfrm xmlns:a="http://schemas.openxmlformats.org/drawingml/2006/main">
            <a:off x="1143000" y="4663440"/>
            <a:ext cx="4667098" cy="9144"/>
          </a:xfrm>
          <a:prstGeom xmlns:a="http://schemas.openxmlformats.org/drawingml/2006/main" prst="rect">
            <a:avLst/>
          </a:prstGeom>
          <a:solidFill xmlns:a="http://schemas.openxmlformats.org/drawingml/2006/main">
            <a:srgbClr val="E4E5EF"/>
          </a:solidFill>
          <a:ln xmlns:a="http://schemas.openxmlformats.org/drawingml/2006/main" w="12700">
            <a:solidFill>
              <a:srgbClr val="E4E5EF">
                <a:alpha val="0"/>
              </a:srgbClr>
            </a:solidFill>
            <a:prstDash val="solid"/>
          </a:ln>
        </p:spPr>
      </p:sp>
      <p:sp>
        <p:nvSpPr>
          <p:cNvPr id="19" name="Text 12">
            <a:extLst xmlns:a="http://schemas.openxmlformats.org/drawingml/2006/main">
              <a:ext uri="{FF2B5EF4-FFF2-40B4-BE49-F238E27FC236}">
                <a16:creationId xmlns:a16="http://schemas.microsoft.com/office/drawing/2014/main" id="{E3813B11-BCF6-47EA-BAF7-EDDAF7130059}"/>
              </a:ext>
            </a:extLst>
          </p:cNvPr>
          <p:cNvSpPr>
            <a:spLocks xmlns:a="http://schemas.openxmlformats.org/drawingml/2006/main" noGrp="1"/>
          </p:cNvSpPr>
          <p:nvPr/>
        </p:nvSpPr>
        <p:spPr>
          <a:xfrm xmlns:a="http://schemas.openxmlformats.org/drawingml/2006/main">
            <a:off x="1143000" y="4806086"/>
            <a:ext cx="4668012" cy="134417"/>
          </a:xfrm>
          <a:prstGeom xmlns:a="http://schemas.openxmlformats.org/drawingml/2006/main" prst="rect">
            <a:avLst/>
          </a:prstGeom>
          <a:solidFill xmlns:a="http://schemas.openxmlformats.org/drawingml/2006/main">
            <a:srgbClr val="FFFFFF">
              <a:alpha val="0"/>
            </a:srgbClr>
          </a:solidFill>
          <a:ln xmlns:a="http://schemas.openxmlformats.org/drawingml/2006/main">
            <a:solidFill>
              <a:srgbClr val="FFFFFF">
                <a:alpha val="0"/>
              </a:srgbClr>
            </a:solidFill>
          </a:ln>
        </p:spPr>
        <p:txBody>
          <a:bodyPr xmlns:a="http://schemas.openxmlformats.org/drawingml/2006/main" wrap="none" lIns="139700" tIns="0" rIns="139700" bIns="139700" anchor="ctr"/>
          <a:lstStyle xmlns:a="http://schemas.openxmlformats.org/drawingml/2006/main"/>
          <a:p xmlns:a="http://schemas.openxmlformats.org/drawingml/2006/main">
            <a:pPr marL="0" indent="0" algn="l">
              <a:buNone/>
            </a:pPr>
            <a:r>
              <a:rPr sz="900">
                <a:solidFill>
                  <a:srgbClr val="6A6F8C"/>
                </a:solidFill>
                <a:latin typeface="JetBrains Mono"/>
                <a:ea typeface="JetBrains Mono"/>
                <a:cs typeface="JetBrains Mono"/>
              </a:rPr>
              <a:t>Stakeholders</a:t>
            </a:r>
          </a:p>
        </p:txBody>
      </p:sp>
      <p:sp>
        <p:nvSpPr>
          <p:cNvPr id="20" name="Text 13">
            <a:extLst xmlns:a="http://schemas.openxmlformats.org/drawingml/2006/main">
              <a:ext uri="{FF2B5EF4-FFF2-40B4-BE49-F238E27FC236}">
                <a16:creationId xmlns:a16="http://schemas.microsoft.com/office/drawing/2014/main" id="{C94C76E5-DC18-4D33-BD98-7A2397C3EF10}"/>
              </a:ext>
            </a:extLst>
          </p:cNvPr>
          <p:cNvSpPr>
            <a:spLocks xmlns:a="http://schemas.openxmlformats.org/drawingml/2006/main" noGrp="1"/>
          </p:cNvSpPr>
          <p:nvPr/>
        </p:nvSpPr>
        <p:spPr>
          <a:xfrm xmlns:a="http://schemas.openxmlformats.org/drawingml/2006/main">
            <a:off x="1143000" y="5016398"/>
            <a:ext cx="4668012"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100">
                <a:solidFill>
                  <a:srgbClr val="2A2E4B"/>
                </a:solidFill>
                <a:latin typeface="Inter"/>
                <a:ea typeface="Inter"/>
                <a:cs typeface="Inter"/>
              </a:rPr>
              <a:t>Students · academic advisors · student-success offices · IT / data-governance teams</a:t>
            </a:r>
          </a:p>
        </p:txBody>
      </p:sp>
      <p:sp>
        <p:nvSpPr>
          <p:cNvPr id="21" name="Shape 14">
            <a:extLst xmlns:a="http://schemas.openxmlformats.org/drawingml/2006/main">
              <a:ext uri="{FF2B5EF4-FFF2-40B4-BE49-F238E27FC236}">
                <a16:creationId xmlns:a16="http://schemas.microsoft.com/office/drawing/2014/main" id="{BE30E96A-92DE-48DD-94CE-AE107CD1744D}"/>
              </a:ext>
            </a:extLst>
          </p:cNvPr>
          <p:cNvSpPr>
            <a:spLocks xmlns:a="http://schemas.openxmlformats.org/drawingml/2006/main" noGrp="1"/>
          </p:cNvSpPr>
          <p:nvPr/>
        </p:nvSpPr>
        <p:spPr>
          <a:xfrm xmlns:a="http://schemas.openxmlformats.org/drawingml/2006/main">
            <a:off x="1143000" y="5644591"/>
            <a:ext cx="4667098" cy="9144"/>
          </a:xfrm>
          <a:prstGeom xmlns:a="http://schemas.openxmlformats.org/drawingml/2006/main" prst="rect">
            <a:avLst/>
          </a:prstGeom>
          <a:solidFill xmlns:a="http://schemas.openxmlformats.org/drawingml/2006/main">
            <a:srgbClr val="E4E5EF"/>
          </a:solidFill>
          <a:ln xmlns:a="http://schemas.openxmlformats.org/drawingml/2006/main" w="12700">
            <a:solidFill>
              <a:srgbClr val="E4E5EF">
                <a:alpha val="0"/>
              </a:srgbClr>
            </a:solidFill>
            <a:prstDash val="solid"/>
          </a:ln>
        </p:spPr>
      </p:sp>
      <p:sp>
        <p:nvSpPr>
          <p:cNvPr id="22" name="Text 15">
            <a:extLst xmlns:a="http://schemas.openxmlformats.org/drawingml/2006/main">
              <a:ext uri="{FF2B5EF4-FFF2-40B4-BE49-F238E27FC236}">
                <a16:creationId xmlns:a16="http://schemas.microsoft.com/office/drawing/2014/main" id="{3A0960ED-CA6C-4DF1-B6FC-004F0F2803A7}"/>
              </a:ext>
            </a:extLst>
          </p:cNvPr>
          <p:cNvSpPr>
            <a:spLocks xmlns:a="http://schemas.openxmlformats.org/drawingml/2006/main" noGrp="1"/>
          </p:cNvSpPr>
          <p:nvPr/>
        </p:nvSpPr>
        <p:spPr>
          <a:xfrm xmlns:a="http://schemas.openxmlformats.org/drawingml/2006/main">
            <a:off x="1143000" y="5787238"/>
            <a:ext cx="4668012" cy="134417"/>
          </a:xfrm>
          <a:prstGeom xmlns:a="http://schemas.openxmlformats.org/drawingml/2006/main" prst="rect">
            <a:avLst/>
          </a:prstGeom>
          <a:solidFill xmlns:a="http://schemas.openxmlformats.org/drawingml/2006/main">
            <a:srgbClr val="FFFFFF">
              <a:alpha val="0"/>
            </a:srgbClr>
          </a:solidFill>
          <a:ln xmlns:a="http://schemas.openxmlformats.org/drawingml/2006/main">
            <a:solidFill>
              <a:srgbClr val="FFFFFF">
                <a:alpha val="0"/>
              </a:srgbClr>
            </a:solidFill>
          </a:ln>
        </p:spPr>
        <p:txBody>
          <a:bodyPr xmlns:a="http://schemas.openxmlformats.org/drawingml/2006/main" wrap="none" lIns="139700" tIns="0" rIns="139700" bIns="139700" anchor="ctr"/>
          <a:lstStyle xmlns:a="http://schemas.openxmlformats.org/drawingml/2006/main"/>
          <a:p xmlns:a="http://schemas.openxmlformats.org/drawingml/2006/main">
            <a:pPr marL="0" indent="0" algn="l">
              <a:buNone/>
            </a:pPr>
            <a:r>
              <a:rPr sz="900">
                <a:solidFill>
                  <a:srgbClr val="6A6F8C"/>
                </a:solidFill>
                <a:latin typeface="JetBrains Mono"/>
                <a:ea typeface="JetBrains Mono"/>
                <a:cs typeface="JetBrains Mono"/>
              </a:rPr>
              <a:t>Constraints</a:t>
            </a:r>
          </a:p>
        </p:txBody>
      </p:sp>
      <p:sp>
        <p:nvSpPr>
          <p:cNvPr id="23" name="Text 16">
            <a:extLst xmlns:a="http://schemas.openxmlformats.org/drawingml/2006/main">
              <a:ext uri="{FF2B5EF4-FFF2-40B4-BE49-F238E27FC236}">
                <a16:creationId xmlns:a16="http://schemas.microsoft.com/office/drawing/2014/main" id="{9150D31D-8404-4551-9909-AC1491817F9E}"/>
              </a:ext>
            </a:extLst>
          </p:cNvPr>
          <p:cNvSpPr>
            <a:spLocks xmlns:a="http://schemas.openxmlformats.org/drawingml/2006/main" noGrp="1"/>
          </p:cNvSpPr>
          <p:nvPr/>
        </p:nvSpPr>
        <p:spPr>
          <a:xfrm xmlns:a="http://schemas.openxmlformats.org/drawingml/2006/main">
            <a:off x="1143000" y="5997550"/>
            <a:ext cx="4668012" cy="42885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000">
                <a:solidFill>
                  <a:srgbClr val="2A2E4B"/>
                </a:solidFill>
                <a:latin typeface="Inter"/>
                <a:ea typeface="Inter"/>
                <a:cs typeface="Inter"/>
              </a:rPr>
              <a:t>Two public institutions only · no live SIS/LMS access · approximate concept mappings · limited local compute</a:t>
            </a:r>
          </a:p>
        </p:txBody>
      </p:sp>
      <p:sp>
        <p:nvSpPr>
          <p:cNvPr id="24" name="Shape 17">
            <a:extLst xmlns:a="http://schemas.openxmlformats.org/drawingml/2006/main">
              <a:ext uri="{FF2B5EF4-FFF2-40B4-BE49-F238E27FC236}">
                <a16:creationId xmlns:a16="http://schemas.microsoft.com/office/drawing/2014/main" id="{561BCB66-6E26-4EDF-805A-58BEEF405357}"/>
              </a:ext>
            </a:extLst>
          </p:cNvPr>
          <p:cNvSpPr>
            <a:spLocks xmlns:a="http://schemas.openxmlformats.org/drawingml/2006/main" noGrp="1"/>
          </p:cNvSpPr>
          <p:nvPr/>
        </p:nvSpPr>
        <p:spPr>
          <a:xfrm xmlns:a="http://schemas.openxmlformats.org/drawingml/2006/main">
            <a:off x="1143000" y="6595567"/>
            <a:ext cx="4667098" cy="9144"/>
          </a:xfrm>
          <a:prstGeom xmlns:a="http://schemas.openxmlformats.org/drawingml/2006/main" prst="rect">
            <a:avLst/>
          </a:prstGeom>
          <a:solidFill xmlns:a="http://schemas.openxmlformats.org/drawingml/2006/main">
            <a:srgbClr val="E4E5EF"/>
          </a:solidFill>
          <a:ln xmlns:a="http://schemas.openxmlformats.org/drawingml/2006/main" w="12700">
            <a:solidFill>
              <a:srgbClr val="E4E5EF">
                <a:alpha val="0"/>
              </a:srgbClr>
            </a:solidFill>
            <a:prstDash val="solid"/>
          </a:ln>
        </p:spPr>
      </p:sp>
      <p:sp>
        <p:nvSpPr>
          <p:cNvPr id="25" name="Text 18">
            <a:extLst xmlns:a="http://schemas.openxmlformats.org/drawingml/2006/main">
              <a:ext uri="{FF2B5EF4-FFF2-40B4-BE49-F238E27FC236}">
                <a16:creationId xmlns:a16="http://schemas.microsoft.com/office/drawing/2014/main" id="{6F09BAC9-E388-4033-874E-6A98DF3D060D}"/>
              </a:ext>
            </a:extLst>
          </p:cNvPr>
          <p:cNvSpPr>
            <a:spLocks xmlns:a="http://schemas.openxmlformats.org/drawingml/2006/main" noGrp="1"/>
          </p:cNvSpPr>
          <p:nvPr/>
        </p:nvSpPr>
        <p:spPr>
          <a:xfrm xmlns:a="http://schemas.openxmlformats.org/drawingml/2006/main">
            <a:off x="1143000" y="6738214"/>
            <a:ext cx="4668012" cy="134417"/>
          </a:xfrm>
          <a:prstGeom xmlns:a="http://schemas.openxmlformats.org/drawingml/2006/main" prst="rect">
            <a:avLst/>
          </a:prstGeom>
          <a:solidFill xmlns:a="http://schemas.openxmlformats.org/drawingml/2006/main">
            <a:srgbClr val="FFFFFF">
              <a:alpha val="0"/>
            </a:srgbClr>
          </a:solidFill>
          <a:ln xmlns:a="http://schemas.openxmlformats.org/drawingml/2006/main">
            <a:solidFill>
              <a:srgbClr val="FFFFFF">
                <a:alpha val="0"/>
              </a:srgbClr>
            </a:solidFill>
          </a:ln>
        </p:spPr>
        <p:txBody>
          <a:bodyPr xmlns:a="http://schemas.openxmlformats.org/drawingml/2006/main" wrap="none" lIns="139700" tIns="0" rIns="139700" bIns="139700" anchor="ctr"/>
          <a:lstStyle xmlns:a="http://schemas.openxmlformats.org/drawingml/2006/main"/>
          <a:p xmlns:a="http://schemas.openxmlformats.org/drawingml/2006/main">
            <a:pPr marL="0" indent="0" algn="l">
              <a:buNone/>
            </a:pPr>
            <a:r>
              <a:rPr sz="900">
                <a:solidFill>
                  <a:srgbClr val="6A6F8C"/>
                </a:solidFill>
                <a:latin typeface="JetBrains Mono"/>
                <a:ea typeface="JetBrains Mono"/>
                <a:cs typeface="JetBrains Mono"/>
              </a:rPr>
              <a:t>Scope</a:t>
            </a:r>
          </a:p>
        </p:txBody>
      </p:sp>
      <p:sp>
        <p:nvSpPr>
          <p:cNvPr id="26" name="Text 19">
            <a:extLst xmlns:a="http://schemas.openxmlformats.org/drawingml/2006/main">
              <a:ext uri="{FF2B5EF4-FFF2-40B4-BE49-F238E27FC236}">
                <a16:creationId xmlns:a16="http://schemas.microsoft.com/office/drawing/2014/main" id="{BF31494C-7022-4005-8F4C-34E0A28333C0}"/>
              </a:ext>
            </a:extLst>
          </p:cNvPr>
          <p:cNvSpPr>
            <a:spLocks xmlns:a="http://schemas.openxmlformats.org/drawingml/2006/main" noGrp="1"/>
          </p:cNvSpPr>
          <p:nvPr/>
        </p:nvSpPr>
        <p:spPr>
          <a:xfrm xmlns:a="http://schemas.openxmlformats.org/drawingml/2006/main">
            <a:off x="1143000" y="6921094"/>
            <a:ext cx="4668012" cy="884225"/>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680"/>
              </a:lnSpc>
              <a:buNone/>
            </a:pPr>
            <a:r>
              <a:rPr sz="800">
                <a:solidFill>
                  <a:srgbClr val="1B9E8F"/>
                </a:solidFill>
                <a:latin typeface="JetBrains Mono"/>
                <a:ea typeface="JetBrains Mono"/>
                <a:cs typeface="JetBrains Mono"/>
              </a:rPr>
              <a:t>IN fixed-schema pooled model | enrolment and in-course snapshots | ranking-based scoring</a:t>
            </a:r>
          </a:p>
          <a:p xmlns:a="http://schemas.openxmlformats.org/drawingml/2006/main">
            <a:pPr marL="0" indent="0" algn="l">
              <a:lnSpc>
                <a:spcPts val="1680"/>
              </a:lnSpc>
              <a:buNone/>
            </a:pPr>
            <a:r>
              <a:rPr sz="800">
                <a:solidFill>
                  <a:srgbClr val="1B9E8F"/>
                </a:solidFill>
                <a:latin typeface="JetBrains Mono"/>
                <a:ea typeface="JetBrains Mono"/>
                <a:cs typeface="JetBrains Mono"/>
              </a:rPr>
              <a:t>OUT automatic field discovery | causal claims | autonomous action</a:t>
            </a:r>
          </a:p>
        </p:txBody>
      </p:sp>
      <p:sp>
        <p:nvSpPr>
          <p:cNvPr id="27" name="Text 20">
            <a:extLst xmlns:a="http://schemas.openxmlformats.org/drawingml/2006/main">
              <a:ext uri="{FF2B5EF4-FFF2-40B4-BE49-F238E27FC236}">
                <a16:creationId xmlns:a16="http://schemas.microsoft.com/office/drawing/2014/main" id="{CE187A55-5DD3-42F8-86D7-5C1F436E0D19}"/>
              </a:ext>
            </a:extLst>
          </p:cNvPr>
          <p:cNvSpPr>
            <a:spLocks xmlns:a="http://schemas.openxmlformats.org/drawingml/2006/main" noGrp="1"/>
          </p:cNvSpPr>
          <p:nvPr/>
        </p:nvSpPr>
        <p:spPr>
          <a:xfrm xmlns:a="http://schemas.openxmlformats.org/drawingml/2006/main">
            <a:off x="1143000" y="7895844"/>
            <a:ext cx="4668012" cy="143561"/>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6A6F8C"/>
                </a:solidFill>
                <a:latin typeface="JetBrains Mono"/>
                <a:ea typeface="JetBrains Mono"/>
                <a:cs typeface="JetBrains Mono"/>
              </a:rPr>
              <a:t>Full assumption list → appendix (slide 19)</a:t>
            </a:r>
          </a:p>
        </p:txBody>
      </p:sp>
      <p:sp>
        <p:nvSpPr>
          <p:cNvPr id="28" name="Text 21">
            <a:extLst xmlns:a="http://schemas.openxmlformats.org/drawingml/2006/main">
              <a:ext uri="{FF2B5EF4-FFF2-40B4-BE49-F238E27FC236}">
                <a16:creationId xmlns:a16="http://schemas.microsoft.com/office/drawing/2014/main" id="{62C9C10B-637E-46BF-8B4B-F972EC2AC538}"/>
              </a:ext>
            </a:extLst>
          </p:cNvPr>
          <p:cNvSpPr>
            <a:spLocks xmlns:a="http://schemas.openxmlformats.org/drawingml/2006/main" noGrp="1"/>
          </p:cNvSpPr>
          <p:nvPr/>
        </p:nvSpPr>
        <p:spPr>
          <a:xfrm xmlns:a="http://schemas.openxmlformats.org/drawingml/2006/main">
            <a:off x="6286500" y="5619902"/>
            <a:ext cx="571500" cy="629107"/>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4200">
                <a:solidFill>
                  <a:srgbClr val="2A2E7A"/>
                </a:solidFill>
                <a:latin typeface="JetBrains Mono"/>
                <a:ea typeface="JetBrains Mono"/>
                <a:cs typeface="JetBrains Mono"/>
              </a:rPr>
              <a:t>→</a:t>
            </a:r>
          </a:p>
        </p:txBody>
      </p:sp>
      <p:sp>
        <p:nvSpPr>
          <p:cNvPr id="29" name="Text 22">
            <a:extLst xmlns:a="http://schemas.openxmlformats.org/drawingml/2006/main">
              <a:ext uri="{FF2B5EF4-FFF2-40B4-BE49-F238E27FC236}">
                <a16:creationId xmlns:a16="http://schemas.microsoft.com/office/drawing/2014/main" id="{E20D4871-5F32-4228-A1A0-A3C4F3873915}"/>
              </a:ext>
            </a:extLst>
          </p:cNvPr>
          <p:cNvSpPr>
            <a:spLocks xmlns:a="http://schemas.openxmlformats.org/drawingml/2006/main" noGrp="1"/>
          </p:cNvSpPr>
          <p:nvPr/>
        </p:nvSpPr>
        <p:spPr>
          <a:xfrm xmlns:a="http://schemas.openxmlformats.org/drawingml/2006/main">
            <a:off x="7429500" y="2667305"/>
            <a:ext cx="9715500" cy="1335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FFFFFF">
                    <a:alpha val="55000"/>
                  </a:srgbClr>
                </a:solidFill>
                <a:latin typeface="JetBrains Mono"/>
                <a:ea typeface="JetBrains Mono"/>
                <a:cs typeface="JetBrains Mono"/>
              </a:rPr>
              <a:t>Transfer architecture</a:t>
            </a:r>
          </a:p>
        </p:txBody>
      </p:sp>
      <p:sp>
        <p:nvSpPr>
          <p:cNvPr id="30" name="Text 23">
            <a:extLst xmlns:a="http://schemas.openxmlformats.org/drawingml/2006/main">
              <a:ext uri="{FF2B5EF4-FFF2-40B4-BE49-F238E27FC236}">
                <a16:creationId xmlns:a16="http://schemas.microsoft.com/office/drawing/2014/main" id="{7344ADF3-DC23-4638-9363-B89CD83727F3}"/>
              </a:ext>
            </a:extLst>
          </p:cNvPr>
          <p:cNvSpPr>
            <a:spLocks xmlns:a="http://schemas.openxmlformats.org/drawingml/2006/main" noGrp="1"/>
          </p:cNvSpPr>
          <p:nvPr/>
        </p:nvSpPr>
        <p:spPr>
          <a:xfrm xmlns:a="http://schemas.openxmlformats.org/drawingml/2006/main">
            <a:off x="7429500" y="2915107"/>
            <a:ext cx="10401300" cy="32461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900" b="1">
                <a:solidFill>
                  <a:srgbClr val="FFFFFF"/>
                </a:solidFill>
                <a:latin typeface="Inter"/>
                <a:ea typeface="Inter"/>
                <a:cs typeface="Inter"/>
              </a:rPr>
              <a:t>Local raw columns -&gt; semantic adapter -&gt; 16 fixed features -&gt; one model</a:t>
            </a:r>
          </a:p>
        </p:txBody>
      </p:sp>
      <p:sp>
        <p:nvSpPr>
          <p:cNvPr id="31" name="Text 24">
            <a:extLst xmlns:a="http://schemas.openxmlformats.org/drawingml/2006/main">
              <a:ext uri="{FF2B5EF4-FFF2-40B4-BE49-F238E27FC236}">
                <a16:creationId xmlns:a16="http://schemas.microsoft.com/office/drawing/2014/main" id="{4F1563DF-F743-4F35-BB3A-1D061BB4E490}"/>
              </a:ext>
            </a:extLst>
          </p:cNvPr>
          <p:cNvSpPr>
            <a:spLocks xmlns:a="http://schemas.openxmlformats.org/drawingml/2006/main" noGrp="1"/>
          </p:cNvSpPr>
          <p:nvPr/>
        </p:nvSpPr>
        <p:spPr>
          <a:xfrm xmlns:a="http://schemas.openxmlformats.org/drawingml/2006/main">
            <a:off x="7429500" y="4095598"/>
            <a:ext cx="4668012" cy="1335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FF5CA0"/>
                </a:solidFill>
                <a:latin typeface="JetBrains Mono"/>
                <a:ea typeface="JetBrains Mono"/>
                <a:cs typeface="JetBrains Mono"/>
              </a:rPr>
              <a:t>UCI local inputs</a:t>
            </a:r>
          </a:p>
        </p:txBody>
      </p:sp>
      <p:sp>
        <p:nvSpPr>
          <p:cNvPr id="32" name="Text 25">
            <a:extLst xmlns:a="http://schemas.openxmlformats.org/drawingml/2006/main">
              <a:ext uri="{FF2B5EF4-FFF2-40B4-BE49-F238E27FC236}">
                <a16:creationId xmlns:a16="http://schemas.microsoft.com/office/drawing/2014/main" id="{93F51EB0-BBA9-427F-AD78-5974664388AA}"/>
              </a:ext>
            </a:extLst>
          </p:cNvPr>
          <p:cNvSpPr>
            <a:spLocks xmlns:a="http://schemas.openxmlformats.org/drawingml/2006/main" noGrp="1"/>
          </p:cNvSpPr>
          <p:nvPr/>
        </p:nvSpPr>
        <p:spPr>
          <a:xfrm xmlns:a="http://schemas.openxmlformats.org/drawingml/2006/main">
            <a:off x="7429500" y="4324198"/>
            <a:ext cx="4668012" cy="219456"/>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400" b="1">
                <a:solidFill>
                  <a:srgbClr val="FFFFFF"/>
                </a:solidFill>
                <a:latin typeface="Inter"/>
                <a:ea typeface="Inter"/>
                <a:cs typeface="Inter"/>
              </a:rPr>
              <a:t>Examples</a:t>
            </a:r>
          </a:p>
        </p:txBody>
      </p:sp>
      <p:sp>
        <p:nvSpPr>
          <p:cNvPr id="33" name="Text 26">
            <a:extLst xmlns:a="http://schemas.openxmlformats.org/drawingml/2006/main">
              <a:ext uri="{FF2B5EF4-FFF2-40B4-BE49-F238E27FC236}">
                <a16:creationId xmlns:a16="http://schemas.microsoft.com/office/drawing/2014/main" id="{8E29D64E-E4E3-4BBB-BF23-308331BF78C5}"/>
              </a:ext>
            </a:extLst>
          </p:cNvPr>
          <p:cNvSpPr>
            <a:spLocks xmlns:a="http://schemas.openxmlformats.org/drawingml/2006/main" noGrp="1"/>
          </p:cNvSpPr>
          <p:nvPr/>
        </p:nvSpPr>
        <p:spPr>
          <a:xfrm xmlns:a="http://schemas.openxmlformats.org/drawingml/2006/main">
            <a:off x="7429500" y="4572000"/>
            <a:ext cx="4668012" cy="48554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800"/>
              </a:lnSpc>
              <a:buNone/>
            </a:pPr>
            <a:r>
              <a:rPr sz="1100">
                <a:solidFill>
                  <a:srgbClr val="FFFFFF">
                    <a:alpha val="90000"/>
                  </a:srgbClr>
                </a:solidFill>
                <a:latin typeface="JetBrains Mono"/>
                <a:ea typeface="JetBrains Mono"/>
                <a:cs typeface="JetBrains Mono"/>
              </a:rPr>
              <a:t>age, tuition status, prior education, and registered first-semester load</a:t>
            </a:r>
          </a:p>
        </p:txBody>
      </p:sp>
      <p:sp>
        <p:nvSpPr>
          <p:cNvPr id="34" name="Text 27">
            <a:extLst xmlns:a="http://schemas.openxmlformats.org/drawingml/2006/main">
              <a:ext uri="{FF2B5EF4-FFF2-40B4-BE49-F238E27FC236}">
                <a16:creationId xmlns:a16="http://schemas.microsoft.com/office/drawing/2014/main" id="{02B2E24B-6A19-4942-90A9-966D49D0BED2}"/>
              </a:ext>
            </a:extLst>
          </p:cNvPr>
          <p:cNvSpPr>
            <a:spLocks xmlns:a="http://schemas.openxmlformats.org/drawingml/2006/main" noGrp="1"/>
          </p:cNvSpPr>
          <p:nvPr/>
        </p:nvSpPr>
        <p:spPr>
          <a:xfrm xmlns:a="http://schemas.openxmlformats.org/drawingml/2006/main">
            <a:off x="7429500" y="5229454"/>
            <a:ext cx="4668012" cy="219456"/>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400" b="1">
                <a:solidFill>
                  <a:srgbClr val="FFFFFF"/>
                </a:solidFill>
                <a:latin typeface="Inter"/>
                <a:ea typeface="Inter"/>
                <a:cs typeface="Inter"/>
              </a:rPr>
              <a:t>Adapter output</a:t>
            </a:r>
          </a:p>
        </p:txBody>
      </p:sp>
      <p:sp>
        <p:nvSpPr>
          <p:cNvPr id="35" name="Text 28">
            <a:extLst xmlns:a="http://schemas.openxmlformats.org/drawingml/2006/main">
              <a:ext uri="{FF2B5EF4-FFF2-40B4-BE49-F238E27FC236}">
                <a16:creationId xmlns:a16="http://schemas.microsoft.com/office/drawing/2014/main" id="{92270953-B7C1-4C0D-9B45-73F047304733}"/>
              </a:ext>
            </a:extLst>
          </p:cNvPr>
          <p:cNvSpPr>
            <a:spLocks xmlns:a="http://schemas.openxmlformats.org/drawingml/2006/main" noGrp="1"/>
          </p:cNvSpPr>
          <p:nvPr/>
        </p:nvSpPr>
        <p:spPr>
          <a:xfrm xmlns:a="http://schemas.openxmlformats.org/drawingml/2006/main">
            <a:off x="7429500" y="5479085"/>
            <a:ext cx="4668012" cy="455371"/>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680"/>
              </a:lnSpc>
              <a:buNone/>
            </a:pPr>
            <a:r>
              <a:rPr sz="1000">
                <a:solidFill>
                  <a:srgbClr val="FFFFFF">
                    <a:alpha val="80000"/>
                  </a:srgbClr>
                </a:solidFill>
                <a:latin typeface="JetBrains Mono"/>
                <a:ea typeface="JetBrains Mono"/>
                <a:cs typeface="JetBrains Mono"/>
              </a:rPr>
              <a:t>age_scaled | financial_stability | prior_education_level | study_load</a:t>
            </a:r>
          </a:p>
        </p:txBody>
      </p:sp>
      <p:sp>
        <p:nvSpPr>
          <p:cNvPr id="36" name="Text 29">
            <a:extLst xmlns:a="http://schemas.openxmlformats.org/drawingml/2006/main">
              <a:ext uri="{FF2B5EF4-FFF2-40B4-BE49-F238E27FC236}">
                <a16:creationId xmlns:a16="http://schemas.microsoft.com/office/drawing/2014/main" id="{D6BBD10E-5815-4DC9-8417-BE1B8FB3ED36}"/>
              </a:ext>
            </a:extLst>
          </p:cNvPr>
          <p:cNvSpPr>
            <a:spLocks xmlns:a="http://schemas.openxmlformats.org/drawingml/2006/main" noGrp="1"/>
          </p:cNvSpPr>
          <p:nvPr/>
        </p:nvSpPr>
        <p:spPr>
          <a:xfrm xmlns:a="http://schemas.openxmlformats.org/drawingml/2006/main">
            <a:off x="12668098" y="4095598"/>
            <a:ext cx="4668012" cy="1335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FF5CA0"/>
                </a:solidFill>
                <a:latin typeface="JetBrains Mono"/>
                <a:ea typeface="JetBrains Mono"/>
                <a:cs typeface="JetBrains Mono"/>
              </a:rPr>
              <a:t>OULAD local inputs</a:t>
            </a:r>
          </a:p>
        </p:txBody>
      </p:sp>
      <p:sp>
        <p:nvSpPr>
          <p:cNvPr id="37" name="Text 30">
            <a:extLst xmlns:a="http://schemas.openxmlformats.org/drawingml/2006/main">
              <a:ext uri="{FF2B5EF4-FFF2-40B4-BE49-F238E27FC236}">
                <a16:creationId xmlns:a16="http://schemas.microsoft.com/office/drawing/2014/main" id="{E54E07DC-D990-4693-A701-8797F71A0980}"/>
              </a:ext>
            </a:extLst>
          </p:cNvPr>
          <p:cNvSpPr>
            <a:spLocks xmlns:a="http://schemas.openxmlformats.org/drawingml/2006/main" noGrp="1"/>
          </p:cNvSpPr>
          <p:nvPr/>
        </p:nvSpPr>
        <p:spPr>
          <a:xfrm xmlns:a="http://schemas.openxmlformats.org/drawingml/2006/main">
            <a:off x="12668098" y="4324198"/>
            <a:ext cx="4668012" cy="219456"/>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400" b="1">
                <a:solidFill>
                  <a:srgbClr val="FFFFFF"/>
                </a:solidFill>
                <a:latin typeface="Inter"/>
                <a:ea typeface="Inter"/>
                <a:cs typeface="Inter"/>
              </a:rPr>
              <a:t>Examples</a:t>
            </a:r>
          </a:p>
        </p:txBody>
      </p:sp>
      <p:sp>
        <p:nvSpPr>
          <p:cNvPr id="38" name="Text 31">
            <a:extLst xmlns:a="http://schemas.openxmlformats.org/drawingml/2006/main">
              <a:ext uri="{FF2B5EF4-FFF2-40B4-BE49-F238E27FC236}">
                <a16:creationId xmlns:a16="http://schemas.microsoft.com/office/drawing/2014/main" id="{40E2A2B1-2269-44D0-998A-6F12AEACBB75}"/>
              </a:ext>
            </a:extLst>
          </p:cNvPr>
          <p:cNvSpPr>
            <a:spLocks xmlns:a="http://schemas.openxmlformats.org/drawingml/2006/main" noGrp="1"/>
          </p:cNvSpPr>
          <p:nvPr/>
        </p:nvSpPr>
        <p:spPr>
          <a:xfrm xmlns:a="http://schemas.openxmlformats.org/drawingml/2006/main">
            <a:off x="12668098" y="4572000"/>
            <a:ext cx="4668012" cy="48554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800"/>
              </a:lnSpc>
              <a:buNone/>
            </a:pPr>
            <a:r>
              <a:rPr sz="1100">
                <a:solidFill>
                  <a:srgbClr val="FFFFFF">
                    <a:alpha val="90000"/>
                  </a:srgbClr>
                </a:solidFill>
                <a:latin typeface="JetBrains Mono"/>
                <a:ea typeface="JetBrains Mono"/>
                <a:cs typeface="JetBrains Mono"/>
              </a:rPr>
              <a:t>age band, deprivation band, credits, dated assessments, and active days</a:t>
            </a:r>
          </a:p>
        </p:txBody>
      </p:sp>
      <p:sp>
        <p:nvSpPr>
          <p:cNvPr id="39" name="Text 32">
            <a:extLst xmlns:a="http://schemas.openxmlformats.org/drawingml/2006/main">
              <a:ext uri="{FF2B5EF4-FFF2-40B4-BE49-F238E27FC236}">
                <a16:creationId xmlns:a16="http://schemas.microsoft.com/office/drawing/2014/main" id="{01291BE7-74F4-4804-A3B5-5D0D6FAE389A}"/>
              </a:ext>
            </a:extLst>
          </p:cNvPr>
          <p:cNvSpPr>
            <a:spLocks xmlns:a="http://schemas.openxmlformats.org/drawingml/2006/main" noGrp="1"/>
          </p:cNvSpPr>
          <p:nvPr/>
        </p:nvSpPr>
        <p:spPr>
          <a:xfrm xmlns:a="http://schemas.openxmlformats.org/drawingml/2006/main">
            <a:off x="12668098" y="5229454"/>
            <a:ext cx="4668012" cy="219456"/>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400" b="1">
                <a:solidFill>
                  <a:srgbClr val="FFFFFF"/>
                </a:solidFill>
                <a:latin typeface="Inter"/>
                <a:ea typeface="Inter"/>
                <a:cs typeface="Inter"/>
              </a:rPr>
              <a:t>Adapter output</a:t>
            </a:r>
          </a:p>
        </p:txBody>
      </p:sp>
      <p:sp>
        <p:nvSpPr>
          <p:cNvPr id="40" name="Text 33">
            <a:extLst xmlns:a="http://schemas.openxmlformats.org/drawingml/2006/main">
              <a:ext uri="{FF2B5EF4-FFF2-40B4-BE49-F238E27FC236}">
                <a16:creationId xmlns:a16="http://schemas.microsoft.com/office/drawing/2014/main" id="{0B76108C-6034-4B73-920A-ED07597F5AAA}"/>
              </a:ext>
            </a:extLst>
          </p:cNvPr>
          <p:cNvSpPr>
            <a:spLocks xmlns:a="http://schemas.openxmlformats.org/drawingml/2006/main" noGrp="1"/>
          </p:cNvSpPr>
          <p:nvPr/>
        </p:nvSpPr>
        <p:spPr>
          <a:xfrm xmlns:a="http://schemas.openxmlformats.org/drawingml/2006/main">
            <a:off x="12668098" y="5479085"/>
            <a:ext cx="4668012" cy="455371"/>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680"/>
              </a:lnSpc>
              <a:buNone/>
            </a:pPr>
            <a:r>
              <a:rPr sz="1000">
                <a:solidFill>
                  <a:srgbClr val="FFFFFF">
                    <a:alpha val="80000"/>
                  </a:srgbClr>
                </a:solidFill>
                <a:latin typeface="JetBrains Mono"/>
                <a:ea typeface="JetBrains Mono"/>
                <a:cs typeface="JetBrains Mono"/>
              </a:rPr>
              <a:t>the same 16-column contract; unavailable optional groups remain blank</a:t>
            </a:r>
          </a:p>
        </p:txBody>
      </p:sp>
      <p:sp>
        <p:nvSpPr>
          <p:cNvPr id="41" name="Text 34">
            <a:extLst xmlns:a="http://schemas.openxmlformats.org/drawingml/2006/main">
              <a:ext uri="{FF2B5EF4-FFF2-40B4-BE49-F238E27FC236}">
                <a16:creationId xmlns:a16="http://schemas.microsoft.com/office/drawing/2014/main" id="{0FF7E79A-C818-47EF-8F83-766A0153A76E}"/>
              </a:ext>
            </a:extLst>
          </p:cNvPr>
          <p:cNvSpPr>
            <a:spLocks xmlns:a="http://schemas.openxmlformats.org/drawingml/2006/main" noGrp="1"/>
          </p:cNvSpPr>
          <p:nvPr/>
        </p:nvSpPr>
        <p:spPr>
          <a:xfrm xmlns:a="http://schemas.openxmlformats.org/drawingml/2006/main">
            <a:off x="7429500" y="8382305"/>
            <a:ext cx="9715500" cy="1335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FFFFFF">
                    <a:alpha val="55000"/>
                  </a:srgbClr>
                </a:solidFill>
                <a:latin typeface="JetBrains Mono"/>
                <a:ea typeface="JetBrains Mono"/>
                <a:cs typeface="JetBrains Mono"/>
              </a:rPr>
              <a:t>Evidence required before a new-school pilot</a:t>
            </a:r>
          </a:p>
        </p:txBody>
      </p:sp>
      <p:sp>
        <p:nvSpPr>
          <p:cNvPr id="42" name="Text 35">
            <a:extLst xmlns:a="http://schemas.openxmlformats.org/drawingml/2006/main">
              <a:ext uri="{FF2B5EF4-FFF2-40B4-BE49-F238E27FC236}">
                <a16:creationId xmlns:a16="http://schemas.microsoft.com/office/drawing/2014/main" id="{11973963-16CE-4046-9335-7875DE3093B6}"/>
              </a:ext>
            </a:extLst>
          </p:cNvPr>
          <p:cNvSpPr>
            <a:spLocks xmlns:a="http://schemas.openxmlformats.org/drawingml/2006/main" noGrp="1"/>
          </p:cNvSpPr>
          <p:nvPr/>
        </p:nvSpPr>
        <p:spPr>
          <a:xfrm xmlns:a="http://schemas.openxmlformats.org/drawingml/2006/main">
            <a:off x="7429500" y="8610905"/>
            <a:ext cx="3363163" cy="152705"/>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000">
                <a:solidFill>
                  <a:srgbClr val="FFFFFF"/>
                </a:solidFill>
                <a:latin typeface="JetBrains Mono"/>
                <a:ea typeface="JetBrains Mono"/>
                <a:cs typeface="JetBrains Mono"/>
              </a:rPr>
              <a:t>Statistical | ROC-AUC, AP, F1 + student-cluster tests</a:t>
            </a:r>
          </a:p>
        </p:txBody>
      </p:sp>
      <p:sp>
        <p:nvSpPr>
          <p:cNvPr id="43" name="Text 36">
            <a:extLst xmlns:a="http://schemas.openxmlformats.org/drawingml/2006/main">
              <a:ext uri="{FF2B5EF4-FFF2-40B4-BE49-F238E27FC236}">
                <a16:creationId xmlns:a16="http://schemas.microsoft.com/office/drawing/2014/main" id="{617A09B2-C51E-41E3-858C-189843E3034F}"/>
              </a:ext>
            </a:extLst>
          </p:cNvPr>
          <p:cNvSpPr>
            <a:spLocks xmlns:a="http://schemas.openxmlformats.org/drawingml/2006/main" noGrp="1"/>
          </p:cNvSpPr>
          <p:nvPr/>
        </p:nvSpPr>
        <p:spPr>
          <a:xfrm xmlns:a="http://schemas.openxmlformats.org/drawingml/2006/main">
            <a:off x="11095330" y="8610905"/>
            <a:ext cx="85954" cy="152705"/>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000">
                <a:solidFill>
                  <a:srgbClr val="FFFFFF">
                    <a:alpha val="40000"/>
                  </a:srgbClr>
                </a:solidFill>
                <a:latin typeface="JetBrains Mono"/>
                <a:ea typeface="JetBrains Mono"/>
                <a:cs typeface="JetBrains Mono"/>
              </a:rPr>
              <a:t>|</a:t>
            </a:r>
          </a:p>
        </p:txBody>
      </p:sp>
      <p:sp>
        <p:nvSpPr>
          <p:cNvPr id="44" name="Text 37">
            <a:extLst xmlns:a="http://schemas.openxmlformats.org/drawingml/2006/main">
              <a:ext uri="{FF2B5EF4-FFF2-40B4-BE49-F238E27FC236}">
                <a16:creationId xmlns:a16="http://schemas.microsoft.com/office/drawing/2014/main" id="{B0289144-677F-420E-8504-352BD616D4E2}"/>
              </a:ext>
            </a:extLst>
          </p:cNvPr>
          <p:cNvSpPr>
            <a:spLocks xmlns:a="http://schemas.openxmlformats.org/drawingml/2006/main" noGrp="1"/>
          </p:cNvSpPr>
          <p:nvPr/>
        </p:nvSpPr>
        <p:spPr>
          <a:xfrm xmlns:a="http://schemas.openxmlformats.org/drawingml/2006/main">
            <a:off x="11480292" y="8610905"/>
            <a:ext cx="3124505" cy="152705"/>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000">
                <a:solidFill>
                  <a:srgbClr val="FFFFFF"/>
                </a:solidFill>
                <a:latin typeface="JetBrains Mono"/>
                <a:ea typeface="JetBrains Mono"/>
                <a:cs typeface="JetBrains Mono"/>
              </a:rPr>
              <a:t>Transfer | local-only versus pooled across five held-out contexts</a:t>
            </a:r>
          </a:p>
        </p:txBody>
      </p:sp>
      <p:sp>
        <p:nvSpPr>
          <p:cNvPr id="45" name="Text 38">
            <a:extLst xmlns:a="http://schemas.openxmlformats.org/drawingml/2006/main">
              <a:ext uri="{FF2B5EF4-FFF2-40B4-BE49-F238E27FC236}">
                <a16:creationId xmlns:a16="http://schemas.microsoft.com/office/drawing/2014/main" id="{B2337E7D-089E-4C57-84E4-8699A4B99B27}"/>
              </a:ext>
            </a:extLst>
          </p:cNvPr>
          <p:cNvSpPr>
            <a:spLocks xmlns:a="http://schemas.openxmlformats.org/drawingml/2006/main" noGrp="1"/>
          </p:cNvSpPr>
          <p:nvPr/>
        </p:nvSpPr>
        <p:spPr>
          <a:xfrm xmlns:a="http://schemas.openxmlformats.org/drawingml/2006/main">
            <a:off x="14905634" y="8610905"/>
            <a:ext cx="85954" cy="152705"/>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000">
                <a:solidFill>
                  <a:srgbClr val="FFFFFF">
                    <a:alpha val="40000"/>
                  </a:srgbClr>
                </a:solidFill>
                <a:latin typeface="JetBrains Mono"/>
                <a:ea typeface="JetBrains Mono"/>
                <a:cs typeface="JetBrains Mono"/>
              </a:rPr>
              <a:t>|</a:t>
            </a:r>
          </a:p>
        </p:txBody>
      </p:sp>
      <p:sp>
        <p:nvSpPr>
          <p:cNvPr id="46" name="Text 39">
            <a:extLst xmlns:a="http://schemas.openxmlformats.org/drawingml/2006/main">
              <a:ext uri="{FF2B5EF4-FFF2-40B4-BE49-F238E27FC236}">
                <a16:creationId xmlns:a16="http://schemas.microsoft.com/office/drawing/2014/main" id="{893C6CE3-6ADF-43D8-8992-A514C63B877F}"/>
              </a:ext>
            </a:extLst>
          </p:cNvPr>
          <p:cNvSpPr>
            <a:spLocks xmlns:a="http://schemas.openxmlformats.org/drawingml/2006/main" noGrp="1"/>
          </p:cNvSpPr>
          <p:nvPr/>
        </p:nvSpPr>
        <p:spPr>
          <a:xfrm xmlns:a="http://schemas.openxmlformats.org/drawingml/2006/main">
            <a:off x="7429500" y="9068105"/>
            <a:ext cx="2724912" cy="152705"/>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000">
                <a:solidFill>
                  <a:srgbClr val="FFFFFF"/>
                </a:solidFill>
                <a:latin typeface="JetBrains Mono"/>
                <a:ea typeface="JetBrains Mono"/>
                <a:cs typeface="JetBrains Mono"/>
              </a:rPr>
              <a:t>Calibration | rank locally; raw score is not a probability</a:t>
            </a:r>
          </a:p>
        </p:txBody>
      </p:sp>
      <p:sp>
        <p:nvSpPr>
          <p:cNvPr id="47" name="Text 40">
            <a:extLst xmlns:a="http://schemas.openxmlformats.org/drawingml/2006/main">
              <a:ext uri="{FF2B5EF4-FFF2-40B4-BE49-F238E27FC236}">
                <a16:creationId xmlns:a16="http://schemas.microsoft.com/office/drawing/2014/main" id="{2A55F6F3-D520-40CD-B051-F1545254F7D1}"/>
              </a:ext>
            </a:extLst>
          </p:cNvPr>
          <p:cNvSpPr>
            <a:spLocks xmlns:a="http://schemas.openxmlformats.org/drawingml/2006/main" noGrp="1"/>
          </p:cNvSpPr>
          <p:nvPr/>
        </p:nvSpPr>
        <p:spPr>
          <a:xfrm xmlns:a="http://schemas.openxmlformats.org/drawingml/2006/main">
            <a:off x="10455250" y="9068105"/>
            <a:ext cx="85954" cy="152705"/>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000">
                <a:solidFill>
                  <a:srgbClr val="FFFFFF">
                    <a:alpha val="40000"/>
                  </a:srgbClr>
                </a:solidFill>
                <a:latin typeface="JetBrains Mono"/>
                <a:ea typeface="JetBrains Mono"/>
                <a:cs typeface="JetBrains Mono"/>
              </a:rPr>
              <a:t>|</a:t>
            </a:r>
          </a:p>
        </p:txBody>
      </p:sp>
      <p:sp>
        <p:nvSpPr>
          <p:cNvPr id="48" name="Text 41">
            <a:extLst xmlns:a="http://schemas.openxmlformats.org/drawingml/2006/main">
              <a:ext uri="{FF2B5EF4-FFF2-40B4-BE49-F238E27FC236}">
                <a16:creationId xmlns:a16="http://schemas.microsoft.com/office/drawing/2014/main" id="{2BE9A3D3-AC7E-4F66-A66E-50D12E5A707A}"/>
              </a:ext>
            </a:extLst>
          </p:cNvPr>
          <p:cNvSpPr>
            <a:spLocks xmlns:a="http://schemas.openxmlformats.org/drawingml/2006/main" noGrp="1"/>
          </p:cNvSpPr>
          <p:nvPr/>
        </p:nvSpPr>
        <p:spPr>
          <a:xfrm xmlns:a="http://schemas.openxmlformats.org/drawingml/2006/main">
            <a:off x="10840212" y="9068105"/>
            <a:ext cx="3124505" cy="152705"/>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000">
                <a:solidFill>
                  <a:srgbClr val="FFFFFF"/>
                </a:solidFill>
                <a:latin typeface="JetBrains Mono"/>
                <a:ea typeface="JetBrains Mono"/>
                <a:cs typeface="JetBrains Mono"/>
              </a:rPr>
              <a:t>Robustness | missing-group masking + temporal holdout</a:t>
            </a:r>
          </a:p>
        </p:txBody>
      </p:sp>
    </p:spTree>
    <p:extLst>
      <p:ext uri="{BB962C8B-B14F-4D97-AF65-F5344CB8AC3E}">
        <p14:creationId xmlns:p14="http://schemas.microsoft.com/office/powerpoint/2010/main" val="367571808"/>
      </p:ext>
    </p:extLst>
  </p:cSld>
</p:sld>
</file>

<file path=ppt/slides/slide5.xml><?xml version="1.0" encoding="utf-8"?>
<p:sld xmlns:p="http://schemas.openxmlformats.org/presentationml/2006/main">
  <p:cSld>
    <p:bg>
      <p:bgPr>
        <a:solidFill xmlns:a="http://schemas.openxmlformats.org/drawingml/2006/main">
          <a:srgbClr val="F7F7FB"/>
        </a:solidFill>
      </p:bgPr>
    </p:bg>
    <p:spTree>
      <p:nvGrpSpPr>
        <p:cNvPr id="1" name=""/>
        <p:cNvGrpSpPr/>
        <p:nvPr/>
      </p:nvGrpSpPr>
      <p:grpSpPr>
        <a:xfrm xmlns:a="http://schemas.openxmlformats.org/drawingml/2006/main"/>
      </p:grpSpPr>
      <p:pic>
        <p:nvPicPr>
          <p:cNvPr id="30" name="Image 0"/>
          <p:cNvPicPr>
            <a:picLocks xmlns:a="http://schemas.openxmlformats.org/drawingml/2006/main" noChangeAspect="1"/>
          </p:cNvPicPr>
          <p:nvPr/>
        </p:nvPicPr>
        <p:blipFill>
          <a:blip xmlns:r="http://schemas.openxmlformats.org/officeDocument/2006/relationships" xmlns:a="http://schemas.openxmlformats.org/drawingml/2006/main" r:embed="R0a4875cab18a4066"/>
          <a:srcRect xmlns:a="http://schemas.openxmlformats.org/drawingml/2006/main" l="-2083" t="0" r="-2083" b="0"/>
          <a:stretch xmlns:a="http://schemas.openxmlformats.org/drawingml/2006/main"/>
        </p:blipFill>
        <p:spPr>
          <a:xfrm xmlns:a="http://schemas.openxmlformats.org/drawingml/2006/main">
            <a:off x="761695" y="761695"/>
            <a:ext cx="16763695" cy="9144"/>
          </a:xfrm>
          <a:prstGeom xmlns:a="http://schemas.openxmlformats.org/drawingml/2006/main" prst="rect">
            <a:avLst/>
          </a:prstGeom>
        </p:spPr>
      </p:pic>
      <p:sp>
        <p:nvSpPr>
          <p:cNvPr id="4" name="Shape 0">
            <a:extLst xmlns:a="http://schemas.openxmlformats.org/drawingml/2006/main">
              <a:ext uri="{FF2B5EF4-FFF2-40B4-BE49-F238E27FC236}">
                <a16:creationId xmlns:a16="http://schemas.microsoft.com/office/drawing/2014/main" id="{F30B8720-43AD-4B55-AAB0-034678CF299A}"/>
              </a:ext>
            </a:extLst>
          </p:cNvPr>
          <p:cNvSpPr>
            <a:spLocks xmlns:a="http://schemas.openxmlformats.org/drawingml/2006/main" noGrp="1"/>
          </p:cNvSpPr>
          <p:nvPr/>
        </p:nvSpPr>
        <p:spPr>
          <a:xfrm xmlns:a="http://schemas.openxmlformats.org/drawingml/2006/main">
            <a:off x="761695" y="2381098"/>
            <a:ext cx="8305495" cy="4496105"/>
          </a:xfrm>
          <a:prstGeom xmlns:a="http://schemas.openxmlformats.org/drawingml/2006/main" prst="roundRect">
            <a:avLst>
              <a:gd name="adj" fmla="val 427"/>
            </a:avLst>
          </a:prstGeom>
          <a:solidFill xmlns:a="http://schemas.openxmlformats.org/drawingml/2006/main">
            <a:srgbClr val="FFFFFF"/>
          </a:solidFill>
          <a:ln xmlns:a="http://schemas.openxmlformats.org/drawingml/2006/main" w="12700">
            <a:solidFill>
              <a:srgbClr val="E4E5EF"/>
            </a:solidFill>
            <a:prstDash val="solid"/>
          </a:ln>
        </p:spPr>
      </p:sp>
      <p:sp>
        <p:nvSpPr>
          <p:cNvPr id="5" name="Shape 1">
            <a:extLst xmlns:a="http://schemas.openxmlformats.org/drawingml/2006/main">
              <a:ext uri="{FF2B5EF4-FFF2-40B4-BE49-F238E27FC236}">
                <a16:creationId xmlns:a16="http://schemas.microsoft.com/office/drawing/2014/main" id="{A69E49CE-2115-4F85-809D-70625B084D07}"/>
              </a:ext>
            </a:extLst>
          </p:cNvPr>
          <p:cNvSpPr>
            <a:spLocks xmlns:a="http://schemas.openxmlformats.org/drawingml/2006/main" noGrp="1"/>
          </p:cNvSpPr>
          <p:nvPr/>
        </p:nvSpPr>
        <p:spPr>
          <a:xfrm xmlns:a="http://schemas.openxmlformats.org/drawingml/2006/main">
            <a:off x="9239098" y="2381098"/>
            <a:ext cx="8305495" cy="4496105"/>
          </a:xfrm>
          <a:prstGeom xmlns:a="http://schemas.openxmlformats.org/drawingml/2006/main" prst="roundRect">
            <a:avLst>
              <a:gd name="adj" fmla="val 427"/>
            </a:avLst>
          </a:prstGeom>
          <a:solidFill xmlns:a="http://schemas.openxmlformats.org/drawingml/2006/main">
            <a:srgbClr val="FFFFFF"/>
          </a:solidFill>
          <a:ln xmlns:a="http://schemas.openxmlformats.org/drawingml/2006/main" w="12700">
            <a:solidFill>
              <a:srgbClr val="E4E5EF"/>
            </a:solidFill>
            <a:prstDash val="solid"/>
          </a:ln>
        </p:spPr>
      </p:sp>
      <p:sp>
        <p:nvSpPr>
          <p:cNvPr id="6" name="Shape 2">
            <a:extLst xmlns:a="http://schemas.openxmlformats.org/drawingml/2006/main">
              <a:ext uri="{FF2B5EF4-FFF2-40B4-BE49-F238E27FC236}">
                <a16:creationId xmlns:a16="http://schemas.microsoft.com/office/drawing/2014/main" id="{E79ACD2E-46F8-4F4F-B20F-17406BE0541A}"/>
              </a:ext>
            </a:extLst>
          </p:cNvPr>
          <p:cNvSpPr>
            <a:spLocks xmlns:a="http://schemas.openxmlformats.org/drawingml/2006/main" noGrp="1"/>
          </p:cNvSpPr>
          <p:nvPr/>
        </p:nvSpPr>
        <p:spPr>
          <a:xfrm xmlns:a="http://schemas.openxmlformats.org/drawingml/2006/main">
            <a:off x="761695" y="7144207"/>
            <a:ext cx="16763695" cy="2095805"/>
          </a:xfrm>
          <a:prstGeom xmlns:a="http://schemas.openxmlformats.org/drawingml/2006/main" prst="roundRect">
            <a:avLst>
              <a:gd name="adj" fmla="val 916"/>
            </a:avLst>
          </a:prstGeom>
          <a:solidFill xmlns:a="http://schemas.openxmlformats.org/drawingml/2006/main">
            <a:srgbClr val="1A1D5C"/>
          </a:solidFill>
          <a:ln xmlns:a="http://schemas.openxmlformats.org/drawingml/2006/main" w="12700">
            <a:solidFill>
              <a:srgbClr val="FFFFFF">
                <a:alpha val="0"/>
              </a:srgbClr>
            </a:solidFill>
            <a:prstDash val="solid"/>
          </a:ln>
        </p:spPr>
      </p:sp>
      <p:pic>
        <p:nvPicPr>
          <p:cNvPr id="34" name="Image 1"/>
          <p:cNvPicPr>
            <a:picLocks xmlns:a="http://schemas.openxmlformats.org/drawingml/2006/main" noChangeAspect="1"/>
          </p:cNvPicPr>
          <p:nvPr/>
        </p:nvPicPr>
        <p:blipFill>
          <a:blip xmlns:r="http://schemas.openxmlformats.org/officeDocument/2006/relationships" xmlns:a="http://schemas.openxmlformats.org/drawingml/2006/main" r:embed="R22d2313d014f492e"/>
          <a:srcRect xmlns:a="http://schemas.openxmlformats.org/drawingml/2006/main" l="-9959" t="0" r="-9959" b="0"/>
          <a:stretch xmlns:a="http://schemas.openxmlformats.org/drawingml/2006/main"/>
        </p:blipFill>
        <p:spPr>
          <a:xfrm xmlns:a="http://schemas.openxmlformats.org/drawingml/2006/main">
            <a:off x="1047902" y="3095244"/>
            <a:ext cx="7715707" cy="3619195"/>
          </a:xfrm>
          <a:prstGeom xmlns:a="http://schemas.openxmlformats.org/drawingml/2006/main" prst="rect">
            <a:avLst/>
          </a:prstGeom>
        </p:spPr>
      </p:pic>
      <p:pic>
        <p:nvPicPr>
          <p:cNvPr id="35" name="Image 2"/>
          <p:cNvPicPr>
            <a:picLocks xmlns:a="http://schemas.openxmlformats.org/drawingml/2006/main" noChangeAspect="1"/>
          </p:cNvPicPr>
          <p:nvPr/>
        </p:nvPicPr>
        <p:blipFill>
          <a:blip xmlns:r="http://schemas.openxmlformats.org/officeDocument/2006/relationships" xmlns:a="http://schemas.openxmlformats.org/drawingml/2006/main" r:embed="R4ce21d90a98f4724"/>
          <a:srcRect xmlns:a="http://schemas.openxmlformats.org/drawingml/2006/main" l="-9959" t="0" r="-9959" b="0"/>
          <a:stretch xmlns:a="http://schemas.openxmlformats.org/drawingml/2006/main"/>
        </p:blipFill>
        <p:spPr>
          <a:xfrm xmlns:a="http://schemas.openxmlformats.org/drawingml/2006/main">
            <a:off x="9525305" y="3095244"/>
            <a:ext cx="7715707" cy="3619195"/>
          </a:xfrm>
          <a:prstGeom xmlns:a="http://schemas.openxmlformats.org/drawingml/2006/main" prst="rect">
            <a:avLst/>
          </a:prstGeom>
        </p:spPr>
      </p:pic>
      <p:pic>
        <p:nvPicPr>
          <p:cNvPr id="36" name="Image 3"/>
          <p:cNvPicPr>
            <a:picLocks xmlns:a="http://schemas.openxmlformats.org/drawingml/2006/main" noChangeAspect="1"/>
          </p:cNvPicPr>
          <p:nvPr/>
        </p:nvPicPr>
        <p:blipFill>
          <a:blip xmlns:r="http://schemas.openxmlformats.org/officeDocument/2006/relationships" xmlns:a="http://schemas.openxmlformats.org/drawingml/2006/main" r:embed="R6cf0917bb861473d"/>
          <a:srcRect xmlns:a="http://schemas.openxmlformats.org/drawingml/2006/main" l="0" t="-2089" r="0" b="-2089"/>
          <a:stretch xmlns:a="http://schemas.openxmlformats.org/drawingml/2006/main"/>
        </p:blipFill>
        <p:spPr>
          <a:xfrm xmlns:a="http://schemas.openxmlformats.org/drawingml/2006/main">
            <a:off x="6476695" y="7381951"/>
            <a:ext cx="9144" cy="1619402"/>
          </a:xfrm>
          <a:prstGeom xmlns:a="http://schemas.openxmlformats.org/drawingml/2006/main" prst="rect">
            <a:avLst/>
          </a:prstGeom>
        </p:spPr>
      </p:pic>
      <p:pic>
        <p:nvPicPr>
          <p:cNvPr id="37" name="Image 4"/>
          <p:cNvPicPr>
            <a:picLocks xmlns:a="http://schemas.openxmlformats.org/drawingml/2006/main" noChangeAspect="1"/>
          </p:cNvPicPr>
          <p:nvPr/>
        </p:nvPicPr>
        <p:blipFill>
          <a:blip xmlns:r="http://schemas.openxmlformats.org/officeDocument/2006/relationships" xmlns:a="http://schemas.openxmlformats.org/drawingml/2006/main" r:embed="R6cf0917bb861473d"/>
          <a:srcRect xmlns:a="http://schemas.openxmlformats.org/drawingml/2006/main" l="0" t="-2089" r="0" b="-2089"/>
          <a:stretch xmlns:a="http://schemas.openxmlformats.org/drawingml/2006/main"/>
        </p:blipFill>
        <p:spPr>
          <a:xfrm xmlns:a="http://schemas.openxmlformats.org/drawingml/2006/main">
            <a:off x="12096598" y="7381951"/>
            <a:ext cx="9144" cy="1619402"/>
          </a:xfrm>
          <a:prstGeom xmlns:a="http://schemas.openxmlformats.org/drawingml/2006/main" prst="rect">
            <a:avLst/>
          </a:prstGeom>
        </p:spPr>
      </p:pic>
      <p:sp>
        <p:nvSpPr>
          <p:cNvPr id="11" name="Text 3">
            <a:extLst xmlns:a="http://schemas.openxmlformats.org/drawingml/2006/main">
              <a:ext uri="{FF2B5EF4-FFF2-40B4-BE49-F238E27FC236}">
                <a16:creationId xmlns:a16="http://schemas.microsoft.com/office/drawing/2014/main" id="{E8055D7A-1E0A-49B0-8EF7-F6B4D22CD6DD}"/>
              </a:ext>
            </a:extLst>
          </p:cNvPr>
          <p:cNvSpPr>
            <a:spLocks xmlns:a="http://schemas.openxmlformats.org/drawingml/2006/main" noGrp="1"/>
          </p:cNvSpPr>
          <p:nvPr/>
        </p:nvSpPr>
        <p:spPr>
          <a:xfrm xmlns:a="http://schemas.openxmlformats.org/drawingml/2006/main">
            <a:off x="761695" y="428854"/>
            <a:ext cx="8572500" cy="152705"/>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000">
                <a:solidFill>
                  <a:srgbClr val="6A6F8C"/>
                </a:solidFill>
                <a:latin typeface="JetBrains Mono"/>
                <a:ea typeface="JetBrains Mono"/>
                <a:cs typeface="JetBrains Mono"/>
              </a:rPr>
              <a:t>§ 03 · EDA · Data profile &amp; quality · 1 of 3</a:t>
            </a:r>
          </a:p>
        </p:txBody>
      </p:sp>
      <p:sp>
        <p:nvSpPr>
          <p:cNvPr id="12" name="Text 4">
            <a:extLst xmlns:a="http://schemas.openxmlformats.org/drawingml/2006/main">
              <a:ext uri="{FF2B5EF4-FFF2-40B4-BE49-F238E27FC236}">
                <a16:creationId xmlns:a16="http://schemas.microsoft.com/office/drawing/2014/main" id="{71258237-3CAA-4E6A-A2D6-8823BB3D6176}"/>
              </a:ext>
            </a:extLst>
          </p:cNvPr>
          <p:cNvSpPr>
            <a:spLocks xmlns:a="http://schemas.openxmlformats.org/drawingml/2006/main" noGrp="1"/>
          </p:cNvSpPr>
          <p:nvPr/>
        </p:nvSpPr>
        <p:spPr>
          <a:xfrm xmlns:a="http://schemas.openxmlformats.org/drawingml/2006/main">
            <a:off x="15240305" y="428854"/>
            <a:ext cx="2286000" cy="152705"/>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r">
              <a:buNone/>
            </a:pPr>
            <a:r>
              <a:rPr sz="1000">
                <a:solidFill>
                  <a:srgbClr val="6A6F8C"/>
                </a:solidFill>
                <a:latin typeface="JetBrains Mono"/>
                <a:ea typeface="JetBrains Mono"/>
                <a:cs typeface="JetBrains Mono"/>
              </a:rPr>
              <a:t>05 / 20</a:t>
            </a:r>
          </a:p>
        </p:txBody>
      </p:sp>
      <p:sp>
        <p:nvSpPr>
          <p:cNvPr id="13" name="Text 5">
            <a:extLst xmlns:a="http://schemas.openxmlformats.org/drawingml/2006/main">
              <a:ext uri="{FF2B5EF4-FFF2-40B4-BE49-F238E27FC236}">
                <a16:creationId xmlns:a16="http://schemas.microsoft.com/office/drawing/2014/main" id="{4664A694-A4E8-441F-B8D5-E72E3D7E5F7F}"/>
              </a:ext>
            </a:extLst>
          </p:cNvPr>
          <p:cNvSpPr>
            <a:spLocks xmlns:a="http://schemas.openxmlformats.org/drawingml/2006/main" noGrp="1"/>
          </p:cNvSpPr>
          <p:nvPr/>
        </p:nvSpPr>
        <p:spPr>
          <a:xfrm xmlns:a="http://schemas.openxmlformats.org/drawingml/2006/main">
            <a:off x="761695" y="1238098"/>
            <a:ext cx="16764610" cy="457200"/>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3300" b="1">
                <a:solidFill>
                  <a:srgbClr val="0F1226"/>
                </a:solidFill>
                <a:latin typeface="Inter"/>
                <a:ea typeface="Inter"/>
                <a:cs typeface="Inter"/>
              </a:rPr>
              <a:t>Two institutions describe the same risk through different evidence.</a:t>
            </a:r>
          </a:p>
        </p:txBody>
      </p:sp>
      <p:sp>
        <p:nvSpPr>
          <p:cNvPr id="14" name="Text 6">
            <a:extLst xmlns:a="http://schemas.openxmlformats.org/drawingml/2006/main">
              <a:ext uri="{FF2B5EF4-FFF2-40B4-BE49-F238E27FC236}">
                <a16:creationId xmlns:a16="http://schemas.microsoft.com/office/drawing/2014/main" id="{97B745ED-B20F-4330-8167-A3B5C2394940}"/>
              </a:ext>
            </a:extLst>
          </p:cNvPr>
          <p:cNvSpPr>
            <a:spLocks xmlns:a="http://schemas.openxmlformats.org/drawingml/2006/main" noGrp="1"/>
          </p:cNvSpPr>
          <p:nvPr/>
        </p:nvSpPr>
        <p:spPr>
          <a:xfrm xmlns:a="http://schemas.openxmlformats.org/drawingml/2006/main">
            <a:off x="761695" y="1766621"/>
            <a:ext cx="16764610" cy="200254"/>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300" i="1">
                <a:solidFill>
                  <a:srgbClr val="6A6F8C"/>
                </a:solidFill>
                <a:latin typeface="Source Serif Pro"/>
                <a:ea typeface="Source Serif Pro"/>
                <a:cs typeface="Source Serif Pro"/>
              </a:rPr>
              <a:t>EDA guides the adapter; held-out transfer tests use stricter modelling cohorts.</a:t>
            </a:r>
          </a:p>
        </p:txBody>
      </p:sp>
      <p:sp>
        <p:nvSpPr>
          <p:cNvPr id="15" name="Text 7">
            <a:extLst xmlns:a="http://schemas.openxmlformats.org/drawingml/2006/main">
              <a:ext uri="{FF2B5EF4-FFF2-40B4-BE49-F238E27FC236}">
                <a16:creationId xmlns:a16="http://schemas.microsoft.com/office/drawing/2014/main" id="{7B09930B-1946-45FC-89AB-EA1B5148D3B6}"/>
              </a:ext>
            </a:extLst>
          </p:cNvPr>
          <p:cNvSpPr>
            <a:spLocks xmlns:a="http://schemas.openxmlformats.org/drawingml/2006/main" noGrp="1"/>
          </p:cNvSpPr>
          <p:nvPr/>
        </p:nvSpPr>
        <p:spPr>
          <a:xfrm xmlns:a="http://schemas.openxmlformats.org/drawingml/2006/main">
            <a:off x="1047902" y="2572207"/>
            <a:ext cx="7715707" cy="1335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E4237A"/>
                </a:solidFill>
                <a:latin typeface="JetBrains Mono"/>
                <a:ea typeface="JetBrains Mono"/>
                <a:cs typeface="JetBrains Mono"/>
              </a:rPr>
              <a:t>FIG · UCI target distribution</a:t>
            </a:r>
          </a:p>
        </p:txBody>
      </p:sp>
      <p:sp>
        <p:nvSpPr>
          <p:cNvPr id="16" name="Text 8">
            <a:extLst xmlns:a="http://schemas.openxmlformats.org/drawingml/2006/main">
              <a:ext uri="{FF2B5EF4-FFF2-40B4-BE49-F238E27FC236}">
                <a16:creationId xmlns:a16="http://schemas.microsoft.com/office/drawing/2014/main" id="{55821382-EAE8-40D0-B560-F28F320A269A}"/>
              </a:ext>
            </a:extLst>
          </p:cNvPr>
          <p:cNvSpPr>
            <a:spLocks xmlns:a="http://schemas.openxmlformats.org/drawingml/2006/main" noGrp="1"/>
          </p:cNvSpPr>
          <p:nvPr/>
        </p:nvSpPr>
        <p:spPr>
          <a:xfrm xmlns:a="http://schemas.openxmlformats.org/drawingml/2006/main">
            <a:off x="1047902" y="2743200"/>
            <a:ext cx="7715707" cy="191110"/>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100">
                <a:solidFill>
                  <a:srgbClr val="2A2E4B"/>
                </a:solidFill>
                <a:latin typeface="Inter"/>
                <a:ea typeface="Inter"/>
                <a:cs typeface="Inter"/>
              </a:rPr>
              <a:t>n = 4,424 records · Dropout ≈ 32%</a:t>
            </a:r>
          </a:p>
        </p:txBody>
      </p:sp>
      <p:sp>
        <p:nvSpPr>
          <p:cNvPr id="17" name="Text 9">
            <a:extLst xmlns:a="http://schemas.openxmlformats.org/drawingml/2006/main">
              <a:ext uri="{FF2B5EF4-FFF2-40B4-BE49-F238E27FC236}">
                <a16:creationId xmlns:a16="http://schemas.microsoft.com/office/drawing/2014/main" id="{726A5E49-0147-49C7-BF7D-8F023458E6D1}"/>
              </a:ext>
            </a:extLst>
          </p:cNvPr>
          <p:cNvSpPr>
            <a:spLocks xmlns:a="http://schemas.openxmlformats.org/drawingml/2006/main" noGrp="1"/>
          </p:cNvSpPr>
          <p:nvPr/>
        </p:nvSpPr>
        <p:spPr>
          <a:xfrm xmlns:a="http://schemas.openxmlformats.org/drawingml/2006/main">
            <a:off x="9525305" y="2572207"/>
            <a:ext cx="7715707" cy="1335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E4237A"/>
                </a:solidFill>
                <a:latin typeface="JetBrains Mono"/>
                <a:ea typeface="JetBrains Mono"/>
                <a:cs typeface="JetBrains Mono"/>
              </a:rPr>
              <a:t>FIG · OULAD final-result distribution</a:t>
            </a:r>
          </a:p>
        </p:txBody>
      </p:sp>
      <p:sp>
        <p:nvSpPr>
          <p:cNvPr id="18" name="Text 10">
            <a:extLst xmlns:a="http://schemas.openxmlformats.org/drawingml/2006/main">
              <a:ext uri="{FF2B5EF4-FFF2-40B4-BE49-F238E27FC236}">
                <a16:creationId xmlns:a16="http://schemas.microsoft.com/office/drawing/2014/main" id="{4156F2CE-791C-41E7-90F9-5CFFCF02F27F}"/>
              </a:ext>
            </a:extLst>
          </p:cNvPr>
          <p:cNvSpPr>
            <a:spLocks xmlns:a="http://schemas.openxmlformats.org/drawingml/2006/main" noGrp="1"/>
          </p:cNvSpPr>
          <p:nvPr/>
        </p:nvSpPr>
        <p:spPr>
          <a:xfrm xmlns:a="http://schemas.openxmlformats.org/drawingml/2006/main">
            <a:off x="9525305" y="2743200"/>
            <a:ext cx="7715707" cy="191110"/>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100">
                <a:solidFill>
                  <a:srgbClr val="2A2E4B"/>
                </a:solidFill>
                <a:latin typeface="Inter"/>
                <a:ea typeface="Inter"/>
                <a:cs typeface="Inter"/>
              </a:rPr>
              <a:t>Full table: n = 32,593 · Withdrawn ≈ 31% · day-35 future risk = 17.4%</a:t>
            </a:r>
          </a:p>
        </p:txBody>
      </p:sp>
      <p:sp>
        <p:nvSpPr>
          <p:cNvPr id="19" name="Text 11">
            <a:extLst xmlns:a="http://schemas.openxmlformats.org/drawingml/2006/main">
              <a:ext uri="{FF2B5EF4-FFF2-40B4-BE49-F238E27FC236}">
                <a16:creationId xmlns:a16="http://schemas.microsoft.com/office/drawing/2014/main" id="{152D3FE8-1485-4691-92C6-8F0E03611143}"/>
              </a:ext>
            </a:extLst>
          </p:cNvPr>
          <p:cNvSpPr>
            <a:spLocks xmlns:a="http://schemas.openxmlformats.org/drawingml/2006/main" noGrp="1"/>
          </p:cNvSpPr>
          <p:nvPr/>
        </p:nvSpPr>
        <p:spPr>
          <a:xfrm xmlns:a="http://schemas.openxmlformats.org/drawingml/2006/main">
            <a:off x="1143000" y="7381951"/>
            <a:ext cx="5143500" cy="1335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FF5CA0"/>
                </a:solidFill>
                <a:latin typeface="JetBrains Mono"/>
                <a:ea typeface="JetBrains Mono"/>
                <a:cs typeface="JetBrains Mono"/>
              </a:rPr>
              <a:t>UCI · Data quality</a:t>
            </a:r>
          </a:p>
        </p:txBody>
      </p:sp>
      <p:sp>
        <p:nvSpPr>
          <p:cNvPr id="20" name="Text 12">
            <a:extLst xmlns:a="http://schemas.openxmlformats.org/drawingml/2006/main">
              <a:ext uri="{FF2B5EF4-FFF2-40B4-BE49-F238E27FC236}">
                <a16:creationId xmlns:a16="http://schemas.microsoft.com/office/drawing/2014/main" id="{096C9ABB-8240-46B1-887D-837AC24EF7F6}"/>
              </a:ext>
            </a:extLst>
          </p:cNvPr>
          <p:cNvSpPr>
            <a:spLocks xmlns:a="http://schemas.openxmlformats.org/drawingml/2006/main" noGrp="1"/>
          </p:cNvSpPr>
          <p:nvPr/>
        </p:nvSpPr>
        <p:spPr>
          <a:xfrm xmlns:a="http://schemas.openxmlformats.org/drawingml/2006/main">
            <a:off x="1143000" y="7580376"/>
            <a:ext cx="5143500" cy="76443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920"/>
              </a:lnSpc>
              <a:buNone/>
            </a:pPr>
            <a:r>
              <a:rPr sz="1200" b="1">
                <a:solidFill>
                  <a:srgbClr val="FF5CA0"/>
                </a:solidFill>
                <a:latin typeface="JetBrains Mono"/>
                <a:ea typeface="JetBrains Mono"/>
                <a:cs typeface="JetBrains Mono"/>
              </a:rPr>
              <a:t>0</a:t>
            </a:r>
            <a:r>
              <a:rPr sz="1200">
                <a:solidFill>
                  <a:srgbClr val="FFFFFF"/>
                </a:solidFill>
                <a:latin typeface="Inter"/>
                <a:ea typeface="Inter"/>
                <a:cs typeface="Inter"/>
              </a:rPr>
              <a:t> missing values · </a:t>
            </a:r>
            <a:r>
              <a:rPr sz="1200" b="1">
                <a:solidFill>
                  <a:srgbClr val="FF5CA0"/>
                </a:solidFill>
                <a:latin typeface="JetBrains Mono"/>
                <a:ea typeface="JetBrains Mono"/>
                <a:cs typeface="JetBrains Mono"/>
              </a:rPr>
              <a:t>0</a:t>
            </a:r>
            <a:r>
              <a:rPr sz="1200">
                <a:solidFill>
                  <a:srgbClr val="FFFFFF"/>
                </a:solidFill>
                <a:latin typeface="Inter"/>
                <a:ea typeface="Inter"/>
                <a:cs typeface="Inter"/>
              </a:rPr>
              <a:t> duplicate rows.</a:t>
            </a:r>
          </a:p>
          <a:p xmlns:a="http://schemas.openxmlformats.org/drawingml/2006/main">
            <a:pPr marL="0" indent="0" algn="l">
              <a:lnSpc>
                <a:spcPts val="1920"/>
              </a:lnSpc>
              <a:buNone/>
            </a:pPr>
            <a:r>
              <a:rPr sz="1200">
                <a:solidFill>
                  <a:srgbClr val="FFFFFF"/>
                </a:solidFill>
                <a:latin typeface="Inter"/>
                <a:ea typeface="Inter"/>
                <a:cs typeface="Inter"/>
              </a:rPr>
              <a:t>Enrolled is a valid outcome and stays in the non-dropout class of the binary task.</a:t>
            </a:r>
          </a:p>
        </p:txBody>
      </p:sp>
      <p:sp>
        <p:nvSpPr>
          <p:cNvPr id="21" name="Text 13">
            <a:extLst xmlns:a="http://schemas.openxmlformats.org/drawingml/2006/main">
              <a:ext uri="{FF2B5EF4-FFF2-40B4-BE49-F238E27FC236}">
                <a16:creationId xmlns:a16="http://schemas.microsoft.com/office/drawing/2014/main" id="{E577AA06-8A73-4AEB-AC8E-087E27A1AE0F}"/>
              </a:ext>
            </a:extLst>
          </p:cNvPr>
          <p:cNvSpPr>
            <a:spLocks xmlns:a="http://schemas.openxmlformats.org/drawingml/2006/main" noGrp="1"/>
          </p:cNvSpPr>
          <p:nvPr/>
        </p:nvSpPr>
        <p:spPr>
          <a:xfrm xmlns:a="http://schemas.openxmlformats.org/drawingml/2006/main">
            <a:off x="6762902" y="7381951"/>
            <a:ext cx="5143500" cy="1335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FF5CA0"/>
                </a:solidFill>
                <a:latin typeface="JetBrains Mono"/>
                <a:ea typeface="JetBrains Mono"/>
                <a:cs typeface="JetBrains Mono"/>
              </a:rPr>
              <a:t>OULAD final table · Data quality</a:t>
            </a:r>
          </a:p>
        </p:txBody>
      </p:sp>
      <p:sp>
        <p:nvSpPr>
          <p:cNvPr id="22" name="Text 14">
            <a:extLst xmlns:a="http://schemas.openxmlformats.org/drawingml/2006/main">
              <a:ext uri="{FF2B5EF4-FFF2-40B4-BE49-F238E27FC236}">
                <a16:creationId xmlns:a16="http://schemas.microsoft.com/office/drawing/2014/main" id="{BF67D099-E33C-4AE9-BED4-1276C6C997D0}"/>
              </a:ext>
            </a:extLst>
          </p:cNvPr>
          <p:cNvSpPr>
            <a:spLocks xmlns:a="http://schemas.openxmlformats.org/drawingml/2006/main" noGrp="1"/>
          </p:cNvSpPr>
          <p:nvPr/>
        </p:nvSpPr>
        <p:spPr>
          <a:xfrm xmlns:a="http://schemas.openxmlformats.org/drawingml/2006/main">
            <a:off x="6762902" y="7582205"/>
            <a:ext cx="5143500" cy="71414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800"/>
              </a:lnSpc>
              <a:buNone/>
            </a:pPr>
            <a:r>
              <a:rPr sz="1100" b="1">
                <a:solidFill>
                  <a:srgbClr val="FF5CA0"/>
                </a:solidFill>
                <a:latin typeface="JetBrains Mono"/>
                <a:ea typeface="JetBrains Mono"/>
                <a:cs typeface="JetBrains Mono"/>
              </a:rPr>
              <a:t>0</a:t>
            </a:r>
            <a:r>
              <a:rPr sz="1100">
                <a:solidFill>
                  <a:srgbClr val="FFFFFF"/>
                </a:solidFill>
                <a:latin typeface="Inter"/>
                <a:ea typeface="Inter"/>
                <a:cs typeface="Inter"/>
              </a:rPr>
              <a:t> duplicate rows.</a:t>
            </a:r>
          </a:p>
          <a:p xmlns:a="http://schemas.openxmlformats.org/drawingml/2006/main">
            <a:pPr marL="0" indent="0" algn="l">
              <a:lnSpc>
                <a:spcPts val="1800"/>
              </a:lnSpc>
              <a:buNone/>
            </a:pPr>
            <a:r>
              <a:rPr sz="1100">
                <a:solidFill>
                  <a:srgbClr val="FFFFFF"/>
                </a:solidFill>
                <a:latin typeface="JetBrains Mono"/>
                <a:ea typeface="JetBrains Mono"/>
                <a:cs typeface="JetBrains Mono"/>
              </a:rPr>
              <a:t>imd_band: 3.41%</a:t>
            </a:r>
            <a:r>
              <a:rPr sz="1100">
                <a:solidFill>
                  <a:srgbClr val="FFFFFF"/>
                </a:solidFill>
                <a:latin typeface="Inter"/>
                <a:ea typeface="Inter"/>
                <a:cs typeface="Inter"/>
              </a:rPr>
              <a:t> missing.</a:t>
            </a:r>
          </a:p>
          <a:p xmlns:a="http://schemas.openxmlformats.org/drawingml/2006/main">
            <a:pPr marL="0" indent="0" algn="l">
              <a:lnSpc>
                <a:spcPts val="1800"/>
              </a:lnSpc>
              <a:buNone/>
            </a:pPr>
            <a:r>
              <a:rPr sz="1100">
                <a:solidFill>
                  <a:srgbClr val="FFFFFF"/>
                </a:solidFill>
                <a:latin typeface="JetBrains Mono"/>
                <a:ea typeface="JetBrains Mono"/>
                <a:cs typeface="JetBrains Mono"/>
              </a:rPr>
              <a:t>date_registration &amp; registration_lead_days: 0.14%</a:t>
            </a:r>
            <a:r>
              <a:rPr sz="1100">
                <a:solidFill>
                  <a:srgbClr val="FFFFFF"/>
                </a:solidFill>
                <a:latin typeface="Inter"/>
                <a:ea typeface="Inter"/>
                <a:cs typeface="Inter"/>
              </a:rPr>
              <a:t> each.</a:t>
            </a:r>
          </a:p>
        </p:txBody>
      </p:sp>
      <p:sp>
        <p:nvSpPr>
          <p:cNvPr id="23" name="Text 15">
            <a:extLst xmlns:a="http://schemas.openxmlformats.org/drawingml/2006/main">
              <a:ext uri="{FF2B5EF4-FFF2-40B4-BE49-F238E27FC236}">
                <a16:creationId xmlns:a16="http://schemas.microsoft.com/office/drawing/2014/main" id="{8A681AD0-6B43-4CFD-929B-ADAC0E7C87E7}"/>
              </a:ext>
            </a:extLst>
          </p:cNvPr>
          <p:cNvSpPr>
            <a:spLocks xmlns:a="http://schemas.openxmlformats.org/drawingml/2006/main" noGrp="1"/>
          </p:cNvSpPr>
          <p:nvPr/>
        </p:nvSpPr>
        <p:spPr>
          <a:xfrm xmlns:a="http://schemas.openxmlformats.org/drawingml/2006/main">
            <a:off x="12382805" y="7381951"/>
            <a:ext cx="4953305" cy="1335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FF5CA0"/>
                </a:solidFill>
                <a:latin typeface="JetBrains Mono"/>
                <a:ea typeface="JetBrains Mono"/>
                <a:cs typeface="JetBrains Mono"/>
              </a:rPr>
              <a:t>How we handled it</a:t>
            </a:r>
          </a:p>
        </p:txBody>
      </p:sp>
      <p:sp>
        <p:nvSpPr>
          <p:cNvPr id="24" name="Text 16">
            <a:extLst xmlns:a="http://schemas.openxmlformats.org/drawingml/2006/main">
              <a:ext uri="{FF2B5EF4-FFF2-40B4-BE49-F238E27FC236}">
                <a16:creationId xmlns:a16="http://schemas.microsoft.com/office/drawing/2014/main" id="{513FB30D-A1CB-408B-99A9-9E3742B190DF}"/>
              </a:ext>
            </a:extLst>
          </p:cNvPr>
          <p:cNvSpPr>
            <a:spLocks xmlns:a="http://schemas.openxmlformats.org/drawingml/2006/main" noGrp="1"/>
          </p:cNvSpPr>
          <p:nvPr/>
        </p:nvSpPr>
        <p:spPr>
          <a:xfrm xmlns:a="http://schemas.openxmlformats.org/drawingml/2006/main">
            <a:off x="12382805" y="7582205"/>
            <a:ext cx="4953305" cy="71414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800"/>
              </a:lnSpc>
              <a:buNone/>
            </a:pPr>
            <a:r>
              <a:rPr sz="1100">
                <a:solidFill>
                  <a:srgbClr val="FFFFFF"/>
                </a:solidFill>
                <a:latin typeface="Inter"/>
                <a:ea typeface="Inter"/>
                <a:cs typeface="Inter"/>
              </a:rPr>
              <a:t>Imputation and clipping occur inside the training pipeline.</a:t>
            </a:r>
          </a:p>
          <a:p xmlns:a="http://schemas.openxmlformats.org/drawingml/2006/main">
            <a:pPr marL="0" indent="0" algn="l">
              <a:lnSpc>
                <a:spcPts val="1800"/>
              </a:lnSpc>
              <a:buNone/>
            </a:pPr>
            <a:r>
              <a:rPr sz="1100">
                <a:solidFill>
                  <a:srgbClr val="FFFFFF"/>
                </a:solidFill>
                <a:latin typeface="Inter"/>
                <a:ea typeface="Inter"/>
                <a:cs typeface="Inter"/>
              </a:rPr>
              <a:t>Student identifiers, targets, and dates after each prediction point are excluded.</a:t>
            </a:r>
          </a:p>
        </p:txBody>
      </p:sp>
    </p:spTree>
    <p:extLst>
      <p:ext uri="{BB962C8B-B14F-4D97-AF65-F5344CB8AC3E}">
        <p14:creationId xmlns:p14="http://schemas.microsoft.com/office/powerpoint/2010/main" val="213948843"/>
      </p:ext>
    </p:extLst>
  </p:cSld>
</p:sld>
</file>

<file path=ppt/slides/slide6.xml><?xml version="1.0" encoding="utf-8"?>
<p:sld xmlns:p="http://schemas.openxmlformats.org/presentationml/2006/main">
  <p:cSld>
    <p:bg>
      <p:bgPr>
        <a:solidFill xmlns:a="http://schemas.openxmlformats.org/drawingml/2006/main">
          <a:srgbClr val="F7F7FB"/>
        </a:solidFill>
      </p:bgPr>
    </p:bg>
    <p:spTree>
      <p:nvGrpSpPr>
        <p:cNvPr id="1" name=""/>
        <p:cNvGrpSpPr/>
        <p:nvPr/>
      </p:nvGrpSpPr>
      <p:grpSpPr>
        <a:xfrm xmlns:a="http://schemas.openxmlformats.org/drawingml/2006/main"/>
      </p:grpSpPr>
      <p:pic>
        <p:nvPicPr>
          <p:cNvPr id="26" name="Image 0"/>
          <p:cNvPicPr>
            <a:picLocks xmlns:a="http://schemas.openxmlformats.org/drawingml/2006/main" noChangeAspect="1"/>
          </p:cNvPicPr>
          <p:nvPr/>
        </p:nvPicPr>
        <p:blipFill>
          <a:blip xmlns:r="http://schemas.openxmlformats.org/officeDocument/2006/relationships" xmlns:a="http://schemas.openxmlformats.org/drawingml/2006/main" r:embed="R732d88e3dca847b5"/>
          <a:srcRect xmlns:a="http://schemas.openxmlformats.org/drawingml/2006/main" l="-2083" t="0" r="-2083" b="0"/>
          <a:stretch xmlns:a="http://schemas.openxmlformats.org/drawingml/2006/main"/>
        </p:blipFill>
        <p:spPr>
          <a:xfrm xmlns:a="http://schemas.openxmlformats.org/drawingml/2006/main">
            <a:off x="761695" y="761695"/>
            <a:ext cx="16763695" cy="9144"/>
          </a:xfrm>
          <a:prstGeom xmlns:a="http://schemas.openxmlformats.org/drawingml/2006/main" prst="rect">
            <a:avLst/>
          </a:prstGeom>
        </p:spPr>
      </p:pic>
      <p:sp>
        <p:nvSpPr>
          <p:cNvPr id="4" name="Shape 0">
            <a:extLst xmlns:a="http://schemas.openxmlformats.org/drawingml/2006/main">
              <a:ext uri="{FF2B5EF4-FFF2-40B4-BE49-F238E27FC236}">
                <a16:creationId xmlns:a16="http://schemas.microsoft.com/office/drawing/2014/main" id="{49877E1C-7625-4ADB-9BC0-6F5B6C22D7B6}"/>
              </a:ext>
            </a:extLst>
          </p:cNvPr>
          <p:cNvSpPr>
            <a:spLocks xmlns:a="http://schemas.openxmlformats.org/drawingml/2006/main" noGrp="1"/>
          </p:cNvSpPr>
          <p:nvPr/>
        </p:nvSpPr>
        <p:spPr>
          <a:xfrm xmlns:a="http://schemas.openxmlformats.org/drawingml/2006/main">
            <a:off x="761695" y="2762402"/>
            <a:ext cx="8305495" cy="4972507"/>
          </a:xfrm>
          <a:prstGeom xmlns:a="http://schemas.openxmlformats.org/drawingml/2006/main" prst="roundRect">
            <a:avLst>
              <a:gd name="adj" fmla="val 386"/>
            </a:avLst>
          </a:prstGeom>
          <a:solidFill xmlns:a="http://schemas.openxmlformats.org/drawingml/2006/main">
            <a:srgbClr val="FFFFFF"/>
          </a:solidFill>
          <a:ln xmlns:a="http://schemas.openxmlformats.org/drawingml/2006/main" w="12700">
            <a:solidFill>
              <a:srgbClr val="E4E5EF"/>
            </a:solidFill>
            <a:prstDash val="solid"/>
          </a:ln>
        </p:spPr>
      </p:sp>
      <p:sp>
        <p:nvSpPr>
          <p:cNvPr id="5" name="Shape 1">
            <a:extLst xmlns:a="http://schemas.openxmlformats.org/drawingml/2006/main">
              <a:ext uri="{FF2B5EF4-FFF2-40B4-BE49-F238E27FC236}">
                <a16:creationId xmlns:a16="http://schemas.microsoft.com/office/drawing/2014/main" id="{9F9392A3-6D47-4DF0-96F9-2D3DF87ED7C0}"/>
              </a:ext>
            </a:extLst>
          </p:cNvPr>
          <p:cNvSpPr>
            <a:spLocks xmlns:a="http://schemas.openxmlformats.org/drawingml/2006/main" noGrp="1"/>
          </p:cNvSpPr>
          <p:nvPr/>
        </p:nvSpPr>
        <p:spPr>
          <a:xfrm xmlns:a="http://schemas.openxmlformats.org/drawingml/2006/main">
            <a:off x="9239098" y="2762402"/>
            <a:ext cx="8305495" cy="4972507"/>
          </a:xfrm>
          <a:prstGeom xmlns:a="http://schemas.openxmlformats.org/drawingml/2006/main" prst="roundRect">
            <a:avLst>
              <a:gd name="adj" fmla="val 386"/>
            </a:avLst>
          </a:prstGeom>
          <a:solidFill xmlns:a="http://schemas.openxmlformats.org/drawingml/2006/main">
            <a:srgbClr val="FFFFFF"/>
          </a:solidFill>
          <a:ln xmlns:a="http://schemas.openxmlformats.org/drawingml/2006/main" w="12700">
            <a:solidFill>
              <a:srgbClr val="E4E5EF"/>
            </a:solidFill>
            <a:prstDash val="solid"/>
          </a:ln>
        </p:spPr>
      </p:sp>
      <p:sp>
        <p:nvSpPr>
          <p:cNvPr id="6" name="Shape 2">
            <a:extLst xmlns:a="http://schemas.openxmlformats.org/drawingml/2006/main">
              <a:ext uri="{FF2B5EF4-FFF2-40B4-BE49-F238E27FC236}">
                <a16:creationId xmlns:a16="http://schemas.microsoft.com/office/drawing/2014/main" id="{494B8528-6AE5-4491-A40F-7E6BA03E76FA}"/>
              </a:ext>
            </a:extLst>
          </p:cNvPr>
          <p:cNvSpPr>
            <a:spLocks xmlns:a="http://schemas.openxmlformats.org/drawingml/2006/main" noGrp="1"/>
          </p:cNvSpPr>
          <p:nvPr/>
        </p:nvSpPr>
        <p:spPr>
          <a:xfrm xmlns:a="http://schemas.openxmlformats.org/drawingml/2006/main">
            <a:off x="761695" y="8001000"/>
            <a:ext cx="8353044" cy="1257300"/>
          </a:xfrm>
          <a:prstGeom xmlns:a="http://schemas.openxmlformats.org/drawingml/2006/main" prst="roundRect">
            <a:avLst>
              <a:gd name="adj" fmla="val 1527"/>
            </a:avLst>
          </a:prstGeom>
          <a:solidFill xmlns:a="http://schemas.openxmlformats.org/drawingml/2006/main">
            <a:srgbClr val="FFFFFF"/>
          </a:solidFill>
          <a:ln xmlns:a="http://schemas.openxmlformats.org/drawingml/2006/main" w="12700">
            <a:solidFill>
              <a:srgbClr val="E4E5EF"/>
            </a:solidFill>
            <a:prstDash val="solid"/>
          </a:ln>
        </p:spPr>
      </p:sp>
      <p:sp>
        <p:nvSpPr>
          <p:cNvPr id="7" name="Shape 3">
            <a:extLst xmlns:a="http://schemas.openxmlformats.org/drawingml/2006/main">
              <a:ext uri="{FF2B5EF4-FFF2-40B4-BE49-F238E27FC236}">
                <a16:creationId xmlns:a16="http://schemas.microsoft.com/office/drawing/2014/main" id="{DC4F5812-E8DD-4B2E-BE6A-3BFF3CC3158F}"/>
              </a:ext>
            </a:extLst>
          </p:cNvPr>
          <p:cNvSpPr>
            <a:spLocks xmlns:a="http://schemas.openxmlformats.org/drawingml/2006/main" noGrp="1"/>
          </p:cNvSpPr>
          <p:nvPr/>
        </p:nvSpPr>
        <p:spPr>
          <a:xfrm xmlns:a="http://schemas.openxmlformats.org/drawingml/2006/main">
            <a:off x="761695" y="8001000"/>
            <a:ext cx="57607" cy="1257300"/>
          </a:xfrm>
          <a:prstGeom xmlns:a="http://schemas.openxmlformats.org/drawingml/2006/main" prst="roundRect">
            <a:avLst>
              <a:gd name="adj" fmla="val 33333"/>
            </a:avLst>
          </a:prstGeom>
          <a:solidFill xmlns:a="http://schemas.openxmlformats.org/drawingml/2006/main">
            <a:srgbClr val="2A2E7A"/>
          </a:solidFill>
          <a:ln xmlns:a="http://schemas.openxmlformats.org/drawingml/2006/main" w="12700">
            <a:solidFill>
              <a:srgbClr val="2A2E7A">
                <a:alpha val="0"/>
              </a:srgbClr>
            </a:solidFill>
            <a:prstDash val="solid"/>
          </a:ln>
        </p:spPr>
      </p:sp>
      <p:sp>
        <p:nvSpPr>
          <p:cNvPr id="8" name="Shape 4">
            <a:extLst xmlns:a="http://schemas.openxmlformats.org/drawingml/2006/main">
              <a:ext uri="{FF2B5EF4-FFF2-40B4-BE49-F238E27FC236}">
                <a16:creationId xmlns:a16="http://schemas.microsoft.com/office/drawing/2014/main" id="{9B33737A-C76B-45AF-BCB3-FC9DC90FEC18}"/>
              </a:ext>
            </a:extLst>
          </p:cNvPr>
          <p:cNvSpPr>
            <a:spLocks xmlns:a="http://schemas.openxmlformats.org/drawingml/2006/main" noGrp="1"/>
          </p:cNvSpPr>
          <p:nvPr/>
        </p:nvSpPr>
        <p:spPr>
          <a:xfrm xmlns:a="http://schemas.openxmlformats.org/drawingml/2006/main">
            <a:off x="9239098" y="8001000"/>
            <a:ext cx="8287207" cy="1238098"/>
          </a:xfrm>
          <a:prstGeom xmlns:a="http://schemas.openxmlformats.org/drawingml/2006/main" prst="roundRect">
            <a:avLst>
              <a:gd name="adj" fmla="val 1551"/>
            </a:avLst>
          </a:prstGeom>
          <a:solidFill xmlns:a="http://schemas.openxmlformats.org/drawingml/2006/main">
            <a:srgbClr val="1A1D5C"/>
          </a:solidFill>
          <a:ln xmlns:a="http://schemas.openxmlformats.org/drawingml/2006/main" w="12700">
            <a:solidFill>
              <a:srgbClr val="FFFFFF">
                <a:alpha val="0"/>
              </a:srgbClr>
            </a:solidFill>
            <a:prstDash val="solid"/>
          </a:ln>
        </p:spPr>
      </p:sp>
      <p:pic>
        <p:nvPicPr>
          <p:cNvPr id="32" name="Image 1"/>
          <p:cNvPicPr>
            <a:picLocks xmlns:a="http://schemas.openxmlformats.org/drawingml/2006/main" noChangeAspect="1"/>
          </p:cNvPicPr>
          <p:nvPr/>
        </p:nvPicPr>
        <p:blipFill>
          <a:blip xmlns:r="http://schemas.openxmlformats.org/officeDocument/2006/relationships" xmlns:a="http://schemas.openxmlformats.org/drawingml/2006/main" r:embed="Rf00607cc4c134856"/>
          <a:srcRect xmlns:a="http://schemas.openxmlformats.org/drawingml/2006/main" l="-2985" t="0" r="-2985" b="0"/>
          <a:stretch xmlns:a="http://schemas.openxmlformats.org/drawingml/2006/main"/>
        </p:blipFill>
        <p:spPr>
          <a:xfrm xmlns:a="http://schemas.openxmlformats.org/drawingml/2006/main">
            <a:off x="1047902" y="3476549"/>
            <a:ext cx="7715707" cy="4095598"/>
          </a:xfrm>
          <a:prstGeom xmlns:a="http://schemas.openxmlformats.org/drawingml/2006/main" prst="rect">
            <a:avLst/>
          </a:prstGeom>
        </p:spPr>
      </p:pic>
      <p:pic>
        <p:nvPicPr>
          <p:cNvPr id="33" name="Image 2"/>
          <p:cNvPicPr>
            <a:picLocks xmlns:a="http://schemas.openxmlformats.org/drawingml/2006/main" noChangeAspect="1"/>
          </p:cNvPicPr>
          <p:nvPr/>
        </p:nvPicPr>
        <p:blipFill>
          <a:blip xmlns:r="http://schemas.openxmlformats.org/officeDocument/2006/relationships" xmlns:a="http://schemas.openxmlformats.org/drawingml/2006/main" r:embed="R8fc4adea3b7d4034"/>
          <a:srcRect xmlns:a="http://schemas.openxmlformats.org/drawingml/2006/main" l="-21842" t="0" r="-21842" b="0"/>
          <a:stretch xmlns:a="http://schemas.openxmlformats.org/drawingml/2006/main"/>
        </p:blipFill>
        <p:spPr>
          <a:xfrm xmlns:a="http://schemas.openxmlformats.org/drawingml/2006/main">
            <a:off x="9525305" y="3476549"/>
            <a:ext cx="7715707" cy="4095598"/>
          </a:xfrm>
          <a:prstGeom xmlns:a="http://schemas.openxmlformats.org/drawingml/2006/main" prst="rect">
            <a:avLst/>
          </a:prstGeom>
        </p:spPr>
      </p:pic>
      <p:sp>
        <p:nvSpPr>
          <p:cNvPr id="11" name="Text 5">
            <a:extLst xmlns:a="http://schemas.openxmlformats.org/drawingml/2006/main">
              <a:ext uri="{FF2B5EF4-FFF2-40B4-BE49-F238E27FC236}">
                <a16:creationId xmlns:a16="http://schemas.microsoft.com/office/drawing/2014/main" id="{8DA797DE-5B26-4BD9-B5E4-1550094E05B1}"/>
              </a:ext>
            </a:extLst>
          </p:cNvPr>
          <p:cNvSpPr>
            <a:spLocks xmlns:a="http://schemas.openxmlformats.org/drawingml/2006/main" noGrp="1"/>
          </p:cNvSpPr>
          <p:nvPr/>
        </p:nvSpPr>
        <p:spPr>
          <a:xfrm xmlns:a="http://schemas.openxmlformats.org/drawingml/2006/main">
            <a:off x="761695" y="428854"/>
            <a:ext cx="8572500" cy="152705"/>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000">
                <a:solidFill>
                  <a:srgbClr val="6A6F8C"/>
                </a:solidFill>
                <a:latin typeface="JetBrains Mono"/>
                <a:ea typeface="JetBrains Mono"/>
                <a:cs typeface="JetBrains Mono"/>
              </a:rPr>
              <a:t>§ 03 · EDA · UCI findings · 2 of 3</a:t>
            </a:r>
          </a:p>
        </p:txBody>
      </p:sp>
      <p:sp>
        <p:nvSpPr>
          <p:cNvPr id="12" name="Text 6">
            <a:extLst xmlns:a="http://schemas.openxmlformats.org/drawingml/2006/main">
              <a:ext uri="{FF2B5EF4-FFF2-40B4-BE49-F238E27FC236}">
                <a16:creationId xmlns:a16="http://schemas.microsoft.com/office/drawing/2014/main" id="{CD505D18-3FCA-4606-B8BA-7F6F443A22ED}"/>
              </a:ext>
            </a:extLst>
          </p:cNvPr>
          <p:cNvSpPr>
            <a:spLocks xmlns:a="http://schemas.openxmlformats.org/drawingml/2006/main" noGrp="1"/>
          </p:cNvSpPr>
          <p:nvPr/>
        </p:nvSpPr>
        <p:spPr>
          <a:xfrm xmlns:a="http://schemas.openxmlformats.org/drawingml/2006/main">
            <a:off x="15240305" y="428854"/>
            <a:ext cx="2286000" cy="152705"/>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r">
              <a:buNone/>
            </a:pPr>
            <a:r>
              <a:rPr sz="1000">
                <a:solidFill>
                  <a:srgbClr val="6A6F8C"/>
                </a:solidFill>
                <a:latin typeface="JetBrains Mono"/>
                <a:ea typeface="JetBrains Mono"/>
                <a:cs typeface="JetBrains Mono"/>
              </a:rPr>
              <a:t>06 / 20</a:t>
            </a:r>
          </a:p>
        </p:txBody>
      </p:sp>
      <p:sp>
        <p:nvSpPr>
          <p:cNvPr id="13" name="Text 7">
            <a:extLst xmlns:a="http://schemas.openxmlformats.org/drawingml/2006/main">
              <a:ext uri="{FF2B5EF4-FFF2-40B4-BE49-F238E27FC236}">
                <a16:creationId xmlns:a16="http://schemas.microsoft.com/office/drawing/2014/main" id="{2ABE74C8-676F-4335-ACFD-83871FE26CCE}"/>
              </a:ext>
            </a:extLst>
          </p:cNvPr>
          <p:cNvSpPr>
            <a:spLocks xmlns:a="http://schemas.openxmlformats.org/drawingml/2006/main" noGrp="1"/>
          </p:cNvSpPr>
          <p:nvPr/>
        </p:nvSpPr>
        <p:spPr>
          <a:xfrm xmlns:a="http://schemas.openxmlformats.org/drawingml/2006/main">
            <a:off x="761695" y="1238098"/>
            <a:ext cx="16764610" cy="495605"/>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3600" b="1">
                <a:solidFill>
                  <a:srgbClr val="0F1226"/>
                </a:solidFill>
                <a:latin typeface="Inter"/>
                <a:ea typeface="Inter"/>
                <a:cs typeface="Inter"/>
              </a:rPr>
              <a:t>UCI shows why useful semester outcomes cannot be used at enrolment.</a:t>
            </a:r>
          </a:p>
        </p:txBody>
      </p:sp>
      <p:sp>
        <p:nvSpPr>
          <p:cNvPr id="14" name="Text 8">
            <a:extLst xmlns:a="http://schemas.openxmlformats.org/drawingml/2006/main">
              <a:ext uri="{FF2B5EF4-FFF2-40B4-BE49-F238E27FC236}">
                <a16:creationId xmlns:a16="http://schemas.microsoft.com/office/drawing/2014/main" id="{A883D82D-7433-48D2-A9D2-9EA48BB8ED93}"/>
              </a:ext>
            </a:extLst>
          </p:cNvPr>
          <p:cNvSpPr>
            <a:spLocks xmlns:a="http://schemas.openxmlformats.org/drawingml/2006/main" noGrp="1"/>
          </p:cNvSpPr>
          <p:nvPr/>
        </p:nvSpPr>
        <p:spPr>
          <a:xfrm xmlns:a="http://schemas.openxmlformats.org/drawingml/2006/main">
            <a:off x="761695" y="1826971"/>
            <a:ext cx="16764610" cy="21031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500" i="1">
                <a:solidFill>
                  <a:srgbClr val="6A6F8C"/>
                </a:solidFill>
                <a:latin typeface="Source Serif Pro"/>
                <a:ea typeface="Source Serif Pro"/>
                <a:cs typeface="Source Serif Pro"/>
              </a:rPr>
              <a:t>Exploratory analysis — associations only, not causal claims.</a:t>
            </a:r>
          </a:p>
        </p:txBody>
      </p:sp>
      <p:sp>
        <p:nvSpPr>
          <p:cNvPr id="15" name="Text 9">
            <a:extLst xmlns:a="http://schemas.openxmlformats.org/drawingml/2006/main">
              <a:ext uri="{FF2B5EF4-FFF2-40B4-BE49-F238E27FC236}">
                <a16:creationId xmlns:a16="http://schemas.microsoft.com/office/drawing/2014/main" id="{A4B2FF0D-5CD1-428F-A94B-60715174865C}"/>
              </a:ext>
            </a:extLst>
          </p:cNvPr>
          <p:cNvSpPr>
            <a:spLocks xmlns:a="http://schemas.openxmlformats.org/drawingml/2006/main" noGrp="1"/>
          </p:cNvSpPr>
          <p:nvPr/>
        </p:nvSpPr>
        <p:spPr>
          <a:xfrm xmlns:a="http://schemas.openxmlformats.org/drawingml/2006/main">
            <a:off x="1047902" y="2952598"/>
            <a:ext cx="7715707" cy="1335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E4237A"/>
                </a:solidFill>
                <a:latin typeface="JetBrains Mono"/>
                <a:ea typeface="JetBrains Mono"/>
                <a:cs typeface="JetBrains Mono"/>
              </a:rPr>
              <a:t>FIG · 1st-semester approved units by outcome</a:t>
            </a:r>
          </a:p>
        </p:txBody>
      </p:sp>
      <p:sp>
        <p:nvSpPr>
          <p:cNvPr id="16" name="Text 10">
            <a:extLst xmlns:a="http://schemas.openxmlformats.org/drawingml/2006/main">
              <a:ext uri="{FF2B5EF4-FFF2-40B4-BE49-F238E27FC236}">
                <a16:creationId xmlns:a16="http://schemas.microsoft.com/office/drawing/2014/main" id="{A91A2512-7C4F-428C-A6F4-917306068058}"/>
              </a:ext>
            </a:extLst>
          </p:cNvPr>
          <p:cNvSpPr>
            <a:spLocks xmlns:a="http://schemas.openxmlformats.org/drawingml/2006/main" noGrp="1"/>
          </p:cNvSpPr>
          <p:nvPr/>
        </p:nvSpPr>
        <p:spPr>
          <a:xfrm xmlns:a="http://schemas.openxmlformats.org/drawingml/2006/main">
            <a:off x="1047902" y="3124505"/>
            <a:ext cx="7715707" cy="181051"/>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100">
                <a:solidFill>
                  <a:srgbClr val="2A2E4B"/>
                </a:solidFill>
                <a:latin typeface="Inter"/>
                <a:ea typeface="Inter"/>
                <a:cs typeface="Inter"/>
              </a:rPr>
              <a:t>Dropout students approve fewer 1st-semester units than Graduate or Enrolled.</a:t>
            </a:r>
          </a:p>
        </p:txBody>
      </p:sp>
      <p:sp>
        <p:nvSpPr>
          <p:cNvPr id="17" name="Text 11">
            <a:extLst xmlns:a="http://schemas.openxmlformats.org/drawingml/2006/main">
              <a:ext uri="{FF2B5EF4-FFF2-40B4-BE49-F238E27FC236}">
                <a16:creationId xmlns:a16="http://schemas.microsoft.com/office/drawing/2014/main" id="{7768B51F-F123-4C87-8596-1175B0758393}"/>
              </a:ext>
            </a:extLst>
          </p:cNvPr>
          <p:cNvSpPr>
            <a:spLocks xmlns:a="http://schemas.openxmlformats.org/drawingml/2006/main" noGrp="1"/>
          </p:cNvSpPr>
          <p:nvPr/>
        </p:nvSpPr>
        <p:spPr>
          <a:xfrm xmlns:a="http://schemas.openxmlformats.org/drawingml/2006/main">
            <a:off x="9525305" y="2952598"/>
            <a:ext cx="7715707" cy="1335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E4237A"/>
                </a:solidFill>
                <a:latin typeface="JetBrains Mono"/>
                <a:ea typeface="JetBrains Mono"/>
                <a:cs typeface="JetBrains Mono"/>
              </a:rPr>
              <a:t>FIG · Correlation heatmap · exploratory analysis</a:t>
            </a:r>
          </a:p>
        </p:txBody>
      </p:sp>
      <p:sp>
        <p:nvSpPr>
          <p:cNvPr id="18" name="Text 12">
            <a:extLst xmlns:a="http://schemas.openxmlformats.org/drawingml/2006/main">
              <a:ext uri="{FF2B5EF4-FFF2-40B4-BE49-F238E27FC236}">
                <a16:creationId xmlns:a16="http://schemas.microsoft.com/office/drawing/2014/main" id="{1B801832-FA1B-49E2-8868-0C84D2E44449}"/>
              </a:ext>
            </a:extLst>
          </p:cNvPr>
          <p:cNvSpPr>
            <a:spLocks xmlns:a="http://schemas.openxmlformats.org/drawingml/2006/main" noGrp="1"/>
          </p:cNvSpPr>
          <p:nvPr/>
        </p:nvSpPr>
        <p:spPr>
          <a:xfrm xmlns:a="http://schemas.openxmlformats.org/drawingml/2006/main">
            <a:off x="9525305" y="3124505"/>
            <a:ext cx="7715707" cy="181051"/>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100">
                <a:solidFill>
                  <a:srgbClr val="2A2E4B"/>
                </a:solidFill>
                <a:latin typeface="Inter"/>
                <a:ea typeface="Inter"/>
                <a:cs typeface="Inter"/>
              </a:rPr>
              <a:t>1st- and 2nd-sem academic variables strongly correlated; macro variables weakly.</a:t>
            </a:r>
          </a:p>
        </p:txBody>
      </p:sp>
      <p:sp>
        <p:nvSpPr>
          <p:cNvPr id="19" name="Text 13">
            <a:extLst xmlns:a="http://schemas.openxmlformats.org/drawingml/2006/main">
              <a:ext uri="{FF2B5EF4-FFF2-40B4-BE49-F238E27FC236}">
                <a16:creationId xmlns:a16="http://schemas.microsoft.com/office/drawing/2014/main" id="{B5325E3F-4D91-41EF-87BF-E02A565CA449}"/>
              </a:ext>
            </a:extLst>
          </p:cNvPr>
          <p:cNvSpPr>
            <a:spLocks xmlns:a="http://schemas.openxmlformats.org/drawingml/2006/main" noGrp="1"/>
          </p:cNvSpPr>
          <p:nvPr/>
        </p:nvSpPr>
        <p:spPr>
          <a:xfrm xmlns:a="http://schemas.openxmlformats.org/drawingml/2006/main">
            <a:off x="1143000" y="8191195"/>
            <a:ext cx="7525512" cy="1335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2A2E7A"/>
                </a:solidFill>
                <a:latin typeface="JetBrains Mono"/>
                <a:ea typeface="JetBrains Mono"/>
                <a:cs typeface="JetBrains Mono"/>
              </a:rPr>
              <a:t>What we see · why it matters</a:t>
            </a:r>
          </a:p>
        </p:txBody>
      </p:sp>
      <p:sp>
        <p:nvSpPr>
          <p:cNvPr id="20" name="Text 14">
            <a:extLst xmlns:a="http://schemas.openxmlformats.org/drawingml/2006/main">
              <a:ext uri="{FF2B5EF4-FFF2-40B4-BE49-F238E27FC236}">
                <a16:creationId xmlns:a16="http://schemas.microsoft.com/office/drawing/2014/main" id="{8A34C203-5DAC-442D-8269-6197AF10AAB6}"/>
              </a:ext>
            </a:extLst>
          </p:cNvPr>
          <p:cNvSpPr>
            <a:spLocks xmlns:a="http://schemas.openxmlformats.org/drawingml/2006/main" noGrp="1"/>
          </p:cNvSpPr>
          <p:nvPr/>
        </p:nvSpPr>
        <p:spPr>
          <a:xfrm xmlns:a="http://schemas.openxmlformats.org/drawingml/2006/main">
            <a:off x="1143000" y="8401507"/>
            <a:ext cx="7525512" cy="4480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100">
                <a:solidFill>
                  <a:srgbClr val="2A2E4B"/>
                </a:solidFill>
                <a:latin typeface="Inter"/>
                <a:ea typeface="Inter"/>
                <a:cs typeface="Inter"/>
              </a:rPr>
              <a:t>Dropout ≈ 2 approved units (median); Graduate ≈ 6. Admission grade &amp; previous qualification correlate moderately (0.58). Macro variables show weak associations with academic variables.</a:t>
            </a:r>
          </a:p>
        </p:txBody>
      </p:sp>
      <p:sp>
        <p:nvSpPr>
          <p:cNvPr id="21" name="Text 15">
            <a:extLst xmlns:a="http://schemas.openxmlformats.org/drawingml/2006/main">
              <a:ext uri="{FF2B5EF4-FFF2-40B4-BE49-F238E27FC236}">
                <a16:creationId xmlns:a16="http://schemas.microsoft.com/office/drawing/2014/main" id="{3D5C2C12-905F-4542-ABF0-BF8B6ACAC804}"/>
              </a:ext>
            </a:extLst>
          </p:cNvPr>
          <p:cNvSpPr>
            <a:spLocks xmlns:a="http://schemas.openxmlformats.org/drawingml/2006/main" noGrp="1"/>
          </p:cNvSpPr>
          <p:nvPr/>
        </p:nvSpPr>
        <p:spPr>
          <a:xfrm xmlns:a="http://schemas.openxmlformats.org/drawingml/2006/main">
            <a:off x="9620402" y="8191195"/>
            <a:ext cx="7525512" cy="1335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FF5CA0"/>
                </a:solidFill>
                <a:latin typeface="JetBrains Mono"/>
                <a:ea typeface="JetBrains Mono"/>
                <a:cs typeface="JetBrains Mono"/>
              </a:rPr>
              <a:t>Modelling implication</a:t>
            </a:r>
          </a:p>
        </p:txBody>
      </p:sp>
      <p:sp>
        <p:nvSpPr>
          <p:cNvPr id="22" name="Text 16">
            <a:extLst xmlns:a="http://schemas.openxmlformats.org/drawingml/2006/main">
              <a:ext uri="{FF2B5EF4-FFF2-40B4-BE49-F238E27FC236}">
                <a16:creationId xmlns:a16="http://schemas.microsoft.com/office/drawing/2014/main" id="{F6C6C5E3-ACFF-45FD-A41C-137D28D6DA9B}"/>
              </a:ext>
            </a:extLst>
          </p:cNvPr>
          <p:cNvSpPr>
            <a:spLocks xmlns:a="http://schemas.openxmlformats.org/drawingml/2006/main" noGrp="1"/>
          </p:cNvSpPr>
          <p:nvPr/>
        </p:nvSpPr>
        <p:spPr>
          <a:xfrm xmlns:a="http://schemas.openxmlformats.org/drawingml/2006/main">
            <a:off x="9620402" y="8401507"/>
            <a:ext cx="7525512" cy="4480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100">
                <a:solidFill>
                  <a:srgbClr val="FFFFFF"/>
                </a:solidFill>
                <a:latin typeface="Inter"/>
                <a:ea typeface="Inter"/>
                <a:cs typeface="Inter"/>
              </a:rPr>
              <a:t>Semester completion and grade explain dropout, but they occur after enrolment. The portable UCI snapshot therefore keeps only entry-time fields; the six-feature model is a supporting baseline.</a:t>
            </a:r>
          </a:p>
        </p:txBody>
      </p:sp>
    </p:spTree>
    <p:extLst>
      <p:ext uri="{BB962C8B-B14F-4D97-AF65-F5344CB8AC3E}">
        <p14:creationId xmlns:p14="http://schemas.microsoft.com/office/powerpoint/2010/main" val="415872515"/>
      </p:ext>
    </p:extLst>
  </p:cSld>
</p:sld>
</file>

<file path=ppt/slides/slide7.xml><?xml version="1.0" encoding="utf-8"?>
<p:sld xmlns:p="http://schemas.openxmlformats.org/presentationml/2006/main">
  <p:cSld>
    <p:bg>
      <p:bgPr>
        <a:solidFill xmlns:a="http://schemas.openxmlformats.org/drawingml/2006/main">
          <a:srgbClr val="F7F7FB"/>
        </a:solidFill>
      </p:bgPr>
    </p:bg>
    <p:spTree>
      <p:nvGrpSpPr>
        <p:cNvPr id="1" name=""/>
        <p:cNvGrpSpPr/>
        <p:nvPr/>
      </p:nvGrpSpPr>
      <p:grpSpPr>
        <a:xfrm xmlns:a="http://schemas.openxmlformats.org/drawingml/2006/main"/>
      </p:grpSpPr>
      <p:pic>
        <p:nvPicPr>
          <p:cNvPr id="27" name="Image 0"/>
          <p:cNvPicPr>
            <a:picLocks xmlns:a="http://schemas.openxmlformats.org/drawingml/2006/main" noChangeAspect="1"/>
          </p:cNvPicPr>
          <p:nvPr/>
        </p:nvPicPr>
        <p:blipFill>
          <a:blip xmlns:r="http://schemas.openxmlformats.org/officeDocument/2006/relationships" xmlns:a="http://schemas.openxmlformats.org/drawingml/2006/main" r:embed="R5ee3b87f14ce4300"/>
          <a:srcRect xmlns:a="http://schemas.openxmlformats.org/drawingml/2006/main" l="-2083" t="0" r="-2083" b="0"/>
          <a:stretch xmlns:a="http://schemas.openxmlformats.org/drawingml/2006/main"/>
        </p:blipFill>
        <p:spPr>
          <a:xfrm xmlns:a="http://schemas.openxmlformats.org/drawingml/2006/main">
            <a:off x="761695" y="761695"/>
            <a:ext cx="16763695" cy="9144"/>
          </a:xfrm>
          <a:prstGeom xmlns:a="http://schemas.openxmlformats.org/drawingml/2006/main" prst="rect">
            <a:avLst/>
          </a:prstGeom>
        </p:spPr>
      </p:pic>
      <p:sp>
        <p:nvSpPr>
          <p:cNvPr id="4" name="Shape 0">
            <a:extLst xmlns:a="http://schemas.openxmlformats.org/drawingml/2006/main">
              <a:ext uri="{FF2B5EF4-FFF2-40B4-BE49-F238E27FC236}">
                <a16:creationId xmlns:a16="http://schemas.microsoft.com/office/drawing/2014/main" id="{481F4B35-8B44-4600-87BF-9AB2D7233657}"/>
              </a:ext>
            </a:extLst>
          </p:cNvPr>
          <p:cNvSpPr>
            <a:spLocks xmlns:a="http://schemas.openxmlformats.org/drawingml/2006/main" noGrp="1"/>
          </p:cNvSpPr>
          <p:nvPr/>
        </p:nvSpPr>
        <p:spPr>
          <a:xfrm xmlns:a="http://schemas.openxmlformats.org/drawingml/2006/main">
            <a:off x="761695" y="2381098"/>
            <a:ext cx="8305495" cy="4686300"/>
          </a:xfrm>
          <a:prstGeom xmlns:a="http://schemas.openxmlformats.org/drawingml/2006/main" prst="roundRect">
            <a:avLst>
              <a:gd name="adj" fmla="val 410"/>
            </a:avLst>
          </a:prstGeom>
          <a:solidFill xmlns:a="http://schemas.openxmlformats.org/drawingml/2006/main">
            <a:srgbClr val="FFFFFF"/>
          </a:solidFill>
          <a:ln xmlns:a="http://schemas.openxmlformats.org/drawingml/2006/main" w="12700">
            <a:solidFill>
              <a:srgbClr val="E4E5EF"/>
            </a:solidFill>
            <a:prstDash val="solid"/>
          </a:ln>
        </p:spPr>
      </p:sp>
      <p:sp>
        <p:nvSpPr>
          <p:cNvPr id="5" name="Shape 1">
            <a:extLst xmlns:a="http://schemas.openxmlformats.org/drawingml/2006/main">
              <a:ext uri="{FF2B5EF4-FFF2-40B4-BE49-F238E27FC236}">
                <a16:creationId xmlns:a16="http://schemas.microsoft.com/office/drawing/2014/main" id="{F5E30B67-20B7-4133-AC3E-B8FEA9F600EE}"/>
              </a:ext>
            </a:extLst>
          </p:cNvPr>
          <p:cNvSpPr>
            <a:spLocks xmlns:a="http://schemas.openxmlformats.org/drawingml/2006/main" noGrp="1"/>
          </p:cNvSpPr>
          <p:nvPr/>
        </p:nvSpPr>
        <p:spPr>
          <a:xfrm xmlns:a="http://schemas.openxmlformats.org/drawingml/2006/main">
            <a:off x="9239098" y="2381098"/>
            <a:ext cx="8305495" cy="4686300"/>
          </a:xfrm>
          <a:prstGeom xmlns:a="http://schemas.openxmlformats.org/drawingml/2006/main" prst="roundRect">
            <a:avLst>
              <a:gd name="adj" fmla="val 410"/>
            </a:avLst>
          </a:prstGeom>
          <a:solidFill xmlns:a="http://schemas.openxmlformats.org/drawingml/2006/main">
            <a:srgbClr val="FFFFFF"/>
          </a:solidFill>
          <a:ln xmlns:a="http://schemas.openxmlformats.org/drawingml/2006/main" w="12700">
            <a:solidFill>
              <a:srgbClr val="E4E5EF"/>
            </a:solidFill>
            <a:prstDash val="solid"/>
          </a:ln>
        </p:spPr>
      </p:sp>
      <p:sp>
        <p:nvSpPr>
          <p:cNvPr id="6" name="Shape 2">
            <a:extLst xmlns:a="http://schemas.openxmlformats.org/drawingml/2006/main">
              <a:ext uri="{FF2B5EF4-FFF2-40B4-BE49-F238E27FC236}">
                <a16:creationId xmlns:a16="http://schemas.microsoft.com/office/drawing/2014/main" id="{601075A4-2AE3-4ECB-BA1A-3AB2392E7028}"/>
              </a:ext>
            </a:extLst>
          </p:cNvPr>
          <p:cNvSpPr>
            <a:spLocks xmlns:a="http://schemas.openxmlformats.org/drawingml/2006/main" noGrp="1"/>
          </p:cNvSpPr>
          <p:nvPr/>
        </p:nvSpPr>
        <p:spPr>
          <a:xfrm xmlns:a="http://schemas.openxmlformats.org/drawingml/2006/main">
            <a:off x="9239098" y="7144207"/>
            <a:ext cx="8305495" cy="685800"/>
          </a:xfrm>
          <a:prstGeom xmlns:a="http://schemas.openxmlformats.org/drawingml/2006/main" prst="roundRect">
            <a:avLst>
              <a:gd name="adj" fmla="val 2800"/>
            </a:avLst>
          </a:prstGeom>
          <a:solidFill xmlns:a="http://schemas.openxmlformats.org/drawingml/2006/main">
            <a:srgbClr val="FFF3E9"/>
          </a:solidFill>
          <a:ln xmlns:a="http://schemas.openxmlformats.org/drawingml/2006/main" w="12700">
            <a:solidFill>
              <a:srgbClr val="E8A93A"/>
            </a:solidFill>
            <a:prstDash val="solid"/>
          </a:ln>
        </p:spPr>
      </p:sp>
      <p:sp>
        <p:nvSpPr>
          <p:cNvPr id="7" name="Shape 3">
            <a:extLst xmlns:a="http://schemas.openxmlformats.org/drawingml/2006/main">
              <a:ext uri="{FF2B5EF4-FFF2-40B4-BE49-F238E27FC236}">
                <a16:creationId xmlns:a16="http://schemas.microsoft.com/office/drawing/2014/main" id="{B514ED15-2032-4756-8F26-733501D3D794}"/>
              </a:ext>
            </a:extLst>
          </p:cNvPr>
          <p:cNvSpPr>
            <a:spLocks xmlns:a="http://schemas.openxmlformats.org/drawingml/2006/main" noGrp="1"/>
          </p:cNvSpPr>
          <p:nvPr/>
        </p:nvSpPr>
        <p:spPr>
          <a:xfrm xmlns:a="http://schemas.openxmlformats.org/drawingml/2006/main">
            <a:off x="761695" y="7905902"/>
            <a:ext cx="8353044" cy="1352398"/>
          </a:xfrm>
          <a:prstGeom xmlns:a="http://schemas.openxmlformats.org/drawingml/2006/main" prst="roundRect">
            <a:avLst>
              <a:gd name="adj" fmla="val 1420"/>
            </a:avLst>
          </a:prstGeom>
          <a:solidFill xmlns:a="http://schemas.openxmlformats.org/drawingml/2006/main">
            <a:srgbClr val="FFFFFF"/>
          </a:solidFill>
          <a:ln xmlns:a="http://schemas.openxmlformats.org/drawingml/2006/main" w="12700">
            <a:solidFill>
              <a:srgbClr val="E4E5EF"/>
            </a:solidFill>
            <a:prstDash val="solid"/>
          </a:ln>
        </p:spPr>
      </p:sp>
      <p:sp>
        <p:nvSpPr>
          <p:cNvPr id="8" name="Shape 4">
            <a:extLst xmlns:a="http://schemas.openxmlformats.org/drawingml/2006/main">
              <a:ext uri="{FF2B5EF4-FFF2-40B4-BE49-F238E27FC236}">
                <a16:creationId xmlns:a16="http://schemas.microsoft.com/office/drawing/2014/main" id="{04E42134-7158-4DAD-98CF-2464CCFD4815}"/>
              </a:ext>
            </a:extLst>
          </p:cNvPr>
          <p:cNvSpPr>
            <a:spLocks xmlns:a="http://schemas.openxmlformats.org/drawingml/2006/main" noGrp="1"/>
          </p:cNvSpPr>
          <p:nvPr/>
        </p:nvSpPr>
        <p:spPr>
          <a:xfrm xmlns:a="http://schemas.openxmlformats.org/drawingml/2006/main">
            <a:off x="761695" y="7905902"/>
            <a:ext cx="57607" cy="1352398"/>
          </a:xfrm>
          <a:prstGeom xmlns:a="http://schemas.openxmlformats.org/drawingml/2006/main" prst="roundRect">
            <a:avLst>
              <a:gd name="adj" fmla="val 33333"/>
            </a:avLst>
          </a:prstGeom>
          <a:solidFill xmlns:a="http://schemas.openxmlformats.org/drawingml/2006/main">
            <a:srgbClr val="2A2E7A"/>
          </a:solidFill>
          <a:ln xmlns:a="http://schemas.openxmlformats.org/drawingml/2006/main" w="12700">
            <a:solidFill>
              <a:srgbClr val="2A2E7A">
                <a:alpha val="0"/>
              </a:srgbClr>
            </a:solidFill>
            <a:prstDash val="solid"/>
          </a:ln>
        </p:spPr>
      </p:sp>
      <p:sp>
        <p:nvSpPr>
          <p:cNvPr id="9" name="Shape 5">
            <a:extLst xmlns:a="http://schemas.openxmlformats.org/drawingml/2006/main">
              <a:ext uri="{FF2B5EF4-FFF2-40B4-BE49-F238E27FC236}">
                <a16:creationId xmlns:a16="http://schemas.microsoft.com/office/drawing/2014/main" id="{1482BC94-F5B7-4786-AD10-9B3C55050333}"/>
              </a:ext>
            </a:extLst>
          </p:cNvPr>
          <p:cNvSpPr>
            <a:spLocks xmlns:a="http://schemas.openxmlformats.org/drawingml/2006/main" noGrp="1"/>
          </p:cNvSpPr>
          <p:nvPr/>
        </p:nvSpPr>
        <p:spPr>
          <a:xfrm xmlns:a="http://schemas.openxmlformats.org/drawingml/2006/main">
            <a:off x="9239098" y="7905902"/>
            <a:ext cx="8287207" cy="1333195"/>
          </a:xfrm>
          <a:prstGeom xmlns:a="http://schemas.openxmlformats.org/drawingml/2006/main" prst="roundRect">
            <a:avLst>
              <a:gd name="adj" fmla="val 1440"/>
            </a:avLst>
          </a:prstGeom>
          <a:solidFill xmlns:a="http://schemas.openxmlformats.org/drawingml/2006/main">
            <a:srgbClr val="1A1D5C"/>
          </a:solidFill>
          <a:ln xmlns:a="http://schemas.openxmlformats.org/drawingml/2006/main" w="12700">
            <a:solidFill>
              <a:srgbClr val="FFFFFF">
                <a:alpha val="0"/>
              </a:srgbClr>
            </a:solidFill>
            <a:prstDash val="solid"/>
          </a:ln>
        </p:spPr>
      </p:sp>
      <p:pic>
        <p:nvPicPr>
          <p:cNvPr id="34" name="Image 1"/>
          <p:cNvPicPr>
            <a:picLocks xmlns:a="http://schemas.openxmlformats.org/drawingml/2006/main" noChangeAspect="1"/>
          </p:cNvPicPr>
          <p:nvPr/>
        </p:nvPicPr>
        <p:blipFill>
          <a:blip xmlns:r="http://schemas.openxmlformats.org/officeDocument/2006/relationships" xmlns:a="http://schemas.openxmlformats.org/drawingml/2006/main" r:embed="R7351c272767b4752"/>
          <a:srcRect xmlns:a="http://schemas.openxmlformats.org/drawingml/2006/main" l="-6952" t="0" r="-6952" b="0"/>
          <a:stretch xmlns:a="http://schemas.openxmlformats.org/drawingml/2006/main"/>
        </p:blipFill>
        <p:spPr>
          <a:xfrm xmlns:a="http://schemas.openxmlformats.org/drawingml/2006/main">
            <a:off x="1047902" y="3095244"/>
            <a:ext cx="7715707" cy="3810305"/>
          </a:xfrm>
          <a:prstGeom xmlns:a="http://schemas.openxmlformats.org/drawingml/2006/main" prst="rect">
            <a:avLst/>
          </a:prstGeom>
        </p:spPr>
      </p:pic>
      <p:pic>
        <p:nvPicPr>
          <p:cNvPr id="35" name="Image 2"/>
          <p:cNvPicPr>
            <a:picLocks xmlns:a="http://schemas.openxmlformats.org/drawingml/2006/main" noChangeAspect="1"/>
          </p:cNvPicPr>
          <p:nvPr/>
        </p:nvPicPr>
        <p:blipFill>
          <a:blip xmlns:r="http://schemas.openxmlformats.org/officeDocument/2006/relationships" xmlns:a="http://schemas.openxmlformats.org/drawingml/2006/main" r:embed="Rc76b2172b35d4883"/>
          <a:srcRect xmlns:a="http://schemas.openxmlformats.org/drawingml/2006/main" l="-6952" t="0" r="-6952" b="0"/>
          <a:stretch xmlns:a="http://schemas.openxmlformats.org/drawingml/2006/main"/>
        </p:blipFill>
        <p:spPr>
          <a:xfrm xmlns:a="http://schemas.openxmlformats.org/drawingml/2006/main">
            <a:off x="9525305" y="3095244"/>
            <a:ext cx="7715707" cy="3810305"/>
          </a:xfrm>
          <a:prstGeom xmlns:a="http://schemas.openxmlformats.org/drawingml/2006/main" prst="rect">
            <a:avLst/>
          </a:prstGeom>
        </p:spPr>
      </p:pic>
      <p:sp>
        <p:nvSpPr>
          <p:cNvPr id="12" name="Text 6">
            <a:extLst xmlns:a="http://schemas.openxmlformats.org/drawingml/2006/main">
              <a:ext uri="{FF2B5EF4-FFF2-40B4-BE49-F238E27FC236}">
                <a16:creationId xmlns:a16="http://schemas.microsoft.com/office/drawing/2014/main" id="{9F407981-F9D3-476B-90B2-23A623B09EEE}"/>
              </a:ext>
            </a:extLst>
          </p:cNvPr>
          <p:cNvSpPr>
            <a:spLocks xmlns:a="http://schemas.openxmlformats.org/drawingml/2006/main" noGrp="1"/>
          </p:cNvSpPr>
          <p:nvPr/>
        </p:nvSpPr>
        <p:spPr>
          <a:xfrm xmlns:a="http://schemas.openxmlformats.org/drawingml/2006/main">
            <a:off x="761695" y="428854"/>
            <a:ext cx="8572500" cy="152705"/>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000">
                <a:solidFill>
                  <a:srgbClr val="6A6F8C"/>
                </a:solidFill>
                <a:latin typeface="JetBrains Mono"/>
                <a:ea typeface="JetBrains Mono"/>
                <a:cs typeface="JetBrains Mono"/>
              </a:rPr>
              <a:t>§ 03 · EDA · OULAD findings · 3 of 3</a:t>
            </a:r>
          </a:p>
        </p:txBody>
      </p:sp>
      <p:sp>
        <p:nvSpPr>
          <p:cNvPr id="13" name="Text 7">
            <a:extLst xmlns:a="http://schemas.openxmlformats.org/drawingml/2006/main">
              <a:ext uri="{FF2B5EF4-FFF2-40B4-BE49-F238E27FC236}">
                <a16:creationId xmlns:a16="http://schemas.microsoft.com/office/drawing/2014/main" id="{8CABD0D8-2A8E-45AC-A07C-CDB8717BDC13}"/>
              </a:ext>
            </a:extLst>
          </p:cNvPr>
          <p:cNvSpPr>
            <a:spLocks xmlns:a="http://schemas.openxmlformats.org/drawingml/2006/main" noGrp="1"/>
          </p:cNvSpPr>
          <p:nvPr/>
        </p:nvSpPr>
        <p:spPr>
          <a:xfrm xmlns:a="http://schemas.openxmlformats.org/drawingml/2006/main">
            <a:off x="15240305" y="428854"/>
            <a:ext cx="2286000" cy="152705"/>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r">
              <a:buNone/>
            </a:pPr>
            <a:r>
              <a:rPr sz="1000">
                <a:solidFill>
                  <a:srgbClr val="6A6F8C"/>
                </a:solidFill>
                <a:latin typeface="JetBrains Mono"/>
                <a:ea typeface="JetBrains Mono"/>
                <a:cs typeface="JetBrains Mono"/>
              </a:rPr>
              <a:t>07 / 20</a:t>
            </a:r>
          </a:p>
        </p:txBody>
      </p:sp>
      <p:sp>
        <p:nvSpPr>
          <p:cNvPr id="14" name="Text 8">
            <a:extLst xmlns:a="http://schemas.openxmlformats.org/drawingml/2006/main">
              <a:ext uri="{FF2B5EF4-FFF2-40B4-BE49-F238E27FC236}">
                <a16:creationId xmlns:a16="http://schemas.microsoft.com/office/drawing/2014/main" id="{47F0E758-7E26-4F80-94D5-1B0D5C72D675}"/>
              </a:ext>
            </a:extLst>
          </p:cNvPr>
          <p:cNvSpPr>
            <a:spLocks xmlns:a="http://schemas.openxmlformats.org/drawingml/2006/main" noGrp="1"/>
          </p:cNvSpPr>
          <p:nvPr/>
        </p:nvSpPr>
        <p:spPr>
          <a:xfrm xmlns:a="http://schemas.openxmlformats.org/drawingml/2006/main">
            <a:off x="761695" y="1238098"/>
            <a:ext cx="17800625" cy="419710"/>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3000" b="1">
                <a:solidFill>
                  <a:srgbClr val="0F1226"/>
                </a:solidFill>
                <a:latin typeface="Inter"/>
                <a:ea typeface="Inter"/>
                <a:cs typeface="Inter"/>
              </a:rPr>
              <a:t>OULAD shows why participation, completion, and score must be represented.</a:t>
            </a:r>
          </a:p>
        </p:txBody>
      </p:sp>
      <p:sp>
        <p:nvSpPr>
          <p:cNvPr id="15" name="Text 9">
            <a:extLst xmlns:a="http://schemas.openxmlformats.org/drawingml/2006/main">
              <a:ext uri="{FF2B5EF4-FFF2-40B4-BE49-F238E27FC236}">
                <a16:creationId xmlns:a16="http://schemas.microsoft.com/office/drawing/2014/main" id="{EE08053B-E73C-480B-A903-598C2B32E6A3}"/>
              </a:ext>
            </a:extLst>
          </p:cNvPr>
          <p:cNvSpPr>
            <a:spLocks xmlns:a="http://schemas.openxmlformats.org/drawingml/2006/main" noGrp="1"/>
          </p:cNvSpPr>
          <p:nvPr/>
        </p:nvSpPr>
        <p:spPr>
          <a:xfrm xmlns:a="http://schemas.openxmlformats.org/drawingml/2006/main">
            <a:off x="1047902" y="2572207"/>
            <a:ext cx="7715707" cy="1335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E4237A"/>
                </a:solidFill>
                <a:latin typeface="JetBrains Mono"/>
                <a:ea typeface="JetBrains Mono"/>
                <a:cs typeface="JetBrains Mono"/>
              </a:rPr>
              <a:t>FIG · Log VLE clicks by final result</a:t>
            </a:r>
          </a:p>
        </p:txBody>
      </p:sp>
      <p:sp>
        <p:nvSpPr>
          <p:cNvPr id="16" name="Text 10">
            <a:extLst xmlns:a="http://schemas.openxmlformats.org/drawingml/2006/main">
              <a:ext uri="{FF2B5EF4-FFF2-40B4-BE49-F238E27FC236}">
                <a16:creationId xmlns:a16="http://schemas.microsoft.com/office/drawing/2014/main" id="{89810D42-E45F-40B9-A4BB-E788975B20F3}"/>
              </a:ext>
            </a:extLst>
          </p:cNvPr>
          <p:cNvSpPr>
            <a:spLocks xmlns:a="http://schemas.openxmlformats.org/drawingml/2006/main" noGrp="1"/>
          </p:cNvSpPr>
          <p:nvPr/>
        </p:nvSpPr>
        <p:spPr>
          <a:xfrm xmlns:a="http://schemas.openxmlformats.org/drawingml/2006/main">
            <a:off x="1047902" y="2743200"/>
            <a:ext cx="7715707" cy="181051"/>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100">
                <a:solidFill>
                  <a:srgbClr val="2A2E4B"/>
                </a:solidFill>
                <a:latin typeface="Inter"/>
                <a:ea typeface="Inter"/>
                <a:cs typeface="Inter"/>
              </a:rPr>
              <a:t>Withdrawn students show lower VLE activity than successful students.</a:t>
            </a:r>
          </a:p>
        </p:txBody>
      </p:sp>
      <p:sp>
        <p:nvSpPr>
          <p:cNvPr id="17" name="Text 11">
            <a:extLst xmlns:a="http://schemas.openxmlformats.org/drawingml/2006/main">
              <a:ext uri="{FF2B5EF4-FFF2-40B4-BE49-F238E27FC236}">
                <a16:creationId xmlns:a16="http://schemas.microsoft.com/office/drawing/2014/main" id="{DE7C9503-EA2F-44A8-A883-A6F5749650CC}"/>
              </a:ext>
            </a:extLst>
          </p:cNvPr>
          <p:cNvSpPr>
            <a:spLocks xmlns:a="http://schemas.openxmlformats.org/drawingml/2006/main" noGrp="1"/>
          </p:cNvSpPr>
          <p:nvPr/>
        </p:nvSpPr>
        <p:spPr>
          <a:xfrm xmlns:a="http://schemas.openxmlformats.org/drawingml/2006/main">
            <a:off x="9525305" y="2572207"/>
            <a:ext cx="7715707" cy="1335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E4237A"/>
                </a:solidFill>
                <a:latin typeface="JetBrains Mono"/>
                <a:ea typeface="JetBrains Mono"/>
                <a:cs typeface="JetBrains Mono"/>
              </a:rPr>
              <a:t>FIG · Mean assessment score by final result</a:t>
            </a:r>
          </a:p>
        </p:txBody>
      </p:sp>
      <p:sp>
        <p:nvSpPr>
          <p:cNvPr id="18" name="Text 12">
            <a:extLst xmlns:a="http://schemas.openxmlformats.org/drawingml/2006/main">
              <a:ext uri="{FF2B5EF4-FFF2-40B4-BE49-F238E27FC236}">
                <a16:creationId xmlns:a16="http://schemas.microsoft.com/office/drawing/2014/main" id="{A7F2209C-B167-4562-ADBA-37C5B66C6046}"/>
              </a:ext>
            </a:extLst>
          </p:cNvPr>
          <p:cNvSpPr>
            <a:spLocks xmlns:a="http://schemas.openxmlformats.org/drawingml/2006/main" noGrp="1"/>
          </p:cNvSpPr>
          <p:nvPr/>
        </p:nvSpPr>
        <p:spPr>
          <a:xfrm xmlns:a="http://schemas.openxmlformats.org/drawingml/2006/main">
            <a:off x="9525305" y="2743200"/>
            <a:ext cx="7715707" cy="181051"/>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100">
                <a:solidFill>
                  <a:srgbClr val="2A2E4B"/>
                </a:solidFill>
                <a:latin typeface="Inter"/>
                <a:ea typeface="Inter"/>
                <a:cs typeface="Inter"/>
              </a:rPr>
              <a:t>Distinction students clearly separate; Withdrawn distribution is wide and low.</a:t>
            </a:r>
          </a:p>
        </p:txBody>
      </p:sp>
      <p:sp>
        <p:nvSpPr>
          <p:cNvPr id="19" name="Text 13">
            <a:extLst xmlns:a="http://schemas.openxmlformats.org/drawingml/2006/main">
              <a:ext uri="{FF2B5EF4-FFF2-40B4-BE49-F238E27FC236}">
                <a16:creationId xmlns:a16="http://schemas.microsoft.com/office/drawing/2014/main" id="{00168E7F-2EE0-4F1D-8F1B-2ED32D5D59D7}"/>
              </a:ext>
            </a:extLst>
          </p:cNvPr>
          <p:cNvSpPr>
            <a:spLocks xmlns:a="http://schemas.openxmlformats.org/drawingml/2006/main" noGrp="1"/>
          </p:cNvSpPr>
          <p:nvPr/>
        </p:nvSpPr>
        <p:spPr>
          <a:xfrm xmlns:a="http://schemas.openxmlformats.org/drawingml/2006/main">
            <a:off x="9430207" y="7258507"/>
            <a:ext cx="7905902" cy="372161"/>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a:solidFill>
                  <a:srgbClr val="2A2E4B"/>
                </a:solidFill>
                <a:latin typeface="JetBrains Mono"/>
                <a:ea typeface="JetBrains Mono"/>
                <a:cs typeface="JetBrains Mono"/>
              </a:rPr>
              <a:t>Full-course EDA motivates rates. Dynamic modelling rebuilds them only through each snapshot and removes earlier withdrawals.</a:t>
            </a:r>
          </a:p>
        </p:txBody>
      </p:sp>
      <p:sp>
        <p:nvSpPr>
          <p:cNvPr id="20" name="Text 14">
            <a:extLst xmlns:a="http://schemas.openxmlformats.org/drawingml/2006/main">
              <a:ext uri="{FF2B5EF4-FFF2-40B4-BE49-F238E27FC236}">
                <a16:creationId xmlns:a16="http://schemas.microsoft.com/office/drawing/2014/main" id="{3F8E92F4-8C67-4975-9683-29AFA4DC188E}"/>
              </a:ext>
            </a:extLst>
          </p:cNvPr>
          <p:cNvSpPr>
            <a:spLocks xmlns:a="http://schemas.openxmlformats.org/drawingml/2006/main" noGrp="1"/>
          </p:cNvSpPr>
          <p:nvPr/>
        </p:nvSpPr>
        <p:spPr>
          <a:xfrm xmlns:a="http://schemas.openxmlformats.org/drawingml/2006/main">
            <a:off x="1143000" y="8096098"/>
            <a:ext cx="7525512" cy="1335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2A2E7A"/>
                </a:solidFill>
                <a:latin typeface="JetBrains Mono"/>
                <a:ea typeface="JetBrains Mono"/>
                <a:cs typeface="JetBrains Mono"/>
              </a:rPr>
              <a:t>What we see</a:t>
            </a:r>
          </a:p>
        </p:txBody>
      </p:sp>
      <p:sp>
        <p:nvSpPr>
          <p:cNvPr id="21" name="Text 15">
            <a:extLst xmlns:a="http://schemas.openxmlformats.org/drawingml/2006/main">
              <a:ext uri="{FF2B5EF4-FFF2-40B4-BE49-F238E27FC236}">
                <a16:creationId xmlns:a16="http://schemas.microsoft.com/office/drawing/2014/main" id="{F7D2F5E6-7C64-4390-B03B-1FA1A41826E3}"/>
              </a:ext>
            </a:extLst>
          </p:cNvPr>
          <p:cNvSpPr>
            <a:spLocks xmlns:a="http://schemas.openxmlformats.org/drawingml/2006/main" noGrp="1"/>
          </p:cNvSpPr>
          <p:nvPr/>
        </p:nvSpPr>
        <p:spPr>
          <a:xfrm xmlns:a="http://schemas.openxmlformats.org/drawingml/2006/main">
            <a:off x="1143000" y="8305495"/>
            <a:ext cx="7525512" cy="42885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100">
                <a:solidFill>
                  <a:srgbClr val="2A2E4B"/>
                </a:solidFill>
                <a:latin typeface="Inter"/>
                <a:ea typeface="Inter"/>
                <a:cs typeface="Inter"/>
              </a:rPr>
              <a:t>Withdrawn students have lower VLE activity and lower or missing assessment scores. Distinction students separate cleanly at high scores. Distributions overlap — </a:t>
            </a:r>
            <a:r>
              <a:rPr sz="1100" b="1">
                <a:solidFill>
                  <a:srgbClr val="0F1226"/>
                </a:solidFill>
                <a:latin typeface="Inter"/>
                <a:ea typeface="Inter"/>
                <a:cs typeface="Inter"/>
              </a:rPr>
              <a:t>no single measure is sufficient</a:t>
            </a:r>
            <a:r>
              <a:rPr sz="1100">
                <a:solidFill>
                  <a:srgbClr val="2A2E4B"/>
                </a:solidFill>
                <a:latin typeface="Inter"/>
                <a:ea typeface="Inter"/>
                <a:cs typeface="Inter"/>
              </a:rPr>
              <a:t> for prediction.</a:t>
            </a:r>
          </a:p>
        </p:txBody>
      </p:sp>
      <p:sp>
        <p:nvSpPr>
          <p:cNvPr id="22" name="Text 16">
            <a:extLst xmlns:a="http://schemas.openxmlformats.org/drawingml/2006/main">
              <a:ext uri="{FF2B5EF4-FFF2-40B4-BE49-F238E27FC236}">
                <a16:creationId xmlns:a16="http://schemas.microsoft.com/office/drawing/2014/main" id="{114607C9-4D1E-4DB8-8776-DB3BF03BE37B}"/>
              </a:ext>
            </a:extLst>
          </p:cNvPr>
          <p:cNvSpPr>
            <a:spLocks xmlns:a="http://schemas.openxmlformats.org/drawingml/2006/main" noGrp="1"/>
          </p:cNvSpPr>
          <p:nvPr/>
        </p:nvSpPr>
        <p:spPr>
          <a:xfrm xmlns:a="http://schemas.openxmlformats.org/drawingml/2006/main">
            <a:off x="9620402" y="8096098"/>
            <a:ext cx="7525512" cy="1335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FF5CA0"/>
                </a:solidFill>
                <a:latin typeface="JetBrains Mono"/>
                <a:ea typeface="JetBrains Mono"/>
                <a:cs typeface="JetBrains Mono"/>
              </a:rPr>
              <a:t>Modelling implication</a:t>
            </a:r>
          </a:p>
        </p:txBody>
      </p:sp>
      <p:sp>
        <p:nvSpPr>
          <p:cNvPr id="23" name="Text 17">
            <a:extLst xmlns:a="http://schemas.openxmlformats.org/drawingml/2006/main">
              <a:ext uri="{FF2B5EF4-FFF2-40B4-BE49-F238E27FC236}">
                <a16:creationId xmlns:a16="http://schemas.microsoft.com/office/drawing/2014/main" id="{6F5A4A7B-965A-4702-9B0B-408966A25927}"/>
              </a:ext>
            </a:extLst>
          </p:cNvPr>
          <p:cNvSpPr>
            <a:spLocks xmlns:a="http://schemas.openxmlformats.org/drawingml/2006/main" noGrp="1"/>
          </p:cNvSpPr>
          <p:nvPr/>
        </p:nvSpPr>
        <p:spPr>
          <a:xfrm xmlns:a="http://schemas.openxmlformats.org/drawingml/2006/main">
            <a:off x="9620402" y="8305495"/>
            <a:ext cx="7525512" cy="42885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100">
                <a:solidFill>
                  <a:srgbClr val="FFFFFF"/>
                </a:solidFill>
                <a:latin typeface="Inter"/>
                <a:ea typeface="Inter"/>
                <a:cs typeface="Inter"/>
              </a:rPr>
              <a:t>Map dated events to assessment completion, normalized score, active-day rate, and activity recency.</a:t>
            </a:r>
          </a:p>
        </p:txBody>
      </p:sp>
    </p:spTree>
    <p:extLst>
      <p:ext uri="{BB962C8B-B14F-4D97-AF65-F5344CB8AC3E}">
        <p14:creationId xmlns:p14="http://schemas.microsoft.com/office/powerpoint/2010/main" val="356097026"/>
      </p:ext>
    </p:extLst>
  </p:cSld>
</p:sld>
</file>

<file path=ppt/slides/slide8.xml><?xml version="1.0" encoding="utf-8"?>
<p:sld xmlns:p="http://schemas.openxmlformats.org/presentationml/2006/main">
  <p:cSld>
    <p:bg>
      <p:bgPr>
        <a:solidFill xmlns:a="http://schemas.openxmlformats.org/drawingml/2006/main">
          <a:srgbClr val="F7F7FB"/>
        </a:solidFill>
      </p:bgPr>
    </p:bg>
    <p:spTree>
      <p:nvGrpSpPr>
        <p:cNvPr id="1" name=""/>
        <p:cNvGrpSpPr/>
        <p:nvPr/>
      </p:nvGrpSpPr>
      <p:grpSpPr>
        <a:xfrm xmlns:a="http://schemas.openxmlformats.org/drawingml/2006/main"/>
      </p:grpSpPr>
      <p:pic>
        <p:nvPicPr>
          <p:cNvPr id="54" name="Image 0"/>
          <p:cNvPicPr>
            <a:picLocks xmlns:a="http://schemas.openxmlformats.org/drawingml/2006/main" noChangeAspect="1"/>
          </p:cNvPicPr>
          <p:nvPr/>
        </p:nvPicPr>
        <p:blipFill>
          <a:blip xmlns:r="http://schemas.openxmlformats.org/officeDocument/2006/relationships" xmlns:a="http://schemas.openxmlformats.org/drawingml/2006/main" r:embed="R25e7293de5104f72"/>
          <a:srcRect xmlns:a="http://schemas.openxmlformats.org/drawingml/2006/main" l="-2083" t="0" r="-2083" b="0"/>
          <a:stretch xmlns:a="http://schemas.openxmlformats.org/drawingml/2006/main"/>
        </p:blipFill>
        <p:spPr>
          <a:xfrm xmlns:a="http://schemas.openxmlformats.org/drawingml/2006/main">
            <a:off x="761695" y="761695"/>
            <a:ext cx="16763695" cy="9144"/>
          </a:xfrm>
          <a:prstGeom xmlns:a="http://schemas.openxmlformats.org/drawingml/2006/main" prst="rect">
            <a:avLst/>
          </a:prstGeom>
        </p:spPr>
      </p:pic>
      <p:sp>
        <p:nvSpPr>
          <p:cNvPr id="4" name="Shape 0">
            <a:extLst xmlns:a="http://schemas.openxmlformats.org/drawingml/2006/main">
              <a:ext uri="{FF2B5EF4-FFF2-40B4-BE49-F238E27FC236}">
                <a16:creationId xmlns:a16="http://schemas.microsoft.com/office/drawing/2014/main" id="{0A57E68D-037C-4E45-A589-6E7117E2BA8E}"/>
              </a:ext>
            </a:extLst>
          </p:cNvPr>
          <p:cNvSpPr>
            <a:spLocks xmlns:a="http://schemas.openxmlformats.org/drawingml/2006/main" noGrp="1"/>
          </p:cNvSpPr>
          <p:nvPr/>
        </p:nvSpPr>
        <p:spPr>
          <a:xfrm xmlns:a="http://schemas.openxmlformats.org/drawingml/2006/main">
            <a:off x="761695" y="2762402"/>
            <a:ext cx="16782898" cy="2876702"/>
          </a:xfrm>
          <a:prstGeom xmlns:a="http://schemas.openxmlformats.org/drawingml/2006/main" prst="roundRect">
            <a:avLst>
              <a:gd name="adj" fmla="val 668"/>
            </a:avLst>
          </a:prstGeom>
          <a:solidFill xmlns:a="http://schemas.openxmlformats.org/drawingml/2006/main">
            <a:srgbClr val="FFFFFF"/>
          </a:solidFill>
          <a:ln xmlns:a="http://schemas.openxmlformats.org/drawingml/2006/main" w="12700">
            <a:solidFill>
              <a:srgbClr val="E4E5EF"/>
            </a:solidFill>
            <a:prstDash val="solid"/>
          </a:ln>
        </p:spPr>
      </p:sp>
      <p:sp>
        <p:nvSpPr>
          <p:cNvPr id="5" name="Shape 1">
            <a:extLst xmlns:a="http://schemas.openxmlformats.org/drawingml/2006/main">
              <a:ext uri="{FF2B5EF4-FFF2-40B4-BE49-F238E27FC236}">
                <a16:creationId xmlns:a16="http://schemas.microsoft.com/office/drawing/2014/main" id="{F20FA119-92B1-4F40-8556-F4CD7A4A002D}"/>
              </a:ext>
            </a:extLst>
          </p:cNvPr>
          <p:cNvSpPr>
            <a:spLocks xmlns:a="http://schemas.openxmlformats.org/drawingml/2006/main" noGrp="1"/>
          </p:cNvSpPr>
          <p:nvPr/>
        </p:nvSpPr>
        <p:spPr>
          <a:xfrm xmlns:a="http://schemas.openxmlformats.org/drawingml/2006/main">
            <a:off x="761695" y="5952744"/>
            <a:ext cx="8305495" cy="3305556"/>
          </a:xfrm>
          <a:prstGeom xmlns:a="http://schemas.openxmlformats.org/drawingml/2006/main" prst="roundRect">
            <a:avLst>
              <a:gd name="adj" fmla="val 581"/>
            </a:avLst>
          </a:prstGeom>
          <a:solidFill xmlns:a="http://schemas.openxmlformats.org/drawingml/2006/main">
            <a:srgbClr val="FFFFFF"/>
          </a:solidFill>
          <a:ln xmlns:a="http://schemas.openxmlformats.org/drawingml/2006/main" w="12700">
            <a:solidFill>
              <a:srgbClr val="E4E5EF"/>
            </a:solidFill>
            <a:prstDash val="solid"/>
          </a:ln>
        </p:spPr>
      </p:sp>
      <p:sp>
        <p:nvSpPr>
          <p:cNvPr id="6" name="Shape 2">
            <a:extLst xmlns:a="http://schemas.openxmlformats.org/drawingml/2006/main">
              <a:ext uri="{FF2B5EF4-FFF2-40B4-BE49-F238E27FC236}">
                <a16:creationId xmlns:a16="http://schemas.microsoft.com/office/drawing/2014/main" id="{52608A7A-34D5-43F7-AEAE-208D74E6B1B2}"/>
              </a:ext>
            </a:extLst>
          </p:cNvPr>
          <p:cNvSpPr>
            <a:spLocks xmlns:a="http://schemas.openxmlformats.org/drawingml/2006/main" noGrp="1"/>
          </p:cNvSpPr>
          <p:nvPr/>
        </p:nvSpPr>
        <p:spPr>
          <a:xfrm xmlns:a="http://schemas.openxmlformats.org/drawingml/2006/main">
            <a:off x="9239098" y="5952744"/>
            <a:ext cx="8287207" cy="3286354"/>
          </a:xfrm>
          <a:prstGeom xmlns:a="http://schemas.openxmlformats.org/drawingml/2006/main" prst="roundRect">
            <a:avLst>
              <a:gd name="adj" fmla="val 584"/>
            </a:avLst>
          </a:prstGeom>
          <a:solidFill xmlns:a="http://schemas.openxmlformats.org/drawingml/2006/main">
            <a:srgbClr val="1A1D5C"/>
          </a:solidFill>
          <a:ln xmlns:a="http://schemas.openxmlformats.org/drawingml/2006/main" w="12700">
            <a:solidFill>
              <a:srgbClr val="FFFFFF">
                <a:alpha val="0"/>
              </a:srgbClr>
            </a:solidFill>
            <a:prstDash val="solid"/>
          </a:ln>
        </p:spPr>
      </p:sp>
      <p:sp>
        <p:nvSpPr>
          <p:cNvPr id="7" name="Text 3">
            <a:extLst xmlns:a="http://schemas.openxmlformats.org/drawingml/2006/main">
              <a:ext uri="{FF2B5EF4-FFF2-40B4-BE49-F238E27FC236}">
                <a16:creationId xmlns:a16="http://schemas.microsoft.com/office/drawing/2014/main" id="{2198A95A-7111-4BB7-A99C-0FD44910437E}"/>
              </a:ext>
            </a:extLst>
          </p:cNvPr>
          <p:cNvSpPr>
            <a:spLocks xmlns:a="http://schemas.openxmlformats.org/drawingml/2006/main" noGrp="1"/>
          </p:cNvSpPr>
          <p:nvPr/>
        </p:nvSpPr>
        <p:spPr>
          <a:xfrm xmlns:a="http://schemas.openxmlformats.org/drawingml/2006/main">
            <a:off x="761695" y="428854"/>
            <a:ext cx="8572500" cy="152705"/>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000">
                <a:solidFill>
                  <a:srgbClr val="6A6F8C"/>
                </a:solidFill>
                <a:latin typeface="JetBrains Mono"/>
                <a:ea typeface="JetBrains Mono"/>
                <a:cs typeface="JetBrains Mono"/>
              </a:rPr>
              <a:t>§ 04 · Methodology framework</a:t>
            </a:r>
          </a:p>
        </p:txBody>
      </p:sp>
      <p:sp>
        <p:nvSpPr>
          <p:cNvPr id="8" name="Text 4">
            <a:extLst xmlns:a="http://schemas.openxmlformats.org/drawingml/2006/main">
              <a:ext uri="{FF2B5EF4-FFF2-40B4-BE49-F238E27FC236}">
                <a16:creationId xmlns:a16="http://schemas.microsoft.com/office/drawing/2014/main" id="{EE117189-351B-491D-966C-EB627CFF0BD1}"/>
              </a:ext>
            </a:extLst>
          </p:cNvPr>
          <p:cNvSpPr>
            <a:spLocks xmlns:a="http://schemas.openxmlformats.org/drawingml/2006/main" noGrp="1"/>
          </p:cNvSpPr>
          <p:nvPr/>
        </p:nvSpPr>
        <p:spPr>
          <a:xfrm xmlns:a="http://schemas.openxmlformats.org/drawingml/2006/main">
            <a:off x="15240305" y="428854"/>
            <a:ext cx="2286000" cy="152705"/>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r">
              <a:buNone/>
            </a:pPr>
            <a:r>
              <a:rPr sz="1000">
                <a:solidFill>
                  <a:srgbClr val="6A6F8C"/>
                </a:solidFill>
                <a:latin typeface="JetBrains Mono"/>
                <a:ea typeface="JetBrains Mono"/>
                <a:cs typeface="JetBrains Mono"/>
              </a:rPr>
              <a:t>08 / 20</a:t>
            </a:r>
          </a:p>
        </p:txBody>
      </p:sp>
      <p:sp>
        <p:nvSpPr>
          <p:cNvPr id="9" name="Text 5">
            <a:extLst xmlns:a="http://schemas.openxmlformats.org/drawingml/2006/main">
              <a:ext uri="{FF2B5EF4-FFF2-40B4-BE49-F238E27FC236}">
                <a16:creationId xmlns:a16="http://schemas.microsoft.com/office/drawing/2014/main" id="{3ACFE26E-CD3A-45E9-AC76-E4CD6C0504E2}"/>
              </a:ext>
            </a:extLst>
          </p:cNvPr>
          <p:cNvSpPr>
            <a:spLocks xmlns:a="http://schemas.openxmlformats.org/drawingml/2006/main" noGrp="1"/>
          </p:cNvSpPr>
          <p:nvPr/>
        </p:nvSpPr>
        <p:spPr>
          <a:xfrm xmlns:a="http://schemas.openxmlformats.org/drawingml/2006/main">
            <a:off x="761695" y="1238098"/>
            <a:ext cx="16764610" cy="523951"/>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3900" b="1">
                <a:solidFill>
                  <a:srgbClr val="0F1226"/>
                </a:solidFill>
                <a:latin typeface="Inter"/>
                <a:ea typeface="Inter"/>
                <a:cs typeface="Inter"/>
              </a:rPr>
              <a:t>A school-specific adapter feeds one fixed shared model.</a:t>
            </a:r>
          </a:p>
        </p:txBody>
      </p:sp>
      <p:sp>
        <p:nvSpPr>
          <p:cNvPr id="10" name="Text 6">
            <a:extLst xmlns:a="http://schemas.openxmlformats.org/drawingml/2006/main">
              <a:ext uri="{FF2B5EF4-FFF2-40B4-BE49-F238E27FC236}">
                <a16:creationId xmlns:a16="http://schemas.microsoft.com/office/drawing/2014/main" id="{ED63D226-383B-4016-A662-335CFBDDC68C}"/>
              </a:ext>
            </a:extLst>
          </p:cNvPr>
          <p:cNvSpPr>
            <a:spLocks xmlns:a="http://schemas.openxmlformats.org/drawingml/2006/main" noGrp="1"/>
          </p:cNvSpPr>
          <p:nvPr/>
        </p:nvSpPr>
        <p:spPr>
          <a:xfrm xmlns:a="http://schemas.openxmlformats.org/drawingml/2006/main">
            <a:off x="761695" y="1853489"/>
            <a:ext cx="16764610" cy="21031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500" i="1">
                <a:solidFill>
                  <a:srgbClr val="6A6F8C"/>
                </a:solidFill>
                <a:latin typeface="Source Serif Pro"/>
                <a:ea typeface="Source Serif Pro"/>
                <a:cs typeface="Source Serif Pro"/>
              </a:rPr>
              <a:t>One model object; no institution ID; equal institution-and-class training weight.</a:t>
            </a:r>
          </a:p>
        </p:txBody>
      </p:sp>
      <p:sp>
        <p:nvSpPr>
          <p:cNvPr id="11" name="Shape 7">
            <a:extLst xmlns:a="http://schemas.openxmlformats.org/drawingml/2006/main">
              <a:ext uri="{FF2B5EF4-FFF2-40B4-BE49-F238E27FC236}">
                <a16:creationId xmlns:a16="http://schemas.microsoft.com/office/drawing/2014/main" id="{BC084B66-2303-4713-A1F5-55FECBEBC45E}"/>
              </a:ext>
            </a:extLst>
          </p:cNvPr>
          <p:cNvSpPr>
            <a:spLocks xmlns:a="http://schemas.openxmlformats.org/drawingml/2006/main" noGrp="1"/>
          </p:cNvSpPr>
          <p:nvPr/>
        </p:nvSpPr>
        <p:spPr>
          <a:xfrm xmlns:a="http://schemas.openxmlformats.org/drawingml/2006/main">
            <a:off x="1143000" y="3095244"/>
            <a:ext cx="28346" cy="1238098"/>
          </a:xfrm>
          <a:prstGeom xmlns:a="http://schemas.openxmlformats.org/drawingml/2006/main" prst="rect">
            <a:avLst/>
          </a:prstGeom>
          <a:solidFill xmlns:a="http://schemas.openxmlformats.org/drawingml/2006/main">
            <a:srgbClr val="E4237A"/>
          </a:solidFill>
          <a:ln xmlns:a="http://schemas.openxmlformats.org/drawingml/2006/main" w="12700">
            <a:solidFill>
              <a:srgbClr val="E4237A">
                <a:alpha val="0"/>
              </a:srgbClr>
            </a:solidFill>
            <a:prstDash val="solid"/>
          </a:ln>
        </p:spPr>
      </p:sp>
      <p:sp>
        <p:nvSpPr>
          <p:cNvPr id="12" name="Text 8">
            <a:extLst xmlns:a="http://schemas.openxmlformats.org/drawingml/2006/main">
              <a:ext uri="{FF2B5EF4-FFF2-40B4-BE49-F238E27FC236}">
                <a16:creationId xmlns:a16="http://schemas.microsoft.com/office/drawing/2014/main" id="{38A257F8-B447-4D52-8E38-AE7ED690D8DC}"/>
              </a:ext>
            </a:extLst>
          </p:cNvPr>
          <p:cNvSpPr>
            <a:spLocks xmlns:a="http://schemas.openxmlformats.org/drawingml/2006/main" noGrp="1"/>
          </p:cNvSpPr>
          <p:nvPr/>
        </p:nvSpPr>
        <p:spPr>
          <a:xfrm xmlns:a="http://schemas.openxmlformats.org/drawingml/2006/main">
            <a:off x="1304849" y="3095244"/>
            <a:ext cx="2352751" cy="1335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E4237A"/>
                </a:solidFill>
                <a:latin typeface="JetBrains Mono"/>
                <a:ea typeface="JetBrains Mono"/>
                <a:cs typeface="JetBrains Mono"/>
              </a:rPr>
              <a:t>STEP 01</a:t>
            </a:r>
          </a:p>
        </p:txBody>
      </p:sp>
      <p:sp>
        <p:nvSpPr>
          <p:cNvPr id="13" name="Text 9">
            <a:extLst xmlns:a="http://schemas.openxmlformats.org/drawingml/2006/main">
              <a:ext uri="{FF2B5EF4-FFF2-40B4-BE49-F238E27FC236}">
                <a16:creationId xmlns:a16="http://schemas.microsoft.com/office/drawing/2014/main" id="{929D9ACE-6E11-4E38-9515-D48E61D83946}"/>
              </a:ext>
            </a:extLst>
          </p:cNvPr>
          <p:cNvSpPr>
            <a:spLocks xmlns:a="http://schemas.openxmlformats.org/drawingml/2006/main" noGrp="1"/>
          </p:cNvSpPr>
          <p:nvPr/>
        </p:nvSpPr>
        <p:spPr>
          <a:xfrm xmlns:a="http://schemas.openxmlformats.org/drawingml/2006/main">
            <a:off x="1304849" y="3305556"/>
            <a:ext cx="2352751" cy="2478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600" b="1">
                <a:solidFill>
                  <a:srgbClr val="0F1226"/>
                </a:solidFill>
                <a:latin typeface="Inter"/>
                <a:ea typeface="Inter"/>
                <a:cs typeface="Inter"/>
              </a:rPr>
              <a:t>Local audit</a:t>
            </a:r>
          </a:p>
        </p:txBody>
      </p:sp>
      <p:sp>
        <p:nvSpPr>
          <p:cNvPr id="14" name="Text 10">
            <a:extLst xmlns:a="http://schemas.openxmlformats.org/drawingml/2006/main">
              <a:ext uri="{FF2B5EF4-FFF2-40B4-BE49-F238E27FC236}">
                <a16:creationId xmlns:a16="http://schemas.microsoft.com/office/drawing/2014/main" id="{A96EB6CB-5E63-4AAA-A1FF-6210A7C1A90E}"/>
              </a:ext>
            </a:extLst>
          </p:cNvPr>
          <p:cNvSpPr>
            <a:spLocks xmlns:a="http://schemas.openxmlformats.org/drawingml/2006/main" noGrp="1"/>
          </p:cNvSpPr>
          <p:nvPr/>
        </p:nvSpPr>
        <p:spPr>
          <a:xfrm xmlns:a="http://schemas.openxmlformats.org/drawingml/2006/main">
            <a:off x="1304849" y="3615538"/>
            <a:ext cx="2352751" cy="71871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785"/>
              </a:lnSpc>
              <a:buNone/>
            </a:pPr>
            <a:r>
              <a:rPr sz="1000">
                <a:solidFill>
                  <a:srgbClr val="6A6F8C"/>
                </a:solidFill>
                <a:latin typeface="JetBrains Mono"/>
                <a:ea typeface="JetBrains Mono"/>
                <a:cs typeface="JetBrains Mono"/>
              </a:rPr>
              <a:t>Review raw fields | confirm snapshot | define future outcome</a:t>
            </a:r>
          </a:p>
        </p:txBody>
      </p:sp>
      <p:sp>
        <p:nvSpPr>
          <p:cNvPr id="15" name="Shape 11">
            <a:extLst xmlns:a="http://schemas.openxmlformats.org/drawingml/2006/main">
              <a:ext uri="{FF2B5EF4-FFF2-40B4-BE49-F238E27FC236}">
                <a16:creationId xmlns:a16="http://schemas.microsoft.com/office/drawing/2014/main" id="{C6BC62F3-449D-4EAA-B2CB-843F3077182E}"/>
              </a:ext>
            </a:extLst>
          </p:cNvPr>
          <p:cNvSpPr>
            <a:spLocks xmlns:a="http://schemas.openxmlformats.org/drawingml/2006/main" noGrp="1"/>
          </p:cNvSpPr>
          <p:nvPr/>
        </p:nvSpPr>
        <p:spPr>
          <a:xfrm xmlns:a="http://schemas.openxmlformats.org/drawingml/2006/main">
            <a:off x="3841394" y="3095244"/>
            <a:ext cx="28346" cy="1238098"/>
          </a:xfrm>
          <a:prstGeom xmlns:a="http://schemas.openxmlformats.org/drawingml/2006/main" prst="rect">
            <a:avLst/>
          </a:prstGeom>
          <a:solidFill xmlns:a="http://schemas.openxmlformats.org/drawingml/2006/main">
            <a:srgbClr val="E4237A"/>
          </a:solidFill>
          <a:ln xmlns:a="http://schemas.openxmlformats.org/drawingml/2006/main" w="12700">
            <a:solidFill>
              <a:srgbClr val="E4237A">
                <a:alpha val="0"/>
              </a:srgbClr>
            </a:solidFill>
            <a:prstDash val="solid"/>
          </a:ln>
        </p:spPr>
      </p:sp>
      <p:sp>
        <p:nvSpPr>
          <p:cNvPr id="16" name="Text 12">
            <a:extLst xmlns:a="http://schemas.openxmlformats.org/drawingml/2006/main">
              <a:ext uri="{FF2B5EF4-FFF2-40B4-BE49-F238E27FC236}">
                <a16:creationId xmlns:a16="http://schemas.microsoft.com/office/drawing/2014/main" id="{68FBF437-6DCE-44F8-9718-B87A6362A161}"/>
              </a:ext>
            </a:extLst>
          </p:cNvPr>
          <p:cNvSpPr>
            <a:spLocks xmlns:a="http://schemas.openxmlformats.org/drawingml/2006/main" noGrp="1"/>
          </p:cNvSpPr>
          <p:nvPr/>
        </p:nvSpPr>
        <p:spPr>
          <a:xfrm xmlns:a="http://schemas.openxmlformats.org/drawingml/2006/main">
            <a:off x="4003243" y="3095244"/>
            <a:ext cx="2352751" cy="1335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E4237A"/>
                </a:solidFill>
                <a:latin typeface="JetBrains Mono"/>
                <a:ea typeface="JetBrains Mono"/>
                <a:cs typeface="JetBrains Mono"/>
              </a:rPr>
              <a:t>STEP 02</a:t>
            </a:r>
          </a:p>
        </p:txBody>
      </p:sp>
      <p:sp>
        <p:nvSpPr>
          <p:cNvPr id="17" name="Text 13">
            <a:extLst xmlns:a="http://schemas.openxmlformats.org/drawingml/2006/main">
              <a:ext uri="{FF2B5EF4-FFF2-40B4-BE49-F238E27FC236}">
                <a16:creationId xmlns:a16="http://schemas.microsoft.com/office/drawing/2014/main" id="{01252FD7-15DF-44A1-9160-B075839CA097}"/>
              </a:ext>
            </a:extLst>
          </p:cNvPr>
          <p:cNvSpPr>
            <a:spLocks xmlns:a="http://schemas.openxmlformats.org/drawingml/2006/main" noGrp="1"/>
          </p:cNvSpPr>
          <p:nvPr/>
        </p:nvSpPr>
        <p:spPr>
          <a:xfrm xmlns:a="http://schemas.openxmlformats.org/drawingml/2006/main">
            <a:off x="4003243" y="3305556"/>
            <a:ext cx="2352751" cy="2478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600" b="1">
                <a:solidFill>
                  <a:srgbClr val="0F1226"/>
                </a:solidFill>
                <a:latin typeface="Inter"/>
                <a:ea typeface="Inter"/>
                <a:cs typeface="Inter"/>
              </a:rPr>
              <a:t>Semantic adapter</a:t>
            </a:r>
          </a:p>
        </p:txBody>
      </p:sp>
      <p:sp>
        <p:nvSpPr>
          <p:cNvPr id="18" name="Text 14">
            <a:extLst xmlns:a="http://schemas.openxmlformats.org/drawingml/2006/main">
              <a:ext uri="{FF2B5EF4-FFF2-40B4-BE49-F238E27FC236}">
                <a16:creationId xmlns:a16="http://schemas.microsoft.com/office/drawing/2014/main" id="{372F09B8-0831-4365-9CEE-D8093021969E}"/>
              </a:ext>
            </a:extLst>
          </p:cNvPr>
          <p:cNvSpPr>
            <a:spLocks xmlns:a="http://schemas.openxmlformats.org/drawingml/2006/main" noGrp="1"/>
          </p:cNvSpPr>
          <p:nvPr/>
        </p:nvSpPr>
        <p:spPr>
          <a:xfrm xmlns:a="http://schemas.openxmlformats.org/drawingml/2006/main">
            <a:off x="4003243" y="3615538"/>
            <a:ext cx="2352751" cy="71871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785"/>
              </a:lnSpc>
              <a:buNone/>
            </a:pPr>
            <a:r>
              <a:rPr sz="1000">
                <a:solidFill>
                  <a:srgbClr val="6A6F8C"/>
                </a:solidFill>
                <a:latin typeface="JetBrains Mono"/>
                <a:ea typeface="JetBrains Mono"/>
                <a:cs typeface="JetBrains Mono"/>
              </a:rPr>
              <a:t>Map local columns | keep 16 columns | validate 0-1 ranges</a:t>
            </a:r>
          </a:p>
        </p:txBody>
      </p:sp>
      <p:sp>
        <p:nvSpPr>
          <p:cNvPr id="19" name="Shape 15">
            <a:extLst xmlns:a="http://schemas.openxmlformats.org/drawingml/2006/main">
              <a:ext uri="{FF2B5EF4-FFF2-40B4-BE49-F238E27FC236}">
                <a16:creationId xmlns:a16="http://schemas.microsoft.com/office/drawing/2014/main" id="{C878467D-1F2B-4AFF-8175-BF79942C5B7F}"/>
              </a:ext>
            </a:extLst>
          </p:cNvPr>
          <p:cNvSpPr>
            <a:spLocks xmlns:a="http://schemas.openxmlformats.org/drawingml/2006/main" noGrp="1"/>
          </p:cNvSpPr>
          <p:nvPr/>
        </p:nvSpPr>
        <p:spPr>
          <a:xfrm xmlns:a="http://schemas.openxmlformats.org/drawingml/2006/main">
            <a:off x="6540703" y="3095244"/>
            <a:ext cx="28346" cy="1238098"/>
          </a:xfrm>
          <a:prstGeom xmlns:a="http://schemas.openxmlformats.org/drawingml/2006/main" prst="rect">
            <a:avLst/>
          </a:prstGeom>
          <a:solidFill xmlns:a="http://schemas.openxmlformats.org/drawingml/2006/main">
            <a:srgbClr val="2A2E7A"/>
          </a:solidFill>
          <a:ln xmlns:a="http://schemas.openxmlformats.org/drawingml/2006/main" w="12700">
            <a:solidFill>
              <a:srgbClr val="2A2E7A">
                <a:alpha val="0"/>
              </a:srgbClr>
            </a:solidFill>
            <a:prstDash val="solid"/>
          </a:ln>
        </p:spPr>
      </p:sp>
      <p:sp>
        <p:nvSpPr>
          <p:cNvPr id="20" name="Text 16">
            <a:extLst xmlns:a="http://schemas.openxmlformats.org/drawingml/2006/main">
              <a:ext uri="{FF2B5EF4-FFF2-40B4-BE49-F238E27FC236}">
                <a16:creationId xmlns:a16="http://schemas.microsoft.com/office/drawing/2014/main" id="{BC8C7743-4962-4C3E-B646-EC5B88124642}"/>
              </a:ext>
            </a:extLst>
          </p:cNvPr>
          <p:cNvSpPr>
            <a:spLocks xmlns:a="http://schemas.openxmlformats.org/drawingml/2006/main" noGrp="1"/>
          </p:cNvSpPr>
          <p:nvPr/>
        </p:nvSpPr>
        <p:spPr>
          <a:xfrm xmlns:a="http://schemas.openxmlformats.org/drawingml/2006/main">
            <a:off x="6702552" y="3095244"/>
            <a:ext cx="2352751" cy="1335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2A2E7A"/>
                </a:solidFill>
                <a:latin typeface="JetBrains Mono"/>
                <a:ea typeface="JetBrains Mono"/>
                <a:cs typeface="JetBrains Mono"/>
              </a:rPr>
              <a:t>STEP 03</a:t>
            </a:r>
          </a:p>
        </p:txBody>
      </p:sp>
      <p:sp>
        <p:nvSpPr>
          <p:cNvPr id="21" name="Text 17">
            <a:extLst xmlns:a="http://schemas.openxmlformats.org/drawingml/2006/main">
              <a:ext uri="{FF2B5EF4-FFF2-40B4-BE49-F238E27FC236}">
                <a16:creationId xmlns:a16="http://schemas.microsoft.com/office/drawing/2014/main" id="{16BAD7C0-44CD-4204-91ED-350D3A12C8B2}"/>
              </a:ext>
            </a:extLst>
          </p:cNvPr>
          <p:cNvSpPr>
            <a:spLocks xmlns:a="http://schemas.openxmlformats.org/drawingml/2006/main" noGrp="1"/>
          </p:cNvSpPr>
          <p:nvPr/>
        </p:nvSpPr>
        <p:spPr>
          <a:xfrm xmlns:a="http://schemas.openxmlformats.org/drawingml/2006/main">
            <a:off x="6702552" y="3305556"/>
            <a:ext cx="2352751" cy="2478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600" b="1">
                <a:solidFill>
                  <a:srgbClr val="0F1226"/>
                </a:solidFill>
                <a:latin typeface="Inter"/>
                <a:ea typeface="Inter"/>
                <a:cs typeface="Inter"/>
              </a:rPr>
              <a:t>Group split</a:t>
            </a:r>
          </a:p>
        </p:txBody>
      </p:sp>
      <p:sp>
        <p:nvSpPr>
          <p:cNvPr id="22" name="Text 18">
            <a:extLst xmlns:a="http://schemas.openxmlformats.org/drawingml/2006/main">
              <a:ext uri="{FF2B5EF4-FFF2-40B4-BE49-F238E27FC236}">
                <a16:creationId xmlns:a16="http://schemas.microsoft.com/office/drawing/2014/main" id="{0011E989-003E-4743-A775-D1953CCBD5A8}"/>
              </a:ext>
            </a:extLst>
          </p:cNvPr>
          <p:cNvSpPr>
            <a:spLocks xmlns:a="http://schemas.openxmlformats.org/drawingml/2006/main" noGrp="1"/>
          </p:cNvSpPr>
          <p:nvPr/>
        </p:nvSpPr>
        <p:spPr>
          <a:xfrm xmlns:a="http://schemas.openxmlformats.org/drawingml/2006/main">
            <a:off x="6702552" y="3615538"/>
            <a:ext cx="2352751" cy="71871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785"/>
              </a:lnSpc>
              <a:buNone/>
            </a:pPr>
            <a:r>
              <a:rPr sz="1000">
                <a:solidFill>
                  <a:srgbClr val="6A6F8C"/>
                </a:solidFill>
                <a:latin typeface="JetBrains Mono"/>
                <a:ea typeface="JetBrains Mono"/>
                <a:cs typeface="JetBrains Mono"/>
              </a:rPr>
              <a:t>· Split by student ID · 60 / 20 / 20 · No student overlap</a:t>
            </a:r>
          </a:p>
        </p:txBody>
      </p:sp>
      <p:sp>
        <p:nvSpPr>
          <p:cNvPr id="23" name="Shape 19">
            <a:extLst xmlns:a="http://schemas.openxmlformats.org/drawingml/2006/main">
              <a:ext uri="{FF2B5EF4-FFF2-40B4-BE49-F238E27FC236}">
                <a16:creationId xmlns:a16="http://schemas.microsoft.com/office/drawing/2014/main" id="{7ADD2551-ECC7-4903-8534-EFD26FDF37F5}"/>
              </a:ext>
            </a:extLst>
          </p:cNvPr>
          <p:cNvSpPr>
            <a:spLocks xmlns:a="http://schemas.openxmlformats.org/drawingml/2006/main" noGrp="1"/>
          </p:cNvSpPr>
          <p:nvPr/>
        </p:nvSpPr>
        <p:spPr>
          <a:xfrm xmlns:a="http://schemas.openxmlformats.org/drawingml/2006/main">
            <a:off x="9239098" y="3095244"/>
            <a:ext cx="28346" cy="1238098"/>
          </a:xfrm>
          <a:prstGeom xmlns:a="http://schemas.openxmlformats.org/drawingml/2006/main" prst="rect">
            <a:avLst/>
          </a:prstGeom>
          <a:solidFill xmlns:a="http://schemas.openxmlformats.org/drawingml/2006/main">
            <a:srgbClr val="2A2E7A"/>
          </a:solidFill>
          <a:ln xmlns:a="http://schemas.openxmlformats.org/drawingml/2006/main" w="12700">
            <a:solidFill>
              <a:srgbClr val="2A2E7A">
                <a:alpha val="0"/>
              </a:srgbClr>
            </a:solidFill>
            <a:prstDash val="solid"/>
          </a:ln>
        </p:spPr>
      </p:sp>
      <p:sp>
        <p:nvSpPr>
          <p:cNvPr id="24" name="Text 20">
            <a:extLst xmlns:a="http://schemas.openxmlformats.org/drawingml/2006/main">
              <a:ext uri="{FF2B5EF4-FFF2-40B4-BE49-F238E27FC236}">
                <a16:creationId xmlns:a16="http://schemas.microsoft.com/office/drawing/2014/main" id="{99A476F9-FB44-48AE-905F-243114A8B07A}"/>
              </a:ext>
            </a:extLst>
          </p:cNvPr>
          <p:cNvSpPr>
            <a:spLocks xmlns:a="http://schemas.openxmlformats.org/drawingml/2006/main" noGrp="1"/>
          </p:cNvSpPr>
          <p:nvPr/>
        </p:nvSpPr>
        <p:spPr>
          <a:xfrm xmlns:a="http://schemas.openxmlformats.org/drawingml/2006/main">
            <a:off x="9400946" y="3095244"/>
            <a:ext cx="2352751" cy="1335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2A2E7A"/>
                </a:solidFill>
                <a:latin typeface="JetBrains Mono"/>
                <a:ea typeface="JetBrains Mono"/>
                <a:cs typeface="JetBrains Mono"/>
              </a:rPr>
              <a:t>STEP 04</a:t>
            </a:r>
          </a:p>
        </p:txBody>
      </p:sp>
      <p:sp>
        <p:nvSpPr>
          <p:cNvPr id="25" name="Text 21">
            <a:extLst xmlns:a="http://schemas.openxmlformats.org/drawingml/2006/main">
              <a:ext uri="{FF2B5EF4-FFF2-40B4-BE49-F238E27FC236}">
                <a16:creationId xmlns:a16="http://schemas.microsoft.com/office/drawing/2014/main" id="{AB0AE63B-20F8-4DEE-A7C6-BD17879F56BA}"/>
              </a:ext>
            </a:extLst>
          </p:cNvPr>
          <p:cNvSpPr>
            <a:spLocks xmlns:a="http://schemas.openxmlformats.org/drawingml/2006/main" noGrp="1"/>
          </p:cNvSpPr>
          <p:nvPr/>
        </p:nvSpPr>
        <p:spPr>
          <a:xfrm xmlns:a="http://schemas.openxmlformats.org/drawingml/2006/main">
            <a:off x="9400946" y="3305556"/>
            <a:ext cx="2352751" cy="2478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600" b="1">
                <a:solidFill>
                  <a:srgbClr val="0F1226"/>
                </a:solidFill>
                <a:latin typeface="Inter"/>
                <a:ea typeface="Inter"/>
                <a:cs typeface="Inter"/>
              </a:rPr>
              <a:t>Unified training</a:t>
            </a:r>
          </a:p>
        </p:txBody>
      </p:sp>
      <p:sp>
        <p:nvSpPr>
          <p:cNvPr id="26" name="Text 22">
            <a:extLst xmlns:a="http://schemas.openxmlformats.org/drawingml/2006/main">
              <a:ext uri="{FF2B5EF4-FFF2-40B4-BE49-F238E27FC236}">
                <a16:creationId xmlns:a16="http://schemas.microsoft.com/office/drawing/2014/main" id="{BB8450F2-1FC3-45BE-9F9E-F4EBAA27DB7E}"/>
              </a:ext>
            </a:extLst>
          </p:cNvPr>
          <p:cNvSpPr>
            <a:spLocks xmlns:a="http://schemas.openxmlformats.org/drawingml/2006/main" noGrp="1"/>
          </p:cNvSpPr>
          <p:nvPr/>
        </p:nvSpPr>
        <p:spPr>
          <a:xfrm xmlns:a="http://schemas.openxmlformats.org/drawingml/2006/main">
            <a:off x="9400946" y="3615538"/>
            <a:ext cx="2352751" cy="71871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785"/>
              </a:lnSpc>
              <a:buNone/>
            </a:pPr>
            <a:r>
              <a:rPr sz="1000">
                <a:solidFill>
                  <a:srgbClr val="6A6F8C"/>
                </a:solidFill>
                <a:latin typeface="JetBrains Mono"/>
                <a:ea typeface="JetBrains Mono"/>
                <a:cs typeface="JetBrains Mono"/>
              </a:rPr>
              <a:t>Pooled snapshots | equal school/class cells | mask optional groups</a:t>
            </a:r>
          </a:p>
        </p:txBody>
      </p:sp>
      <p:sp>
        <p:nvSpPr>
          <p:cNvPr id="27" name="Shape 23">
            <a:extLst xmlns:a="http://schemas.openxmlformats.org/drawingml/2006/main">
              <a:ext uri="{FF2B5EF4-FFF2-40B4-BE49-F238E27FC236}">
                <a16:creationId xmlns:a16="http://schemas.microsoft.com/office/drawing/2014/main" id="{F47105FE-9292-4D87-A739-33FCB5A65B4F}"/>
              </a:ext>
            </a:extLst>
          </p:cNvPr>
          <p:cNvSpPr>
            <a:spLocks xmlns:a="http://schemas.openxmlformats.org/drawingml/2006/main" noGrp="1"/>
          </p:cNvSpPr>
          <p:nvPr/>
        </p:nvSpPr>
        <p:spPr>
          <a:xfrm xmlns:a="http://schemas.openxmlformats.org/drawingml/2006/main">
            <a:off x="11938406" y="3095244"/>
            <a:ext cx="28346" cy="1238098"/>
          </a:xfrm>
          <a:prstGeom xmlns:a="http://schemas.openxmlformats.org/drawingml/2006/main" prst="rect">
            <a:avLst/>
          </a:prstGeom>
          <a:solidFill xmlns:a="http://schemas.openxmlformats.org/drawingml/2006/main">
            <a:srgbClr val="2A2E7A"/>
          </a:solidFill>
          <a:ln xmlns:a="http://schemas.openxmlformats.org/drawingml/2006/main" w="12700">
            <a:solidFill>
              <a:srgbClr val="2A2E7A">
                <a:alpha val="0"/>
              </a:srgbClr>
            </a:solidFill>
            <a:prstDash val="solid"/>
          </a:ln>
        </p:spPr>
      </p:sp>
      <p:sp>
        <p:nvSpPr>
          <p:cNvPr id="28" name="Text 24">
            <a:extLst xmlns:a="http://schemas.openxmlformats.org/drawingml/2006/main">
              <a:ext uri="{FF2B5EF4-FFF2-40B4-BE49-F238E27FC236}">
                <a16:creationId xmlns:a16="http://schemas.microsoft.com/office/drawing/2014/main" id="{5BA372A7-628A-45C2-80C9-AA3EF500B29D}"/>
              </a:ext>
            </a:extLst>
          </p:cNvPr>
          <p:cNvSpPr>
            <a:spLocks xmlns:a="http://schemas.openxmlformats.org/drawingml/2006/main" noGrp="1"/>
          </p:cNvSpPr>
          <p:nvPr/>
        </p:nvSpPr>
        <p:spPr>
          <a:xfrm xmlns:a="http://schemas.openxmlformats.org/drawingml/2006/main">
            <a:off x="12100255" y="3095244"/>
            <a:ext cx="2352751" cy="1335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2A2E7A"/>
                </a:solidFill>
                <a:latin typeface="JetBrains Mono"/>
                <a:ea typeface="JetBrains Mono"/>
                <a:cs typeface="JetBrains Mono"/>
              </a:rPr>
              <a:t>STEP 05</a:t>
            </a:r>
          </a:p>
        </p:txBody>
      </p:sp>
      <p:sp>
        <p:nvSpPr>
          <p:cNvPr id="29" name="Text 25">
            <a:extLst xmlns:a="http://schemas.openxmlformats.org/drawingml/2006/main">
              <a:ext uri="{FF2B5EF4-FFF2-40B4-BE49-F238E27FC236}">
                <a16:creationId xmlns:a16="http://schemas.microsoft.com/office/drawing/2014/main" id="{5AED0A0D-170D-45AC-AF24-2FB4AF46C11A}"/>
              </a:ext>
            </a:extLst>
          </p:cNvPr>
          <p:cNvSpPr>
            <a:spLocks xmlns:a="http://schemas.openxmlformats.org/drawingml/2006/main" noGrp="1"/>
          </p:cNvSpPr>
          <p:nvPr/>
        </p:nvSpPr>
        <p:spPr>
          <a:xfrm xmlns:a="http://schemas.openxmlformats.org/drawingml/2006/main">
            <a:off x="12100255" y="3305556"/>
            <a:ext cx="2352751" cy="2478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600" b="1">
                <a:solidFill>
                  <a:srgbClr val="0F1226"/>
                </a:solidFill>
                <a:latin typeface="Inter"/>
                <a:ea typeface="Inter"/>
                <a:cs typeface="Inter"/>
              </a:rPr>
              <a:t>Held-out tests</a:t>
            </a:r>
          </a:p>
        </p:txBody>
      </p:sp>
      <p:sp>
        <p:nvSpPr>
          <p:cNvPr id="30" name="Text 26">
            <a:extLst xmlns:a="http://schemas.openxmlformats.org/drawingml/2006/main">
              <a:ext uri="{FF2B5EF4-FFF2-40B4-BE49-F238E27FC236}">
                <a16:creationId xmlns:a16="http://schemas.microsoft.com/office/drawing/2014/main" id="{0E1C7DF9-2F0D-43A4-87EB-13E0C6AFEE84}"/>
              </a:ext>
            </a:extLst>
          </p:cNvPr>
          <p:cNvSpPr>
            <a:spLocks xmlns:a="http://schemas.openxmlformats.org/drawingml/2006/main" noGrp="1"/>
          </p:cNvSpPr>
          <p:nvPr/>
        </p:nvSpPr>
        <p:spPr>
          <a:xfrm xmlns:a="http://schemas.openxmlformats.org/drawingml/2006/main">
            <a:off x="12100255" y="3615538"/>
            <a:ext cx="2352751" cy="71871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785"/>
              </a:lnSpc>
              <a:buNone/>
            </a:pPr>
            <a:r>
              <a:rPr sz="1000">
                <a:solidFill>
                  <a:srgbClr val="6A6F8C"/>
                </a:solidFill>
                <a:latin typeface="JetBrains Mono"/>
                <a:ea typeface="JetBrains Mono"/>
                <a:cs typeface="JetBrains Mono"/>
              </a:rPr>
              <a:t>Local-only vs pooled | entry/day 35/60/75 | same test records</a:t>
            </a:r>
          </a:p>
        </p:txBody>
      </p:sp>
      <p:sp>
        <p:nvSpPr>
          <p:cNvPr id="31" name="Shape 27">
            <a:extLst xmlns:a="http://schemas.openxmlformats.org/drawingml/2006/main">
              <a:ext uri="{FF2B5EF4-FFF2-40B4-BE49-F238E27FC236}">
                <a16:creationId xmlns:a16="http://schemas.microsoft.com/office/drawing/2014/main" id="{E1C866C9-7DF4-4F65-868C-91212E0B643C}"/>
              </a:ext>
            </a:extLst>
          </p:cNvPr>
          <p:cNvSpPr>
            <a:spLocks xmlns:a="http://schemas.openxmlformats.org/drawingml/2006/main" noGrp="1"/>
          </p:cNvSpPr>
          <p:nvPr/>
        </p:nvSpPr>
        <p:spPr>
          <a:xfrm xmlns:a="http://schemas.openxmlformats.org/drawingml/2006/main">
            <a:off x="14636801" y="3095244"/>
            <a:ext cx="28346" cy="1238098"/>
          </a:xfrm>
          <a:prstGeom xmlns:a="http://schemas.openxmlformats.org/drawingml/2006/main" prst="rect">
            <a:avLst/>
          </a:prstGeom>
          <a:solidFill xmlns:a="http://schemas.openxmlformats.org/drawingml/2006/main">
            <a:srgbClr val="1B9E8F"/>
          </a:solidFill>
          <a:ln xmlns:a="http://schemas.openxmlformats.org/drawingml/2006/main" w="12700">
            <a:solidFill>
              <a:srgbClr val="1B9E8F">
                <a:alpha val="0"/>
              </a:srgbClr>
            </a:solidFill>
            <a:prstDash val="solid"/>
          </a:ln>
        </p:spPr>
      </p:sp>
      <p:sp>
        <p:nvSpPr>
          <p:cNvPr id="32" name="Text 28">
            <a:extLst xmlns:a="http://schemas.openxmlformats.org/drawingml/2006/main">
              <a:ext uri="{FF2B5EF4-FFF2-40B4-BE49-F238E27FC236}">
                <a16:creationId xmlns:a16="http://schemas.microsoft.com/office/drawing/2014/main" id="{2F5CF2D0-BBEC-4701-8547-56C03CE117C1}"/>
              </a:ext>
            </a:extLst>
          </p:cNvPr>
          <p:cNvSpPr>
            <a:spLocks xmlns:a="http://schemas.openxmlformats.org/drawingml/2006/main" noGrp="1"/>
          </p:cNvSpPr>
          <p:nvPr/>
        </p:nvSpPr>
        <p:spPr>
          <a:xfrm xmlns:a="http://schemas.openxmlformats.org/drawingml/2006/main">
            <a:off x="14798650" y="3095244"/>
            <a:ext cx="2352751" cy="1335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1B9E8F"/>
                </a:solidFill>
                <a:latin typeface="JetBrains Mono"/>
                <a:ea typeface="JetBrains Mono"/>
                <a:cs typeface="JetBrains Mono"/>
              </a:rPr>
              <a:t>STEP 06</a:t>
            </a:r>
          </a:p>
        </p:txBody>
      </p:sp>
      <p:sp>
        <p:nvSpPr>
          <p:cNvPr id="33" name="Text 29">
            <a:extLst xmlns:a="http://schemas.openxmlformats.org/drawingml/2006/main">
              <a:ext uri="{FF2B5EF4-FFF2-40B4-BE49-F238E27FC236}">
                <a16:creationId xmlns:a16="http://schemas.microsoft.com/office/drawing/2014/main" id="{5583EFC8-8CB5-4BE8-98B0-16273A565FAC}"/>
              </a:ext>
            </a:extLst>
          </p:cNvPr>
          <p:cNvSpPr>
            <a:spLocks xmlns:a="http://schemas.openxmlformats.org/drawingml/2006/main" noGrp="1"/>
          </p:cNvSpPr>
          <p:nvPr/>
        </p:nvSpPr>
        <p:spPr>
          <a:xfrm xmlns:a="http://schemas.openxmlformats.org/drawingml/2006/main">
            <a:off x="14798650" y="3305556"/>
            <a:ext cx="2352751" cy="2478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600" b="1">
                <a:solidFill>
                  <a:srgbClr val="0F1226"/>
                </a:solidFill>
                <a:latin typeface="Inter"/>
                <a:ea typeface="Inter"/>
                <a:cs typeface="Inter"/>
              </a:rPr>
              <a:t>Evidence check</a:t>
            </a:r>
          </a:p>
        </p:txBody>
      </p:sp>
      <p:sp>
        <p:nvSpPr>
          <p:cNvPr id="34" name="Text 30">
            <a:extLst xmlns:a="http://schemas.openxmlformats.org/drawingml/2006/main">
              <a:ext uri="{FF2B5EF4-FFF2-40B4-BE49-F238E27FC236}">
                <a16:creationId xmlns:a16="http://schemas.microsoft.com/office/drawing/2014/main" id="{1DE3DE3F-9B27-432D-85CA-B7B034F38667}"/>
              </a:ext>
            </a:extLst>
          </p:cNvPr>
          <p:cNvSpPr>
            <a:spLocks xmlns:a="http://schemas.openxmlformats.org/drawingml/2006/main" noGrp="1"/>
          </p:cNvSpPr>
          <p:nvPr/>
        </p:nvSpPr>
        <p:spPr>
          <a:xfrm xmlns:a="http://schemas.openxmlformats.org/drawingml/2006/main">
            <a:off x="14798650" y="3615538"/>
            <a:ext cx="2352751" cy="718718"/>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785"/>
              </a:lnSpc>
              <a:buNone/>
            </a:pPr>
            <a:r>
              <a:rPr sz="1000">
                <a:solidFill>
                  <a:srgbClr val="6A6F8C"/>
                </a:solidFill>
                <a:latin typeface="JetBrains Mono"/>
                <a:ea typeface="JetBrains Mono"/>
                <a:cs typeface="JetBrains Mono"/>
              </a:rPr>
              <a:t>1,000 cluster bootstraps | paired permutations | SHAP by snapshot</a:t>
            </a:r>
          </a:p>
        </p:txBody>
      </p:sp>
      <p:sp>
        <p:nvSpPr>
          <p:cNvPr id="35" name="Text 31">
            <a:extLst xmlns:a="http://schemas.openxmlformats.org/drawingml/2006/main">
              <a:ext uri="{FF2B5EF4-FFF2-40B4-BE49-F238E27FC236}">
                <a16:creationId xmlns:a16="http://schemas.microsoft.com/office/drawing/2014/main" id="{51C612A5-5079-4478-A4FC-994763C599F8}"/>
              </a:ext>
            </a:extLst>
          </p:cNvPr>
          <p:cNvSpPr>
            <a:spLocks xmlns:a="http://schemas.openxmlformats.org/drawingml/2006/main" noGrp="1"/>
          </p:cNvSpPr>
          <p:nvPr/>
        </p:nvSpPr>
        <p:spPr>
          <a:xfrm xmlns:a="http://schemas.openxmlformats.org/drawingml/2006/main">
            <a:off x="1143000" y="6238951"/>
            <a:ext cx="7525512" cy="124358"/>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800">
                <a:solidFill>
                  <a:srgbClr val="E4237A"/>
                </a:solidFill>
                <a:latin typeface="JetBrains Mono"/>
                <a:ea typeface="JetBrains Mono"/>
                <a:cs typeface="JetBrains Mono"/>
              </a:rPr>
              <a:t>Why two algorithms</a:t>
            </a:r>
          </a:p>
        </p:txBody>
      </p:sp>
      <p:sp>
        <p:nvSpPr>
          <p:cNvPr id="36" name="Text 32">
            <a:extLst xmlns:a="http://schemas.openxmlformats.org/drawingml/2006/main">
              <a:ext uri="{FF2B5EF4-FFF2-40B4-BE49-F238E27FC236}">
                <a16:creationId xmlns:a16="http://schemas.microsoft.com/office/drawing/2014/main" id="{0AD3F98F-32A2-4569-8883-4E7D4151E59F}"/>
              </a:ext>
            </a:extLst>
          </p:cNvPr>
          <p:cNvSpPr>
            <a:spLocks xmlns:a="http://schemas.openxmlformats.org/drawingml/2006/main" noGrp="1"/>
          </p:cNvSpPr>
          <p:nvPr/>
        </p:nvSpPr>
        <p:spPr>
          <a:xfrm xmlns:a="http://schemas.openxmlformats.org/drawingml/2006/main">
            <a:off x="1143000" y="6458407"/>
            <a:ext cx="7525512" cy="314554"/>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800" b="1">
                <a:solidFill>
                  <a:srgbClr val="0F1226"/>
                </a:solidFill>
                <a:latin typeface="Inter"/>
                <a:ea typeface="Inter"/>
                <a:cs typeface="Inter"/>
              </a:rPr>
              <a:t>A simple linear benchmark and a nonlinear main model.</a:t>
            </a:r>
          </a:p>
        </p:txBody>
      </p:sp>
      <p:sp>
        <p:nvSpPr>
          <p:cNvPr id="37" name="Shape 33">
            <a:extLst xmlns:a="http://schemas.openxmlformats.org/drawingml/2006/main">
              <a:ext uri="{FF2B5EF4-FFF2-40B4-BE49-F238E27FC236}">
                <a16:creationId xmlns:a16="http://schemas.microsoft.com/office/drawing/2014/main" id="{59805BA9-4571-4931-AAF2-835EFE454561}"/>
              </a:ext>
            </a:extLst>
          </p:cNvPr>
          <p:cNvSpPr>
            <a:spLocks xmlns:a="http://schemas.openxmlformats.org/drawingml/2006/main" noGrp="1"/>
          </p:cNvSpPr>
          <p:nvPr/>
        </p:nvSpPr>
        <p:spPr>
          <a:xfrm xmlns:a="http://schemas.openxmlformats.org/drawingml/2006/main">
            <a:off x="1143000" y="6919265"/>
            <a:ext cx="7524598" cy="9144"/>
          </a:xfrm>
          <a:prstGeom xmlns:a="http://schemas.openxmlformats.org/drawingml/2006/main" prst="rect">
            <a:avLst/>
          </a:prstGeom>
          <a:solidFill xmlns:a="http://schemas.openxmlformats.org/drawingml/2006/main">
            <a:srgbClr val="E4E5EF"/>
          </a:solidFill>
          <a:ln xmlns:a="http://schemas.openxmlformats.org/drawingml/2006/main" w="12700">
            <a:solidFill>
              <a:srgbClr val="E4E5EF">
                <a:alpha val="0"/>
              </a:srgbClr>
            </a:solidFill>
            <a:prstDash val="solid"/>
          </a:ln>
        </p:spPr>
      </p:sp>
      <p:sp>
        <p:nvSpPr>
          <p:cNvPr id="38" name="Text 34">
            <a:extLst xmlns:a="http://schemas.openxmlformats.org/drawingml/2006/main">
              <a:ext uri="{FF2B5EF4-FFF2-40B4-BE49-F238E27FC236}">
                <a16:creationId xmlns:a16="http://schemas.microsoft.com/office/drawing/2014/main" id="{026DC8A2-D127-489B-812F-092114CFC820}"/>
              </a:ext>
            </a:extLst>
          </p:cNvPr>
          <p:cNvSpPr>
            <a:spLocks xmlns:a="http://schemas.openxmlformats.org/drawingml/2006/main" noGrp="1"/>
          </p:cNvSpPr>
          <p:nvPr/>
        </p:nvSpPr>
        <p:spPr>
          <a:xfrm xmlns:a="http://schemas.openxmlformats.org/drawingml/2006/main">
            <a:off x="1143000" y="7081114"/>
            <a:ext cx="1334110" cy="238658"/>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000" b="1">
                <a:solidFill>
                  <a:srgbClr val="2A2E7A"/>
                </a:solidFill>
                <a:latin typeface="JetBrains Mono"/>
                <a:ea typeface="JetBrains Mono"/>
                <a:cs typeface="JetBrains Mono"/>
              </a:rPr>
              <a:t>Main · XGBoost</a:t>
            </a:r>
          </a:p>
        </p:txBody>
      </p:sp>
      <p:sp>
        <p:nvSpPr>
          <p:cNvPr id="39" name="Text 35">
            <a:extLst xmlns:a="http://schemas.openxmlformats.org/drawingml/2006/main">
              <a:ext uri="{FF2B5EF4-FFF2-40B4-BE49-F238E27FC236}">
                <a16:creationId xmlns:a16="http://schemas.microsoft.com/office/drawing/2014/main" id="{B8D99ED2-203D-49C6-B99D-33BC09BE7FDF}"/>
              </a:ext>
            </a:extLst>
          </p:cNvPr>
          <p:cNvSpPr>
            <a:spLocks xmlns:a="http://schemas.openxmlformats.org/drawingml/2006/main" noGrp="1"/>
          </p:cNvSpPr>
          <p:nvPr/>
        </p:nvSpPr>
        <p:spPr>
          <a:xfrm xmlns:a="http://schemas.openxmlformats.org/drawingml/2006/main">
            <a:off x="2667305" y="7081114"/>
            <a:ext cx="6687007" cy="238658"/>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200">
                <a:solidFill>
                  <a:srgbClr val="2A2E4B"/>
                </a:solidFill>
                <a:latin typeface="Inter"/>
                <a:ea typeface="Inter"/>
                <a:cs typeface="Inter"/>
              </a:rPr>
              <a:t>Captures interactions among background, assessment, activity, and course progress.</a:t>
            </a:r>
          </a:p>
        </p:txBody>
      </p:sp>
      <p:sp>
        <p:nvSpPr>
          <p:cNvPr id="40" name="Text 36">
            <a:extLst xmlns:a="http://schemas.openxmlformats.org/drawingml/2006/main">
              <a:ext uri="{FF2B5EF4-FFF2-40B4-BE49-F238E27FC236}">
                <a16:creationId xmlns:a16="http://schemas.microsoft.com/office/drawing/2014/main" id="{8872A302-3702-4BEB-8144-F8FD57D24DE4}"/>
              </a:ext>
            </a:extLst>
          </p:cNvPr>
          <p:cNvSpPr>
            <a:spLocks xmlns:a="http://schemas.openxmlformats.org/drawingml/2006/main" noGrp="1"/>
          </p:cNvSpPr>
          <p:nvPr/>
        </p:nvSpPr>
        <p:spPr>
          <a:xfrm xmlns:a="http://schemas.openxmlformats.org/drawingml/2006/main">
            <a:off x="1143000" y="7450531"/>
            <a:ext cx="1334110" cy="47640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000" b="1">
                <a:solidFill>
                  <a:srgbClr val="2A2E7A"/>
                </a:solidFill>
                <a:latin typeface="JetBrains Mono"/>
                <a:ea typeface="JetBrains Mono"/>
                <a:cs typeface="JetBrains Mono"/>
              </a:rPr>
              <a:t>Check · LogReg</a:t>
            </a:r>
          </a:p>
        </p:txBody>
      </p:sp>
      <p:sp>
        <p:nvSpPr>
          <p:cNvPr id="41" name="Text 37">
            <a:extLst xmlns:a="http://schemas.openxmlformats.org/drawingml/2006/main">
              <a:ext uri="{FF2B5EF4-FFF2-40B4-BE49-F238E27FC236}">
                <a16:creationId xmlns:a16="http://schemas.microsoft.com/office/drawing/2014/main" id="{F415149A-2F75-402A-B1B3-BE4B9C3630D8}"/>
              </a:ext>
            </a:extLst>
          </p:cNvPr>
          <p:cNvSpPr>
            <a:spLocks xmlns:a="http://schemas.openxmlformats.org/drawingml/2006/main" noGrp="1"/>
          </p:cNvSpPr>
          <p:nvPr/>
        </p:nvSpPr>
        <p:spPr>
          <a:xfrm xmlns:a="http://schemas.openxmlformats.org/drawingml/2006/main">
            <a:off x="2667305" y="7450531"/>
            <a:ext cx="6001207" cy="47640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200">
                <a:solidFill>
                  <a:srgbClr val="2A2E4B"/>
                </a:solidFill>
                <a:latin typeface="Inter"/>
                <a:ea typeface="Inter"/>
                <a:cs typeface="Inter"/>
              </a:rPr>
              <a:t>Shows whether transfer findings depend only on a complex tree model.</a:t>
            </a:r>
          </a:p>
        </p:txBody>
      </p:sp>
      <p:sp>
        <p:nvSpPr>
          <p:cNvPr id="42" name="Text 38">
            <a:extLst xmlns:a="http://schemas.openxmlformats.org/drawingml/2006/main">
              <a:ext uri="{FF2B5EF4-FFF2-40B4-BE49-F238E27FC236}">
                <a16:creationId xmlns:a16="http://schemas.microsoft.com/office/drawing/2014/main" id="{05C5AA69-BE40-41F1-B5AE-8B8023C4AA2C}"/>
              </a:ext>
            </a:extLst>
          </p:cNvPr>
          <p:cNvSpPr>
            <a:spLocks xmlns:a="http://schemas.openxmlformats.org/drawingml/2006/main" noGrp="1"/>
          </p:cNvSpPr>
          <p:nvPr/>
        </p:nvSpPr>
        <p:spPr>
          <a:xfrm xmlns:a="http://schemas.openxmlformats.org/drawingml/2006/main">
            <a:off x="1143000" y="8055864"/>
            <a:ext cx="1334110" cy="47640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000">
                <a:solidFill>
                  <a:srgbClr val="6A6F8C"/>
                </a:solidFill>
                <a:latin typeface="JetBrains Mono"/>
                <a:ea typeface="JetBrains Mono"/>
                <a:cs typeface="JetBrains Mono"/>
              </a:rPr>
              <a:t>Earlier work</a:t>
            </a:r>
          </a:p>
        </p:txBody>
      </p:sp>
      <p:sp>
        <p:nvSpPr>
          <p:cNvPr id="43" name="Text 39">
            <a:extLst xmlns:a="http://schemas.openxmlformats.org/drawingml/2006/main">
              <a:ext uri="{FF2B5EF4-FFF2-40B4-BE49-F238E27FC236}">
                <a16:creationId xmlns:a16="http://schemas.microsoft.com/office/drawing/2014/main" id="{3E52FF11-1125-473F-AE47-BEDACBBE495F}"/>
              </a:ext>
            </a:extLst>
          </p:cNvPr>
          <p:cNvSpPr>
            <a:spLocks xmlns:a="http://schemas.openxmlformats.org/drawingml/2006/main" noGrp="1"/>
          </p:cNvSpPr>
          <p:nvPr/>
        </p:nvSpPr>
        <p:spPr>
          <a:xfrm xmlns:a="http://schemas.openxmlformats.org/drawingml/2006/main">
            <a:off x="2667305" y="8055864"/>
            <a:ext cx="6001207" cy="47640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200">
                <a:solidFill>
                  <a:srgbClr val="2A2E4B"/>
                </a:solidFill>
                <a:latin typeface="Inter"/>
                <a:ea typeface="Inter"/>
                <a:cs typeface="Inter"/>
              </a:rPr>
              <a:t>Base-paper reproduction still includes Decision Tree, Random Forest, and Gradient Boosting.</a:t>
            </a:r>
          </a:p>
        </p:txBody>
      </p:sp>
      <p:sp>
        <p:nvSpPr>
          <p:cNvPr id="44" name="Text 40">
            <a:extLst xmlns:a="http://schemas.openxmlformats.org/drawingml/2006/main">
              <a:ext uri="{FF2B5EF4-FFF2-40B4-BE49-F238E27FC236}">
                <a16:creationId xmlns:a16="http://schemas.microsoft.com/office/drawing/2014/main" id="{5F0145F2-AB5F-4D49-97C8-2F9EA1DF962D}"/>
              </a:ext>
            </a:extLst>
          </p:cNvPr>
          <p:cNvSpPr>
            <a:spLocks xmlns:a="http://schemas.openxmlformats.org/drawingml/2006/main" noGrp="1"/>
          </p:cNvSpPr>
          <p:nvPr/>
        </p:nvSpPr>
        <p:spPr>
          <a:xfrm xmlns:a="http://schemas.openxmlformats.org/drawingml/2006/main">
            <a:off x="9620402" y="6238951"/>
            <a:ext cx="7525512" cy="124358"/>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800">
                <a:solidFill>
                  <a:srgbClr val="FF5CA0"/>
                </a:solidFill>
                <a:latin typeface="JetBrains Mono"/>
                <a:ea typeface="JetBrains Mono"/>
                <a:cs typeface="JetBrains Mono"/>
              </a:rPr>
              <a:t>Evaluation stack</a:t>
            </a:r>
          </a:p>
        </p:txBody>
      </p:sp>
      <p:sp>
        <p:nvSpPr>
          <p:cNvPr id="45" name="Text 41">
            <a:extLst xmlns:a="http://schemas.openxmlformats.org/drawingml/2006/main">
              <a:ext uri="{FF2B5EF4-FFF2-40B4-BE49-F238E27FC236}">
                <a16:creationId xmlns:a16="http://schemas.microsoft.com/office/drawing/2014/main" id="{38B87B00-17E5-429F-908A-F6D18D9B62C2}"/>
              </a:ext>
            </a:extLst>
          </p:cNvPr>
          <p:cNvSpPr>
            <a:spLocks xmlns:a="http://schemas.openxmlformats.org/drawingml/2006/main" noGrp="1"/>
          </p:cNvSpPr>
          <p:nvPr/>
        </p:nvSpPr>
        <p:spPr>
          <a:xfrm xmlns:a="http://schemas.openxmlformats.org/drawingml/2006/main">
            <a:off x="9620402" y="6458407"/>
            <a:ext cx="7525512" cy="314554"/>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800" b="1">
                <a:solidFill>
                  <a:srgbClr val="FFFFFF"/>
                </a:solidFill>
                <a:latin typeface="Inter"/>
                <a:ea typeface="Inter"/>
                <a:cs typeface="Inter"/>
              </a:rPr>
              <a:t>Metrics chosen for the decision, not just accuracy.</a:t>
            </a:r>
          </a:p>
        </p:txBody>
      </p:sp>
      <p:sp>
        <p:nvSpPr>
          <p:cNvPr id="46" name="Shape 42">
            <a:extLst xmlns:a="http://schemas.openxmlformats.org/drawingml/2006/main">
              <a:ext uri="{FF2B5EF4-FFF2-40B4-BE49-F238E27FC236}">
                <a16:creationId xmlns:a16="http://schemas.microsoft.com/office/drawing/2014/main" id="{9FA647B6-7912-451B-B30A-6AC93253F8BA}"/>
              </a:ext>
            </a:extLst>
          </p:cNvPr>
          <p:cNvSpPr>
            <a:spLocks xmlns:a="http://schemas.openxmlformats.org/drawingml/2006/main" noGrp="1"/>
          </p:cNvSpPr>
          <p:nvPr/>
        </p:nvSpPr>
        <p:spPr>
          <a:xfrm xmlns:a="http://schemas.openxmlformats.org/drawingml/2006/main">
            <a:off x="9620402" y="6919265"/>
            <a:ext cx="7524598" cy="9144"/>
          </a:xfrm>
          <a:prstGeom xmlns:a="http://schemas.openxmlformats.org/drawingml/2006/main" prst="rect">
            <a:avLst/>
          </a:prstGeom>
          <a:solidFill xmlns:a="http://schemas.openxmlformats.org/drawingml/2006/main">
            <a:srgbClr val="FFFFFF">
              <a:alpha val="15000"/>
            </a:srgbClr>
          </a:solidFill>
          <a:ln xmlns:a="http://schemas.openxmlformats.org/drawingml/2006/main" w="12700">
            <a:solidFill>
              <a:srgbClr val="FFFFFF">
                <a:alpha val="0"/>
              </a:srgbClr>
            </a:solidFill>
            <a:prstDash val="solid"/>
          </a:ln>
        </p:spPr>
      </p:sp>
      <p:sp>
        <p:nvSpPr>
          <p:cNvPr id="47" name="Text 43">
            <a:extLst xmlns:a="http://schemas.openxmlformats.org/drawingml/2006/main">
              <a:ext uri="{FF2B5EF4-FFF2-40B4-BE49-F238E27FC236}">
                <a16:creationId xmlns:a16="http://schemas.microsoft.com/office/drawing/2014/main" id="{055F0F45-2861-409A-84E2-12A4593E2E50}"/>
              </a:ext>
            </a:extLst>
          </p:cNvPr>
          <p:cNvSpPr>
            <a:spLocks xmlns:a="http://schemas.openxmlformats.org/drawingml/2006/main" noGrp="1"/>
          </p:cNvSpPr>
          <p:nvPr/>
        </p:nvSpPr>
        <p:spPr>
          <a:xfrm xmlns:a="http://schemas.openxmlformats.org/drawingml/2006/main">
            <a:off x="9620402" y="7099402"/>
            <a:ext cx="3620110" cy="2478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200" b="1">
                <a:solidFill>
                  <a:srgbClr val="FF5CA0">
                    <a:alpha val="90000"/>
                  </a:srgbClr>
                </a:solidFill>
                <a:latin typeface="JetBrains Mono"/>
                <a:ea typeface="JetBrains Mono"/>
                <a:cs typeface="JetBrains Mono"/>
              </a:rPr>
              <a:t>ROC-AUC / AP · ranking</a:t>
            </a:r>
          </a:p>
        </p:txBody>
      </p:sp>
      <p:sp>
        <p:nvSpPr>
          <p:cNvPr id="48" name="Text 44">
            <a:extLst xmlns:a="http://schemas.openxmlformats.org/drawingml/2006/main">
              <a:ext uri="{FF2B5EF4-FFF2-40B4-BE49-F238E27FC236}">
                <a16:creationId xmlns:a16="http://schemas.microsoft.com/office/drawing/2014/main" id="{69F02562-7657-40DC-880E-EA1DEC10AFAC}"/>
              </a:ext>
            </a:extLst>
          </p:cNvPr>
          <p:cNvSpPr>
            <a:spLocks xmlns:a="http://schemas.openxmlformats.org/drawingml/2006/main" noGrp="1"/>
          </p:cNvSpPr>
          <p:nvPr/>
        </p:nvSpPr>
        <p:spPr>
          <a:xfrm xmlns:a="http://schemas.openxmlformats.org/drawingml/2006/main">
            <a:off x="13525805" y="7099402"/>
            <a:ext cx="3620110" cy="2478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200" b="1">
                <a:solidFill>
                  <a:srgbClr val="FF5CA0">
                    <a:alpha val="90000"/>
                  </a:srgbClr>
                </a:solidFill>
                <a:latin typeface="JetBrains Mono"/>
                <a:ea typeface="JetBrains Mono"/>
                <a:cs typeface="JetBrains Mono"/>
              </a:rPr>
              <a:t>Brier · probability quality</a:t>
            </a:r>
          </a:p>
        </p:txBody>
      </p:sp>
      <p:sp>
        <p:nvSpPr>
          <p:cNvPr id="49" name="Text 45">
            <a:extLst xmlns:a="http://schemas.openxmlformats.org/drawingml/2006/main">
              <a:ext uri="{FF2B5EF4-FFF2-40B4-BE49-F238E27FC236}">
                <a16:creationId xmlns:a16="http://schemas.microsoft.com/office/drawing/2014/main" id="{FE8ADF8E-9155-46D6-8B72-D1270E7A4971}"/>
              </a:ext>
            </a:extLst>
          </p:cNvPr>
          <p:cNvSpPr>
            <a:spLocks xmlns:a="http://schemas.openxmlformats.org/drawingml/2006/main" noGrp="1"/>
          </p:cNvSpPr>
          <p:nvPr/>
        </p:nvSpPr>
        <p:spPr>
          <a:xfrm xmlns:a="http://schemas.openxmlformats.org/drawingml/2006/main">
            <a:off x="9620402" y="7496251"/>
            <a:ext cx="3620110" cy="2478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200" b="1">
                <a:solidFill>
                  <a:srgbClr val="FF5CA0">
                    <a:alpha val="90000"/>
                  </a:srgbClr>
                </a:solidFill>
                <a:latin typeface="JetBrains Mono"/>
                <a:ea typeface="JetBrains Mono"/>
                <a:cs typeface="JetBrains Mono"/>
              </a:rPr>
              <a:t>Clustered 95% CIs</a:t>
            </a:r>
          </a:p>
        </p:txBody>
      </p:sp>
      <p:sp>
        <p:nvSpPr>
          <p:cNvPr id="50" name="Text 46">
            <a:extLst xmlns:a="http://schemas.openxmlformats.org/drawingml/2006/main">
              <a:ext uri="{FF2B5EF4-FFF2-40B4-BE49-F238E27FC236}">
                <a16:creationId xmlns:a16="http://schemas.microsoft.com/office/drawing/2014/main" id="{ECA77F93-FB75-4D31-BF9D-42149F4639D5}"/>
              </a:ext>
            </a:extLst>
          </p:cNvPr>
          <p:cNvSpPr>
            <a:spLocks xmlns:a="http://schemas.openxmlformats.org/drawingml/2006/main" noGrp="1"/>
          </p:cNvSpPr>
          <p:nvPr/>
        </p:nvSpPr>
        <p:spPr>
          <a:xfrm xmlns:a="http://schemas.openxmlformats.org/drawingml/2006/main">
            <a:off x="13525805" y="7496251"/>
            <a:ext cx="3620110" cy="2478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200" b="1">
                <a:solidFill>
                  <a:srgbClr val="FF5CA0">
                    <a:alpha val="90000"/>
                  </a:srgbClr>
                </a:solidFill>
                <a:latin typeface="JetBrains Mono"/>
                <a:ea typeface="JetBrains Mono"/>
                <a:cs typeface="JetBrains Mono"/>
              </a:rPr>
              <a:t>Permutation tests · comparison</a:t>
            </a:r>
          </a:p>
        </p:txBody>
      </p:sp>
      <p:sp>
        <p:nvSpPr>
          <p:cNvPr id="51" name="Shape 47">
            <a:extLst xmlns:a="http://schemas.openxmlformats.org/drawingml/2006/main">
              <a:ext uri="{FF2B5EF4-FFF2-40B4-BE49-F238E27FC236}">
                <a16:creationId xmlns:a16="http://schemas.microsoft.com/office/drawing/2014/main" id="{BA0B895A-7D3A-46E7-AFDF-8E1B05E9F5C2}"/>
              </a:ext>
            </a:extLst>
          </p:cNvPr>
          <p:cNvSpPr>
            <a:spLocks xmlns:a="http://schemas.openxmlformats.org/drawingml/2006/main" noGrp="1"/>
          </p:cNvSpPr>
          <p:nvPr/>
        </p:nvSpPr>
        <p:spPr>
          <a:xfrm xmlns:a="http://schemas.openxmlformats.org/drawingml/2006/main">
            <a:off x="9620402" y="7930591"/>
            <a:ext cx="7524598" cy="9144"/>
          </a:xfrm>
          <a:prstGeom xmlns:a="http://schemas.openxmlformats.org/drawingml/2006/main" prst="rect">
            <a:avLst/>
          </a:prstGeom>
          <a:solidFill xmlns:a="http://schemas.openxmlformats.org/drawingml/2006/main">
            <a:srgbClr val="FFFFFF">
              <a:alpha val="10000"/>
            </a:srgbClr>
          </a:solidFill>
          <a:ln xmlns:a="http://schemas.openxmlformats.org/drawingml/2006/main" w="12700">
            <a:solidFill>
              <a:srgbClr val="FFFFFF">
                <a:alpha val="0"/>
              </a:srgbClr>
            </a:solidFill>
            <a:prstDash val="solid"/>
          </a:ln>
        </p:spPr>
      </p:sp>
      <p:sp>
        <p:nvSpPr>
          <p:cNvPr id="52" name="Text 48">
            <a:extLst xmlns:a="http://schemas.openxmlformats.org/drawingml/2006/main">
              <a:ext uri="{FF2B5EF4-FFF2-40B4-BE49-F238E27FC236}">
                <a16:creationId xmlns:a16="http://schemas.microsoft.com/office/drawing/2014/main" id="{B92C72C3-B245-45BF-A9E3-0A4075EE65B5}"/>
              </a:ext>
            </a:extLst>
          </p:cNvPr>
          <p:cNvSpPr>
            <a:spLocks xmlns:a="http://schemas.openxmlformats.org/drawingml/2006/main" noGrp="1"/>
          </p:cNvSpPr>
          <p:nvPr/>
        </p:nvSpPr>
        <p:spPr>
          <a:xfrm xmlns:a="http://schemas.openxmlformats.org/drawingml/2006/main">
            <a:off x="9620402" y="8073238"/>
            <a:ext cx="7525512" cy="152705"/>
          </a:xfrm>
          <a:prstGeom xmlns:a="http://schemas.openxmlformats.org/drawingml/2006/main" prst="rect">
            <a:avLst/>
          </a:prstGeom>
          <a:solidFill xmlns:a="http://schemas.openxmlformats.org/drawingml/2006/main">
            <a:srgbClr val="FFFFFF">
              <a:alpha val="0"/>
            </a:srgbClr>
          </a:solidFill>
          <a:ln xmlns:a="http://schemas.openxmlformats.org/drawingml/2006/main">
            <a:solidFill>
              <a:srgbClr val="FFFFFF">
                <a:alpha val="0"/>
              </a:srgbClr>
            </a:solidFill>
          </a:ln>
        </p:spPr>
        <p:txBody>
          <a:bodyPr xmlns:a="http://schemas.openxmlformats.org/drawingml/2006/main" wrap="none" lIns="139700" tIns="0" rIns="139700" bIns="139700" anchor="ctr"/>
          <a:lstStyle xmlns:a="http://schemas.openxmlformats.org/drawingml/2006/main"/>
          <a:p xmlns:a="http://schemas.openxmlformats.org/drawingml/2006/main">
            <a:pPr marL="0" indent="0" algn="l">
              <a:buNone/>
            </a:pPr>
            <a:r>
              <a:rPr sz="1000">
                <a:solidFill>
                  <a:srgbClr val="FFFFFF">
                    <a:alpha val="60000"/>
                  </a:srgbClr>
                </a:solidFill>
                <a:latin typeface="JetBrains Mono"/>
                <a:ea typeface="JetBrains Mono"/>
                <a:cs typeface="JetBrains Mono"/>
              </a:rPr>
              <a:t>Raw score = ranking only | local calibration remains required</a:t>
            </a:r>
          </a:p>
        </p:txBody>
      </p:sp>
    </p:spTree>
    <p:extLst>
      <p:ext uri="{BB962C8B-B14F-4D97-AF65-F5344CB8AC3E}">
        <p14:creationId xmlns:p14="http://schemas.microsoft.com/office/powerpoint/2010/main" val="1459980725"/>
      </p:ext>
    </p:extLst>
  </p:cSld>
</p:sld>
</file>

<file path=ppt/slides/slide9.xml><?xml version="1.0" encoding="utf-8"?>
<p:sld xmlns:p="http://schemas.openxmlformats.org/presentationml/2006/main">
  <p:cSld>
    <p:bg>
      <p:bgPr>
        <a:solidFill xmlns:a="http://schemas.openxmlformats.org/drawingml/2006/main">
          <a:srgbClr val="F7F7FB"/>
        </a:solidFill>
      </p:bgPr>
    </p:bg>
    <p:spTree>
      <p:nvGrpSpPr>
        <p:cNvPr id="1" name=""/>
        <p:cNvGrpSpPr/>
        <p:nvPr/>
      </p:nvGrpSpPr>
      <p:grpSpPr>
        <a:xfrm xmlns:a="http://schemas.openxmlformats.org/drawingml/2006/main"/>
      </p:grpSpPr>
      <p:pic>
        <p:nvPicPr>
          <p:cNvPr id="32" name="Image 0"/>
          <p:cNvPicPr>
            <a:picLocks xmlns:a="http://schemas.openxmlformats.org/drawingml/2006/main" noChangeAspect="1"/>
          </p:cNvPicPr>
          <p:nvPr/>
        </p:nvPicPr>
        <p:blipFill>
          <a:blip xmlns:r="http://schemas.openxmlformats.org/officeDocument/2006/relationships" xmlns:a="http://schemas.openxmlformats.org/drawingml/2006/main" r:embed="Re26d3827033f4ce9"/>
          <a:srcRect xmlns:a="http://schemas.openxmlformats.org/drawingml/2006/main" l="-2083" t="0" r="-2083" b="0"/>
          <a:stretch xmlns:a="http://schemas.openxmlformats.org/drawingml/2006/main"/>
        </p:blipFill>
        <p:spPr>
          <a:xfrm xmlns:a="http://schemas.openxmlformats.org/drawingml/2006/main">
            <a:off x="761695" y="761695"/>
            <a:ext cx="16763695" cy="9144"/>
          </a:xfrm>
          <a:prstGeom xmlns:a="http://schemas.openxmlformats.org/drawingml/2006/main" prst="rect">
            <a:avLst/>
          </a:prstGeom>
        </p:spPr>
      </p:pic>
      <p:sp>
        <p:nvSpPr>
          <p:cNvPr id="4" name="Shape 0">
            <a:extLst xmlns:a="http://schemas.openxmlformats.org/drawingml/2006/main">
              <a:ext uri="{FF2B5EF4-FFF2-40B4-BE49-F238E27FC236}">
                <a16:creationId xmlns:a16="http://schemas.microsoft.com/office/drawing/2014/main" id="{6AD2C79D-7E18-4C48-A861-825DC6E7F08F}"/>
              </a:ext>
            </a:extLst>
          </p:cNvPr>
          <p:cNvSpPr>
            <a:spLocks xmlns:a="http://schemas.openxmlformats.org/drawingml/2006/main" noGrp="1"/>
          </p:cNvSpPr>
          <p:nvPr/>
        </p:nvSpPr>
        <p:spPr>
          <a:xfrm xmlns:a="http://schemas.openxmlformats.org/drawingml/2006/main">
            <a:off x="761695" y="2476195"/>
            <a:ext cx="8305495" cy="3429000"/>
          </a:xfrm>
          <a:prstGeom xmlns:a="http://schemas.openxmlformats.org/drawingml/2006/main" prst="roundRect">
            <a:avLst>
              <a:gd name="adj" fmla="val 560"/>
            </a:avLst>
          </a:prstGeom>
          <a:solidFill xmlns:a="http://schemas.openxmlformats.org/drawingml/2006/main">
            <a:srgbClr val="FFFFFF"/>
          </a:solidFill>
          <a:ln xmlns:a="http://schemas.openxmlformats.org/drawingml/2006/main" w="12700">
            <a:solidFill>
              <a:srgbClr val="E4E5EF"/>
            </a:solidFill>
            <a:prstDash val="solid"/>
          </a:ln>
        </p:spPr>
      </p:sp>
      <p:sp>
        <p:nvSpPr>
          <p:cNvPr id="5" name="Shape 1">
            <a:extLst xmlns:a="http://schemas.openxmlformats.org/drawingml/2006/main">
              <a:ext uri="{FF2B5EF4-FFF2-40B4-BE49-F238E27FC236}">
                <a16:creationId xmlns:a16="http://schemas.microsoft.com/office/drawing/2014/main" id="{656A2DAA-94B4-4146-A093-CEC7C56866D4}"/>
              </a:ext>
            </a:extLst>
          </p:cNvPr>
          <p:cNvSpPr>
            <a:spLocks xmlns:a="http://schemas.openxmlformats.org/drawingml/2006/main" noGrp="1"/>
          </p:cNvSpPr>
          <p:nvPr/>
        </p:nvSpPr>
        <p:spPr>
          <a:xfrm xmlns:a="http://schemas.openxmlformats.org/drawingml/2006/main">
            <a:off x="761695" y="2476195"/>
            <a:ext cx="8305495" cy="38405"/>
          </a:xfrm>
          <a:prstGeom xmlns:a="http://schemas.openxmlformats.org/drawingml/2006/main" prst="roundRect">
            <a:avLst>
              <a:gd name="adj" fmla="val 50000"/>
            </a:avLst>
          </a:prstGeom>
          <a:solidFill xmlns:a="http://schemas.openxmlformats.org/drawingml/2006/main">
            <a:srgbClr val="E4237A"/>
          </a:solidFill>
          <a:ln xmlns:a="http://schemas.openxmlformats.org/drawingml/2006/main" w="12700">
            <a:solidFill>
              <a:srgbClr val="E4237A">
                <a:alpha val="0"/>
              </a:srgbClr>
            </a:solidFill>
            <a:prstDash val="solid"/>
          </a:ln>
        </p:spPr>
      </p:sp>
      <p:sp>
        <p:nvSpPr>
          <p:cNvPr id="6" name="Shape 2">
            <a:extLst xmlns:a="http://schemas.openxmlformats.org/drawingml/2006/main">
              <a:ext uri="{FF2B5EF4-FFF2-40B4-BE49-F238E27FC236}">
                <a16:creationId xmlns:a16="http://schemas.microsoft.com/office/drawing/2014/main" id="{08A5ED76-F7C5-46E7-A7C5-EBEA95624A46}"/>
              </a:ext>
            </a:extLst>
          </p:cNvPr>
          <p:cNvSpPr>
            <a:spLocks xmlns:a="http://schemas.openxmlformats.org/drawingml/2006/main" noGrp="1"/>
          </p:cNvSpPr>
          <p:nvPr/>
        </p:nvSpPr>
        <p:spPr>
          <a:xfrm xmlns:a="http://schemas.openxmlformats.org/drawingml/2006/main">
            <a:off x="9239098" y="2476195"/>
            <a:ext cx="8305495" cy="3429000"/>
          </a:xfrm>
          <a:prstGeom xmlns:a="http://schemas.openxmlformats.org/drawingml/2006/main" prst="roundRect">
            <a:avLst>
              <a:gd name="adj" fmla="val 560"/>
            </a:avLst>
          </a:prstGeom>
          <a:solidFill xmlns:a="http://schemas.openxmlformats.org/drawingml/2006/main">
            <a:srgbClr val="FFFFFF"/>
          </a:solidFill>
          <a:ln xmlns:a="http://schemas.openxmlformats.org/drawingml/2006/main" w="12700">
            <a:solidFill>
              <a:srgbClr val="E4E5EF"/>
            </a:solidFill>
            <a:prstDash val="solid"/>
          </a:ln>
        </p:spPr>
      </p:sp>
      <p:sp>
        <p:nvSpPr>
          <p:cNvPr id="7" name="Shape 3">
            <a:extLst xmlns:a="http://schemas.openxmlformats.org/drawingml/2006/main">
              <a:ext uri="{FF2B5EF4-FFF2-40B4-BE49-F238E27FC236}">
                <a16:creationId xmlns:a16="http://schemas.microsoft.com/office/drawing/2014/main" id="{F2054AB1-AB9A-40AC-8B2A-70B6254E27C1}"/>
              </a:ext>
            </a:extLst>
          </p:cNvPr>
          <p:cNvSpPr>
            <a:spLocks xmlns:a="http://schemas.openxmlformats.org/drawingml/2006/main" noGrp="1"/>
          </p:cNvSpPr>
          <p:nvPr/>
        </p:nvSpPr>
        <p:spPr>
          <a:xfrm xmlns:a="http://schemas.openxmlformats.org/drawingml/2006/main">
            <a:off x="9239098" y="2476195"/>
            <a:ext cx="8305495" cy="38405"/>
          </a:xfrm>
          <a:prstGeom xmlns:a="http://schemas.openxmlformats.org/drawingml/2006/main" prst="roundRect">
            <a:avLst>
              <a:gd name="adj" fmla="val 50000"/>
            </a:avLst>
          </a:prstGeom>
          <a:solidFill xmlns:a="http://schemas.openxmlformats.org/drawingml/2006/main">
            <a:srgbClr val="E8A93A"/>
          </a:solidFill>
          <a:ln xmlns:a="http://schemas.openxmlformats.org/drawingml/2006/main" w="12700">
            <a:solidFill>
              <a:srgbClr val="E8A93A">
                <a:alpha val="0"/>
              </a:srgbClr>
            </a:solidFill>
            <a:prstDash val="solid"/>
          </a:ln>
        </p:spPr>
      </p:sp>
      <p:sp>
        <p:nvSpPr>
          <p:cNvPr id="8" name="Shape 4">
            <a:extLst xmlns:a="http://schemas.openxmlformats.org/drawingml/2006/main">
              <a:ext uri="{FF2B5EF4-FFF2-40B4-BE49-F238E27FC236}">
                <a16:creationId xmlns:a16="http://schemas.microsoft.com/office/drawing/2014/main" id="{49ED4AD8-5BD7-456F-B7A2-A359B061B6AD}"/>
              </a:ext>
            </a:extLst>
          </p:cNvPr>
          <p:cNvSpPr>
            <a:spLocks xmlns:a="http://schemas.openxmlformats.org/drawingml/2006/main" noGrp="1"/>
          </p:cNvSpPr>
          <p:nvPr/>
        </p:nvSpPr>
        <p:spPr>
          <a:xfrm xmlns:a="http://schemas.openxmlformats.org/drawingml/2006/main">
            <a:off x="761695" y="6048756"/>
            <a:ext cx="8305495" cy="3238805"/>
          </a:xfrm>
          <a:prstGeom xmlns:a="http://schemas.openxmlformats.org/drawingml/2006/main" prst="roundRect">
            <a:avLst>
              <a:gd name="adj" fmla="val 593"/>
            </a:avLst>
          </a:prstGeom>
          <a:solidFill xmlns:a="http://schemas.openxmlformats.org/drawingml/2006/main">
            <a:srgbClr val="FFFFFF"/>
          </a:solidFill>
          <a:ln xmlns:a="http://schemas.openxmlformats.org/drawingml/2006/main" w="12700">
            <a:solidFill>
              <a:srgbClr val="E4E5EF"/>
            </a:solidFill>
            <a:prstDash val="solid"/>
          </a:ln>
        </p:spPr>
      </p:sp>
      <p:sp>
        <p:nvSpPr>
          <p:cNvPr id="9" name="Shape 5">
            <a:extLst xmlns:a="http://schemas.openxmlformats.org/drawingml/2006/main">
              <a:ext uri="{FF2B5EF4-FFF2-40B4-BE49-F238E27FC236}">
                <a16:creationId xmlns:a16="http://schemas.microsoft.com/office/drawing/2014/main" id="{656F918D-3BE7-4F1C-BCCD-F260A5FAD869}"/>
              </a:ext>
            </a:extLst>
          </p:cNvPr>
          <p:cNvSpPr>
            <a:spLocks xmlns:a="http://schemas.openxmlformats.org/drawingml/2006/main" noGrp="1"/>
          </p:cNvSpPr>
          <p:nvPr/>
        </p:nvSpPr>
        <p:spPr>
          <a:xfrm xmlns:a="http://schemas.openxmlformats.org/drawingml/2006/main">
            <a:off x="761695" y="6048756"/>
            <a:ext cx="8305495" cy="38405"/>
          </a:xfrm>
          <a:prstGeom xmlns:a="http://schemas.openxmlformats.org/drawingml/2006/main" prst="roundRect">
            <a:avLst>
              <a:gd name="adj" fmla="val 50000"/>
            </a:avLst>
          </a:prstGeom>
          <a:solidFill xmlns:a="http://schemas.openxmlformats.org/drawingml/2006/main">
            <a:srgbClr val="2A2E7A"/>
          </a:solidFill>
          <a:ln xmlns:a="http://schemas.openxmlformats.org/drawingml/2006/main" w="12700">
            <a:solidFill>
              <a:srgbClr val="2A2E7A">
                <a:alpha val="0"/>
              </a:srgbClr>
            </a:solidFill>
            <a:prstDash val="solid"/>
          </a:ln>
        </p:spPr>
      </p:sp>
      <p:sp>
        <p:nvSpPr>
          <p:cNvPr id="10" name="Shape 6">
            <a:extLst xmlns:a="http://schemas.openxmlformats.org/drawingml/2006/main">
              <a:ext uri="{FF2B5EF4-FFF2-40B4-BE49-F238E27FC236}">
                <a16:creationId xmlns:a16="http://schemas.microsoft.com/office/drawing/2014/main" id="{FDF02A82-552C-406A-BCDF-5E73D526A4AD}"/>
              </a:ext>
            </a:extLst>
          </p:cNvPr>
          <p:cNvSpPr>
            <a:spLocks xmlns:a="http://schemas.openxmlformats.org/drawingml/2006/main" noGrp="1"/>
          </p:cNvSpPr>
          <p:nvPr/>
        </p:nvSpPr>
        <p:spPr>
          <a:xfrm xmlns:a="http://schemas.openxmlformats.org/drawingml/2006/main">
            <a:off x="9239098" y="6048756"/>
            <a:ext cx="8305495" cy="3238805"/>
          </a:xfrm>
          <a:prstGeom xmlns:a="http://schemas.openxmlformats.org/drawingml/2006/main" prst="roundRect">
            <a:avLst>
              <a:gd name="adj" fmla="val 593"/>
            </a:avLst>
          </a:prstGeom>
          <a:solidFill xmlns:a="http://schemas.openxmlformats.org/drawingml/2006/main">
            <a:srgbClr val="FFFFFF"/>
          </a:solidFill>
          <a:ln xmlns:a="http://schemas.openxmlformats.org/drawingml/2006/main" w="12700">
            <a:solidFill>
              <a:srgbClr val="E4E5EF"/>
            </a:solidFill>
            <a:prstDash val="solid"/>
          </a:ln>
        </p:spPr>
      </p:sp>
      <p:sp>
        <p:nvSpPr>
          <p:cNvPr id="11" name="Shape 7">
            <a:extLst xmlns:a="http://schemas.openxmlformats.org/drawingml/2006/main">
              <a:ext uri="{FF2B5EF4-FFF2-40B4-BE49-F238E27FC236}">
                <a16:creationId xmlns:a16="http://schemas.microsoft.com/office/drawing/2014/main" id="{D3F8E897-13ED-4251-A244-F2B78C27B8EC}"/>
              </a:ext>
            </a:extLst>
          </p:cNvPr>
          <p:cNvSpPr>
            <a:spLocks xmlns:a="http://schemas.openxmlformats.org/drawingml/2006/main" noGrp="1"/>
          </p:cNvSpPr>
          <p:nvPr/>
        </p:nvSpPr>
        <p:spPr>
          <a:xfrm xmlns:a="http://schemas.openxmlformats.org/drawingml/2006/main">
            <a:off x="9239098" y="6048756"/>
            <a:ext cx="8305495" cy="38405"/>
          </a:xfrm>
          <a:prstGeom xmlns:a="http://schemas.openxmlformats.org/drawingml/2006/main" prst="roundRect">
            <a:avLst>
              <a:gd name="adj" fmla="val 50000"/>
            </a:avLst>
          </a:prstGeom>
          <a:solidFill xmlns:a="http://schemas.openxmlformats.org/drawingml/2006/main">
            <a:srgbClr val="1B9E8F"/>
          </a:solidFill>
          <a:ln xmlns:a="http://schemas.openxmlformats.org/drawingml/2006/main" w="12700">
            <a:solidFill>
              <a:srgbClr val="1B9E8F">
                <a:alpha val="0"/>
              </a:srgbClr>
            </a:solidFill>
            <a:prstDash val="solid"/>
          </a:ln>
        </p:spPr>
      </p:sp>
      <p:sp>
        <p:nvSpPr>
          <p:cNvPr id="12" name="Text 8">
            <a:extLst xmlns:a="http://schemas.openxmlformats.org/drawingml/2006/main">
              <a:ext uri="{FF2B5EF4-FFF2-40B4-BE49-F238E27FC236}">
                <a16:creationId xmlns:a16="http://schemas.microsoft.com/office/drawing/2014/main" id="{425753AB-B233-4059-85CB-37D4A1278D42}"/>
              </a:ext>
            </a:extLst>
          </p:cNvPr>
          <p:cNvSpPr>
            <a:spLocks xmlns:a="http://schemas.openxmlformats.org/drawingml/2006/main" noGrp="1"/>
          </p:cNvSpPr>
          <p:nvPr/>
        </p:nvSpPr>
        <p:spPr>
          <a:xfrm xmlns:a="http://schemas.openxmlformats.org/drawingml/2006/main">
            <a:off x="761695" y="428854"/>
            <a:ext cx="8572500" cy="152705"/>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000">
                <a:solidFill>
                  <a:srgbClr val="6A6F8C"/>
                </a:solidFill>
                <a:latin typeface="JetBrains Mono"/>
                <a:ea typeface="JetBrains Mono"/>
                <a:cs typeface="JetBrains Mono"/>
              </a:rPr>
              <a:t>§ 04 · Shared semantic feature schema</a:t>
            </a:r>
          </a:p>
        </p:txBody>
      </p:sp>
      <p:sp>
        <p:nvSpPr>
          <p:cNvPr id="13" name="Text 9">
            <a:extLst xmlns:a="http://schemas.openxmlformats.org/drawingml/2006/main">
              <a:ext uri="{FF2B5EF4-FFF2-40B4-BE49-F238E27FC236}">
                <a16:creationId xmlns:a16="http://schemas.microsoft.com/office/drawing/2014/main" id="{42BD94A9-EDFD-4217-932C-326EFA78F607}"/>
              </a:ext>
            </a:extLst>
          </p:cNvPr>
          <p:cNvSpPr>
            <a:spLocks xmlns:a="http://schemas.openxmlformats.org/drawingml/2006/main" noGrp="1"/>
          </p:cNvSpPr>
          <p:nvPr/>
        </p:nvSpPr>
        <p:spPr>
          <a:xfrm xmlns:a="http://schemas.openxmlformats.org/drawingml/2006/main">
            <a:off x="15240305" y="400050"/>
            <a:ext cx="2286000" cy="209550"/>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r">
              <a:buNone/>
            </a:pPr>
            <a:r>
              <a:rPr sz="1200">
                <a:solidFill>
                  <a:srgbClr val="6A6F8C"/>
                </a:solidFill>
                <a:latin typeface="JetBrains Mono"/>
                <a:ea typeface="JetBrains Mono"/>
                <a:cs typeface="JetBrains Mono"/>
              </a:rPr>
              <a:t>09 / 20</a:t>
            </a:r>
          </a:p>
        </p:txBody>
      </p:sp>
      <p:sp>
        <p:nvSpPr>
          <p:cNvPr id="14" name="Text 10">
            <a:extLst xmlns:a="http://schemas.openxmlformats.org/drawingml/2006/main">
              <a:ext uri="{FF2B5EF4-FFF2-40B4-BE49-F238E27FC236}">
                <a16:creationId xmlns:a16="http://schemas.microsoft.com/office/drawing/2014/main" id="{07729B98-68DF-4073-975C-848A6ADDD93E}"/>
              </a:ext>
            </a:extLst>
          </p:cNvPr>
          <p:cNvSpPr>
            <a:spLocks xmlns:a="http://schemas.openxmlformats.org/drawingml/2006/main" noGrp="1"/>
          </p:cNvSpPr>
          <p:nvPr/>
        </p:nvSpPr>
        <p:spPr>
          <a:xfrm xmlns:a="http://schemas.openxmlformats.org/drawingml/2006/main">
            <a:off x="761695" y="1238098"/>
            <a:ext cx="16764610" cy="523951"/>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3900" b="1">
                <a:solidFill>
                  <a:srgbClr val="0F1226"/>
                </a:solidFill>
                <a:latin typeface="Inter"/>
                <a:ea typeface="Inter"/>
                <a:cs typeface="Inter"/>
              </a:rPr>
              <a:t>Four required concepts anchor a 16-feature contract.</a:t>
            </a:r>
          </a:p>
        </p:txBody>
      </p:sp>
      <p:sp>
        <p:nvSpPr>
          <p:cNvPr id="15" name="Text 11">
            <a:extLst xmlns:a="http://schemas.openxmlformats.org/drawingml/2006/main">
              <a:ext uri="{FF2B5EF4-FFF2-40B4-BE49-F238E27FC236}">
                <a16:creationId xmlns:a16="http://schemas.microsoft.com/office/drawing/2014/main" id="{768A074E-2E8D-4EEA-A19E-2D4A7EEA619B}"/>
              </a:ext>
            </a:extLst>
          </p:cNvPr>
          <p:cNvSpPr>
            <a:spLocks xmlns:a="http://schemas.openxmlformats.org/drawingml/2006/main" noGrp="1"/>
          </p:cNvSpPr>
          <p:nvPr/>
        </p:nvSpPr>
        <p:spPr>
          <a:xfrm xmlns:a="http://schemas.openxmlformats.org/drawingml/2006/main">
            <a:off x="1143000" y="2714854"/>
            <a:ext cx="419710" cy="400507"/>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2700" b="1">
                <a:solidFill>
                  <a:srgbClr val="E4237A"/>
                </a:solidFill>
                <a:latin typeface="JetBrains Mono"/>
                <a:ea typeface="JetBrains Mono"/>
                <a:cs typeface="JetBrains Mono"/>
              </a:rPr>
              <a:t>01</a:t>
            </a:r>
          </a:p>
        </p:txBody>
      </p:sp>
      <p:sp>
        <p:nvSpPr>
          <p:cNvPr id="16" name="Text 12">
            <a:extLst xmlns:a="http://schemas.openxmlformats.org/drawingml/2006/main">
              <a:ext uri="{FF2B5EF4-FFF2-40B4-BE49-F238E27FC236}">
                <a16:creationId xmlns:a16="http://schemas.microsoft.com/office/drawing/2014/main" id="{8725D395-9B4C-47F1-AC1B-003A1B414309}"/>
              </a:ext>
            </a:extLst>
          </p:cNvPr>
          <p:cNvSpPr>
            <a:spLocks xmlns:a="http://schemas.openxmlformats.org/drawingml/2006/main" noGrp="1"/>
          </p:cNvSpPr>
          <p:nvPr/>
        </p:nvSpPr>
        <p:spPr>
          <a:xfrm xmlns:a="http://schemas.openxmlformats.org/drawingml/2006/main">
            <a:off x="1687982" y="2924251"/>
            <a:ext cx="2067458" cy="1335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6A6F8C"/>
                </a:solidFill>
                <a:latin typeface="JetBrains Mono"/>
                <a:ea typeface="JetBrains Mono"/>
                <a:cs typeface="JetBrains Mono"/>
              </a:rPr>
              <a:t>Required core</a:t>
            </a:r>
          </a:p>
        </p:txBody>
      </p:sp>
      <p:sp>
        <p:nvSpPr>
          <p:cNvPr id="17" name="Text 13">
            <a:extLst xmlns:a="http://schemas.openxmlformats.org/drawingml/2006/main">
              <a:ext uri="{FF2B5EF4-FFF2-40B4-BE49-F238E27FC236}">
                <a16:creationId xmlns:a16="http://schemas.microsoft.com/office/drawing/2014/main" id="{A6424C08-3A3F-482A-A94F-2595C6EB3DB6}"/>
              </a:ext>
            </a:extLst>
          </p:cNvPr>
          <p:cNvSpPr>
            <a:spLocks xmlns:a="http://schemas.openxmlformats.org/drawingml/2006/main" noGrp="1"/>
          </p:cNvSpPr>
          <p:nvPr/>
        </p:nvSpPr>
        <p:spPr>
          <a:xfrm xmlns:a="http://schemas.openxmlformats.org/drawingml/2006/main">
            <a:off x="1143000" y="3247949"/>
            <a:ext cx="7525512" cy="5715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600" b="1">
                <a:solidFill>
                  <a:srgbClr val="0F1226"/>
                </a:solidFill>
                <a:latin typeface="Inter"/>
                <a:ea typeface="Inter"/>
                <a:cs typeface="Inter"/>
              </a:rPr>
              <a:t>Needed for every snapshot</a:t>
            </a:r>
          </a:p>
        </p:txBody>
      </p:sp>
      <p:sp>
        <p:nvSpPr>
          <p:cNvPr id="18" name="Text 14">
            <a:extLst xmlns:a="http://schemas.openxmlformats.org/drawingml/2006/main">
              <a:ext uri="{FF2B5EF4-FFF2-40B4-BE49-F238E27FC236}">
                <a16:creationId xmlns:a16="http://schemas.microsoft.com/office/drawing/2014/main" id="{6AFE5CBD-909F-455D-8AA7-60CDA5F01139}"/>
              </a:ext>
            </a:extLst>
          </p:cNvPr>
          <p:cNvSpPr>
            <a:spLocks xmlns:a="http://schemas.openxmlformats.org/drawingml/2006/main" noGrp="1"/>
          </p:cNvSpPr>
          <p:nvPr/>
        </p:nvSpPr>
        <p:spPr>
          <a:xfrm xmlns:a="http://schemas.openxmlformats.org/drawingml/2006/main">
            <a:off x="1143000" y="3946550"/>
            <a:ext cx="7525512" cy="7818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200">
                <a:solidFill>
                  <a:srgbClr val="2A2E4B"/>
                </a:solidFill>
                <a:latin typeface="Inter"/>
                <a:ea typeface="Inter"/>
                <a:cs typeface="Inter"/>
              </a:rPr>
              <a:t>age_scaled | prior_education_level | study_load | course_progress_ratio</a:t>
            </a:r>
          </a:p>
        </p:txBody>
      </p:sp>
      <p:sp>
        <p:nvSpPr>
          <p:cNvPr id="19" name="Text 15">
            <a:extLst xmlns:a="http://schemas.openxmlformats.org/drawingml/2006/main">
              <a:ext uri="{FF2B5EF4-FFF2-40B4-BE49-F238E27FC236}">
                <a16:creationId xmlns:a16="http://schemas.microsoft.com/office/drawing/2014/main" id="{252767BC-C64B-4C9E-964A-2E2028C42C34}"/>
              </a:ext>
            </a:extLst>
          </p:cNvPr>
          <p:cNvSpPr>
            <a:spLocks xmlns:a="http://schemas.openxmlformats.org/drawingml/2006/main" noGrp="1"/>
          </p:cNvSpPr>
          <p:nvPr/>
        </p:nvSpPr>
        <p:spPr>
          <a:xfrm xmlns:a="http://schemas.openxmlformats.org/drawingml/2006/main">
            <a:off x="9620402" y="2714854"/>
            <a:ext cx="419710" cy="400507"/>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2700" b="1">
                <a:solidFill>
                  <a:srgbClr val="E8A93A"/>
                </a:solidFill>
                <a:latin typeface="JetBrains Mono"/>
                <a:ea typeface="JetBrains Mono"/>
                <a:cs typeface="JetBrains Mono"/>
              </a:rPr>
              <a:t>02</a:t>
            </a:r>
          </a:p>
        </p:txBody>
      </p:sp>
      <p:sp>
        <p:nvSpPr>
          <p:cNvPr id="20" name="Text 16">
            <a:extLst xmlns:a="http://schemas.openxmlformats.org/drawingml/2006/main">
              <a:ext uri="{FF2B5EF4-FFF2-40B4-BE49-F238E27FC236}">
                <a16:creationId xmlns:a16="http://schemas.microsoft.com/office/drawing/2014/main" id="{0E2FB221-93E7-4BF8-BDCB-26B1C4CE13F5}"/>
              </a:ext>
            </a:extLst>
          </p:cNvPr>
          <p:cNvSpPr>
            <a:spLocks xmlns:a="http://schemas.openxmlformats.org/drawingml/2006/main" noGrp="1"/>
          </p:cNvSpPr>
          <p:nvPr/>
        </p:nvSpPr>
        <p:spPr>
          <a:xfrm xmlns:a="http://schemas.openxmlformats.org/drawingml/2006/main">
            <a:off x="10165385" y="2924251"/>
            <a:ext cx="2533802" cy="1335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6A6F8C"/>
                </a:solidFill>
                <a:latin typeface="JetBrains Mono"/>
                <a:ea typeface="JetBrains Mono"/>
                <a:cs typeface="JetBrains Mono"/>
              </a:rPr>
              <a:t>Optional background</a:t>
            </a:r>
          </a:p>
        </p:txBody>
      </p:sp>
      <p:sp>
        <p:nvSpPr>
          <p:cNvPr id="21" name="Text 17">
            <a:extLst xmlns:a="http://schemas.openxmlformats.org/drawingml/2006/main">
              <a:ext uri="{FF2B5EF4-FFF2-40B4-BE49-F238E27FC236}">
                <a16:creationId xmlns:a16="http://schemas.microsoft.com/office/drawing/2014/main" id="{6820B339-9699-4EB2-B93D-9866ED5DFB81}"/>
              </a:ext>
            </a:extLst>
          </p:cNvPr>
          <p:cNvSpPr>
            <a:spLocks xmlns:a="http://schemas.openxmlformats.org/drawingml/2006/main" noGrp="1"/>
          </p:cNvSpPr>
          <p:nvPr/>
        </p:nvSpPr>
        <p:spPr>
          <a:xfrm xmlns:a="http://schemas.openxmlformats.org/drawingml/2006/main">
            <a:off x="9620402" y="3247949"/>
            <a:ext cx="7525512" cy="286207"/>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600" b="1">
                <a:solidFill>
                  <a:srgbClr val="0F1226"/>
                </a:solidFill>
                <a:latin typeface="Inter"/>
                <a:ea typeface="Inter"/>
                <a:cs typeface="Inter"/>
              </a:rPr>
              <a:t>Five student-context fields</a:t>
            </a:r>
          </a:p>
        </p:txBody>
      </p:sp>
      <p:sp>
        <p:nvSpPr>
          <p:cNvPr id="22" name="Text 18">
            <a:extLst xmlns:a="http://schemas.openxmlformats.org/drawingml/2006/main">
              <a:ext uri="{FF2B5EF4-FFF2-40B4-BE49-F238E27FC236}">
                <a16:creationId xmlns:a16="http://schemas.microsoft.com/office/drawing/2014/main" id="{357826EE-2B55-4AE4-AB59-1AF824266B57}"/>
              </a:ext>
            </a:extLst>
          </p:cNvPr>
          <p:cNvSpPr>
            <a:spLocks xmlns:a="http://schemas.openxmlformats.org/drawingml/2006/main" noGrp="1"/>
          </p:cNvSpPr>
          <p:nvPr/>
        </p:nvSpPr>
        <p:spPr>
          <a:xfrm xmlns:a="http://schemas.openxmlformats.org/drawingml/2006/main">
            <a:off x="9620402" y="3664001"/>
            <a:ext cx="7525512" cy="7818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200">
                <a:solidFill>
                  <a:srgbClr val="2A2E4B"/>
                </a:solidFill>
                <a:latin typeface="Inter"/>
                <a:ea typeface="Inter"/>
                <a:cs typeface="Inter"/>
              </a:rPr>
              <a:t>prior_academic_score | previous_attempts | male | support_need | financial_stability</a:t>
            </a:r>
          </a:p>
        </p:txBody>
      </p:sp>
      <p:sp>
        <p:nvSpPr>
          <p:cNvPr id="23" name="Text 19">
            <a:extLst xmlns:a="http://schemas.openxmlformats.org/drawingml/2006/main">
              <a:ext uri="{FF2B5EF4-FFF2-40B4-BE49-F238E27FC236}">
                <a16:creationId xmlns:a16="http://schemas.microsoft.com/office/drawing/2014/main" id="{CF305B24-76AF-4ADA-BAC3-EC30E325BC79}"/>
              </a:ext>
            </a:extLst>
          </p:cNvPr>
          <p:cNvSpPr>
            <a:spLocks xmlns:a="http://schemas.openxmlformats.org/drawingml/2006/main" noGrp="1"/>
          </p:cNvSpPr>
          <p:nvPr/>
        </p:nvSpPr>
        <p:spPr>
          <a:xfrm xmlns:a="http://schemas.openxmlformats.org/drawingml/2006/main">
            <a:off x="1143000" y="6286500"/>
            <a:ext cx="419710" cy="400507"/>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2700" b="1">
                <a:solidFill>
                  <a:srgbClr val="2A2E7A"/>
                </a:solidFill>
                <a:latin typeface="JetBrains Mono"/>
                <a:ea typeface="JetBrains Mono"/>
                <a:cs typeface="JetBrains Mono"/>
              </a:rPr>
              <a:t>03</a:t>
            </a:r>
          </a:p>
        </p:txBody>
      </p:sp>
      <p:sp>
        <p:nvSpPr>
          <p:cNvPr id="24" name="Text 20">
            <a:extLst xmlns:a="http://schemas.openxmlformats.org/drawingml/2006/main">
              <a:ext uri="{FF2B5EF4-FFF2-40B4-BE49-F238E27FC236}">
                <a16:creationId xmlns:a16="http://schemas.microsoft.com/office/drawing/2014/main" id="{2296A459-CD16-4707-B244-6378283711C0}"/>
              </a:ext>
            </a:extLst>
          </p:cNvPr>
          <p:cNvSpPr>
            <a:spLocks xmlns:a="http://schemas.openxmlformats.org/drawingml/2006/main" noGrp="1"/>
          </p:cNvSpPr>
          <p:nvPr/>
        </p:nvSpPr>
        <p:spPr>
          <a:xfrm xmlns:a="http://schemas.openxmlformats.org/drawingml/2006/main">
            <a:off x="1687982" y="6495898"/>
            <a:ext cx="1600200" cy="1335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6A6F8C"/>
                </a:solidFill>
                <a:latin typeface="JetBrains Mono"/>
                <a:ea typeface="JetBrains Mono"/>
                <a:cs typeface="JetBrains Mono"/>
              </a:rPr>
              <a:t>Optional assessment</a:t>
            </a:r>
          </a:p>
        </p:txBody>
      </p:sp>
      <p:sp>
        <p:nvSpPr>
          <p:cNvPr id="25" name="Text 21">
            <a:extLst xmlns:a="http://schemas.openxmlformats.org/drawingml/2006/main">
              <a:ext uri="{FF2B5EF4-FFF2-40B4-BE49-F238E27FC236}">
                <a16:creationId xmlns:a16="http://schemas.microsoft.com/office/drawing/2014/main" id="{30C4A0F6-BE23-4711-9D7B-BBFF4CA7F03E}"/>
              </a:ext>
            </a:extLst>
          </p:cNvPr>
          <p:cNvSpPr>
            <a:spLocks xmlns:a="http://schemas.openxmlformats.org/drawingml/2006/main" noGrp="1"/>
          </p:cNvSpPr>
          <p:nvPr/>
        </p:nvSpPr>
        <p:spPr>
          <a:xfrm xmlns:a="http://schemas.openxmlformats.org/drawingml/2006/main">
            <a:off x="1143000" y="6819595"/>
            <a:ext cx="7525512" cy="286207"/>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600" b="1">
                <a:solidFill>
                  <a:srgbClr val="0F1226"/>
                </a:solidFill>
                <a:latin typeface="Inter"/>
                <a:ea typeface="Inter"/>
                <a:cs typeface="Inter"/>
              </a:rPr>
              <a:t>Four progress fields</a:t>
            </a:r>
          </a:p>
        </p:txBody>
      </p:sp>
      <p:sp>
        <p:nvSpPr>
          <p:cNvPr id="26" name="Text 22">
            <a:extLst xmlns:a="http://schemas.openxmlformats.org/drawingml/2006/main">
              <a:ext uri="{FF2B5EF4-FFF2-40B4-BE49-F238E27FC236}">
                <a16:creationId xmlns:a16="http://schemas.microsoft.com/office/drawing/2014/main" id="{8615B885-7DB1-41D0-AE74-CF08265E8DB5}"/>
              </a:ext>
            </a:extLst>
          </p:cNvPr>
          <p:cNvSpPr>
            <a:spLocks xmlns:a="http://schemas.openxmlformats.org/drawingml/2006/main" noGrp="1"/>
          </p:cNvSpPr>
          <p:nvPr/>
        </p:nvSpPr>
        <p:spPr>
          <a:xfrm xmlns:a="http://schemas.openxmlformats.org/drawingml/2006/main">
            <a:off x="1143000" y="7197242"/>
            <a:ext cx="7525512" cy="820217"/>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2040"/>
              </a:lnSpc>
              <a:buNone/>
            </a:pPr>
            <a:r>
              <a:rPr sz="1200">
                <a:solidFill>
                  <a:srgbClr val="2A2E4B"/>
                </a:solidFill>
                <a:latin typeface="Inter"/>
                <a:ea typeface="Inter"/>
                <a:cs typeface="Inter"/>
              </a:rPr>
              <a:t>completion | average_score | score_available | late_rate</a:t>
            </a:r>
          </a:p>
        </p:txBody>
      </p:sp>
      <p:sp>
        <p:nvSpPr>
          <p:cNvPr id="27" name="Text 23">
            <a:extLst xmlns:a="http://schemas.openxmlformats.org/drawingml/2006/main">
              <a:ext uri="{FF2B5EF4-FFF2-40B4-BE49-F238E27FC236}">
                <a16:creationId xmlns:a16="http://schemas.microsoft.com/office/drawing/2014/main" id="{83A96EA2-E606-4126-9767-16EC6F08A8B3}"/>
              </a:ext>
            </a:extLst>
          </p:cNvPr>
          <p:cNvSpPr>
            <a:spLocks xmlns:a="http://schemas.openxmlformats.org/drawingml/2006/main" noGrp="1"/>
          </p:cNvSpPr>
          <p:nvPr/>
        </p:nvSpPr>
        <p:spPr>
          <a:xfrm xmlns:a="http://schemas.openxmlformats.org/drawingml/2006/main">
            <a:off x="9620402" y="6286500"/>
            <a:ext cx="419710" cy="400507"/>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2700" b="1">
                <a:solidFill>
                  <a:srgbClr val="1B9E8F"/>
                </a:solidFill>
                <a:latin typeface="JetBrains Mono"/>
                <a:ea typeface="JetBrains Mono"/>
                <a:cs typeface="JetBrains Mono"/>
              </a:rPr>
              <a:t>04</a:t>
            </a:r>
          </a:p>
        </p:txBody>
      </p:sp>
      <p:sp>
        <p:nvSpPr>
          <p:cNvPr id="28" name="Text 24">
            <a:extLst xmlns:a="http://schemas.openxmlformats.org/drawingml/2006/main">
              <a:ext uri="{FF2B5EF4-FFF2-40B4-BE49-F238E27FC236}">
                <a16:creationId xmlns:a16="http://schemas.microsoft.com/office/drawing/2014/main" id="{A6D7DD5F-6E36-4E79-B451-1E2B20C3058D}"/>
              </a:ext>
            </a:extLst>
          </p:cNvPr>
          <p:cNvSpPr>
            <a:spLocks xmlns:a="http://schemas.openxmlformats.org/drawingml/2006/main" noGrp="1"/>
          </p:cNvSpPr>
          <p:nvPr/>
        </p:nvSpPr>
        <p:spPr>
          <a:xfrm xmlns:a="http://schemas.openxmlformats.org/drawingml/2006/main">
            <a:off x="10165385" y="6495898"/>
            <a:ext cx="1781251" cy="1335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6A6F8C"/>
                </a:solidFill>
                <a:latin typeface="JetBrains Mono"/>
                <a:ea typeface="JetBrains Mono"/>
                <a:cs typeface="JetBrains Mono"/>
              </a:rPr>
              <a:t>Optional activity</a:t>
            </a:r>
          </a:p>
        </p:txBody>
      </p:sp>
      <p:sp>
        <p:nvSpPr>
          <p:cNvPr id="29" name="Text 25">
            <a:extLst xmlns:a="http://schemas.openxmlformats.org/drawingml/2006/main">
              <a:ext uri="{FF2B5EF4-FFF2-40B4-BE49-F238E27FC236}">
                <a16:creationId xmlns:a16="http://schemas.microsoft.com/office/drawing/2014/main" id="{71239952-3978-49F7-87FF-1B6B0B4CBFBB}"/>
              </a:ext>
            </a:extLst>
          </p:cNvPr>
          <p:cNvSpPr>
            <a:spLocks xmlns:a="http://schemas.openxmlformats.org/drawingml/2006/main" noGrp="1"/>
          </p:cNvSpPr>
          <p:nvPr/>
        </p:nvSpPr>
        <p:spPr>
          <a:xfrm xmlns:a="http://schemas.openxmlformats.org/drawingml/2006/main">
            <a:off x="9620402" y="6819595"/>
            <a:ext cx="7525512" cy="286207"/>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600" b="1">
                <a:solidFill>
                  <a:srgbClr val="0F1226"/>
                </a:solidFill>
                <a:latin typeface="Inter"/>
                <a:ea typeface="Inter"/>
                <a:cs typeface="Inter"/>
              </a:rPr>
              <a:t>Three platform-neutral fields</a:t>
            </a:r>
          </a:p>
        </p:txBody>
      </p:sp>
      <p:sp>
        <p:nvSpPr>
          <p:cNvPr id="30" name="Text 26">
            <a:extLst xmlns:a="http://schemas.openxmlformats.org/drawingml/2006/main">
              <a:ext uri="{FF2B5EF4-FFF2-40B4-BE49-F238E27FC236}">
                <a16:creationId xmlns:a16="http://schemas.microsoft.com/office/drawing/2014/main" id="{E40A78D9-EF07-4059-9848-4FE997C4AA10}"/>
              </a:ext>
            </a:extLst>
          </p:cNvPr>
          <p:cNvSpPr>
            <a:spLocks xmlns:a="http://schemas.openxmlformats.org/drawingml/2006/main" noGrp="1"/>
          </p:cNvSpPr>
          <p:nvPr/>
        </p:nvSpPr>
        <p:spPr>
          <a:xfrm xmlns:a="http://schemas.openxmlformats.org/drawingml/2006/main">
            <a:off x="9620402" y="7197242"/>
            <a:ext cx="7525512" cy="820217"/>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2040"/>
              </a:lnSpc>
              <a:buNone/>
            </a:pPr>
            <a:r>
              <a:rPr sz="1200">
                <a:solidFill>
                  <a:srgbClr val="2A2E4B"/>
                </a:solidFill>
                <a:latin typeface="Inter"/>
                <a:ea typeface="Inter"/>
                <a:cs typeface="Inter"/>
              </a:rPr>
              <a:t>active_day_rate | inactivity_recency | recent_activity_rate</a:t>
            </a:r>
          </a:p>
        </p:txBody>
      </p:sp>
    </p:spTree>
    <p:extLst>
      <p:ext uri="{BB962C8B-B14F-4D97-AF65-F5344CB8AC3E}">
        <p14:creationId xmlns:p14="http://schemas.microsoft.com/office/powerpoint/2010/main" val="1895381261"/>
      </p:ext>
    </p:extLst>
  </p:cSld>
</p:sld>
</file>

<file path=ppt/slides/slide10.xml><?xml version="1.0" encoding="utf-8"?>
<p:sld xmlns:p="http://schemas.openxmlformats.org/presentationml/2006/main">
  <p:cSld>
    <p:bg>
      <p:bgPr>
        <a:solidFill xmlns:a="http://schemas.openxmlformats.org/drawingml/2006/main">
          <a:srgbClr val="F7F7FB"/>
        </a:solidFill>
      </p:bgPr>
    </p:bg>
    <p:spTree>
      <p:nvGrpSpPr>
        <p:cNvPr id="1" name=""/>
        <p:cNvGrpSpPr/>
        <p:nvPr/>
      </p:nvGrpSpPr>
      <p:grpSpPr>
        <a:xfrm xmlns:a="http://schemas.openxmlformats.org/drawingml/2006/main"/>
      </p:grpSpPr>
      <p:pic>
        <p:nvPicPr>
          <p:cNvPr id="38" name="Image 0"/>
          <p:cNvPicPr>
            <a:picLocks xmlns:a="http://schemas.openxmlformats.org/drawingml/2006/main" noChangeAspect="1"/>
          </p:cNvPicPr>
          <p:nvPr/>
        </p:nvPicPr>
        <p:blipFill>
          <a:blip xmlns:r="http://schemas.openxmlformats.org/officeDocument/2006/relationships" xmlns:a="http://schemas.openxmlformats.org/drawingml/2006/main" r:embed="R2145b25f42434336"/>
          <a:srcRect xmlns:a="http://schemas.openxmlformats.org/drawingml/2006/main" l="-2083" t="0" r="-2083" b="0"/>
          <a:stretch xmlns:a="http://schemas.openxmlformats.org/drawingml/2006/main"/>
        </p:blipFill>
        <p:spPr>
          <a:xfrm xmlns:a="http://schemas.openxmlformats.org/drawingml/2006/main">
            <a:off x="761695" y="761695"/>
            <a:ext cx="16763695" cy="9144"/>
          </a:xfrm>
          <a:prstGeom xmlns:a="http://schemas.openxmlformats.org/drawingml/2006/main" prst="rect">
            <a:avLst/>
          </a:prstGeom>
        </p:spPr>
      </p:pic>
      <p:sp>
        <p:nvSpPr>
          <p:cNvPr id="4" name="Shape 0">
            <a:extLst xmlns:a="http://schemas.openxmlformats.org/drawingml/2006/main">
              <a:ext uri="{FF2B5EF4-FFF2-40B4-BE49-F238E27FC236}">
                <a16:creationId xmlns:a16="http://schemas.microsoft.com/office/drawing/2014/main" id="{FF59946A-772B-4AAA-9054-D8AFD859E80E}"/>
              </a:ext>
            </a:extLst>
          </p:cNvPr>
          <p:cNvSpPr>
            <a:spLocks xmlns:a="http://schemas.openxmlformats.org/drawingml/2006/main" noGrp="1"/>
          </p:cNvSpPr>
          <p:nvPr/>
        </p:nvSpPr>
        <p:spPr>
          <a:xfrm xmlns:a="http://schemas.openxmlformats.org/drawingml/2006/main">
            <a:off x="761695" y="2952598"/>
            <a:ext cx="11259007" cy="6305702"/>
          </a:xfrm>
          <a:prstGeom xmlns:a="http://schemas.openxmlformats.org/drawingml/2006/main" prst="roundRect">
            <a:avLst>
              <a:gd name="adj" fmla="val 305"/>
            </a:avLst>
          </a:prstGeom>
          <a:solidFill xmlns:a="http://schemas.openxmlformats.org/drawingml/2006/main">
            <a:srgbClr val="FFFFFF"/>
          </a:solidFill>
          <a:ln xmlns:a="http://schemas.openxmlformats.org/drawingml/2006/main" w="12700">
            <a:solidFill>
              <a:srgbClr val="E4E5EF"/>
            </a:solidFill>
            <a:prstDash val="solid"/>
          </a:ln>
        </p:spPr>
      </p:sp>
      <p:sp>
        <p:nvSpPr>
          <p:cNvPr id="5" name="Shape 1">
            <a:extLst xmlns:a="http://schemas.openxmlformats.org/drawingml/2006/main">
              <a:ext uri="{FF2B5EF4-FFF2-40B4-BE49-F238E27FC236}">
                <a16:creationId xmlns:a16="http://schemas.microsoft.com/office/drawing/2014/main" id="{7F6EAF2C-2373-4BEA-BBE5-46ABC7788DA4}"/>
              </a:ext>
            </a:extLst>
          </p:cNvPr>
          <p:cNvSpPr>
            <a:spLocks xmlns:a="http://schemas.openxmlformats.org/drawingml/2006/main" noGrp="1"/>
          </p:cNvSpPr>
          <p:nvPr/>
        </p:nvSpPr>
        <p:spPr>
          <a:xfrm xmlns:a="http://schemas.openxmlformats.org/drawingml/2006/main">
            <a:off x="12287707" y="2952598"/>
            <a:ext cx="5257800" cy="3066898"/>
          </a:xfrm>
          <a:prstGeom xmlns:a="http://schemas.openxmlformats.org/drawingml/2006/main" prst="roundRect">
            <a:avLst>
              <a:gd name="adj" fmla="val 626"/>
            </a:avLst>
          </a:prstGeom>
          <a:solidFill xmlns:a="http://schemas.openxmlformats.org/drawingml/2006/main">
            <a:srgbClr val="FFFFFF"/>
          </a:solidFill>
          <a:ln xmlns:a="http://schemas.openxmlformats.org/drawingml/2006/main" w="12700">
            <a:solidFill>
              <a:srgbClr val="E4E5EF"/>
            </a:solidFill>
            <a:prstDash val="solid"/>
          </a:ln>
        </p:spPr>
      </p:sp>
      <p:sp>
        <p:nvSpPr>
          <p:cNvPr id="6" name="Shape 2">
            <a:extLst xmlns:a="http://schemas.openxmlformats.org/drawingml/2006/main">
              <a:ext uri="{FF2B5EF4-FFF2-40B4-BE49-F238E27FC236}">
                <a16:creationId xmlns:a16="http://schemas.microsoft.com/office/drawing/2014/main" id="{C3073815-84DA-4A17-A8CE-08D10E6972BE}"/>
              </a:ext>
            </a:extLst>
          </p:cNvPr>
          <p:cNvSpPr>
            <a:spLocks xmlns:a="http://schemas.openxmlformats.org/drawingml/2006/main" noGrp="1"/>
          </p:cNvSpPr>
          <p:nvPr/>
        </p:nvSpPr>
        <p:spPr>
          <a:xfrm xmlns:a="http://schemas.openxmlformats.org/drawingml/2006/main">
            <a:off x="12287707" y="2952598"/>
            <a:ext cx="5257800" cy="57607"/>
          </a:xfrm>
          <a:prstGeom xmlns:a="http://schemas.openxmlformats.org/drawingml/2006/main" prst="roundRect">
            <a:avLst>
              <a:gd name="adj" fmla="val 33333"/>
            </a:avLst>
          </a:prstGeom>
          <a:solidFill xmlns:a="http://schemas.openxmlformats.org/drawingml/2006/main">
            <a:srgbClr val="2A2E7A"/>
          </a:solidFill>
          <a:ln xmlns:a="http://schemas.openxmlformats.org/drawingml/2006/main" w="12700">
            <a:solidFill>
              <a:srgbClr val="2A2E7A">
                <a:alpha val="0"/>
              </a:srgbClr>
            </a:solidFill>
            <a:prstDash val="solid"/>
          </a:ln>
        </p:spPr>
      </p:sp>
      <p:sp>
        <p:nvSpPr>
          <p:cNvPr id="7" name="Shape 3">
            <a:extLst xmlns:a="http://schemas.openxmlformats.org/drawingml/2006/main">
              <a:ext uri="{FF2B5EF4-FFF2-40B4-BE49-F238E27FC236}">
                <a16:creationId xmlns:a16="http://schemas.microsoft.com/office/drawing/2014/main" id="{C9367B53-BF0B-4A6B-B1B3-4CB0EA6D17AB}"/>
              </a:ext>
            </a:extLst>
          </p:cNvPr>
          <p:cNvSpPr>
            <a:spLocks xmlns:a="http://schemas.openxmlformats.org/drawingml/2006/main" noGrp="1"/>
          </p:cNvSpPr>
          <p:nvPr/>
        </p:nvSpPr>
        <p:spPr>
          <a:xfrm xmlns:a="http://schemas.openxmlformats.org/drawingml/2006/main">
            <a:off x="12287707" y="6238951"/>
            <a:ext cx="5257800" cy="3066898"/>
          </a:xfrm>
          <a:prstGeom xmlns:a="http://schemas.openxmlformats.org/drawingml/2006/main" prst="roundRect">
            <a:avLst>
              <a:gd name="adj" fmla="val 626"/>
            </a:avLst>
          </a:prstGeom>
          <a:solidFill xmlns:a="http://schemas.openxmlformats.org/drawingml/2006/main">
            <a:srgbClr val="FFFFFF"/>
          </a:solidFill>
          <a:ln xmlns:a="http://schemas.openxmlformats.org/drawingml/2006/main" w="12700">
            <a:solidFill>
              <a:srgbClr val="E4E5EF"/>
            </a:solidFill>
            <a:prstDash val="solid"/>
          </a:ln>
        </p:spPr>
      </p:sp>
      <p:sp>
        <p:nvSpPr>
          <p:cNvPr id="8" name="Shape 4">
            <a:extLst xmlns:a="http://schemas.openxmlformats.org/drawingml/2006/main">
              <a:ext uri="{FF2B5EF4-FFF2-40B4-BE49-F238E27FC236}">
                <a16:creationId xmlns:a16="http://schemas.microsoft.com/office/drawing/2014/main" id="{26E744E4-838B-43E6-B9CC-18B0BFF895E7}"/>
              </a:ext>
            </a:extLst>
          </p:cNvPr>
          <p:cNvSpPr>
            <a:spLocks xmlns:a="http://schemas.openxmlformats.org/drawingml/2006/main" noGrp="1"/>
          </p:cNvSpPr>
          <p:nvPr/>
        </p:nvSpPr>
        <p:spPr>
          <a:xfrm xmlns:a="http://schemas.openxmlformats.org/drawingml/2006/main">
            <a:off x="12287707" y="6238951"/>
            <a:ext cx="5257800" cy="57607"/>
          </a:xfrm>
          <a:prstGeom xmlns:a="http://schemas.openxmlformats.org/drawingml/2006/main" prst="roundRect">
            <a:avLst>
              <a:gd name="adj" fmla="val 33333"/>
            </a:avLst>
          </a:prstGeom>
          <a:solidFill xmlns:a="http://schemas.openxmlformats.org/drawingml/2006/main">
            <a:srgbClr val="2A2E7A"/>
          </a:solidFill>
          <a:ln xmlns:a="http://schemas.openxmlformats.org/drawingml/2006/main" w="12700">
            <a:solidFill>
              <a:srgbClr val="2A2E7A">
                <a:alpha val="0"/>
              </a:srgbClr>
            </a:solidFill>
            <a:prstDash val="solid"/>
          </a:ln>
        </p:spPr>
      </p:sp>
      <p:sp>
        <p:nvSpPr>
          <p:cNvPr id="10" name="Text 5">
            <a:extLst xmlns:a="http://schemas.openxmlformats.org/drawingml/2006/main">
              <a:ext uri="{FF2B5EF4-FFF2-40B4-BE49-F238E27FC236}">
                <a16:creationId xmlns:a16="http://schemas.microsoft.com/office/drawing/2014/main" id="{9A5E3F77-9522-4080-A0A3-5CB8F8EFF5BD}"/>
              </a:ext>
            </a:extLst>
          </p:cNvPr>
          <p:cNvSpPr>
            <a:spLocks xmlns:a="http://schemas.openxmlformats.org/drawingml/2006/main" noGrp="1"/>
          </p:cNvSpPr>
          <p:nvPr/>
        </p:nvSpPr>
        <p:spPr>
          <a:xfrm xmlns:a="http://schemas.openxmlformats.org/drawingml/2006/main">
            <a:off x="761695" y="428854"/>
            <a:ext cx="8572500" cy="152705"/>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000">
                <a:solidFill>
                  <a:srgbClr val="6A6F8C"/>
                </a:solidFill>
                <a:latin typeface="JetBrains Mono"/>
                <a:ea typeface="JetBrains Mono"/>
                <a:cs typeface="JetBrains Mono"/>
              </a:rPr>
              <a:t>§ 05 | Results | one model across contexts</a:t>
            </a:r>
          </a:p>
        </p:txBody>
      </p:sp>
      <p:sp>
        <p:nvSpPr>
          <p:cNvPr id="11" name="Text 6">
            <a:extLst xmlns:a="http://schemas.openxmlformats.org/drawingml/2006/main">
              <a:ext uri="{FF2B5EF4-FFF2-40B4-BE49-F238E27FC236}">
                <a16:creationId xmlns:a16="http://schemas.microsoft.com/office/drawing/2014/main" id="{77EA530C-42EB-4CE9-B633-46ED534900E0}"/>
              </a:ext>
            </a:extLst>
          </p:cNvPr>
          <p:cNvSpPr>
            <a:spLocks xmlns:a="http://schemas.openxmlformats.org/drawingml/2006/main" noGrp="1"/>
          </p:cNvSpPr>
          <p:nvPr/>
        </p:nvSpPr>
        <p:spPr>
          <a:xfrm xmlns:a="http://schemas.openxmlformats.org/drawingml/2006/main">
            <a:off x="15240305" y="428854"/>
            <a:ext cx="2286000" cy="152705"/>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r">
              <a:buNone/>
            </a:pPr>
            <a:r>
              <a:rPr sz="1000">
                <a:solidFill>
                  <a:srgbClr val="6A6F8C"/>
                </a:solidFill>
                <a:latin typeface="JetBrains Mono"/>
                <a:ea typeface="JetBrains Mono"/>
                <a:cs typeface="JetBrains Mono"/>
              </a:rPr>
              <a:t>10 / 20</a:t>
            </a:r>
          </a:p>
        </p:txBody>
      </p:sp>
      <p:sp>
        <p:nvSpPr>
          <p:cNvPr id="12" name="Text 7">
            <a:extLst xmlns:a="http://schemas.openxmlformats.org/drawingml/2006/main">
              <a:ext uri="{FF2B5EF4-FFF2-40B4-BE49-F238E27FC236}">
                <a16:creationId xmlns:a16="http://schemas.microsoft.com/office/drawing/2014/main" id="{57160BED-40BE-4198-BA7F-2A213DB06DC1}"/>
              </a:ext>
            </a:extLst>
          </p:cNvPr>
          <p:cNvSpPr>
            <a:spLocks xmlns:a="http://schemas.openxmlformats.org/drawingml/2006/main" noGrp="1"/>
          </p:cNvSpPr>
          <p:nvPr/>
        </p:nvSpPr>
        <p:spPr>
          <a:xfrm xmlns:a="http://schemas.openxmlformats.org/drawingml/2006/main">
            <a:off x="761695" y="1238098"/>
            <a:ext cx="16764610" cy="486461"/>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3600" b="1">
                <a:solidFill>
                  <a:srgbClr val="0F1226"/>
                </a:solidFill>
                <a:latin typeface="Inter"/>
                <a:ea typeface="Inter"/>
                <a:cs typeface="Inter"/>
              </a:rPr>
              <a:t>One pooled model stays close to local-only models.</a:t>
            </a:r>
          </a:p>
        </p:txBody>
      </p:sp>
      <p:sp>
        <p:nvSpPr>
          <p:cNvPr id="13" name="Text 8">
            <a:extLst xmlns:a="http://schemas.openxmlformats.org/drawingml/2006/main">
              <a:ext uri="{FF2B5EF4-FFF2-40B4-BE49-F238E27FC236}">
                <a16:creationId xmlns:a16="http://schemas.microsoft.com/office/drawing/2014/main" id="{1B68779F-9640-46A6-91F1-FF82251B42B9}"/>
              </a:ext>
            </a:extLst>
          </p:cNvPr>
          <p:cNvSpPr>
            <a:spLocks xmlns:a="http://schemas.openxmlformats.org/drawingml/2006/main" noGrp="1"/>
          </p:cNvSpPr>
          <p:nvPr/>
        </p:nvSpPr>
        <p:spPr>
          <a:xfrm xmlns:a="http://schemas.openxmlformats.org/drawingml/2006/main">
            <a:off x="761695" y="1813255"/>
            <a:ext cx="14021410" cy="21031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500" i="1">
                <a:solidFill>
                  <a:srgbClr val="6A6F8C"/>
                </a:solidFill>
                <a:latin typeface="Source Serif Pro"/>
                <a:ea typeface="Source Serif Pro"/>
                <a:cs typeface="Source Serif Pro"/>
              </a:rPr>
              <a:t>Later OULAD gaps are small but statistically significant.</a:t>
            </a:r>
          </a:p>
        </p:txBody>
      </p:sp>
      <p:sp>
        <p:nvSpPr>
          <p:cNvPr id="14" name="Text 9">
            <a:extLst xmlns:a="http://schemas.openxmlformats.org/drawingml/2006/main">
              <a:ext uri="{FF2B5EF4-FFF2-40B4-BE49-F238E27FC236}">
                <a16:creationId xmlns:a16="http://schemas.microsoft.com/office/drawing/2014/main" id="{7363D352-F9A2-42D5-90C4-D8324D297BBD}"/>
              </a:ext>
            </a:extLst>
          </p:cNvPr>
          <p:cNvSpPr>
            <a:spLocks xmlns:a="http://schemas.openxmlformats.org/drawingml/2006/main" noGrp="1"/>
          </p:cNvSpPr>
          <p:nvPr/>
        </p:nvSpPr>
        <p:spPr>
          <a:xfrm xmlns:a="http://schemas.openxmlformats.org/drawingml/2006/main">
            <a:off x="1047902" y="3095244"/>
            <a:ext cx="10478110" cy="1335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E4237A"/>
                </a:solidFill>
                <a:latin typeface="JetBrains Mono"/>
                <a:ea typeface="JetBrains Mono"/>
                <a:cs typeface="JetBrains Mono"/>
              </a:rPr>
              <a:t>FIG | Held-out ROC-AUC across five contexts</a:t>
            </a:r>
          </a:p>
        </p:txBody>
      </p:sp>
      <p:sp>
        <p:nvSpPr>
          <p:cNvPr id="15" name="Text 10">
            <a:extLst xmlns:a="http://schemas.openxmlformats.org/drawingml/2006/main">
              <a:ext uri="{FF2B5EF4-FFF2-40B4-BE49-F238E27FC236}">
                <a16:creationId xmlns:a16="http://schemas.microsoft.com/office/drawing/2014/main" id="{35E0CD41-CCD2-4146-9001-94DD278B4282}"/>
              </a:ext>
            </a:extLst>
          </p:cNvPr>
          <p:cNvSpPr>
            <a:spLocks xmlns:a="http://schemas.openxmlformats.org/drawingml/2006/main" noGrp="1"/>
          </p:cNvSpPr>
          <p:nvPr/>
        </p:nvSpPr>
        <p:spPr>
          <a:xfrm xmlns:a="http://schemas.openxmlformats.org/drawingml/2006/main">
            <a:off x="1047902" y="3267151"/>
            <a:ext cx="10478110" cy="181051"/>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100">
                <a:solidFill>
                  <a:srgbClr val="2A2E4B"/>
                </a:solidFill>
                <a:latin typeface="Inter"/>
                <a:ea typeface="Inter"/>
                <a:cs typeface="Inter"/>
              </a:rPr>
              <a:t>Same test records | local-only XGBoost vs one pooled XGBoost</a:t>
            </a:r>
          </a:p>
        </p:txBody>
      </p:sp>
      <p:sp>
        <p:nvSpPr>
          <p:cNvPr id="16" name="Text 11">
            <a:extLst xmlns:a="http://schemas.openxmlformats.org/drawingml/2006/main">
              <a:ext uri="{FF2B5EF4-FFF2-40B4-BE49-F238E27FC236}">
                <a16:creationId xmlns:a16="http://schemas.microsoft.com/office/drawing/2014/main" id="{FB4A6CCA-B866-4CDD-9FC7-24D294873D26}"/>
              </a:ext>
            </a:extLst>
          </p:cNvPr>
          <p:cNvSpPr>
            <a:spLocks xmlns:a="http://schemas.openxmlformats.org/drawingml/2006/main" noGrp="1"/>
          </p:cNvSpPr>
          <p:nvPr/>
        </p:nvSpPr>
        <p:spPr>
          <a:xfrm xmlns:a="http://schemas.openxmlformats.org/drawingml/2006/main">
            <a:off x="12573000" y="3191256"/>
            <a:ext cx="4668012" cy="124358"/>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800">
                <a:solidFill>
                  <a:srgbClr val="6A6F8C"/>
                </a:solidFill>
                <a:latin typeface="JetBrains Mono"/>
                <a:ea typeface="JetBrains Mono"/>
                <a:cs typeface="JetBrains Mono"/>
              </a:rPr>
              <a:t>UCI enrolment | pooled XGBoost</a:t>
            </a:r>
          </a:p>
        </p:txBody>
      </p:sp>
      <p:sp>
        <p:nvSpPr>
          <p:cNvPr id="17" name="Text 12">
            <a:extLst xmlns:a="http://schemas.openxmlformats.org/drawingml/2006/main">
              <a:ext uri="{FF2B5EF4-FFF2-40B4-BE49-F238E27FC236}">
                <a16:creationId xmlns:a16="http://schemas.microsoft.com/office/drawing/2014/main" id="{F4DE829A-58E6-4B91-9009-224A2EC0EB46}"/>
              </a:ext>
            </a:extLst>
          </p:cNvPr>
          <p:cNvSpPr>
            <a:spLocks xmlns:a="http://schemas.openxmlformats.org/drawingml/2006/main" noGrp="1"/>
          </p:cNvSpPr>
          <p:nvPr/>
        </p:nvSpPr>
        <p:spPr>
          <a:xfrm xmlns:a="http://schemas.openxmlformats.org/drawingml/2006/main">
            <a:off x="12573000" y="3448202"/>
            <a:ext cx="2181758" cy="724205"/>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5700" b="1">
                <a:solidFill>
                  <a:srgbClr val="2A2E7A"/>
                </a:solidFill>
                <a:latin typeface="JetBrains Mono"/>
                <a:ea typeface="JetBrains Mono"/>
                <a:cs typeface="JetBrains Mono"/>
              </a:rPr>
              <a:t>0.771</a:t>
            </a:r>
          </a:p>
        </p:txBody>
      </p:sp>
      <p:sp>
        <p:nvSpPr>
          <p:cNvPr id="18" name="Text 13">
            <a:extLst xmlns:a="http://schemas.openxmlformats.org/drawingml/2006/main">
              <a:ext uri="{FF2B5EF4-FFF2-40B4-BE49-F238E27FC236}">
                <a16:creationId xmlns:a16="http://schemas.microsoft.com/office/drawing/2014/main" id="{A422FED8-33C2-451B-8646-0004664054F1}"/>
              </a:ext>
            </a:extLst>
          </p:cNvPr>
          <p:cNvSpPr>
            <a:spLocks xmlns:a="http://schemas.openxmlformats.org/drawingml/2006/main" noGrp="1"/>
          </p:cNvSpPr>
          <p:nvPr/>
        </p:nvSpPr>
        <p:spPr>
          <a:xfrm xmlns:a="http://schemas.openxmlformats.org/drawingml/2006/main">
            <a:off x="14878202" y="3905402"/>
            <a:ext cx="724205" cy="191110"/>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200">
                <a:solidFill>
                  <a:srgbClr val="6A6F8C"/>
                </a:solidFill>
                <a:latin typeface="Inter"/>
                <a:ea typeface="Inter"/>
                <a:cs typeface="Inter"/>
              </a:rPr>
              <a:t>ROC-AUC</a:t>
            </a:r>
          </a:p>
        </p:txBody>
      </p:sp>
      <p:sp>
        <p:nvSpPr>
          <p:cNvPr id="19" name="Shape 14">
            <a:extLst xmlns:a="http://schemas.openxmlformats.org/drawingml/2006/main">
              <a:ext uri="{FF2B5EF4-FFF2-40B4-BE49-F238E27FC236}">
                <a16:creationId xmlns:a16="http://schemas.microsoft.com/office/drawing/2014/main" id="{0A755368-51FF-4412-AD99-794B210FCC1A}"/>
              </a:ext>
            </a:extLst>
          </p:cNvPr>
          <p:cNvSpPr>
            <a:spLocks xmlns:a="http://schemas.openxmlformats.org/drawingml/2006/main" noGrp="1"/>
          </p:cNvSpPr>
          <p:nvPr/>
        </p:nvSpPr>
        <p:spPr>
          <a:xfrm xmlns:a="http://schemas.openxmlformats.org/drawingml/2006/main">
            <a:off x="12573000" y="4401007"/>
            <a:ext cx="4667098" cy="9144"/>
          </a:xfrm>
          <a:prstGeom xmlns:a="http://schemas.openxmlformats.org/drawingml/2006/main" prst="rect">
            <a:avLst/>
          </a:prstGeom>
          <a:solidFill xmlns:a="http://schemas.openxmlformats.org/drawingml/2006/main">
            <a:srgbClr val="E4E5EF"/>
          </a:solidFill>
          <a:ln xmlns:a="http://schemas.openxmlformats.org/drawingml/2006/main" w="12700">
            <a:solidFill>
              <a:srgbClr val="E4E5EF">
                <a:alpha val="0"/>
              </a:srgbClr>
            </a:solidFill>
            <a:prstDash val="solid"/>
          </a:ln>
        </p:spPr>
      </p:sp>
      <p:sp>
        <p:nvSpPr>
          <p:cNvPr id="20" name="Text 15">
            <a:extLst xmlns:a="http://schemas.openxmlformats.org/drawingml/2006/main">
              <a:ext uri="{FF2B5EF4-FFF2-40B4-BE49-F238E27FC236}">
                <a16:creationId xmlns:a16="http://schemas.microsoft.com/office/drawing/2014/main" id="{D3D3E596-D53E-4194-B717-B0E022FE04DC}"/>
              </a:ext>
            </a:extLst>
          </p:cNvPr>
          <p:cNvSpPr>
            <a:spLocks xmlns:a="http://schemas.openxmlformats.org/drawingml/2006/main" noGrp="1"/>
          </p:cNvSpPr>
          <p:nvPr/>
        </p:nvSpPr>
        <p:spPr>
          <a:xfrm xmlns:a="http://schemas.openxmlformats.org/drawingml/2006/main">
            <a:off x="12573000" y="4581144"/>
            <a:ext cx="1505102" cy="124358"/>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800">
                <a:solidFill>
                  <a:srgbClr val="6A6F8C"/>
                </a:solidFill>
                <a:latin typeface="JetBrains Mono"/>
                <a:ea typeface="JetBrains Mono"/>
                <a:cs typeface="JetBrains Mono"/>
              </a:rPr>
              <a:t>AP</a:t>
            </a:r>
          </a:p>
        </p:txBody>
      </p:sp>
      <p:sp>
        <p:nvSpPr>
          <p:cNvPr id="21" name="Text 16">
            <a:extLst xmlns:a="http://schemas.openxmlformats.org/drawingml/2006/main">
              <a:ext uri="{FF2B5EF4-FFF2-40B4-BE49-F238E27FC236}">
                <a16:creationId xmlns:a16="http://schemas.microsoft.com/office/drawing/2014/main" id="{870B0D13-E570-47F6-B52F-2C3FC16EBB58}"/>
              </a:ext>
            </a:extLst>
          </p:cNvPr>
          <p:cNvSpPr>
            <a:spLocks xmlns:a="http://schemas.openxmlformats.org/drawingml/2006/main" noGrp="1"/>
          </p:cNvSpPr>
          <p:nvPr/>
        </p:nvSpPr>
        <p:spPr>
          <a:xfrm xmlns:a="http://schemas.openxmlformats.org/drawingml/2006/main">
            <a:off x="12573000" y="4743907"/>
            <a:ext cx="1505102" cy="3621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2400" b="1">
                <a:solidFill>
                  <a:srgbClr val="0F1226"/>
                </a:solidFill>
                <a:latin typeface="JetBrains Mono"/>
                <a:ea typeface="JetBrains Mono"/>
                <a:cs typeface="JetBrains Mono"/>
              </a:rPr>
              <a:t>0.635</a:t>
            </a:r>
          </a:p>
        </p:txBody>
      </p:sp>
      <p:sp>
        <p:nvSpPr>
          <p:cNvPr id="22" name="Text 17">
            <a:extLst xmlns:a="http://schemas.openxmlformats.org/drawingml/2006/main">
              <a:ext uri="{FF2B5EF4-FFF2-40B4-BE49-F238E27FC236}">
                <a16:creationId xmlns:a16="http://schemas.microsoft.com/office/drawing/2014/main" id="{F32361F9-6C0C-4589-95CC-107F89DDAEB5}"/>
              </a:ext>
            </a:extLst>
          </p:cNvPr>
          <p:cNvSpPr>
            <a:spLocks xmlns:a="http://schemas.openxmlformats.org/drawingml/2006/main" noGrp="1"/>
          </p:cNvSpPr>
          <p:nvPr/>
        </p:nvSpPr>
        <p:spPr>
          <a:xfrm xmlns:a="http://schemas.openxmlformats.org/drawingml/2006/main">
            <a:off x="14153998" y="4581144"/>
            <a:ext cx="1505102" cy="124358"/>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800">
                <a:solidFill>
                  <a:srgbClr val="6A6F8C"/>
                </a:solidFill>
                <a:latin typeface="JetBrains Mono"/>
                <a:ea typeface="JetBrains Mono"/>
                <a:cs typeface="JetBrains Mono"/>
              </a:rPr>
              <a:t>Local AUC</a:t>
            </a:r>
          </a:p>
        </p:txBody>
      </p:sp>
      <p:sp>
        <p:nvSpPr>
          <p:cNvPr id="23" name="Text 18">
            <a:extLst xmlns:a="http://schemas.openxmlformats.org/drawingml/2006/main">
              <a:ext uri="{FF2B5EF4-FFF2-40B4-BE49-F238E27FC236}">
                <a16:creationId xmlns:a16="http://schemas.microsoft.com/office/drawing/2014/main" id="{CD515C73-A760-4AEC-A541-2C822770B445}"/>
              </a:ext>
            </a:extLst>
          </p:cNvPr>
          <p:cNvSpPr>
            <a:spLocks xmlns:a="http://schemas.openxmlformats.org/drawingml/2006/main" noGrp="1"/>
          </p:cNvSpPr>
          <p:nvPr/>
        </p:nvSpPr>
        <p:spPr>
          <a:xfrm xmlns:a="http://schemas.openxmlformats.org/drawingml/2006/main">
            <a:off x="14153998" y="4743907"/>
            <a:ext cx="1505102" cy="3621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2400" b="1">
                <a:solidFill>
                  <a:srgbClr val="0F1226"/>
                </a:solidFill>
                <a:latin typeface="JetBrains Mono"/>
                <a:ea typeface="JetBrains Mono"/>
                <a:cs typeface="JetBrains Mono"/>
              </a:rPr>
              <a:t>0.774</a:t>
            </a:r>
          </a:p>
        </p:txBody>
      </p:sp>
      <p:sp>
        <p:nvSpPr>
          <p:cNvPr id="24" name="Text 19">
            <a:extLst xmlns:a="http://schemas.openxmlformats.org/drawingml/2006/main">
              <a:ext uri="{FF2B5EF4-FFF2-40B4-BE49-F238E27FC236}">
                <a16:creationId xmlns:a16="http://schemas.microsoft.com/office/drawing/2014/main" id="{E5AE6D6B-F389-4820-8815-DED6F776A238}"/>
              </a:ext>
            </a:extLst>
          </p:cNvPr>
          <p:cNvSpPr>
            <a:spLocks xmlns:a="http://schemas.openxmlformats.org/drawingml/2006/main" noGrp="1"/>
          </p:cNvSpPr>
          <p:nvPr/>
        </p:nvSpPr>
        <p:spPr>
          <a:xfrm xmlns:a="http://schemas.openxmlformats.org/drawingml/2006/main">
            <a:off x="15734995" y="4581144"/>
            <a:ext cx="1505102" cy="124358"/>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800">
                <a:solidFill>
                  <a:srgbClr val="6A6F8C"/>
                </a:solidFill>
                <a:latin typeface="JetBrains Mono"/>
                <a:ea typeface="JetBrains Mono"/>
                <a:cs typeface="JetBrains Mono"/>
              </a:rPr>
              <a:t>AUC diff.</a:t>
            </a:r>
          </a:p>
        </p:txBody>
      </p:sp>
      <p:sp>
        <p:nvSpPr>
          <p:cNvPr id="25" name="Text 20">
            <a:extLst xmlns:a="http://schemas.openxmlformats.org/drawingml/2006/main">
              <a:ext uri="{FF2B5EF4-FFF2-40B4-BE49-F238E27FC236}">
                <a16:creationId xmlns:a16="http://schemas.microsoft.com/office/drawing/2014/main" id="{9CF51676-29D3-4B2B-A7A2-44D241AC0BDE}"/>
              </a:ext>
            </a:extLst>
          </p:cNvPr>
          <p:cNvSpPr>
            <a:spLocks xmlns:a="http://schemas.openxmlformats.org/drawingml/2006/main" noGrp="1"/>
          </p:cNvSpPr>
          <p:nvPr/>
        </p:nvSpPr>
        <p:spPr>
          <a:xfrm xmlns:a="http://schemas.openxmlformats.org/drawingml/2006/main">
            <a:off x="15734995" y="4743907"/>
            <a:ext cx="1505102" cy="3621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2400" b="1">
                <a:solidFill>
                  <a:srgbClr val="E4237A"/>
                </a:solidFill>
                <a:latin typeface="JetBrains Mono"/>
                <a:ea typeface="JetBrains Mono"/>
                <a:cs typeface="JetBrains Mono"/>
              </a:rPr>
              <a:t>-0.003</a:t>
            </a:r>
          </a:p>
        </p:txBody>
      </p:sp>
      <p:sp>
        <p:nvSpPr>
          <p:cNvPr id="26" name="Text 21">
            <a:extLst xmlns:a="http://schemas.openxmlformats.org/drawingml/2006/main">
              <a:ext uri="{FF2B5EF4-FFF2-40B4-BE49-F238E27FC236}">
                <a16:creationId xmlns:a16="http://schemas.microsoft.com/office/drawing/2014/main" id="{3532D546-F24F-42F5-8A33-4991D4B125DD}"/>
              </a:ext>
            </a:extLst>
          </p:cNvPr>
          <p:cNvSpPr>
            <a:spLocks xmlns:a="http://schemas.openxmlformats.org/drawingml/2006/main" noGrp="1"/>
          </p:cNvSpPr>
          <p:nvPr/>
        </p:nvSpPr>
        <p:spPr>
          <a:xfrm xmlns:a="http://schemas.openxmlformats.org/drawingml/2006/main">
            <a:off x="12573000" y="6476695"/>
            <a:ext cx="4668012" cy="124358"/>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800">
                <a:solidFill>
                  <a:srgbClr val="6A6F8C"/>
                </a:solidFill>
                <a:latin typeface="JetBrains Mono"/>
                <a:ea typeface="JetBrains Mono"/>
                <a:cs typeface="JetBrains Mono"/>
              </a:rPr>
              <a:t>OULAD day 35 | pooled XGBoost</a:t>
            </a:r>
          </a:p>
        </p:txBody>
      </p:sp>
      <p:sp>
        <p:nvSpPr>
          <p:cNvPr id="27" name="Text 22">
            <a:extLst xmlns:a="http://schemas.openxmlformats.org/drawingml/2006/main">
              <a:ext uri="{FF2B5EF4-FFF2-40B4-BE49-F238E27FC236}">
                <a16:creationId xmlns:a16="http://schemas.microsoft.com/office/drawing/2014/main" id="{C01741FB-2E6A-465B-97A7-485FD95CB427}"/>
              </a:ext>
            </a:extLst>
          </p:cNvPr>
          <p:cNvSpPr>
            <a:spLocks xmlns:a="http://schemas.openxmlformats.org/drawingml/2006/main" noGrp="1"/>
          </p:cNvSpPr>
          <p:nvPr/>
        </p:nvSpPr>
        <p:spPr>
          <a:xfrm xmlns:a="http://schemas.openxmlformats.org/drawingml/2006/main">
            <a:off x="12573000" y="6734556"/>
            <a:ext cx="2181758" cy="724205"/>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5700" b="1">
                <a:solidFill>
                  <a:srgbClr val="2A2E7A"/>
                </a:solidFill>
                <a:latin typeface="JetBrains Mono"/>
                <a:ea typeface="JetBrains Mono"/>
                <a:cs typeface="JetBrains Mono"/>
              </a:rPr>
              <a:t>0.677</a:t>
            </a:r>
          </a:p>
        </p:txBody>
      </p:sp>
      <p:sp>
        <p:nvSpPr>
          <p:cNvPr id="28" name="Text 23">
            <a:extLst xmlns:a="http://schemas.openxmlformats.org/drawingml/2006/main">
              <a:ext uri="{FF2B5EF4-FFF2-40B4-BE49-F238E27FC236}">
                <a16:creationId xmlns:a16="http://schemas.microsoft.com/office/drawing/2014/main" id="{901CF2D3-A12F-4FDF-9504-22F32687BC0B}"/>
              </a:ext>
            </a:extLst>
          </p:cNvPr>
          <p:cNvSpPr>
            <a:spLocks xmlns:a="http://schemas.openxmlformats.org/drawingml/2006/main" noGrp="1"/>
          </p:cNvSpPr>
          <p:nvPr/>
        </p:nvSpPr>
        <p:spPr>
          <a:xfrm xmlns:a="http://schemas.openxmlformats.org/drawingml/2006/main">
            <a:off x="14878202" y="7191756"/>
            <a:ext cx="724205" cy="191110"/>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200">
                <a:solidFill>
                  <a:srgbClr val="6A6F8C"/>
                </a:solidFill>
                <a:latin typeface="Inter"/>
                <a:ea typeface="Inter"/>
                <a:cs typeface="Inter"/>
              </a:rPr>
              <a:t>ROC-AUC</a:t>
            </a:r>
          </a:p>
        </p:txBody>
      </p:sp>
      <p:sp>
        <p:nvSpPr>
          <p:cNvPr id="29" name="Shape 24">
            <a:extLst xmlns:a="http://schemas.openxmlformats.org/drawingml/2006/main">
              <a:ext uri="{FF2B5EF4-FFF2-40B4-BE49-F238E27FC236}">
                <a16:creationId xmlns:a16="http://schemas.microsoft.com/office/drawing/2014/main" id="{66B5B2CA-B85B-40CB-B11B-F4AB05F0B0D4}"/>
              </a:ext>
            </a:extLst>
          </p:cNvPr>
          <p:cNvSpPr>
            <a:spLocks xmlns:a="http://schemas.openxmlformats.org/drawingml/2006/main" noGrp="1"/>
          </p:cNvSpPr>
          <p:nvPr/>
        </p:nvSpPr>
        <p:spPr>
          <a:xfrm xmlns:a="http://schemas.openxmlformats.org/drawingml/2006/main">
            <a:off x="12573000" y="7686446"/>
            <a:ext cx="4667098" cy="9144"/>
          </a:xfrm>
          <a:prstGeom xmlns:a="http://schemas.openxmlformats.org/drawingml/2006/main" prst="rect">
            <a:avLst/>
          </a:prstGeom>
          <a:solidFill xmlns:a="http://schemas.openxmlformats.org/drawingml/2006/main">
            <a:srgbClr val="E4E5EF"/>
          </a:solidFill>
          <a:ln xmlns:a="http://schemas.openxmlformats.org/drawingml/2006/main" w="12700">
            <a:solidFill>
              <a:srgbClr val="E4E5EF">
                <a:alpha val="0"/>
              </a:srgbClr>
            </a:solidFill>
            <a:prstDash val="solid"/>
          </a:ln>
        </p:spPr>
      </p:sp>
      <p:sp>
        <p:nvSpPr>
          <p:cNvPr id="30" name="Text 25">
            <a:extLst xmlns:a="http://schemas.openxmlformats.org/drawingml/2006/main">
              <a:ext uri="{FF2B5EF4-FFF2-40B4-BE49-F238E27FC236}">
                <a16:creationId xmlns:a16="http://schemas.microsoft.com/office/drawing/2014/main" id="{FCB98BDC-742B-4662-B704-7089D68D8FD3}"/>
              </a:ext>
            </a:extLst>
          </p:cNvPr>
          <p:cNvSpPr>
            <a:spLocks xmlns:a="http://schemas.openxmlformats.org/drawingml/2006/main" noGrp="1"/>
          </p:cNvSpPr>
          <p:nvPr/>
        </p:nvSpPr>
        <p:spPr>
          <a:xfrm xmlns:a="http://schemas.openxmlformats.org/drawingml/2006/main">
            <a:off x="12573000" y="7867498"/>
            <a:ext cx="1505102" cy="124358"/>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800">
                <a:solidFill>
                  <a:srgbClr val="6A6F8C"/>
                </a:solidFill>
                <a:latin typeface="JetBrains Mono"/>
                <a:ea typeface="JetBrains Mono"/>
                <a:cs typeface="JetBrains Mono"/>
              </a:rPr>
              <a:t>AP</a:t>
            </a:r>
          </a:p>
        </p:txBody>
      </p:sp>
      <p:sp>
        <p:nvSpPr>
          <p:cNvPr id="31" name="Text 26">
            <a:extLst xmlns:a="http://schemas.openxmlformats.org/drawingml/2006/main">
              <a:ext uri="{FF2B5EF4-FFF2-40B4-BE49-F238E27FC236}">
                <a16:creationId xmlns:a16="http://schemas.microsoft.com/office/drawing/2014/main" id="{E4726789-15E5-4D92-BA5F-CE82593EBE25}"/>
              </a:ext>
            </a:extLst>
          </p:cNvPr>
          <p:cNvSpPr>
            <a:spLocks xmlns:a="http://schemas.openxmlformats.org/drawingml/2006/main" noGrp="1"/>
          </p:cNvSpPr>
          <p:nvPr/>
        </p:nvSpPr>
        <p:spPr>
          <a:xfrm xmlns:a="http://schemas.openxmlformats.org/drawingml/2006/main">
            <a:off x="12573000" y="8029346"/>
            <a:ext cx="1505102" cy="3621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2400" b="1">
                <a:solidFill>
                  <a:srgbClr val="0F1226"/>
                </a:solidFill>
                <a:latin typeface="JetBrains Mono"/>
                <a:ea typeface="JetBrains Mono"/>
                <a:cs typeface="JetBrains Mono"/>
              </a:rPr>
              <a:t>0.311</a:t>
            </a:r>
          </a:p>
        </p:txBody>
      </p:sp>
      <p:sp>
        <p:nvSpPr>
          <p:cNvPr id="32" name="Text 27">
            <a:extLst xmlns:a="http://schemas.openxmlformats.org/drawingml/2006/main">
              <a:ext uri="{FF2B5EF4-FFF2-40B4-BE49-F238E27FC236}">
                <a16:creationId xmlns:a16="http://schemas.microsoft.com/office/drawing/2014/main" id="{DFB7B22E-1445-410E-B7CA-4ABCCF07B7CB}"/>
              </a:ext>
            </a:extLst>
          </p:cNvPr>
          <p:cNvSpPr>
            <a:spLocks xmlns:a="http://schemas.openxmlformats.org/drawingml/2006/main" noGrp="1"/>
          </p:cNvSpPr>
          <p:nvPr/>
        </p:nvSpPr>
        <p:spPr>
          <a:xfrm xmlns:a="http://schemas.openxmlformats.org/drawingml/2006/main">
            <a:off x="14153998" y="7867498"/>
            <a:ext cx="1505102" cy="124358"/>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800">
                <a:solidFill>
                  <a:srgbClr val="6A6F8C"/>
                </a:solidFill>
                <a:latin typeface="JetBrains Mono"/>
                <a:ea typeface="JetBrains Mono"/>
                <a:cs typeface="JetBrains Mono"/>
              </a:rPr>
              <a:t>Local AUC</a:t>
            </a:r>
          </a:p>
        </p:txBody>
      </p:sp>
      <p:sp>
        <p:nvSpPr>
          <p:cNvPr id="33" name="Text 28">
            <a:extLst xmlns:a="http://schemas.openxmlformats.org/drawingml/2006/main">
              <a:ext uri="{FF2B5EF4-FFF2-40B4-BE49-F238E27FC236}">
                <a16:creationId xmlns:a16="http://schemas.microsoft.com/office/drawing/2014/main" id="{939CB05E-9C6E-496D-BD81-1FA727A296F8}"/>
              </a:ext>
            </a:extLst>
          </p:cNvPr>
          <p:cNvSpPr>
            <a:spLocks xmlns:a="http://schemas.openxmlformats.org/drawingml/2006/main" noGrp="1"/>
          </p:cNvSpPr>
          <p:nvPr/>
        </p:nvSpPr>
        <p:spPr>
          <a:xfrm xmlns:a="http://schemas.openxmlformats.org/drawingml/2006/main">
            <a:off x="14153998" y="8029346"/>
            <a:ext cx="1505102" cy="3621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2400" b="1">
                <a:solidFill>
                  <a:srgbClr val="0F1226"/>
                </a:solidFill>
                <a:latin typeface="JetBrains Mono"/>
                <a:ea typeface="JetBrains Mono"/>
                <a:cs typeface="JetBrains Mono"/>
              </a:rPr>
              <a:t>0.686</a:t>
            </a:r>
          </a:p>
        </p:txBody>
      </p:sp>
      <p:sp>
        <p:nvSpPr>
          <p:cNvPr id="34" name="Text 29">
            <a:extLst xmlns:a="http://schemas.openxmlformats.org/drawingml/2006/main">
              <a:ext uri="{FF2B5EF4-FFF2-40B4-BE49-F238E27FC236}">
                <a16:creationId xmlns:a16="http://schemas.microsoft.com/office/drawing/2014/main" id="{5442B2EE-39EA-4486-8169-16E5B82403A0}"/>
              </a:ext>
            </a:extLst>
          </p:cNvPr>
          <p:cNvSpPr>
            <a:spLocks xmlns:a="http://schemas.openxmlformats.org/drawingml/2006/main" noGrp="1"/>
          </p:cNvSpPr>
          <p:nvPr/>
        </p:nvSpPr>
        <p:spPr>
          <a:xfrm xmlns:a="http://schemas.openxmlformats.org/drawingml/2006/main">
            <a:off x="15734995" y="7867498"/>
            <a:ext cx="1505102" cy="124358"/>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800">
                <a:solidFill>
                  <a:srgbClr val="6A6F8C"/>
                </a:solidFill>
                <a:latin typeface="JetBrains Mono"/>
                <a:ea typeface="JetBrains Mono"/>
                <a:cs typeface="JetBrains Mono"/>
              </a:rPr>
              <a:t>AUC diff.</a:t>
            </a:r>
          </a:p>
        </p:txBody>
      </p:sp>
      <p:sp>
        <p:nvSpPr>
          <p:cNvPr id="35" name="Text 30">
            <a:extLst xmlns:a="http://schemas.openxmlformats.org/drawingml/2006/main">
              <a:ext uri="{FF2B5EF4-FFF2-40B4-BE49-F238E27FC236}">
                <a16:creationId xmlns:a16="http://schemas.microsoft.com/office/drawing/2014/main" id="{ED69F559-2CB4-432C-85D7-BDC42C49D8CF}"/>
              </a:ext>
            </a:extLst>
          </p:cNvPr>
          <p:cNvSpPr>
            <a:spLocks xmlns:a="http://schemas.openxmlformats.org/drawingml/2006/main" noGrp="1"/>
          </p:cNvSpPr>
          <p:nvPr/>
        </p:nvSpPr>
        <p:spPr>
          <a:xfrm xmlns:a="http://schemas.openxmlformats.org/drawingml/2006/main">
            <a:off x="15734995" y="8029346"/>
            <a:ext cx="1505102" cy="3621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2400" b="1">
                <a:solidFill>
                  <a:srgbClr val="E4237A"/>
                </a:solidFill>
                <a:latin typeface="JetBrains Mono"/>
                <a:ea typeface="JetBrains Mono"/>
                <a:cs typeface="JetBrains Mono"/>
              </a:rPr>
              <a:t>-0.009</a:t>
            </a:r>
          </a:p>
        </p:txBody>
      </p:sp>
      <p:graphicFrame>
        <p:nvGraphicFramePr>
          <p:cNvPr id="70" name="Chart"/>
          <p:cNvGraphicFramePr/>
          <p:nvPr/>
        </p:nvGraphicFramePr>
        <p:xfrm>
          <a:off xmlns:a="http://schemas.openxmlformats.org/drawingml/2006/main" x="1047941" y="3524060"/>
          <a:ext xmlns:a="http://schemas.openxmlformats.org/drawingml/2006/main" cx="10477214" cy="5524786"/>
        </p:xfrm>
        <a:graphic xmlns:a="http://schemas.openxmlformats.org/drawingml/2006/main">
          <a:graphicData uri="http://schemas.openxmlformats.org/drawingml/2006/chart">
            <c:chart xmlns:r="http://schemas.openxmlformats.org/officeDocument/2006/relationships" xmlns:c="http://schemas.openxmlformats.org/drawingml/2006/chart" r:id="R0644f5aafdd24357"/>
          </a:graphicData>
        </a:graphic>
      </p:graphicFrame>
    </p:spTree>
    <p:extLst>
      <p:ext uri="{BB962C8B-B14F-4D97-AF65-F5344CB8AC3E}">
        <p14:creationId xmlns:p14="http://schemas.microsoft.com/office/powerpoint/2010/main" val="1325143239"/>
      </p:ext>
    </p:extLst>
  </p:cSld>
</p:sld>
</file>

<file path=ppt/slides/slide11.xml><?xml version="1.0" encoding="utf-8"?>
<p:sld xmlns:p="http://schemas.openxmlformats.org/presentationml/2006/main">
  <p:cSld>
    <p:bg>
      <p:bgPr>
        <a:solidFill xmlns:a="http://schemas.openxmlformats.org/drawingml/2006/main">
          <a:srgbClr val="F7F7FB"/>
        </a:solidFill>
      </p:bgPr>
    </p:bg>
    <p:spTree>
      <p:nvGrpSpPr>
        <p:cNvPr id="1" name=""/>
        <p:cNvGrpSpPr/>
        <p:nvPr/>
      </p:nvGrpSpPr>
      <p:grpSpPr>
        <a:xfrm xmlns:a="http://schemas.openxmlformats.org/drawingml/2006/main"/>
      </p:grpSpPr>
      <p:pic>
        <p:nvPicPr>
          <p:cNvPr id="34" name="Image 0"/>
          <p:cNvPicPr>
            <a:picLocks xmlns:a="http://schemas.openxmlformats.org/drawingml/2006/main" noChangeAspect="1"/>
          </p:cNvPicPr>
          <p:nvPr/>
        </p:nvPicPr>
        <p:blipFill>
          <a:blip xmlns:r="http://schemas.openxmlformats.org/officeDocument/2006/relationships" xmlns:a="http://schemas.openxmlformats.org/drawingml/2006/main" r:embed="R233576d92a1a46b1"/>
          <a:srcRect xmlns:a="http://schemas.openxmlformats.org/drawingml/2006/main" l="-2083" t="0" r="-2083" b="0"/>
          <a:stretch xmlns:a="http://schemas.openxmlformats.org/drawingml/2006/main"/>
        </p:blipFill>
        <p:spPr>
          <a:xfrm xmlns:a="http://schemas.openxmlformats.org/drawingml/2006/main">
            <a:off x="761695" y="761695"/>
            <a:ext cx="16763695" cy="9144"/>
          </a:xfrm>
          <a:prstGeom xmlns:a="http://schemas.openxmlformats.org/drawingml/2006/main" prst="rect">
            <a:avLst/>
          </a:prstGeom>
        </p:spPr>
      </p:pic>
      <p:sp>
        <p:nvSpPr>
          <p:cNvPr id="4" name="Shape 0">
            <a:extLst xmlns:a="http://schemas.openxmlformats.org/drawingml/2006/main">
              <a:ext uri="{FF2B5EF4-FFF2-40B4-BE49-F238E27FC236}">
                <a16:creationId xmlns:a16="http://schemas.microsoft.com/office/drawing/2014/main" id="{D723EEC4-5770-4135-84BA-0567C867EB19}"/>
              </a:ext>
            </a:extLst>
          </p:cNvPr>
          <p:cNvSpPr>
            <a:spLocks xmlns:a="http://schemas.openxmlformats.org/drawingml/2006/main" noGrp="1"/>
          </p:cNvSpPr>
          <p:nvPr/>
        </p:nvSpPr>
        <p:spPr>
          <a:xfrm xmlns:a="http://schemas.openxmlformats.org/drawingml/2006/main">
            <a:off x="761695" y="2762402"/>
            <a:ext cx="10306202" cy="5829300"/>
          </a:xfrm>
          <a:prstGeom xmlns:a="http://schemas.openxmlformats.org/drawingml/2006/main" prst="roundRect">
            <a:avLst>
              <a:gd name="adj" fmla="val 329"/>
            </a:avLst>
          </a:prstGeom>
          <a:solidFill xmlns:a="http://schemas.openxmlformats.org/drawingml/2006/main">
            <a:srgbClr val="FFFFFF"/>
          </a:solidFill>
          <a:ln xmlns:a="http://schemas.openxmlformats.org/drawingml/2006/main" w="12700">
            <a:solidFill>
              <a:srgbClr val="E4E5EF"/>
            </a:solidFill>
            <a:prstDash val="solid"/>
          </a:ln>
        </p:spPr>
      </p:sp>
      <p:sp>
        <p:nvSpPr>
          <p:cNvPr id="5" name="Shape 1">
            <a:extLst xmlns:a="http://schemas.openxmlformats.org/drawingml/2006/main">
              <a:ext uri="{FF2B5EF4-FFF2-40B4-BE49-F238E27FC236}">
                <a16:creationId xmlns:a16="http://schemas.microsoft.com/office/drawing/2014/main" id="{FFD75390-7E1D-4B12-BF16-FDC3D7AB32F6}"/>
              </a:ext>
            </a:extLst>
          </p:cNvPr>
          <p:cNvSpPr>
            <a:spLocks xmlns:a="http://schemas.openxmlformats.org/drawingml/2006/main" noGrp="1"/>
          </p:cNvSpPr>
          <p:nvPr/>
        </p:nvSpPr>
        <p:spPr>
          <a:xfrm xmlns:a="http://schemas.openxmlformats.org/drawingml/2006/main">
            <a:off x="761695" y="8620049"/>
            <a:ext cx="10306202" cy="685800"/>
          </a:xfrm>
          <a:prstGeom xmlns:a="http://schemas.openxmlformats.org/drawingml/2006/main" prst="roundRect">
            <a:avLst>
              <a:gd name="adj" fmla="val 2800"/>
            </a:avLst>
          </a:prstGeom>
          <a:solidFill xmlns:a="http://schemas.openxmlformats.org/drawingml/2006/main">
            <a:srgbClr val="FFF3E9"/>
          </a:solidFill>
          <a:ln xmlns:a="http://schemas.openxmlformats.org/drawingml/2006/main" w="12700">
            <a:solidFill>
              <a:srgbClr val="E8A93A"/>
            </a:solidFill>
            <a:prstDash val="solid"/>
          </a:ln>
        </p:spPr>
      </p:sp>
      <p:sp>
        <p:nvSpPr>
          <p:cNvPr id="6" name="Shape 2">
            <a:extLst xmlns:a="http://schemas.openxmlformats.org/drawingml/2006/main">
              <a:ext uri="{FF2B5EF4-FFF2-40B4-BE49-F238E27FC236}">
                <a16:creationId xmlns:a16="http://schemas.microsoft.com/office/drawing/2014/main" id="{1E969E70-7A0B-47FD-A3F5-966AA1B92274}"/>
              </a:ext>
            </a:extLst>
          </p:cNvPr>
          <p:cNvSpPr>
            <a:spLocks xmlns:a="http://schemas.openxmlformats.org/drawingml/2006/main" noGrp="1"/>
          </p:cNvSpPr>
          <p:nvPr/>
        </p:nvSpPr>
        <p:spPr>
          <a:xfrm xmlns:a="http://schemas.openxmlformats.org/drawingml/2006/main">
            <a:off x="11334902" y="2762402"/>
            <a:ext cx="6258154" cy="2876702"/>
          </a:xfrm>
          <a:prstGeom xmlns:a="http://schemas.openxmlformats.org/drawingml/2006/main" prst="roundRect">
            <a:avLst>
              <a:gd name="adj" fmla="val 668"/>
            </a:avLst>
          </a:prstGeom>
          <a:solidFill xmlns:a="http://schemas.openxmlformats.org/drawingml/2006/main">
            <a:srgbClr val="FFFFFF"/>
          </a:solidFill>
          <a:ln xmlns:a="http://schemas.openxmlformats.org/drawingml/2006/main" w="12700">
            <a:solidFill>
              <a:srgbClr val="E4E5EF"/>
            </a:solidFill>
            <a:prstDash val="solid"/>
          </a:ln>
        </p:spPr>
      </p:sp>
      <p:sp>
        <p:nvSpPr>
          <p:cNvPr id="7" name="Shape 3">
            <a:extLst xmlns:a="http://schemas.openxmlformats.org/drawingml/2006/main">
              <a:ext uri="{FF2B5EF4-FFF2-40B4-BE49-F238E27FC236}">
                <a16:creationId xmlns:a16="http://schemas.microsoft.com/office/drawing/2014/main" id="{9A6EFF84-F5F9-4498-AAE2-7D06969B40AA}"/>
              </a:ext>
            </a:extLst>
          </p:cNvPr>
          <p:cNvSpPr>
            <a:spLocks xmlns:a="http://schemas.openxmlformats.org/drawingml/2006/main" noGrp="1"/>
          </p:cNvSpPr>
          <p:nvPr/>
        </p:nvSpPr>
        <p:spPr>
          <a:xfrm xmlns:a="http://schemas.openxmlformats.org/drawingml/2006/main">
            <a:off x="11334902" y="2762402"/>
            <a:ext cx="57607" cy="2876702"/>
          </a:xfrm>
          <a:prstGeom xmlns:a="http://schemas.openxmlformats.org/drawingml/2006/main" prst="roundRect">
            <a:avLst>
              <a:gd name="adj" fmla="val 33333"/>
            </a:avLst>
          </a:prstGeom>
          <a:solidFill xmlns:a="http://schemas.openxmlformats.org/drawingml/2006/main">
            <a:srgbClr val="2A2E7A"/>
          </a:solidFill>
          <a:ln xmlns:a="http://schemas.openxmlformats.org/drawingml/2006/main" w="12700">
            <a:solidFill>
              <a:srgbClr val="2A2E7A">
                <a:alpha val="0"/>
              </a:srgbClr>
            </a:solidFill>
            <a:prstDash val="solid"/>
          </a:ln>
        </p:spPr>
      </p:sp>
      <p:sp>
        <p:nvSpPr>
          <p:cNvPr id="8" name="Shape 4">
            <a:extLst xmlns:a="http://schemas.openxmlformats.org/drawingml/2006/main">
              <a:ext uri="{FF2B5EF4-FFF2-40B4-BE49-F238E27FC236}">
                <a16:creationId xmlns:a16="http://schemas.microsoft.com/office/drawing/2014/main" id="{AD5BA3E0-267F-4E9F-8FF5-33AD71A2FB9F}"/>
              </a:ext>
            </a:extLst>
          </p:cNvPr>
          <p:cNvSpPr>
            <a:spLocks xmlns:a="http://schemas.openxmlformats.org/drawingml/2006/main" noGrp="1"/>
          </p:cNvSpPr>
          <p:nvPr/>
        </p:nvSpPr>
        <p:spPr>
          <a:xfrm xmlns:a="http://schemas.openxmlformats.org/drawingml/2006/main">
            <a:off x="11334902" y="5857646"/>
            <a:ext cx="6258154" cy="2781605"/>
          </a:xfrm>
          <a:prstGeom xmlns:a="http://schemas.openxmlformats.org/drawingml/2006/main" prst="roundRect">
            <a:avLst>
              <a:gd name="adj" fmla="val 690"/>
            </a:avLst>
          </a:prstGeom>
          <a:solidFill xmlns:a="http://schemas.openxmlformats.org/drawingml/2006/main">
            <a:srgbClr val="FFFFFF"/>
          </a:solidFill>
          <a:ln xmlns:a="http://schemas.openxmlformats.org/drawingml/2006/main" w="12700">
            <a:solidFill>
              <a:srgbClr val="E4E5EF"/>
            </a:solidFill>
            <a:prstDash val="solid"/>
          </a:ln>
        </p:spPr>
      </p:sp>
      <p:sp>
        <p:nvSpPr>
          <p:cNvPr id="9" name="Shape 5">
            <a:extLst xmlns:a="http://schemas.openxmlformats.org/drawingml/2006/main">
              <a:ext uri="{FF2B5EF4-FFF2-40B4-BE49-F238E27FC236}">
                <a16:creationId xmlns:a16="http://schemas.microsoft.com/office/drawing/2014/main" id="{381DCD59-9029-44F7-A4F1-D886505A703D}"/>
              </a:ext>
            </a:extLst>
          </p:cNvPr>
          <p:cNvSpPr>
            <a:spLocks xmlns:a="http://schemas.openxmlformats.org/drawingml/2006/main" noGrp="1"/>
          </p:cNvSpPr>
          <p:nvPr/>
        </p:nvSpPr>
        <p:spPr>
          <a:xfrm xmlns:a="http://schemas.openxmlformats.org/drawingml/2006/main">
            <a:off x="11334902" y="5857646"/>
            <a:ext cx="57607" cy="2781605"/>
          </a:xfrm>
          <a:prstGeom xmlns:a="http://schemas.openxmlformats.org/drawingml/2006/main" prst="roundRect">
            <a:avLst>
              <a:gd name="adj" fmla="val 33333"/>
            </a:avLst>
          </a:prstGeom>
          <a:solidFill xmlns:a="http://schemas.openxmlformats.org/drawingml/2006/main">
            <a:srgbClr val="E4237A"/>
          </a:solidFill>
          <a:ln xmlns:a="http://schemas.openxmlformats.org/drawingml/2006/main" w="12700">
            <a:solidFill>
              <a:srgbClr val="E4237A">
                <a:alpha val="0"/>
              </a:srgbClr>
            </a:solidFill>
            <a:prstDash val="solid"/>
          </a:ln>
        </p:spPr>
      </p:sp>
      <p:sp>
        <p:nvSpPr>
          <p:cNvPr id="10" name="Shape 6">
            <a:extLst xmlns:a="http://schemas.openxmlformats.org/drawingml/2006/main">
              <a:ext uri="{FF2B5EF4-FFF2-40B4-BE49-F238E27FC236}">
                <a16:creationId xmlns:a16="http://schemas.microsoft.com/office/drawing/2014/main" id="{A155A971-D640-47ED-8932-1A0087726281}"/>
              </a:ext>
            </a:extLst>
          </p:cNvPr>
          <p:cNvSpPr>
            <a:spLocks xmlns:a="http://schemas.openxmlformats.org/drawingml/2006/main" noGrp="1"/>
          </p:cNvSpPr>
          <p:nvPr/>
        </p:nvSpPr>
        <p:spPr>
          <a:xfrm xmlns:a="http://schemas.openxmlformats.org/drawingml/2006/main">
            <a:off x="11334902" y="8810244"/>
            <a:ext cx="6191402" cy="476402"/>
          </a:xfrm>
          <a:prstGeom xmlns:a="http://schemas.openxmlformats.org/drawingml/2006/main" prst="roundRect">
            <a:avLst>
              <a:gd name="adj" fmla="val 4031"/>
            </a:avLst>
          </a:prstGeom>
          <a:solidFill xmlns:a="http://schemas.openxmlformats.org/drawingml/2006/main">
            <a:srgbClr val="1A1D5C"/>
          </a:solidFill>
          <a:ln xmlns:a="http://schemas.openxmlformats.org/drawingml/2006/main" w="12700">
            <a:solidFill>
              <a:srgbClr val="FFFFFF">
                <a:alpha val="0"/>
              </a:srgbClr>
            </a:solidFill>
            <a:prstDash val="solid"/>
          </a:ln>
        </p:spPr>
      </p:sp>
      <p:sp>
        <p:nvSpPr>
          <p:cNvPr id="12" name="Text 7">
            <a:extLst xmlns:a="http://schemas.openxmlformats.org/drawingml/2006/main">
              <a:ext uri="{FF2B5EF4-FFF2-40B4-BE49-F238E27FC236}">
                <a16:creationId xmlns:a16="http://schemas.microsoft.com/office/drawing/2014/main" id="{4BD9C669-8C9E-44F7-8B16-304B023AC414}"/>
              </a:ext>
            </a:extLst>
          </p:cNvPr>
          <p:cNvSpPr>
            <a:spLocks xmlns:a="http://schemas.openxmlformats.org/drawingml/2006/main" noGrp="1"/>
          </p:cNvSpPr>
          <p:nvPr/>
        </p:nvSpPr>
        <p:spPr>
          <a:xfrm xmlns:a="http://schemas.openxmlformats.org/drawingml/2006/main">
            <a:off x="761695" y="428854"/>
            <a:ext cx="8572500" cy="152705"/>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000">
                <a:solidFill>
                  <a:srgbClr val="6A6F8C"/>
                </a:solidFill>
                <a:latin typeface="JetBrains Mono"/>
                <a:ea typeface="JetBrains Mono"/>
                <a:cs typeface="JetBrains Mono"/>
              </a:rPr>
              <a:t>§ 05 | Results | portability cost</a:t>
            </a:r>
          </a:p>
        </p:txBody>
      </p:sp>
      <p:sp>
        <p:nvSpPr>
          <p:cNvPr id="13" name="Text 8">
            <a:extLst xmlns:a="http://schemas.openxmlformats.org/drawingml/2006/main">
              <a:ext uri="{FF2B5EF4-FFF2-40B4-BE49-F238E27FC236}">
                <a16:creationId xmlns:a16="http://schemas.microsoft.com/office/drawing/2014/main" id="{C911BA9B-D172-460E-8630-AA742FC7934C}"/>
              </a:ext>
            </a:extLst>
          </p:cNvPr>
          <p:cNvSpPr>
            <a:spLocks xmlns:a="http://schemas.openxmlformats.org/drawingml/2006/main" noGrp="1"/>
          </p:cNvSpPr>
          <p:nvPr/>
        </p:nvSpPr>
        <p:spPr>
          <a:xfrm xmlns:a="http://schemas.openxmlformats.org/drawingml/2006/main">
            <a:off x="15240305" y="428854"/>
            <a:ext cx="2286000" cy="152705"/>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r">
              <a:buNone/>
            </a:pPr>
            <a:r>
              <a:rPr sz="1000">
                <a:solidFill>
                  <a:srgbClr val="6A6F8C"/>
                </a:solidFill>
                <a:latin typeface="JetBrains Mono"/>
                <a:ea typeface="JetBrains Mono"/>
                <a:cs typeface="JetBrains Mono"/>
              </a:rPr>
              <a:t>11 / 20</a:t>
            </a:r>
          </a:p>
        </p:txBody>
      </p:sp>
      <p:sp>
        <p:nvSpPr>
          <p:cNvPr id="14" name="Text 9">
            <a:extLst xmlns:a="http://schemas.openxmlformats.org/drawingml/2006/main">
              <a:ext uri="{FF2B5EF4-FFF2-40B4-BE49-F238E27FC236}">
                <a16:creationId xmlns:a16="http://schemas.microsoft.com/office/drawing/2014/main" id="{21FBFE76-36C1-4977-B470-B7B50D251CC7}"/>
              </a:ext>
            </a:extLst>
          </p:cNvPr>
          <p:cNvSpPr>
            <a:spLocks xmlns:a="http://schemas.openxmlformats.org/drawingml/2006/main" noGrp="1"/>
          </p:cNvSpPr>
          <p:nvPr/>
        </p:nvSpPr>
        <p:spPr>
          <a:xfrm xmlns:a="http://schemas.openxmlformats.org/drawingml/2006/main">
            <a:off x="761695" y="1238098"/>
            <a:ext cx="16764610" cy="486461"/>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3600" b="1">
                <a:solidFill>
                  <a:srgbClr val="0F1226"/>
                </a:solidFill>
                <a:latin typeface="Inter"/>
                <a:ea typeface="Inter"/>
                <a:cs typeface="Inter"/>
              </a:rPr>
              <a:t>The portability cost is small, but statistically real after day 35.</a:t>
            </a:r>
          </a:p>
        </p:txBody>
      </p:sp>
      <p:sp>
        <p:nvSpPr>
          <p:cNvPr id="15" name="Text 10">
            <a:extLst xmlns:a="http://schemas.openxmlformats.org/drawingml/2006/main">
              <a:ext uri="{FF2B5EF4-FFF2-40B4-BE49-F238E27FC236}">
                <a16:creationId xmlns:a16="http://schemas.microsoft.com/office/drawing/2014/main" id="{842F9B83-4B08-40E4-9C61-40C38F42E6AF}"/>
              </a:ext>
            </a:extLst>
          </p:cNvPr>
          <p:cNvSpPr>
            <a:spLocks xmlns:a="http://schemas.openxmlformats.org/drawingml/2006/main" noGrp="1"/>
          </p:cNvSpPr>
          <p:nvPr/>
        </p:nvSpPr>
        <p:spPr>
          <a:xfrm xmlns:a="http://schemas.openxmlformats.org/drawingml/2006/main">
            <a:off x="761695" y="1813255"/>
            <a:ext cx="16764610" cy="21031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500" i="1">
                <a:solidFill>
                  <a:srgbClr val="6A6F8C"/>
                </a:solidFill>
                <a:latin typeface="Source Serif Pro"/>
                <a:ea typeface="Source Serif Pro"/>
                <a:cs typeface="Source Serif Pro"/>
              </a:rPr>
              <a:t>Paired student-cluster tests compare the same held-out records.</a:t>
            </a:r>
          </a:p>
        </p:txBody>
      </p:sp>
      <p:sp>
        <p:nvSpPr>
          <p:cNvPr id="16" name="Text 11">
            <a:extLst xmlns:a="http://schemas.openxmlformats.org/drawingml/2006/main">
              <a:ext uri="{FF2B5EF4-FFF2-40B4-BE49-F238E27FC236}">
                <a16:creationId xmlns:a16="http://schemas.microsoft.com/office/drawing/2014/main" id="{2929EFD0-7344-49E2-A3DF-FF1D2982A75F}"/>
              </a:ext>
            </a:extLst>
          </p:cNvPr>
          <p:cNvSpPr>
            <a:spLocks xmlns:a="http://schemas.openxmlformats.org/drawingml/2006/main" noGrp="1"/>
          </p:cNvSpPr>
          <p:nvPr/>
        </p:nvSpPr>
        <p:spPr>
          <a:xfrm xmlns:a="http://schemas.openxmlformats.org/drawingml/2006/main">
            <a:off x="1047902" y="2952598"/>
            <a:ext cx="9715500" cy="124358"/>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800">
                <a:solidFill>
                  <a:srgbClr val="E4237A"/>
                </a:solidFill>
                <a:latin typeface="JetBrains Mono"/>
                <a:ea typeface="JetBrains Mono"/>
                <a:cs typeface="JetBrains Mono"/>
              </a:rPr>
              <a:t>FIG | One pooled dynamic model across entry and later snapshots</a:t>
            </a:r>
          </a:p>
        </p:txBody>
      </p:sp>
      <p:sp>
        <p:nvSpPr>
          <p:cNvPr id="17" name="Text 12">
            <a:extLst xmlns:a="http://schemas.openxmlformats.org/drawingml/2006/main">
              <a:ext uri="{FF2B5EF4-FFF2-40B4-BE49-F238E27FC236}">
                <a16:creationId xmlns:a16="http://schemas.microsoft.com/office/drawing/2014/main" id="{97520D9F-00E8-493E-BB7B-358705555937}"/>
              </a:ext>
            </a:extLst>
          </p:cNvPr>
          <p:cNvSpPr>
            <a:spLocks xmlns:a="http://schemas.openxmlformats.org/drawingml/2006/main" noGrp="1"/>
          </p:cNvSpPr>
          <p:nvPr/>
        </p:nvSpPr>
        <p:spPr>
          <a:xfrm xmlns:a="http://schemas.openxmlformats.org/drawingml/2006/main">
            <a:off x="1047902" y="3114446"/>
            <a:ext cx="9715500" cy="191110"/>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200">
                <a:solidFill>
                  <a:srgbClr val="2A2E4B"/>
                </a:solidFill>
                <a:latin typeface="Inter"/>
                <a:ea typeface="Inter"/>
                <a:cs typeface="Inter"/>
              </a:rPr>
              <a:t>Best OULAD AUC: 0.694 at day 60</a:t>
            </a:r>
          </a:p>
        </p:txBody>
      </p:sp>
      <p:sp>
        <p:nvSpPr>
          <p:cNvPr id="18" name="Text 13">
            <a:extLst xmlns:a="http://schemas.openxmlformats.org/drawingml/2006/main">
              <a:ext uri="{FF2B5EF4-FFF2-40B4-BE49-F238E27FC236}">
                <a16:creationId xmlns:a16="http://schemas.microsoft.com/office/drawing/2014/main" id="{349D8ECE-0C1E-4CE5-86DA-8997BDF82CC4}"/>
              </a:ext>
            </a:extLst>
          </p:cNvPr>
          <p:cNvSpPr>
            <a:spLocks xmlns:a="http://schemas.openxmlformats.org/drawingml/2006/main" noGrp="1"/>
          </p:cNvSpPr>
          <p:nvPr/>
        </p:nvSpPr>
        <p:spPr>
          <a:xfrm xmlns:a="http://schemas.openxmlformats.org/drawingml/2006/main">
            <a:off x="952805" y="8696858"/>
            <a:ext cx="9906610" cy="761695"/>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p xmlns:a="http://schemas.openxmlformats.org/drawingml/2006/main">
            <a:pPr marL="0" indent="0" algn="l">
              <a:lnSpc>
                <a:spcPts val="1463"/>
              </a:lnSpc>
              <a:buNone/>
              <a:defRPr sz="1200">
                <a:solidFill>
                  <a:srgbClr val="2A2E4B"/>
                </a:solidFill>
                <a:latin typeface="JetBrains Mono"/>
                <a:ea typeface="JetBrains Mono"/>
                <a:cs typeface="JetBrains Mono"/>
              </a:defRPr>
            </a:pPr>
            <a:r>
              <a:rPr sz="1200">
                <a:solidFill>
                  <a:srgbClr val="2A2E4B"/>
                </a:solidFill>
                <a:latin typeface="JetBrains Mono"/>
                <a:ea typeface="JetBrains Mono"/>
                <a:cs typeface="JetBrains Mono"/>
              </a:rPr>
              <a:t>AP gaps were not significant at 0.05; raw scores remain ranking values.</a:t>
            </a:r>
          </a:p>
        </p:txBody>
      </p:sp>
      <p:sp>
        <p:nvSpPr>
          <p:cNvPr id="19" name="Text 14">
            <a:extLst xmlns:a="http://schemas.openxmlformats.org/drawingml/2006/main">
              <a:ext uri="{FF2B5EF4-FFF2-40B4-BE49-F238E27FC236}">
                <a16:creationId xmlns:a16="http://schemas.microsoft.com/office/drawing/2014/main" id="{39BC3598-02B6-4DA0-A8AC-7A96A8ED62E3}"/>
              </a:ext>
            </a:extLst>
          </p:cNvPr>
          <p:cNvSpPr>
            <a:spLocks xmlns:a="http://schemas.openxmlformats.org/drawingml/2006/main" noGrp="1"/>
          </p:cNvSpPr>
          <p:nvPr/>
        </p:nvSpPr>
        <p:spPr>
          <a:xfrm xmlns:a="http://schemas.openxmlformats.org/drawingml/2006/main">
            <a:off x="11620195" y="3000146"/>
            <a:ext cx="5619902" cy="1335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2A2E7A"/>
                </a:solidFill>
                <a:latin typeface="JetBrains Mono"/>
                <a:ea typeface="JetBrains Mono"/>
                <a:cs typeface="JetBrains Mono"/>
              </a:rPr>
              <a:t>ENTRY CONTEXTS</a:t>
            </a:r>
          </a:p>
        </p:txBody>
      </p:sp>
      <p:sp>
        <p:nvSpPr>
          <p:cNvPr id="20" name="Text 15">
            <a:extLst xmlns:a="http://schemas.openxmlformats.org/drawingml/2006/main">
              <a:ext uri="{FF2B5EF4-FFF2-40B4-BE49-F238E27FC236}">
                <a16:creationId xmlns:a16="http://schemas.microsoft.com/office/drawing/2014/main" id="{CCC05359-66AE-4A4B-973C-92382C9BE176}"/>
              </a:ext>
            </a:extLst>
          </p:cNvPr>
          <p:cNvSpPr>
            <a:spLocks xmlns:a="http://schemas.openxmlformats.org/drawingml/2006/main" noGrp="1"/>
          </p:cNvSpPr>
          <p:nvPr/>
        </p:nvSpPr>
        <p:spPr>
          <a:xfrm xmlns:a="http://schemas.openxmlformats.org/drawingml/2006/main">
            <a:off x="11620195" y="3228746"/>
            <a:ext cx="5619902" cy="2478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500" b="1">
                <a:solidFill>
                  <a:srgbClr val="0F1226"/>
                </a:solidFill>
                <a:latin typeface="Inter"/>
                <a:ea typeface="Inter"/>
                <a:cs typeface="Inter"/>
              </a:rPr>
              <a:t>Pooled stays close to local-only</a:t>
            </a:r>
          </a:p>
        </p:txBody>
      </p:sp>
      <p:sp>
        <p:nvSpPr>
          <p:cNvPr id="21" name="Text 16">
            <a:extLst xmlns:a="http://schemas.openxmlformats.org/drawingml/2006/main">
              <a:ext uri="{FF2B5EF4-FFF2-40B4-BE49-F238E27FC236}">
                <a16:creationId xmlns:a16="http://schemas.microsoft.com/office/drawing/2014/main" id="{E3870CA3-5174-4303-894A-09950E2A83E6}"/>
              </a:ext>
            </a:extLst>
          </p:cNvPr>
          <p:cNvSpPr>
            <a:spLocks xmlns:a="http://schemas.openxmlformats.org/drawingml/2006/main" noGrp="1"/>
          </p:cNvSpPr>
          <p:nvPr/>
        </p:nvSpPr>
        <p:spPr>
          <a:xfrm xmlns:a="http://schemas.openxmlformats.org/drawingml/2006/main">
            <a:off x="11620195" y="3590849"/>
            <a:ext cx="5619902" cy="257861"/>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100">
                <a:solidFill>
                  <a:srgbClr val="2A2E4B"/>
                </a:solidFill>
                <a:latin typeface="JetBrains Mono"/>
                <a:ea typeface="JetBrains Mono"/>
                <a:cs typeface="JetBrains Mono"/>
              </a:rPr>
              <a:t>UCI: 0.771 vs 0.774 | p = 0.561</a:t>
            </a:r>
          </a:p>
        </p:txBody>
      </p:sp>
      <p:sp>
        <p:nvSpPr>
          <p:cNvPr id="22" name="Text 17">
            <a:extLst xmlns:a="http://schemas.openxmlformats.org/drawingml/2006/main">
              <a:ext uri="{FF2B5EF4-FFF2-40B4-BE49-F238E27FC236}">
                <a16:creationId xmlns:a16="http://schemas.microsoft.com/office/drawing/2014/main" id="{74645DDE-668A-4E09-959A-9CE1CA5B40D4}"/>
              </a:ext>
            </a:extLst>
          </p:cNvPr>
          <p:cNvSpPr>
            <a:spLocks xmlns:a="http://schemas.openxmlformats.org/drawingml/2006/main" noGrp="1"/>
          </p:cNvSpPr>
          <p:nvPr/>
        </p:nvSpPr>
        <p:spPr>
          <a:xfrm xmlns:a="http://schemas.openxmlformats.org/drawingml/2006/main">
            <a:off x="11620195" y="3841394"/>
            <a:ext cx="5619902" cy="257861"/>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100">
                <a:solidFill>
                  <a:srgbClr val="2A2E4B"/>
                </a:solidFill>
                <a:latin typeface="JetBrains Mono"/>
                <a:ea typeface="JetBrains Mono"/>
                <a:cs typeface="JetBrains Mono"/>
              </a:rPr>
              <a:t>OULAD: 0.595 vs 0.597 | p = 0.740</a:t>
            </a:r>
          </a:p>
        </p:txBody>
      </p:sp>
      <p:sp>
        <p:nvSpPr>
          <p:cNvPr id="23" name="Text 18">
            <a:extLst xmlns:a="http://schemas.openxmlformats.org/drawingml/2006/main">
              <a:ext uri="{FF2B5EF4-FFF2-40B4-BE49-F238E27FC236}">
                <a16:creationId xmlns:a16="http://schemas.microsoft.com/office/drawing/2014/main" id="{D08BF68D-9652-416E-A539-7CE5D3B0F222}"/>
              </a:ext>
            </a:extLst>
          </p:cNvPr>
          <p:cNvSpPr>
            <a:spLocks xmlns:a="http://schemas.openxmlformats.org/drawingml/2006/main" noGrp="1"/>
          </p:cNvSpPr>
          <p:nvPr/>
        </p:nvSpPr>
        <p:spPr>
          <a:xfrm xmlns:a="http://schemas.openxmlformats.org/drawingml/2006/main">
            <a:off x="11620195" y="4091026"/>
            <a:ext cx="5619902" cy="257861"/>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100">
                <a:solidFill>
                  <a:srgbClr val="2A2E4B"/>
                </a:solidFill>
                <a:latin typeface="JetBrains Mono"/>
                <a:ea typeface="JetBrains Mono"/>
                <a:cs typeface="JetBrains Mono"/>
              </a:rPr>
              <a:t>No significant AUC loss</a:t>
            </a:r>
          </a:p>
        </p:txBody>
      </p:sp>
      <p:sp>
        <p:nvSpPr>
          <p:cNvPr id="24" name="Text 19">
            <a:extLst xmlns:a="http://schemas.openxmlformats.org/drawingml/2006/main">
              <a:ext uri="{FF2B5EF4-FFF2-40B4-BE49-F238E27FC236}">
                <a16:creationId xmlns:a16="http://schemas.microsoft.com/office/drawing/2014/main" id="{26B58459-2D65-4CA0-A853-4AF12A62E34E}"/>
              </a:ext>
            </a:extLst>
          </p:cNvPr>
          <p:cNvSpPr>
            <a:spLocks xmlns:a="http://schemas.openxmlformats.org/drawingml/2006/main" noGrp="1"/>
          </p:cNvSpPr>
          <p:nvPr/>
        </p:nvSpPr>
        <p:spPr>
          <a:xfrm xmlns:a="http://schemas.openxmlformats.org/drawingml/2006/main">
            <a:off x="11620195" y="4340657"/>
            <a:ext cx="5619902" cy="257861"/>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100">
                <a:solidFill>
                  <a:srgbClr val="2A2E4B"/>
                </a:solidFill>
                <a:latin typeface="JetBrains Mono"/>
                <a:ea typeface="JetBrains Mono"/>
                <a:cs typeface="JetBrains Mono"/>
              </a:rPr>
              <a:t>AP differences also not significant</a:t>
            </a:r>
          </a:p>
        </p:txBody>
      </p:sp>
      <p:sp>
        <p:nvSpPr>
          <p:cNvPr id="25" name="Text 20">
            <a:extLst xmlns:a="http://schemas.openxmlformats.org/drawingml/2006/main">
              <a:ext uri="{FF2B5EF4-FFF2-40B4-BE49-F238E27FC236}">
                <a16:creationId xmlns:a16="http://schemas.microsoft.com/office/drawing/2014/main" id="{3223A691-8A32-4320-8DC7-F18C180465DD}"/>
              </a:ext>
            </a:extLst>
          </p:cNvPr>
          <p:cNvSpPr>
            <a:spLocks xmlns:a="http://schemas.openxmlformats.org/drawingml/2006/main" noGrp="1"/>
          </p:cNvSpPr>
          <p:nvPr/>
        </p:nvSpPr>
        <p:spPr>
          <a:xfrm xmlns:a="http://schemas.openxmlformats.org/drawingml/2006/main">
            <a:off x="11620195" y="6096305"/>
            <a:ext cx="5619902" cy="1335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E4237A"/>
                </a:solidFill>
                <a:latin typeface="JetBrains Mono"/>
                <a:ea typeface="JetBrains Mono"/>
                <a:cs typeface="JetBrains Mono"/>
              </a:rPr>
              <a:t>LATER OULAD</a:t>
            </a:r>
          </a:p>
        </p:txBody>
      </p:sp>
      <p:sp>
        <p:nvSpPr>
          <p:cNvPr id="26" name="Text 21">
            <a:extLst xmlns:a="http://schemas.openxmlformats.org/drawingml/2006/main">
              <a:ext uri="{FF2B5EF4-FFF2-40B4-BE49-F238E27FC236}">
                <a16:creationId xmlns:a16="http://schemas.microsoft.com/office/drawing/2014/main" id="{83692A5C-11AD-41BE-838F-3F2CAEC059FD}"/>
              </a:ext>
            </a:extLst>
          </p:cNvPr>
          <p:cNvSpPr>
            <a:spLocks xmlns:a="http://schemas.openxmlformats.org/drawingml/2006/main" noGrp="1"/>
          </p:cNvSpPr>
          <p:nvPr/>
        </p:nvSpPr>
        <p:spPr>
          <a:xfrm xmlns:a="http://schemas.openxmlformats.org/drawingml/2006/main">
            <a:off x="11620195" y="6324905"/>
            <a:ext cx="5902452" cy="2478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500" b="1">
                <a:solidFill>
                  <a:srgbClr val="0F1226"/>
                </a:solidFill>
                <a:latin typeface="Inter"/>
                <a:ea typeface="Inter"/>
                <a:cs typeface="Inter"/>
              </a:rPr>
              <a:t>Local-only remains slightly stronger</a:t>
            </a:r>
          </a:p>
        </p:txBody>
      </p:sp>
      <p:sp>
        <p:nvSpPr>
          <p:cNvPr id="27" name="Text 22">
            <a:extLst xmlns:a="http://schemas.openxmlformats.org/drawingml/2006/main">
              <a:ext uri="{FF2B5EF4-FFF2-40B4-BE49-F238E27FC236}">
                <a16:creationId xmlns:a16="http://schemas.microsoft.com/office/drawing/2014/main" id="{2E053452-28E3-43EA-B80E-D3B030837B7B}"/>
              </a:ext>
            </a:extLst>
          </p:cNvPr>
          <p:cNvSpPr>
            <a:spLocks xmlns:a="http://schemas.openxmlformats.org/drawingml/2006/main" noGrp="1"/>
          </p:cNvSpPr>
          <p:nvPr/>
        </p:nvSpPr>
        <p:spPr>
          <a:xfrm xmlns:a="http://schemas.openxmlformats.org/drawingml/2006/main">
            <a:off x="11620195" y="6687007"/>
            <a:ext cx="5619902" cy="257861"/>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100">
                <a:solidFill>
                  <a:srgbClr val="2A2E4B"/>
                </a:solidFill>
                <a:latin typeface="JetBrains Mono"/>
                <a:ea typeface="JetBrains Mono"/>
                <a:cs typeface="JetBrains Mono"/>
              </a:rPr>
              <a:t>Day 35: -0.009 | p = 0.005</a:t>
            </a:r>
          </a:p>
        </p:txBody>
      </p:sp>
      <p:sp>
        <p:nvSpPr>
          <p:cNvPr id="28" name="Text 23">
            <a:extLst xmlns:a="http://schemas.openxmlformats.org/drawingml/2006/main">
              <a:ext uri="{FF2B5EF4-FFF2-40B4-BE49-F238E27FC236}">
                <a16:creationId xmlns:a16="http://schemas.microsoft.com/office/drawing/2014/main" id="{E192F25D-DB30-499C-87B0-46E873688008}"/>
              </a:ext>
            </a:extLst>
          </p:cNvPr>
          <p:cNvSpPr>
            <a:spLocks xmlns:a="http://schemas.openxmlformats.org/drawingml/2006/main" noGrp="1"/>
          </p:cNvSpPr>
          <p:nvPr/>
        </p:nvSpPr>
        <p:spPr>
          <a:xfrm xmlns:a="http://schemas.openxmlformats.org/drawingml/2006/main">
            <a:off x="11620195" y="6936638"/>
            <a:ext cx="5619902" cy="257861"/>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100">
                <a:solidFill>
                  <a:srgbClr val="2A2E4B"/>
                </a:solidFill>
                <a:latin typeface="JetBrains Mono"/>
                <a:ea typeface="JetBrains Mono"/>
                <a:cs typeface="JetBrains Mono"/>
              </a:rPr>
              <a:t>Day 60: -0.013 | p = 0.001</a:t>
            </a:r>
          </a:p>
        </p:txBody>
      </p:sp>
      <p:sp>
        <p:nvSpPr>
          <p:cNvPr id="29" name="Text 24">
            <a:extLst xmlns:a="http://schemas.openxmlformats.org/drawingml/2006/main">
              <a:ext uri="{FF2B5EF4-FFF2-40B4-BE49-F238E27FC236}">
                <a16:creationId xmlns:a16="http://schemas.microsoft.com/office/drawing/2014/main" id="{99379DEF-318D-4D4F-AA82-D454A75EA978}"/>
              </a:ext>
            </a:extLst>
          </p:cNvPr>
          <p:cNvSpPr>
            <a:spLocks xmlns:a="http://schemas.openxmlformats.org/drawingml/2006/main" noGrp="1"/>
          </p:cNvSpPr>
          <p:nvPr/>
        </p:nvSpPr>
        <p:spPr>
          <a:xfrm xmlns:a="http://schemas.openxmlformats.org/drawingml/2006/main">
            <a:off x="11620195" y="7186270"/>
            <a:ext cx="5619902" cy="257861"/>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100">
                <a:solidFill>
                  <a:srgbClr val="2A2E4B"/>
                </a:solidFill>
                <a:latin typeface="JetBrains Mono"/>
                <a:ea typeface="JetBrains Mono"/>
                <a:cs typeface="JetBrains Mono"/>
              </a:rPr>
              <a:t>Day 75: -0.009 | p = 0.005</a:t>
            </a:r>
          </a:p>
        </p:txBody>
      </p:sp>
      <p:sp>
        <p:nvSpPr>
          <p:cNvPr id="30" name="Text 25">
            <a:extLst xmlns:a="http://schemas.openxmlformats.org/drawingml/2006/main">
              <a:ext uri="{FF2B5EF4-FFF2-40B4-BE49-F238E27FC236}">
                <a16:creationId xmlns:a16="http://schemas.microsoft.com/office/drawing/2014/main" id="{AB8A07A8-FEDE-43E6-9C97-3436A5C89386}"/>
              </a:ext>
            </a:extLst>
          </p:cNvPr>
          <p:cNvSpPr>
            <a:spLocks xmlns:a="http://schemas.openxmlformats.org/drawingml/2006/main" noGrp="1"/>
          </p:cNvSpPr>
          <p:nvPr/>
        </p:nvSpPr>
        <p:spPr>
          <a:xfrm xmlns:a="http://schemas.openxmlformats.org/drawingml/2006/main">
            <a:off x="11620195" y="7436815"/>
            <a:ext cx="5619902" cy="257861"/>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100">
                <a:solidFill>
                  <a:srgbClr val="2A2E4B"/>
                </a:solidFill>
                <a:latin typeface="JetBrains Mono"/>
                <a:ea typeface="JetBrains Mono"/>
                <a:cs typeface="JetBrains Mono"/>
              </a:rPr>
              <a:t>All three AUC gaps are significant</a:t>
            </a:r>
          </a:p>
        </p:txBody>
      </p:sp>
      <p:sp>
        <p:nvSpPr>
          <p:cNvPr id="31" name="Text 26">
            <a:extLst xmlns:a="http://schemas.openxmlformats.org/drawingml/2006/main">
              <a:ext uri="{FF2B5EF4-FFF2-40B4-BE49-F238E27FC236}">
                <a16:creationId xmlns:a16="http://schemas.microsoft.com/office/drawing/2014/main" id="{ED37778E-6C2B-47A6-B490-926ED1C83DCB}"/>
              </a:ext>
            </a:extLst>
          </p:cNvPr>
          <p:cNvSpPr>
            <a:spLocks xmlns:a="http://schemas.openxmlformats.org/drawingml/2006/main" noGrp="1"/>
          </p:cNvSpPr>
          <p:nvPr/>
        </p:nvSpPr>
        <p:spPr>
          <a:xfrm xmlns:a="http://schemas.openxmlformats.org/drawingml/2006/main">
            <a:off x="11525098" y="8906256"/>
            <a:ext cx="5811012" cy="400507"/>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000">
                <a:solidFill>
                  <a:srgbClr val="FFFFFF">
                    <a:alpha val="92000"/>
                  </a:srgbClr>
                </a:solidFill>
                <a:latin typeface="JetBrains Mono"/>
                <a:ea typeface="JetBrains Mono"/>
                <a:cs typeface="JetBrains Mono"/>
              </a:rPr>
              <a:t>portable reuse = one model + measured performance cost + local validation</a:t>
            </a:r>
          </a:p>
        </p:txBody>
      </p:sp>
      <p:pic>
        <p:nvPicPr>
          <p:cNvPr id="62" name=""/>
          <p:cNvPicPr>
            <a:picLocks xmlns:a="http://schemas.openxmlformats.org/drawingml/2006/main" noChangeAspect="1"/>
          </p:cNvPicPr>
          <p:nvPr/>
        </p:nvPicPr>
        <p:blipFill>
          <a:blip xmlns:r="http://schemas.openxmlformats.org/officeDocument/2006/relationships" xmlns:a="http://schemas.openxmlformats.org/drawingml/2006/main" r:embed="R09a3a9636f5140eb"/>
          <a:stretch xmlns:a="http://schemas.openxmlformats.org/drawingml/2006/main"/>
        </p:blipFill>
        <p:spPr>
          <a:xfrm xmlns:a="http://schemas.openxmlformats.org/drawingml/2006/main" flipH="0" flipV="0">
            <a:off x="1892467" y="3524250"/>
            <a:ext cx="8026066" cy="4762500"/>
          </a:xfrm>
          <a:prstGeom xmlns:a="http://schemas.openxmlformats.org/drawingml/2006/main" prst="rect">
            <a:avLst/>
          </a:prstGeom>
        </p:spPr>
      </p:pic>
    </p:spTree>
    <p:extLst>
      <p:ext uri="{BB962C8B-B14F-4D97-AF65-F5344CB8AC3E}">
        <p14:creationId xmlns:p14="http://schemas.microsoft.com/office/powerpoint/2010/main" val="329534785"/>
      </p:ext>
    </p:extLst>
  </p:cSld>
</p:sld>
</file>

<file path=ppt/slides/slide12.xml><?xml version="1.0" encoding="utf-8"?>
<p:sld xmlns:p="http://schemas.openxmlformats.org/presentationml/2006/main">
  <p:cSld>
    <p:bg>
      <p:bgPr>
        <a:solidFill xmlns:a="http://schemas.openxmlformats.org/drawingml/2006/main">
          <a:srgbClr val="F7F7FB"/>
        </a:solidFill>
      </p:bgPr>
    </p:bg>
    <p:spTree>
      <p:nvGrpSpPr>
        <p:cNvPr id="1" name=""/>
        <p:cNvGrpSpPr/>
        <p:nvPr/>
      </p:nvGrpSpPr>
      <p:grpSpPr>
        <a:xfrm xmlns:a="http://schemas.openxmlformats.org/drawingml/2006/main"/>
      </p:grpSpPr>
      <p:pic>
        <p:nvPicPr>
          <p:cNvPr id="34" name="Image 0"/>
          <p:cNvPicPr>
            <a:picLocks xmlns:a="http://schemas.openxmlformats.org/drawingml/2006/main" noChangeAspect="1"/>
          </p:cNvPicPr>
          <p:nvPr/>
        </p:nvPicPr>
        <p:blipFill>
          <a:blip xmlns:r="http://schemas.openxmlformats.org/officeDocument/2006/relationships" xmlns:a="http://schemas.openxmlformats.org/drawingml/2006/main" r:embed="R2d925777a5394a89"/>
          <a:srcRect xmlns:a="http://schemas.openxmlformats.org/drawingml/2006/main" l="-2083" t="0" r="-2083" b="0"/>
          <a:stretch xmlns:a="http://schemas.openxmlformats.org/drawingml/2006/main"/>
        </p:blipFill>
        <p:spPr>
          <a:xfrm xmlns:a="http://schemas.openxmlformats.org/drawingml/2006/main">
            <a:off x="761695" y="761695"/>
            <a:ext cx="16763695" cy="9144"/>
          </a:xfrm>
          <a:prstGeom xmlns:a="http://schemas.openxmlformats.org/drawingml/2006/main" prst="rect">
            <a:avLst/>
          </a:prstGeom>
        </p:spPr>
      </p:pic>
      <p:sp>
        <p:nvSpPr>
          <p:cNvPr id="4" name="Shape 0">
            <a:extLst xmlns:a="http://schemas.openxmlformats.org/drawingml/2006/main">
              <a:ext uri="{FF2B5EF4-FFF2-40B4-BE49-F238E27FC236}">
                <a16:creationId xmlns:a16="http://schemas.microsoft.com/office/drawing/2014/main" id="{D723EEC4-5770-4135-84BA-0567C867EB19}"/>
              </a:ext>
            </a:extLst>
          </p:cNvPr>
          <p:cNvSpPr>
            <a:spLocks xmlns:a="http://schemas.openxmlformats.org/drawingml/2006/main" noGrp="1"/>
          </p:cNvSpPr>
          <p:nvPr/>
        </p:nvSpPr>
        <p:spPr>
          <a:xfrm xmlns:a="http://schemas.openxmlformats.org/drawingml/2006/main">
            <a:off x="761695" y="2762402"/>
            <a:ext cx="10306202" cy="5829300"/>
          </a:xfrm>
          <a:prstGeom xmlns:a="http://schemas.openxmlformats.org/drawingml/2006/main" prst="roundRect">
            <a:avLst>
              <a:gd name="adj" fmla="val 329"/>
            </a:avLst>
          </a:prstGeom>
          <a:solidFill xmlns:a="http://schemas.openxmlformats.org/drawingml/2006/main">
            <a:srgbClr val="FFFFFF"/>
          </a:solidFill>
          <a:ln xmlns:a="http://schemas.openxmlformats.org/drawingml/2006/main" w="12700">
            <a:solidFill>
              <a:srgbClr val="E4E5EF"/>
            </a:solidFill>
            <a:prstDash val="solid"/>
          </a:ln>
        </p:spPr>
      </p:sp>
      <p:sp>
        <p:nvSpPr>
          <p:cNvPr id="5" name="Shape 1">
            <a:extLst xmlns:a="http://schemas.openxmlformats.org/drawingml/2006/main">
              <a:ext uri="{FF2B5EF4-FFF2-40B4-BE49-F238E27FC236}">
                <a16:creationId xmlns:a16="http://schemas.microsoft.com/office/drawing/2014/main" id="{FFD75390-7E1D-4B12-BF16-FDC3D7AB32F6}"/>
              </a:ext>
            </a:extLst>
          </p:cNvPr>
          <p:cNvSpPr>
            <a:spLocks xmlns:a="http://schemas.openxmlformats.org/drawingml/2006/main" noGrp="1"/>
          </p:cNvSpPr>
          <p:nvPr/>
        </p:nvSpPr>
        <p:spPr>
          <a:xfrm xmlns:a="http://schemas.openxmlformats.org/drawingml/2006/main">
            <a:off x="761695" y="8620049"/>
            <a:ext cx="10306202" cy="685800"/>
          </a:xfrm>
          <a:prstGeom xmlns:a="http://schemas.openxmlformats.org/drawingml/2006/main" prst="roundRect">
            <a:avLst>
              <a:gd name="adj" fmla="val 2800"/>
            </a:avLst>
          </a:prstGeom>
          <a:solidFill xmlns:a="http://schemas.openxmlformats.org/drawingml/2006/main">
            <a:srgbClr val="FFF3E9"/>
          </a:solidFill>
          <a:ln xmlns:a="http://schemas.openxmlformats.org/drawingml/2006/main" w="12700">
            <a:solidFill>
              <a:srgbClr val="E8A93A"/>
            </a:solidFill>
            <a:prstDash val="solid"/>
          </a:ln>
        </p:spPr>
      </p:sp>
      <p:sp>
        <p:nvSpPr>
          <p:cNvPr id="6" name="Shape 2">
            <a:extLst xmlns:a="http://schemas.openxmlformats.org/drawingml/2006/main">
              <a:ext uri="{FF2B5EF4-FFF2-40B4-BE49-F238E27FC236}">
                <a16:creationId xmlns:a16="http://schemas.microsoft.com/office/drawing/2014/main" id="{1E969E70-7A0B-47FD-A3F5-966AA1B92274}"/>
              </a:ext>
            </a:extLst>
          </p:cNvPr>
          <p:cNvSpPr>
            <a:spLocks xmlns:a="http://schemas.openxmlformats.org/drawingml/2006/main" noGrp="1"/>
          </p:cNvSpPr>
          <p:nvPr/>
        </p:nvSpPr>
        <p:spPr>
          <a:xfrm xmlns:a="http://schemas.openxmlformats.org/drawingml/2006/main">
            <a:off x="11334902" y="2762402"/>
            <a:ext cx="6258154" cy="2876702"/>
          </a:xfrm>
          <a:prstGeom xmlns:a="http://schemas.openxmlformats.org/drawingml/2006/main" prst="roundRect">
            <a:avLst>
              <a:gd name="adj" fmla="val 668"/>
            </a:avLst>
          </a:prstGeom>
          <a:solidFill xmlns:a="http://schemas.openxmlformats.org/drawingml/2006/main">
            <a:srgbClr val="FFFFFF"/>
          </a:solidFill>
          <a:ln xmlns:a="http://schemas.openxmlformats.org/drawingml/2006/main" w="12700">
            <a:solidFill>
              <a:srgbClr val="E4E5EF"/>
            </a:solidFill>
            <a:prstDash val="solid"/>
          </a:ln>
        </p:spPr>
      </p:sp>
      <p:sp>
        <p:nvSpPr>
          <p:cNvPr id="7" name="Shape 3">
            <a:extLst xmlns:a="http://schemas.openxmlformats.org/drawingml/2006/main">
              <a:ext uri="{FF2B5EF4-FFF2-40B4-BE49-F238E27FC236}">
                <a16:creationId xmlns:a16="http://schemas.microsoft.com/office/drawing/2014/main" id="{9A6EFF84-F5F9-4498-AAE2-7D06969B40AA}"/>
              </a:ext>
            </a:extLst>
          </p:cNvPr>
          <p:cNvSpPr>
            <a:spLocks xmlns:a="http://schemas.openxmlformats.org/drawingml/2006/main" noGrp="1"/>
          </p:cNvSpPr>
          <p:nvPr/>
        </p:nvSpPr>
        <p:spPr>
          <a:xfrm xmlns:a="http://schemas.openxmlformats.org/drawingml/2006/main">
            <a:off x="11334902" y="2762402"/>
            <a:ext cx="57607" cy="2876702"/>
          </a:xfrm>
          <a:prstGeom xmlns:a="http://schemas.openxmlformats.org/drawingml/2006/main" prst="roundRect">
            <a:avLst>
              <a:gd name="adj" fmla="val 33333"/>
            </a:avLst>
          </a:prstGeom>
          <a:solidFill xmlns:a="http://schemas.openxmlformats.org/drawingml/2006/main">
            <a:srgbClr val="2A2E7A"/>
          </a:solidFill>
          <a:ln xmlns:a="http://schemas.openxmlformats.org/drawingml/2006/main" w="12700">
            <a:solidFill>
              <a:srgbClr val="2A2E7A">
                <a:alpha val="0"/>
              </a:srgbClr>
            </a:solidFill>
            <a:prstDash val="solid"/>
          </a:ln>
        </p:spPr>
      </p:sp>
      <p:sp>
        <p:nvSpPr>
          <p:cNvPr id="8" name="Shape 4">
            <a:extLst xmlns:a="http://schemas.openxmlformats.org/drawingml/2006/main">
              <a:ext uri="{FF2B5EF4-FFF2-40B4-BE49-F238E27FC236}">
                <a16:creationId xmlns:a16="http://schemas.microsoft.com/office/drawing/2014/main" id="{AD5BA3E0-267F-4E9F-8FF5-33AD71A2FB9F}"/>
              </a:ext>
            </a:extLst>
          </p:cNvPr>
          <p:cNvSpPr>
            <a:spLocks xmlns:a="http://schemas.openxmlformats.org/drawingml/2006/main" noGrp="1"/>
          </p:cNvSpPr>
          <p:nvPr/>
        </p:nvSpPr>
        <p:spPr>
          <a:xfrm xmlns:a="http://schemas.openxmlformats.org/drawingml/2006/main">
            <a:off x="11334902" y="5857646"/>
            <a:ext cx="6258154" cy="2781605"/>
          </a:xfrm>
          <a:prstGeom xmlns:a="http://schemas.openxmlformats.org/drawingml/2006/main" prst="roundRect">
            <a:avLst>
              <a:gd name="adj" fmla="val 690"/>
            </a:avLst>
          </a:prstGeom>
          <a:solidFill xmlns:a="http://schemas.openxmlformats.org/drawingml/2006/main">
            <a:srgbClr val="FFFFFF"/>
          </a:solidFill>
          <a:ln xmlns:a="http://schemas.openxmlformats.org/drawingml/2006/main" w="12700">
            <a:solidFill>
              <a:srgbClr val="E4E5EF"/>
            </a:solidFill>
            <a:prstDash val="solid"/>
          </a:ln>
        </p:spPr>
      </p:sp>
      <p:sp>
        <p:nvSpPr>
          <p:cNvPr id="9" name="Shape 5">
            <a:extLst xmlns:a="http://schemas.openxmlformats.org/drawingml/2006/main">
              <a:ext uri="{FF2B5EF4-FFF2-40B4-BE49-F238E27FC236}">
                <a16:creationId xmlns:a16="http://schemas.microsoft.com/office/drawing/2014/main" id="{381DCD59-9029-44F7-A4F1-D886505A703D}"/>
              </a:ext>
            </a:extLst>
          </p:cNvPr>
          <p:cNvSpPr>
            <a:spLocks xmlns:a="http://schemas.openxmlformats.org/drawingml/2006/main" noGrp="1"/>
          </p:cNvSpPr>
          <p:nvPr/>
        </p:nvSpPr>
        <p:spPr>
          <a:xfrm xmlns:a="http://schemas.openxmlformats.org/drawingml/2006/main">
            <a:off x="11334902" y="5857646"/>
            <a:ext cx="57607" cy="2781605"/>
          </a:xfrm>
          <a:prstGeom xmlns:a="http://schemas.openxmlformats.org/drawingml/2006/main" prst="roundRect">
            <a:avLst>
              <a:gd name="adj" fmla="val 33333"/>
            </a:avLst>
          </a:prstGeom>
          <a:solidFill xmlns:a="http://schemas.openxmlformats.org/drawingml/2006/main">
            <a:srgbClr val="E4237A"/>
          </a:solidFill>
          <a:ln xmlns:a="http://schemas.openxmlformats.org/drawingml/2006/main" w="12700">
            <a:solidFill>
              <a:srgbClr val="E4237A">
                <a:alpha val="0"/>
              </a:srgbClr>
            </a:solidFill>
            <a:prstDash val="solid"/>
          </a:ln>
        </p:spPr>
      </p:sp>
      <p:sp>
        <p:nvSpPr>
          <p:cNvPr id="10" name="Shape 6">
            <a:extLst xmlns:a="http://schemas.openxmlformats.org/drawingml/2006/main">
              <a:ext uri="{FF2B5EF4-FFF2-40B4-BE49-F238E27FC236}">
                <a16:creationId xmlns:a16="http://schemas.microsoft.com/office/drawing/2014/main" id="{A155A971-D640-47ED-8932-1A0087726281}"/>
              </a:ext>
            </a:extLst>
          </p:cNvPr>
          <p:cNvSpPr>
            <a:spLocks xmlns:a="http://schemas.openxmlformats.org/drawingml/2006/main" noGrp="1"/>
          </p:cNvSpPr>
          <p:nvPr/>
        </p:nvSpPr>
        <p:spPr>
          <a:xfrm xmlns:a="http://schemas.openxmlformats.org/drawingml/2006/main">
            <a:off x="11334902" y="8810244"/>
            <a:ext cx="6191402" cy="476402"/>
          </a:xfrm>
          <a:prstGeom xmlns:a="http://schemas.openxmlformats.org/drawingml/2006/main" prst="roundRect">
            <a:avLst>
              <a:gd name="adj" fmla="val 4031"/>
            </a:avLst>
          </a:prstGeom>
          <a:solidFill xmlns:a="http://schemas.openxmlformats.org/drawingml/2006/main">
            <a:srgbClr val="1A1D5C"/>
          </a:solidFill>
          <a:ln xmlns:a="http://schemas.openxmlformats.org/drawingml/2006/main" w="12700">
            <a:solidFill>
              <a:srgbClr val="FFFFFF">
                <a:alpha val="0"/>
              </a:srgbClr>
            </a:solidFill>
            <a:prstDash val="solid"/>
          </a:ln>
        </p:spPr>
      </p:sp>
      <p:sp>
        <p:nvSpPr>
          <p:cNvPr id="12" name="Text 7">
            <a:extLst xmlns:a="http://schemas.openxmlformats.org/drawingml/2006/main">
              <a:ext uri="{FF2B5EF4-FFF2-40B4-BE49-F238E27FC236}">
                <a16:creationId xmlns:a16="http://schemas.microsoft.com/office/drawing/2014/main" id="{4BD9C669-8C9E-44F7-8B16-304B023AC414}"/>
              </a:ext>
            </a:extLst>
          </p:cNvPr>
          <p:cNvSpPr>
            <a:spLocks xmlns:a="http://schemas.openxmlformats.org/drawingml/2006/main" noGrp="1"/>
          </p:cNvSpPr>
          <p:nvPr/>
        </p:nvSpPr>
        <p:spPr>
          <a:xfrm xmlns:a="http://schemas.openxmlformats.org/drawingml/2006/main">
            <a:off x="761695" y="428854"/>
            <a:ext cx="8572500" cy="152705"/>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000">
                <a:solidFill>
                  <a:srgbClr val="6A6F8C"/>
                </a:solidFill>
                <a:latin typeface="JetBrains Mono"/>
                <a:ea typeface="JetBrains Mono"/>
                <a:cs typeface="JetBrains Mono"/>
              </a:rPr>
              <a:t>§ 05 | Results | dynamic SHAP</a:t>
            </a:r>
          </a:p>
        </p:txBody>
      </p:sp>
      <p:sp>
        <p:nvSpPr>
          <p:cNvPr id="13" name="Text 8">
            <a:extLst xmlns:a="http://schemas.openxmlformats.org/drawingml/2006/main">
              <a:ext uri="{FF2B5EF4-FFF2-40B4-BE49-F238E27FC236}">
                <a16:creationId xmlns:a16="http://schemas.microsoft.com/office/drawing/2014/main" id="{C911BA9B-D172-460E-8630-AA742FC7934C}"/>
              </a:ext>
            </a:extLst>
          </p:cNvPr>
          <p:cNvSpPr>
            <a:spLocks xmlns:a="http://schemas.openxmlformats.org/drawingml/2006/main" noGrp="1"/>
          </p:cNvSpPr>
          <p:nvPr/>
        </p:nvSpPr>
        <p:spPr>
          <a:xfrm xmlns:a="http://schemas.openxmlformats.org/drawingml/2006/main">
            <a:off x="15240305" y="428854"/>
            <a:ext cx="2286000" cy="152705"/>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r">
              <a:buNone/>
            </a:pPr>
            <a:r>
              <a:rPr sz="1000">
                <a:solidFill>
                  <a:srgbClr val="6A6F8C"/>
                </a:solidFill>
                <a:latin typeface="JetBrains Mono"/>
                <a:ea typeface="JetBrains Mono"/>
                <a:cs typeface="JetBrains Mono"/>
              </a:rPr>
              <a:t>12 / 20</a:t>
            </a:r>
          </a:p>
        </p:txBody>
      </p:sp>
      <p:sp>
        <p:nvSpPr>
          <p:cNvPr id="14" name="Text 9">
            <a:extLst xmlns:a="http://schemas.openxmlformats.org/drawingml/2006/main">
              <a:ext uri="{FF2B5EF4-FFF2-40B4-BE49-F238E27FC236}">
                <a16:creationId xmlns:a16="http://schemas.microsoft.com/office/drawing/2014/main" id="{21FBFE76-36C1-4977-B470-B7B50D251CC7}"/>
              </a:ext>
            </a:extLst>
          </p:cNvPr>
          <p:cNvSpPr>
            <a:spLocks xmlns:a="http://schemas.openxmlformats.org/drawingml/2006/main" noGrp="1"/>
          </p:cNvSpPr>
          <p:nvPr/>
        </p:nvSpPr>
        <p:spPr>
          <a:xfrm xmlns:a="http://schemas.openxmlformats.org/drawingml/2006/main">
            <a:off x="761695" y="1238098"/>
            <a:ext cx="16764610" cy="486461"/>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3600" b="1">
                <a:solidFill>
                  <a:srgbClr val="0F1226"/>
                </a:solidFill>
                <a:latin typeface="Inter"/>
                <a:ea typeface="Inter"/>
                <a:cs typeface="Inter"/>
              </a:rPr>
              <a:t>The same model changes as assessment and activity data arrive.</a:t>
            </a:r>
          </a:p>
        </p:txBody>
      </p:sp>
      <p:sp>
        <p:nvSpPr>
          <p:cNvPr id="15" name="Text 10">
            <a:extLst xmlns:a="http://schemas.openxmlformats.org/drawingml/2006/main">
              <a:ext uri="{FF2B5EF4-FFF2-40B4-BE49-F238E27FC236}">
                <a16:creationId xmlns:a16="http://schemas.microsoft.com/office/drawing/2014/main" id="{842F9B83-4B08-40E4-9C61-40C38F42E6AF}"/>
              </a:ext>
            </a:extLst>
          </p:cNvPr>
          <p:cNvSpPr>
            <a:spLocks xmlns:a="http://schemas.openxmlformats.org/drawingml/2006/main" noGrp="1"/>
          </p:cNvSpPr>
          <p:nvPr/>
        </p:nvSpPr>
        <p:spPr>
          <a:xfrm xmlns:a="http://schemas.openxmlformats.org/drawingml/2006/main">
            <a:off x="761695" y="1813255"/>
            <a:ext cx="16764610" cy="21031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500" i="1">
                <a:solidFill>
                  <a:srgbClr val="6A6F8C"/>
                </a:solidFill>
                <a:latin typeface="Source Serif Pro"/>
                <a:ea typeface="Source Serif Pro"/>
                <a:cs typeface="Source Serif Pro"/>
              </a:rPr>
              <a:t>Mean absolute SHAP by held-out context; model behaviour, not causality.</a:t>
            </a:r>
          </a:p>
        </p:txBody>
      </p:sp>
      <p:sp>
        <p:nvSpPr>
          <p:cNvPr id="16" name="Text 11">
            <a:extLst xmlns:a="http://schemas.openxmlformats.org/drawingml/2006/main">
              <a:ext uri="{FF2B5EF4-FFF2-40B4-BE49-F238E27FC236}">
                <a16:creationId xmlns:a16="http://schemas.microsoft.com/office/drawing/2014/main" id="{2929EFD0-7344-49E2-A3DF-FF1D2982A75F}"/>
              </a:ext>
            </a:extLst>
          </p:cNvPr>
          <p:cNvSpPr>
            <a:spLocks xmlns:a="http://schemas.openxmlformats.org/drawingml/2006/main" noGrp="1"/>
          </p:cNvSpPr>
          <p:nvPr/>
        </p:nvSpPr>
        <p:spPr>
          <a:xfrm xmlns:a="http://schemas.openxmlformats.org/drawingml/2006/main">
            <a:off x="1047902" y="2952598"/>
            <a:ext cx="9715500" cy="124358"/>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800">
                <a:solidFill>
                  <a:srgbClr val="E4237A"/>
                </a:solidFill>
                <a:latin typeface="JetBrains Mono"/>
                <a:ea typeface="JetBrains Mono"/>
                <a:cs typeface="JetBrains Mono"/>
              </a:rPr>
              <a:t>FIG | Dynamic SHAP across UCI enrolment and OULAD snapshots</a:t>
            </a:r>
          </a:p>
        </p:txBody>
      </p:sp>
      <p:sp>
        <p:nvSpPr>
          <p:cNvPr id="17" name="Text 12">
            <a:extLst xmlns:a="http://schemas.openxmlformats.org/drawingml/2006/main">
              <a:ext uri="{FF2B5EF4-FFF2-40B4-BE49-F238E27FC236}">
                <a16:creationId xmlns:a16="http://schemas.microsoft.com/office/drawing/2014/main" id="{97520D9F-00E8-493E-BB7B-358705555937}"/>
              </a:ext>
            </a:extLst>
          </p:cNvPr>
          <p:cNvSpPr>
            <a:spLocks xmlns:a="http://schemas.openxmlformats.org/drawingml/2006/main" noGrp="1"/>
          </p:cNvSpPr>
          <p:nvPr/>
        </p:nvSpPr>
        <p:spPr>
          <a:xfrm xmlns:a="http://schemas.openxmlformats.org/drawingml/2006/main">
            <a:off x="1047902" y="3114446"/>
            <a:ext cx="9715500" cy="191110"/>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200">
                <a:solidFill>
                  <a:srgbClr val="2A2E4B"/>
                </a:solidFill>
                <a:latin typeface="Inter"/>
                <a:ea typeface="Inter"/>
                <a:cs typeface="Inter"/>
              </a:rPr>
              <a:t>One pooled model | five contexts | same 16-column order</a:t>
            </a:r>
          </a:p>
        </p:txBody>
      </p:sp>
      <p:sp>
        <p:nvSpPr>
          <p:cNvPr id="18" name="Text 13">
            <a:extLst xmlns:a="http://schemas.openxmlformats.org/drawingml/2006/main">
              <a:ext uri="{FF2B5EF4-FFF2-40B4-BE49-F238E27FC236}">
                <a16:creationId xmlns:a16="http://schemas.microsoft.com/office/drawing/2014/main" id="{349D8ECE-0C1E-4CE5-86DA-8997BDF82CC4}"/>
              </a:ext>
            </a:extLst>
          </p:cNvPr>
          <p:cNvSpPr>
            <a:spLocks xmlns:a="http://schemas.openxmlformats.org/drawingml/2006/main" noGrp="1"/>
          </p:cNvSpPr>
          <p:nvPr/>
        </p:nvSpPr>
        <p:spPr>
          <a:xfrm xmlns:a="http://schemas.openxmlformats.org/drawingml/2006/main">
            <a:off x="952805" y="8696858"/>
            <a:ext cx="9906610" cy="761695"/>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p xmlns:a="http://schemas.openxmlformats.org/drawingml/2006/main">
            <a:pPr marL="0" indent="0" algn="l">
              <a:lnSpc>
                <a:spcPts val="1463"/>
              </a:lnSpc>
              <a:buNone/>
              <a:defRPr sz="1200">
                <a:solidFill>
                  <a:srgbClr val="2A2E4B"/>
                </a:solidFill>
                <a:latin typeface="JetBrains Mono"/>
                <a:ea typeface="JetBrains Mono"/>
                <a:cs typeface="JetBrains Mono"/>
              </a:defRPr>
            </a:pPr>
            <a:r>
              <a:rPr sz="1200">
                <a:solidFill>
                  <a:srgbClr val="2A2E4B"/>
                </a:solidFill>
                <a:latin typeface="JetBrains Mono"/>
                <a:ea typeface="JetBrains Mono"/>
                <a:cs typeface="JetBrains Mono"/>
              </a:rPr>
              <a:t>Course progress shifts the shared time baseline; within one day it cannot rank students by itself.</a:t>
            </a:r>
          </a:p>
        </p:txBody>
      </p:sp>
      <p:sp>
        <p:nvSpPr>
          <p:cNvPr id="19" name="Text 14">
            <a:extLst xmlns:a="http://schemas.openxmlformats.org/drawingml/2006/main">
              <a:ext uri="{FF2B5EF4-FFF2-40B4-BE49-F238E27FC236}">
                <a16:creationId xmlns:a16="http://schemas.microsoft.com/office/drawing/2014/main" id="{39BC3598-02B6-4DA0-A8AC-7A96A8ED62E3}"/>
              </a:ext>
            </a:extLst>
          </p:cNvPr>
          <p:cNvSpPr>
            <a:spLocks xmlns:a="http://schemas.openxmlformats.org/drawingml/2006/main" noGrp="1"/>
          </p:cNvSpPr>
          <p:nvPr/>
        </p:nvSpPr>
        <p:spPr>
          <a:xfrm xmlns:a="http://schemas.openxmlformats.org/drawingml/2006/main">
            <a:off x="11620195" y="3000146"/>
            <a:ext cx="5619902" cy="1335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2A2E7A"/>
                </a:solidFill>
                <a:latin typeface="JetBrains Mono"/>
                <a:ea typeface="JetBrains Mono"/>
                <a:cs typeface="JetBrains Mono"/>
              </a:rPr>
              <a:t>ENTRY CONTEXTS</a:t>
            </a:r>
          </a:p>
        </p:txBody>
      </p:sp>
      <p:sp>
        <p:nvSpPr>
          <p:cNvPr id="20" name="Text 15">
            <a:extLst xmlns:a="http://schemas.openxmlformats.org/drawingml/2006/main">
              <a:ext uri="{FF2B5EF4-FFF2-40B4-BE49-F238E27FC236}">
                <a16:creationId xmlns:a16="http://schemas.microsoft.com/office/drawing/2014/main" id="{CCC05359-66AE-4A4B-973C-92382C9BE176}"/>
              </a:ext>
            </a:extLst>
          </p:cNvPr>
          <p:cNvSpPr>
            <a:spLocks xmlns:a="http://schemas.openxmlformats.org/drawingml/2006/main" noGrp="1"/>
          </p:cNvSpPr>
          <p:nvPr/>
        </p:nvSpPr>
        <p:spPr>
          <a:xfrm xmlns:a="http://schemas.openxmlformats.org/drawingml/2006/main">
            <a:off x="11620195" y="3228746"/>
            <a:ext cx="5619902" cy="2478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500" b="1">
                <a:solidFill>
                  <a:srgbClr val="0F1226"/>
                </a:solidFill>
                <a:latin typeface="Inter"/>
                <a:ea typeface="Inter"/>
                <a:cs typeface="Inter"/>
              </a:rPr>
              <a:t>Background fields lead before events arrive</a:t>
            </a:r>
          </a:p>
        </p:txBody>
      </p:sp>
      <p:sp>
        <p:nvSpPr>
          <p:cNvPr id="21" name="Text 16">
            <a:extLst xmlns:a="http://schemas.openxmlformats.org/drawingml/2006/main">
              <a:ext uri="{FF2B5EF4-FFF2-40B4-BE49-F238E27FC236}">
                <a16:creationId xmlns:a16="http://schemas.microsoft.com/office/drawing/2014/main" id="{E3870CA3-5174-4303-894A-09950E2A83E6}"/>
              </a:ext>
            </a:extLst>
          </p:cNvPr>
          <p:cNvSpPr>
            <a:spLocks xmlns:a="http://schemas.openxmlformats.org/drawingml/2006/main" noGrp="1"/>
          </p:cNvSpPr>
          <p:nvPr/>
        </p:nvSpPr>
        <p:spPr>
          <a:xfrm xmlns:a="http://schemas.openxmlformats.org/drawingml/2006/main">
            <a:off x="11620195" y="3590849"/>
            <a:ext cx="5619902" cy="257861"/>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100">
                <a:solidFill>
                  <a:srgbClr val="2A2E4B"/>
                </a:solidFill>
                <a:latin typeface="JetBrains Mono"/>
                <a:ea typeface="JetBrains Mono"/>
                <a:cs typeface="JetBrains Mono"/>
              </a:rPr>
              <a:t>UCI: financial stability and age</a:t>
            </a:r>
          </a:p>
        </p:txBody>
      </p:sp>
      <p:sp>
        <p:nvSpPr>
          <p:cNvPr id="22" name="Text 17">
            <a:extLst xmlns:a="http://schemas.openxmlformats.org/drawingml/2006/main">
              <a:ext uri="{FF2B5EF4-FFF2-40B4-BE49-F238E27FC236}">
                <a16:creationId xmlns:a16="http://schemas.microsoft.com/office/drawing/2014/main" id="{74645DDE-668A-4E09-959A-9CE1CA5B40D4}"/>
              </a:ext>
            </a:extLst>
          </p:cNvPr>
          <p:cNvSpPr>
            <a:spLocks xmlns:a="http://schemas.openxmlformats.org/drawingml/2006/main" noGrp="1"/>
          </p:cNvSpPr>
          <p:nvPr/>
        </p:nvSpPr>
        <p:spPr>
          <a:xfrm xmlns:a="http://schemas.openxmlformats.org/drawingml/2006/main">
            <a:off x="11620195" y="3841394"/>
            <a:ext cx="5619902" cy="257861"/>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100">
                <a:solidFill>
                  <a:srgbClr val="2A2E4B"/>
                </a:solidFill>
                <a:latin typeface="JetBrains Mono"/>
                <a:ea typeface="JetBrains Mono"/>
                <a:cs typeface="JetBrains Mono"/>
              </a:rPr>
              <a:t>OULAD: age and financial stability</a:t>
            </a:r>
          </a:p>
        </p:txBody>
      </p:sp>
      <p:sp>
        <p:nvSpPr>
          <p:cNvPr id="23" name="Text 18">
            <a:extLst xmlns:a="http://schemas.openxmlformats.org/drawingml/2006/main">
              <a:ext uri="{FF2B5EF4-FFF2-40B4-BE49-F238E27FC236}">
                <a16:creationId xmlns:a16="http://schemas.microsoft.com/office/drawing/2014/main" id="{D08BF68D-9652-416E-A539-7CE5D3B0F222}"/>
              </a:ext>
            </a:extLst>
          </p:cNvPr>
          <p:cNvSpPr>
            <a:spLocks xmlns:a="http://schemas.openxmlformats.org/drawingml/2006/main" noGrp="1"/>
          </p:cNvSpPr>
          <p:nvPr/>
        </p:nvSpPr>
        <p:spPr>
          <a:xfrm xmlns:a="http://schemas.openxmlformats.org/drawingml/2006/main">
            <a:off x="11620195" y="4091026"/>
            <a:ext cx="5619902" cy="257861"/>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100">
                <a:solidFill>
                  <a:srgbClr val="2A2E4B"/>
                </a:solidFill>
                <a:latin typeface="JetBrains Mono"/>
                <a:ea typeface="JetBrains Mono"/>
                <a:cs typeface="JetBrains Mono"/>
              </a:rPr>
              <a:t>Optional event groups remain blank</a:t>
            </a:r>
          </a:p>
        </p:txBody>
      </p:sp>
      <p:sp>
        <p:nvSpPr>
          <p:cNvPr id="24" name="Text 19">
            <a:extLst xmlns:a="http://schemas.openxmlformats.org/drawingml/2006/main">
              <a:ext uri="{FF2B5EF4-FFF2-40B4-BE49-F238E27FC236}">
                <a16:creationId xmlns:a16="http://schemas.microsoft.com/office/drawing/2014/main" id="{26B58459-2D65-4CA0-A853-4AF12A62E34E}"/>
              </a:ext>
            </a:extLst>
          </p:cNvPr>
          <p:cNvSpPr>
            <a:spLocks xmlns:a="http://schemas.openxmlformats.org/drawingml/2006/main" noGrp="1"/>
          </p:cNvSpPr>
          <p:nvPr/>
        </p:nvSpPr>
        <p:spPr>
          <a:xfrm xmlns:a="http://schemas.openxmlformats.org/drawingml/2006/main">
            <a:off x="11620195" y="4340657"/>
            <a:ext cx="5619902" cy="257861"/>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100">
                <a:solidFill>
                  <a:srgbClr val="2A2E4B"/>
                </a:solidFill>
                <a:latin typeface="JetBrains Mono"/>
                <a:ea typeface="JetBrains Mono"/>
                <a:cs typeface="JetBrains Mono"/>
              </a:rPr>
              <a:t>No causal interpretation</a:t>
            </a:r>
          </a:p>
        </p:txBody>
      </p:sp>
      <p:sp>
        <p:nvSpPr>
          <p:cNvPr id="25" name="Text 20">
            <a:extLst xmlns:a="http://schemas.openxmlformats.org/drawingml/2006/main">
              <a:ext uri="{FF2B5EF4-FFF2-40B4-BE49-F238E27FC236}">
                <a16:creationId xmlns:a16="http://schemas.microsoft.com/office/drawing/2014/main" id="{3223A691-8A32-4320-8DC7-F18C180465DD}"/>
              </a:ext>
            </a:extLst>
          </p:cNvPr>
          <p:cNvSpPr>
            <a:spLocks xmlns:a="http://schemas.openxmlformats.org/drawingml/2006/main" noGrp="1"/>
          </p:cNvSpPr>
          <p:nvPr/>
        </p:nvSpPr>
        <p:spPr>
          <a:xfrm xmlns:a="http://schemas.openxmlformats.org/drawingml/2006/main">
            <a:off x="11620195" y="6096305"/>
            <a:ext cx="5619902" cy="1335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E4237A"/>
                </a:solidFill>
                <a:latin typeface="JetBrains Mono"/>
                <a:ea typeface="JetBrains Mono"/>
                <a:cs typeface="JetBrains Mono"/>
              </a:rPr>
              <a:t>DAY 35+</a:t>
            </a:r>
          </a:p>
        </p:txBody>
      </p:sp>
      <p:sp>
        <p:nvSpPr>
          <p:cNvPr id="26" name="Text 21">
            <a:extLst xmlns:a="http://schemas.openxmlformats.org/drawingml/2006/main">
              <a:ext uri="{FF2B5EF4-FFF2-40B4-BE49-F238E27FC236}">
                <a16:creationId xmlns:a16="http://schemas.microsoft.com/office/drawing/2014/main" id="{83692A5C-11AD-41BE-838F-3F2CAEC059FD}"/>
              </a:ext>
            </a:extLst>
          </p:cNvPr>
          <p:cNvSpPr>
            <a:spLocks xmlns:a="http://schemas.openxmlformats.org/drawingml/2006/main" noGrp="1"/>
          </p:cNvSpPr>
          <p:nvPr/>
        </p:nvSpPr>
        <p:spPr>
          <a:xfrm xmlns:a="http://schemas.openxmlformats.org/drawingml/2006/main">
            <a:off x="11620195" y="6324905"/>
            <a:ext cx="5902452" cy="2478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500" b="1">
                <a:solidFill>
                  <a:srgbClr val="0F1226"/>
                </a:solidFill>
                <a:latin typeface="Inter"/>
                <a:ea typeface="Inter"/>
                <a:cs typeface="Inter"/>
              </a:rPr>
              <a:t>Assessment average becomes visible</a:t>
            </a:r>
          </a:p>
        </p:txBody>
      </p:sp>
      <p:sp>
        <p:nvSpPr>
          <p:cNvPr id="27" name="Text 22">
            <a:extLst xmlns:a="http://schemas.openxmlformats.org/drawingml/2006/main">
              <a:ext uri="{FF2B5EF4-FFF2-40B4-BE49-F238E27FC236}">
                <a16:creationId xmlns:a16="http://schemas.microsoft.com/office/drawing/2014/main" id="{2E053452-28E3-43EA-B80E-D3B030837B7B}"/>
              </a:ext>
            </a:extLst>
          </p:cNvPr>
          <p:cNvSpPr>
            <a:spLocks xmlns:a="http://schemas.openxmlformats.org/drawingml/2006/main" noGrp="1"/>
          </p:cNvSpPr>
          <p:nvPr/>
        </p:nvSpPr>
        <p:spPr>
          <a:xfrm xmlns:a="http://schemas.openxmlformats.org/drawingml/2006/main">
            <a:off x="11620195" y="6687007"/>
            <a:ext cx="5619902" cy="257861"/>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100">
                <a:solidFill>
                  <a:srgbClr val="2A2E4B"/>
                </a:solidFill>
                <a:latin typeface="JetBrains Mono"/>
                <a:ea typeface="JetBrains Mono"/>
                <a:cs typeface="JetBrains Mono"/>
              </a:rPr>
              <a:t>Assessment score contributes</a:t>
            </a:r>
          </a:p>
        </p:txBody>
      </p:sp>
      <p:sp>
        <p:nvSpPr>
          <p:cNvPr id="28" name="Text 23">
            <a:extLst xmlns:a="http://schemas.openxmlformats.org/drawingml/2006/main">
              <a:ext uri="{FF2B5EF4-FFF2-40B4-BE49-F238E27FC236}">
                <a16:creationId xmlns:a16="http://schemas.microsoft.com/office/drawing/2014/main" id="{E192F25D-DB30-499C-87B0-46E873688008}"/>
              </a:ext>
            </a:extLst>
          </p:cNvPr>
          <p:cNvSpPr>
            <a:spLocks xmlns:a="http://schemas.openxmlformats.org/drawingml/2006/main" noGrp="1"/>
          </p:cNvSpPr>
          <p:nvPr/>
        </p:nvSpPr>
        <p:spPr>
          <a:xfrm xmlns:a="http://schemas.openxmlformats.org/drawingml/2006/main">
            <a:off x="11620195" y="6936638"/>
            <a:ext cx="5619902" cy="257861"/>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100">
                <a:solidFill>
                  <a:srgbClr val="2A2E4B"/>
                </a:solidFill>
                <a:latin typeface="JetBrains Mono"/>
                <a:ea typeface="JetBrains Mono"/>
                <a:cs typeface="JetBrains Mono"/>
              </a:rPr>
              <a:t>Progress marks the course stage</a:t>
            </a:r>
          </a:p>
        </p:txBody>
      </p:sp>
      <p:sp>
        <p:nvSpPr>
          <p:cNvPr id="29" name="Text 24">
            <a:extLst xmlns:a="http://schemas.openxmlformats.org/drawingml/2006/main">
              <a:ext uri="{FF2B5EF4-FFF2-40B4-BE49-F238E27FC236}">
                <a16:creationId xmlns:a16="http://schemas.microsoft.com/office/drawing/2014/main" id="{99379DEF-318D-4D4F-AA82-D454A75EA978}"/>
              </a:ext>
            </a:extLst>
          </p:cNvPr>
          <p:cNvSpPr>
            <a:spLocks xmlns:a="http://schemas.openxmlformats.org/drawingml/2006/main" noGrp="1"/>
          </p:cNvSpPr>
          <p:nvPr/>
        </p:nvSpPr>
        <p:spPr>
          <a:xfrm xmlns:a="http://schemas.openxmlformats.org/drawingml/2006/main">
            <a:off x="11620195" y="7186270"/>
            <a:ext cx="5619902" cy="257861"/>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100">
                <a:solidFill>
                  <a:srgbClr val="2A2E4B"/>
                </a:solidFill>
                <a:latin typeface="JetBrains Mono"/>
                <a:ea typeface="JetBrains Mono"/>
                <a:cs typeface="JetBrains Mono"/>
              </a:rPr>
              <a:t>The same model changes by context</a:t>
            </a:r>
          </a:p>
        </p:txBody>
      </p:sp>
      <p:sp>
        <p:nvSpPr>
          <p:cNvPr id="30" name="Text 25">
            <a:extLst xmlns:a="http://schemas.openxmlformats.org/drawingml/2006/main">
              <a:ext uri="{FF2B5EF4-FFF2-40B4-BE49-F238E27FC236}">
                <a16:creationId xmlns:a16="http://schemas.microsoft.com/office/drawing/2014/main" id="{AB8A07A8-FEDE-43E6-9C97-3436A5C89386}"/>
              </a:ext>
            </a:extLst>
          </p:cNvPr>
          <p:cNvSpPr>
            <a:spLocks xmlns:a="http://schemas.openxmlformats.org/drawingml/2006/main" noGrp="1"/>
          </p:cNvSpPr>
          <p:nvPr/>
        </p:nvSpPr>
        <p:spPr>
          <a:xfrm xmlns:a="http://schemas.openxmlformats.org/drawingml/2006/main">
            <a:off x="11620195" y="7436815"/>
            <a:ext cx="5619902" cy="257861"/>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100">
                <a:solidFill>
                  <a:srgbClr val="2A2E4B"/>
                </a:solidFill>
                <a:latin typeface="JetBrains Mono"/>
                <a:ea typeface="JetBrains Mono"/>
                <a:cs typeface="JetBrains Mono"/>
              </a:rPr>
              <a:t>Local explanations remain necessary</a:t>
            </a:r>
          </a:p>
        </p:txBody>
      </p:sp>
      <p:sp>
        <p:nvSpPr>
          <p:cNvPr id="31" name="Text 26">
            <a:extLst xmlns:a="http://schemas.openxmlformats.org/drawingml/2006/main">
              <a:ext uri="{FF2B5EF4-FFF2-40B4-BE49-F238E27FC236}">
                <a16:creationId xmlns:a16="http://schemas.microsoft.com/office/drawing/2014/main" id="{ED37778E-6C2B-47A6-B490-926ED1C83DCB}"/>
              </a:ext>
            </a:extLst>
          </p:cNvPr>
          <p:cNvSpPr>
            <a:spLocks xmlns:a="http://schemas.openxmlformats.org/drawingml/2006/main" noGrp="1"/>
          </p:cNvSpPr>
          <p:nvPr/>
        </p:nvSpPr>
        <p:spPr>
          <a:xfrm xmlns:a="http://schemas.openxmlformats.org/drawingml/2006/main">
            <a:off x="11525098" y="8906256"/>
            <a:ext cx="5811012" cy="400507"/>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000">
                <a:solidFill>
                  <a:srgbClr val="FFFFFF">
                    <a:alpha val="92000"/>
                  </a:srgbClr>
                </a:solidFill>
                <a:latin typeface="JetBrains Mono"/>
                <a:ea typeface="JetBrains Mono"/>
                <a:cs typeface="JetBrains Mono"/>
              </a:rPr>
              <a:t>entry: background review | later: academic and engagement outreach</a:t>
            </a:r>
          </a:p>
        </p:txBody>
      </p:sp>
      <p:pic>
        <p:nvPicPr>
          <p:cNvPr id="62" name=""/>
          <p:cNvPicPr>
            <a:picLocks xmlns:a="http://schemas.openxmlformats.org/drawingml/2006/main" noChangeAspect="1"/>
          </p:cNvPicPr>
          <p:nvPr/>
        </p:nvPicPr>
        <p:blipFill>
          <a:blip xmlns:r="http://schemas.openxmlformats.org/officeDocument/2006/relationships" xmlns:a="http://schemas.openxmlformats.org/drawingml/2006/main" r:embed="Reb80655c8cd4434d"/>
          <a:stretch xmlns:a="http://schemas.openxmlformats.org/drawingml/2006/main"/>
        </p:blipFill>
        <p:spPr>
          <a:xfrm xmlns:a="http://schemas.openxmlformats.org/drawingml/2006/main" flipH="0" flipV="0">
            <a:off x="2030818" y="3381451"/>
            <a:ext cx="7749668" cy="5000854"/>
          </a:xfrm>
          <a:prstGeom xmlns:a="http://schemas.openxmlformats.org/drawingml/2006/main" prst="rect">
            <a:avLst/>
          </a:prstGeom>
        </p:spPr>
      </p:pic>
    </p:spTree>
    <p:extLst>
      <p:ext uri="{BB962C8B-B14F-4D97-AF65-F5344CB8AC3E}">
        <p14:creationId xmlns:p14="http://schemas.microsoft.com/office/powerpoint/2010/main" val="329534785"/>
      </p:ext>
    </p:extLst>
  </p:cSld>
</p:sld>
</file>

<file path=ppt/slides/slide13.xml><?xml version="1.0" encoding="utf-8"?>
<p:sld xmlns:p="http://schemas.openxmlformats.org/presentationml/2006/main">
  <p:cSld>
    <p:bg>
      <p:bgPr>
        <a:solidFill xmlns:a="http://schemas.openxmlformats.org/drawingml/2006/main">
          <a:srgbClr val="F7F7FB"/>
        </a:solidFill>
      </p:bgPr>
    </p:bg>
    <p:spTree>
      <p:nvGrpSpPr>
        <p:cNvPr id="1" name=""/>
        <p:cNvGrpSpPr/>
        <p:nvPr/>
      </p:nvGrpSpPr>
      <p:grpSpPr>
        <a:xfrm xmlns:a="http://schemas.openxmlformats.org/drawingml/2006/main"/>
      </p:grpSpPr>
      <p:pic>
        <p:nvPicPr>
          <p:cNvPr id="34" name="Image 0"/>
          <p:cNvPicPr>
            <a:picLocks xmlns:a="http://schemas.openxmlformats.org/drawingml/2006/main" noChangeAspect="1"/>
          </p:cNvPicPr>
          <p:nvPr/>
        </p:nvPicPr>
        <p:blipFill>
          <a:blip xmlns:r="http://schemas.openxmlformats.org/officeDocument/2006/relationships" xmlns:a="http://schemas.openxmlformats.org/drawingml/2006/main" r:embed="R72084ad58f2f466d"/>
          <a:srcRect xmlns:a="http://schemas.openxmlformats.org/drawingml/2006/main" l="-2083" t="0" r="-2083" b="0"/>
          <a:stretch xmlns:a="http://schemas.openxmlformats.org/drawingml/2006/main"/>
        </p:blipFill>
        <p:spPr>
          <a:xfrm xmlns:a="http://schemas.openxmlformats.org/drawingml/2006/main">
            <a:off x="761695" y="761695"/>
            <a:ext cx="16763695" cy="9144"/>
          </a:xfrm>
          <a:prstGeom xmlns:a="http://schemas.openxmlformats.org/drawingml/2006/main" prst="rect">
            <a:avLst/>
          </a:prstGeom>
        </p:spPr>
      </p:pic>
      <p:sp>
        <p:nvSpPr>
          <p:cNvPr id="4" name="Shape 0">
            <a:extLst xmlns:a="http://schemas.openxmlformats.org/drawingml/2006/main">
              <a:ext uri="{FF2B5EF4-FFF2-40B4-BE49-F238E27FC236}">
                <a16:creationId xmlns:a16="http://schemas.microsoft.com/office/drawing/2014/main" id="{E765BF6A-8E7F-422C-8671-67E607229149}"/>
              </a:ext>
            </a:extLst>
          </p:cNvPr>
          <p:cNvSpPr>
            <a:spLocks xmlns:a="http://schemas.openxmlformats.org/drawingml/2006/main" noGrp="1"/>
          </p:cNvSpPr>
          <p:nvPr/>
        </p:nvSpPr>
        <p:spPr>
          <a:xfrm xmlns:a="http://schemas.openxmlformats.org/drawingml/2006/main">
            <a:off x="761695" y="2667305"/>
            <a:ext cx="8781898" cy="4686300"/>
          </a:xfrm>
          <a:prstGeom xmlns:a="http://schemas.openxmlformats.org/drawingml/2006/main" prst="roundRect">
            <a:avLst>
              <a:gd name="adj" fmla="val 410"/>
            </a:avLst>
          </a:prstGeom>
          <a:solidFill xmlns:a="http://schemas.openxmlformats.org/drawingml/2006/main">
            <a:srgbClr val="FFFFFF"/>
          </a:solidFill>
          <a:ln xmlns:a="http://schemas.openxmlformats.org/drawingml/2006/main" w="12700">
            <a:solidFill>
              <a:srgbClr val="E4E5EF"/>
            </a:solidFill>
            <a:prstDash val="solid"/>
          </a:ln>
        </p:spPr>
      </p:sp>
      <p:sp>
        <p:nvSpPr>
          <p:cNvPr id="5" name="Shape 1">
            <a:extLst xmlns:a="http://schemas.openxmlformats.org/drawingml/2006/main">
              <a:ext uri="{FF2B5EF4-FFF2-40B4-BE49-F238E27FC236}">
                <a16:creationId xmlns:a16="http://schemas.microsoft.com/office/drawing/2014/main" id="{F305FF49-5467-4B3C-9801-F4FDD786EC53}"/>
              </a:ext>
            </a:extLst>
          </p:cNvPr>
          <p:cNvSpPr>
            <a:spLocks xmlns:a="http://schemas.openxmlformats.org/drawingml/2006/main" noGrp="1"/>
          </p:cNvSpPr>
          <p:nvPr/>
        </p:nvSpPr>
        <p:spPr>
          <a:xfrm xmlns:a="http://schemas.openxmlformats.org/drawingml/2006/main">
            <a:off x="761695" y="7524598"/>
            <a:ext cx="8781898" cy="1733702"/>
          </a:xfrm>
          <a:prstGeom xmlns:a="http://schemas.openxmlformats.org/drawingml/2006/main" prst="roundRect">
            <a:avLst>
              <a:gd name="adj" fmla="val 1108"/>
            </a:avLst>
          </a:prstGeom>
          <a:solidFill xmlns:a="http://schemas.openxmlformats.org/drawingml/2006/main">
            <a:srgbClr val="FFFFFF"/>
          </a:solidFill>
          <a:ln xmlns:a="http://schemas.openxmlformats.org/drawingml/2006/main" w="12700">
            <a:solidFill>
              <a:srgbClr val="E4E5EF"/>
            </a:solidFill>
            <a:prstDash val="solid"/>
          </a:ln>
        </p:spPr>
      </p:sp>
      <p:sp>
        <p:nvSpPr>
          <p:cNvPr id="6" name="Shape 2">
            <a:extLst xmlns:a="http://schemas.openxmlformats.org/drawingml/2006/main">
              <a:ext uri="{FF2B5EF4-FFF2-40B4-BE49-F238E27FC236}">
                <a16:creationId xmlns:a16="http://schemas.microsoft.com/office/drawing/2014/main" id="{DF735488-142D-4BA0-A318-534E777F391C}"/>
              </a:ext>
            </a:extLst>
          </p:cNvPr>
          <p:cNvSpPr>
            <a:spLocks xmlns:a="http://schemas.openxmlformats.org/drawingml/2006/main" noGrp="1"/>
          </p:cNvSpPr>
          <p:nvPr/>
        </p:nvSpPr>
        <p:spPr>
          <a:xfrm xmlns:a="http://schemas.openxmlformats.org/drawingml/2006/main">
            <a:off x="9715500" y="2667305"/>
            <a:ext cx="7830007" cy="4686300"/>
          </a:xfrm>
          <a:prstGeom xmlns:a="http://schemas.openxmlformats.org/drawingml/2006/main" prst="roundRect">
            <a:avLst>
              <a:gd name="adj" fmla="val 410"/>
            </a:avLst>
          </a:prstGeom>
          <a:solidFill xmlns:a="http://schemas.openxmlformats.org/drawingml/2006/main">
            <a:srgbClr val="FFFFFF"/>
          </a:solidFill>
          <a:ln xmlns:a="http://schemas.openxmlformats.org/drawingml/2006/main" w="12700">
            <a:solidFill>
              <a:srgbClr val="E4E5EF"/>
            </a:solidFill>
            <a:prstDash val="solid"/>
          </a:ln>
        </p:spPr>
      </p:sp>
      <p:sp>
        <p:nvSpPr>
          <p:cNvPr id="7" name="Shape 3">
            <a:extLst xmlns:a="http://schemas.openxmlformats.org/drawingml/2006/main">
              <a:ext uri="{FF2B5EF4-FFF2-40B4-BE49-F238E27FC236}">
                <a16:creationId xmlns:a16="http://schemas.microsoft.com/office/drawing/2014/main" id="{D772B700-7A05-42DD-A2EF-B408F299DCA0}"/>
              </a:ext>
            </a:extLst>
          </p:cNvPr>
          <p:cNvSpPr>
            <a:spLocks xmlns:a="http://schemas.openxmlformats.org/drawingml/2006/main" noGrp="1"/>
          </p:cNvSpPr>
          <p:nvPr/>
        </p:nvSpPr>
        <p:spPr>
          <a:xfrm xmlns:a="http://schemas.openxmlformats.org/drawingml/2006/main">
            <a:off x="9715500" y="7524598"/>
            <a:ext cx="7810805" cy="1714500"/>
          </a:xfrm>
          <a:prstGeom xmlns:a="http://schemas.openxmlformats.org/drawingml/2006/main" prst="roundRect">
            <a:avLst>
              <a:gd name="adj" fmla="val 1120"/>
            </a:avLst>
          </a:prstGeom>
          <a:solidFill xmlns:a="http://schemas.openxmlformats.org/drawingml/2006/main">
            <a:srgbClr val="1A1D5C"/>
          </a:solidFill>
          <a:ln xmlns:a="http://schemas.openxmlformats.org/drawingml/2006/main" w="12700">
            <a:solidFill>
              <a:srgbClr val="FFFFFF">
                <a:alpha val="0"/>
              </a:srgbClr>
            </a:solidFill>
            <a:prstDash val="solid"/>
          </a:ln>
        </p:spPr>
      </p:sp>
      <p:sp>
        <p:nvSpPr>
          <p:cNvPr id="10" name="Text 4">
            <a:extLst xmlns:a="http://schemas.openxmlformats.org/drawingml/2006/main">
              <a:ext uri="{FF2B5EF4-FFF2-40B4-BE49-F238E27FC236}">
                <a16:creationId xmlns:a16="http://schemas.microsoft.com/office/drawing/2014/main" id="{3CD5C839-E47F-4AC7-9D77-8BA3C9467092}"/>
              </a:ext>
            </a:extLst>
          </p:cNvPr>
          <p:cNvSpPr>
            <a:spLocks xmlns:a="http://schemas.openxmlformats.org/drawingml/2006/main" noGrp="1"/>
          </p:cNvSpPr>
          <p:nvPr/>
        </p:nvSpPr>
        <p:spPr>
          <a:xfrm xmlns:a="http://schemas.openxmlformats.org/drawingml/2006/main">
            <a:off x="761695" y="428854"/>
            <a:ext cx="8572500" cy="152705"/>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000">
                <a:solidFill>
                  <a:srgbClr val="6A6F8C"/>
                </a:solidFill>
                <a:latin typeface="JetBrains Mono"/>
                <a:ea typeface="JetBrains Mono"/>
                <a:cs typeface="JetBrains Mono"/>
              </a:rPr>
              <a:t>Supporting check · calibration &amp; time</a:t>
            </a:r>
          </a:p>
        </p:txBody>
      </p:sp>
      <p:sp>
        <p:nvSpPr>
          <p:cNvPr id="11" name="Text 5">
            <a:extLst xmlns:a="http://schemas.openxmlformats.org/drawingml/2006/main">
              <a:ext uri="{FF2B5EF4-FFF2-40B4-BE49-F238E27FC236}">
                <a16:creationId xmlns:a16="http://schemas.microsoft.com/office/drawing/2014/main" id="{C4C41204-DEE5-4C43-A98E-C7C9D9FD0B1C}"/>
              </a:ext>
            </a:extLst>
          </p:cNvPr>
          <p:cNvSpPr>
            <a:spLocks xmlns:a="http://schemas.openxmlformats.org/drawingml/2006/main" noGrp="1"/>
          </p:cNvSpPr>
          <p:nvPr/>
        </p:nvSpPr>
        <p:spPr>
          <a:xfrm xmlns:a="http://schemas.openxmlformats.org/drawingml/2006/main">
            <a:off x="15240305" y="400050"/>
            <a:ext cx="2286000" cy="209550"/>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r">
              <a:buNone/>
            </a:pPr>
            <a:r>
              <a:rPr sz="1200">
                <a:solidFill>
                  <a:srgbClr val="6A6F8C"/>
                </a:solidFill>
                <a:latin typeface="JetBrains Mono"/>
                <a:ea typeface="JetBrains Mono"/>
                <a:cs typeface="JetBrains Mono"/>
              </a:rPr>
              <a:t>13 / 20</a:t>
            </a:r>
          </a:p>
        </p:txBody>
      </p:sp>
      <p:sp>
        <p:nvSpPr>
          <p:cNvPr id="12" name="Text 6">
            <a:extLst xmlns:a="http://schemas.openxmlformats.org/drawingml/2006/main">
              <a:ext uri="{FF2B5EF4-FFF2-40B4-BE49-F238E27FC236}">
                <a16:creationId xmlns:a16="http://schemas.microsoft.com/office/drawing/2014/main" id="{939D5F38-59EE-4C8B-9F0D-F8B4E4CADC33}"/>
              </a:ext>
            </a:extLst>
          </p:cNvPr>
          <p:cNvSpPr>
            <a:spLocks xmlns:a="http://schemas.openxmlformats.org/drawingml/2006/main" noGrp="1"/>
          </p:cNvSpPr>
          <p:nvPr/>
        </p:nvSpPr>
        <p:spPr>
          <a:xfrm xmlns:a="http://schemas.openxmlformats.org/drawingml/2006/main">
            <a:off x="761695" y="1238098"/>
            <a:ext cx="19050610" cy="457200"/>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3300" b="1">
                <a:solidFill>
                  <a:srgbClr val="0F1226"/>
                </a:solidFill>
                <a:latin typeface="Inter"/>
                <a:ea typeface="Inter"/>
                <a:cs typeface="Inter"/>
              </a:rPr>
              <a:t>Transfer evidence is stronger when prediction timing and calibration are also checked.</a:t>
            </a:r>
          </a:p>
        </p:txBody>
      </p:sp>
      <p:sp>
        <p:nvSpPr>
          <p:cNvPr id="13" name="Text 7">
            <a:extLst xmlns:a="http://schemas.openxmlformats.org/drawingml/2006/main">
              <a:ext uri="{FF2B5EF4-FFF2-40B4-BE49-F238E27FC236}">
                <a16:creationId xmlns:a16="http://schemas.microsoft.com/office/drawing/2014/main" id="{1CCDCCF3-A5C3-43AD-924A-459966E04628}"/>
              </a:ext>
            </a:extLst>
          </p:cNvPr>
          <p:cNvSpPr>
            <a:spLocks xmlns:a="http://schemas.openxmlformats.org/drawingml/2006/main" noGrp="1"/>
          </p:cNvSpPr>
          <p:nvPr/>
        </p:nvSpPr>
        <p:spPr>
          <a:xfrm xmlns:a="http://schemas.openxmlformats.org/drawingml/2006/main">
            <a:off x="761695" y="1766621"/>
            <a:ext cx="16764610" cy="200254"/>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400" i="1">
                <a:solidFill>
                  <a:srgbClr val="6A6F8C"/>
                </a:solidFill>
                <a:latin typeface="Source Serif Pro"/>
                <a:ea typeface="Source Serif Pro"/>
                <a:cs typeface="Source Serif Pro"/>
              </a:rPr>
              <a:t>The OULAD landmark analysis remains a supporting operational validity test.</a:t>
            </a:r>
          </a:p>
        </p:txBody>
      </p:sp>
      <p:sp>
        <p:nvSpPr>
          <p:cNvPr id="14" name="Text 8">
            <a:extLst xmlns:a="http://schemas.openxmlformats.org/drawingml/2006/main">
              <a:ext uri="{FF2B5EF4-FFF2-40B4-BE49-F238E27FC236}">
                <a16:creationId xmlns:a16="http://schemas.microsoft.com/office/drawing/2014/main" id="{95981198-8A1E-4AFB-BF71-63A40DA3E635}"/>
              </a:ext>
            </a:extLst>
          </p:cNvPr>
          <p:cNvSpPr>
            <a:spLocks xmlns:a="http://schemas.openxmlformats.org/drawingml/2006/main" noGrp="1"/>
          </p:cNvSpPr>
          <p:nvPr/>
        </p:nvSpPr>
        <p:spPr>
          <a:xfrm xmlns:a="http://schemas.openxmlformats.org/drawingml/2006/main">
            <a:off x="1047902" y="2857500"/>
            <a:ext cx="8192110" cy="1335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E4237A"/>
                </a:solidFill>
                <a:latin typeface="JetBrains Mono"/>
                <a:ea typeface="JetBrains Mono"/>
                <a:cs typeface="JetBrains Mono"/>
              </a:rPr>
              <a:t>FIG · Calibration on group-held-out OULAD test students</a:t>
            </a:r>
          </a:p>
        </p:txBody>
      </p:sp>
      <p:sp>
        <p:nvSpPr>
          <p:cNvPr id="15" name="Shape 9">
            <a:extLst xmlns:a="http://schemas.openxmlformats.org/drawingml/2006/main">
              <a:ext uri="{FF2B5EF4-FFF2-40B4-BE49-F238E27FC236}">
                <a16:creationId xmlns:a16="http://schemas.microsoft.com/office/drawing/2014/main" id="{56031ED3-829A-41FC-B40D-ECC1AB73465C}"/>
              </a:ext>
            </a:extLst>
          </p:cNvPr>
          <p:cNvSpPr>
            <a:spLocks xmlns:a="http://schemas.openxmlformats.org/drawingml/2006/main" noGrp="1"/>
          </p:cNvSpPr>
          <p:nvPr/>
        </p:nvSpPr>
        <p:spPr>
          <a:xfrm xmlns:a="http://schemas.openxmlformats.org/drawingml/2006/main">
            <a:off x="3706063" y="7715707"/>
            <a:ext cx="9144" cy="895198"/>
          </a:xfrm>
          <a:prstGeom xmlns:a="http://schemas.openxmlformats.org/drawingml/2006/main" prst="rect">
            <a:avLst/>
          </a:prstGeom>
          <a:solidFill xmlns:a="http://schemas.openxmlformats.org/drawingml/2006/main">
            <a:srgbClr val="E4E5EF"/>
          </a:solidFill>
          <a:ln xmlns:a="http://schemas.openxmlformats.org/drawingml/2006/main" w="12700">
            <a:solidFill>
              <a:srgbClr val="E4E5EF">
                <a:alpha val="0"/>
              </a:srgbClr>
            </a:solidFill>
            <a:prstDash val="solid"/>
          </a:ln>
        </p:spPr>
      </p:sp>
      <p:sp>
        <p:nvSpPr>
          <p:cNvPr id="16" name="Text 10">
            <a:extLst xmlns:a="http://schemas.openxmlformats.org/drawingml/2006/main">
              <a:ext uri="{FF2B5EF4-FFF2-40B4-BE49-F238E27FC236}">
                <a16:creationId xmlns:a16="http://schemas.microsoft.com/office/drawing/2014/main" id="{E80910D7-ED3B-4B58-B61C-E16D23F61C5C}"/>
              </a:ext>
            </a:extLst>
          </p:cNvPr>
          <p:cNvSpPr>
            <a:spLocks xmlns:a="http://schemas.openxmlformats.org/drawingml/2006/main" noGrp="1"/>
          </p:cNvSpPr>
          <p:nvPr/>
        </p:nvSpPr>
        <p:spPr>
          <a:xfrm xmlns:a="http://schemas.openxmlformats.org/drawingml/2006/main">
            <a:off x="1143000" y="7715707"/>
            <a:ext cx="2410358" cy="1335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1B9E8F"/>
                </a:solidFill>
                <a:latin typeface="JetBrains Mono"/>
                <a:ea typeface="JetBrains Mono"/>
                <a:cs typeface="JetBrains Mono"/>
              </a:rPr>
              <a:t>DAY 35</a:t>
            </a:r>
          </a:p>
        </p:txBody>
      </p:sp>
      <p:sp>
        <p:nvSpPr>
          <p:cNvPr id="17" name="Text 11">
            <a:extLst xmlns:a="http://schemas.openxmlformats.org/drawingml/2006/main">
              <a:ext uri="{FF2B5EF4-FFF2-40B4-BE49-F238E27FC236}">
                <a16:creationId xmlns:a16="http://schemas.microsoft.com/office/drawing/2014/main" id="{EA788A92-85D5-48ED-B4B2-D3E554FB4013}"/>
              </a:ext>
            </a:extLst>
          </p:cNvPr>
          <p:cNvSpPr>
            <a:spLocks xmlns:a="http://schemas.openxmlformats.org/drawingml/2006/main" noGrp="1"/>
          </p:cNvSpPr>
          <p:nvPr/>
        </p:nvSpPr>
        <p:spPr>
          <a:xfrm xmlns:a="http://schemas.openxmlformats.org/drawingml/2006/main">
            <a:off x="1143000" y="7905902"/>
            <a:ext cx="2410358" cy="191110"/>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200" b="1">
                <a:solidFill>
                  <a:srgbClr val="0F1226"/>
                </a:solidFill>
                <a:latin typeface="Inter"/>
                <a:ea typeface="Inter"/>
                <a:cs typeface="Inter"/>
              </a:rPr>
              <a:t>Brier score 0.126</a:t>
            </a:r>
          </a:p>
        </p:txBody>
      </p:sp>
      <p:sp>
        <p:nvSpPr>
          <p:cNvPr id="18" name="Text 12">
            <a:extLst xmlns:a="http://schemas.openxmlformats.org/drawingml/2006/main">
              <a:ext uri="{FF2B5EF4-FFF2-40B4-BE49-F238E27FC236}">
                <a16:creationId xmlns:a16="http://schemas.microsoft.com/office/drawing/2014/main" id="{9EFA55F9-2A71-49DC-B9C4-8D86B176820A}"/>
              </a:ext>
            </a:extLst>
          </p:cNvPr>
          <p:cNvSpPr>
            <a:spLocks xmlns:a="http://schemas.openxmlformats.org/drawingml/2006/main" noGrp="1"/>
          </p:cNvSpPr>
          <p:nvPr/>
        </p:nvSpPr>
        <p:spPr>
          <a:xfrm xmlns:a="http://schemas.openxmlformats.org/drawingml/2006/main">
            <a:off x="1143000" y="8125358"/>
            <a:ext cx="2410358" cy="48554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800"/>
              </a:lnSpc>
              <a:buNone/>
            </a:pPr>
            <a:r>
              <a:rPr sz="1100">
                <a:solidFill>
                  <a:srgbClr val="2A2E4B"/>
                </a:solidFill>
                <a:latin typeface="JetBrains Mono"/>
                <a:ea typeface="JetBrains Mono"/>
                <a:cs typeface="JetBrains Mono"/>
              </a:rPr>
              <a:t>Skill vs. null: +9.7%</a:t>
            </a:r>
          </a:p>
          <a:p xmlns:a="http://schemas.openxmlformats.org/drawingml/2006/main">
            <a:pPr marL="0" indent="0" algn="l">
              <a:lnSpc>
                <a:spcPts val="1800"/>
              </a:lnSpc>
              <a:buNone/>
            </a:pPr>
            <a:r>
              <a:rPr sz="1100">
                <a:solidFill>
                  <a:srgbClr val="2A2E4B"/>
                </a:solidFill>
                <a:latin typeface="JetBrains Mono"/>
                <a:ea typeface="JetBrains Mono"/>
                <a:cs typeface="JetBrains Mono"/>
              </a:rPr>
              <a:t>Calibration slope: 0.88</a:t>
            </a:r>
          </a:p>
        </p:txBody>
      </p:sp>
      <p:sp>
        <p:nvSpPr>
          <p:cNvPr id="19" name="Shape 13">
            <a:extLst xmlns:a="http://schemas.openxmlformats.org/drawingml/2006/main">
              <a:ext uri="{FF2B5EF4-FFF2-40B4-BE49-F238E27FC236}">
                <a16:creationId xmlns:a16="http://schemas.microsoft.com/office/drawing/2014/main" id="{1F450A5D-2041-4A00-AF7D-CF6C1350C3DC}"/>
              </a:ext>
            </a:extLst>
          </p:cNvPr>
          <p:cNvSpPr>
            <a:spLocks xmlns:a="http://schemas.openxmlformats.org/drawingml/2006/main" noGrp="1"/>
          </p:cNvSpPr>
          <p:nvPr/>
        </p:nvSpPr>
        <p:spPr>
          <a:xfrm xmlns:a="http://schemas.openxmlformats.org/drawingml/2006/main">
            <a:off x="6423660" y="7715707"/>
            <a:ext cx="9144" cy="895198"/>
          </a:xfrm>
          <a:prstGeom xmlns:a="http://schemas.openxmlformats.org/drawingml/2006/main" prst="rect">
            <a:avLst/>
          </a:prstGeom>
          <a:solidFill xmlns:a="http://schemas.openxmlformats.org/drawingml/2006/main">
            <a:srgbClr val="E4E5EF"/>
          </a:solidFill>
          <a:ln xmlns:a="http://schemas.openxmlformats.org/drawingml/2006/main" w="12700">
            <a:solidFill>
              <a:srgbClr val="E4E5EF">
                <a:alpha val="0"/>
              </a:srgbClr>
            </a:solidFill>
            <a:prstDash val="solid"/>
          </a:ln>
        </p:spPr>
      </p:sp>
      <p:sp>
        <p:nvSpPr>
          <p:cNvPr id="20" name="Text 14">
            <a:extLst xmlns:a="http://schemas.openxmlformats.org/drawingml/2006/main">
              <a:ext uri="{FF2B5EF4-FFF2-40B4-BE49-F238E27FC236}">
                <a16:creationId xmlns:a16="http://schemas.microsoft.com/office/drawing/2014/main" id="{9B8464B5-F5D5-44AF-822A-73874B7CD6E6}"/>
              </a:ext>
            </a:extLst>
          </p:cNvPr>
          <p:cNvSpPr>
            <a:spLocks xmlns:a="http://schemas.openxmlformats.org/drawingml/2006/main" noGrp="1"/>
          </p:cNvSpPr>
          <p:nvPr/>
        </p:nvSpPr>
        <p:spPr>
          <a:xfrm xmlns:a="http://schemas.openxmlformats.org/drawingml/2006/main">
            <a:off x="3860597" y="7715707"/>
            <a:ext cx="2410358" cy="1335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E8A93A"/>
                </a:solidFill>
                <a:latin typeface="JetBrains Mono"/>
                <a:ea typeface="JetBrains Mono"/>
                <a:cs typeface="JetBrains Mono"/>
              </a:rPr>
              <a:t>DAY 60</a:t>
            </a:r>
          </a:p>
        </p:txBody>
      </p:sp>
      <p:sp>
        <p:nvSpPr>
          <p:cNvPr id="21" name="Text 15">
            <a:extLst xmlns:a="http://schemas.openxmlformats.org/drawingml/2006/main">
              <a:ext uri="{FF2B5EF4-FFF2-40B4-BE49-F238E27FC236}">
                <a16:creationId xmlns:a16="http://schemas.microsoft.com/office/drawing/2014/main" id="{3D6F12CE-172F-4A2B-ABBF-C2085638F9E2}"/>
              </a:ext>
            </a:extLst>
          </p:cNvPr>
          <p:cNvSpPr>
            <a:spLocks xmlns:a="http://schemas.openxmlformats.org/drawingml/2006/main" noGrp="1"/>
          </p:cNvSpPr>
          <p:nvPr/>
        </p:nvSpPr>
        <p:spPr>
          <a:xfrm xmlns:a="http://schemas.openxmlformats.org/drawingml/2006/main">
            <a:off x="3860597" y="7905902"/>
            <a:ext cx="2410358" cy="191110"/>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200" b="1">
                <a:solidFill>
                  <a:srgbClr val="0F1226"/>
                </a:solidFill>
                <a:latin typeface="Inter"/>
                <a:ea typeface="Inter"/>
                <a:cs typeface="Inter"/>
              </a:rPr>
              <a:t>Brier score 0.110</a:t>
            </a:r>
          </a:p>
        </p:txBody>
      </p:sp>
      <p:sp>
        <p:nvSpPr>
          <p:cNvPr id="22" name="Text 16">
            <a:extLst xmlns:a="http://schemas.openxmlformats.org/drawingml/2006/main">
              <a:ext uri="{FF2B5EF4-FFF2-40B4-BE49-F238E27FC236}">
                <a16:creationId xmlns:a16="http://schemas.microsoft.com/office/drawing/2014/main" id="{D639E010-8C3B-4EA4-8C07-DBE29C7E1CCF}"/>
              </a:ext>
            </a:extLst>
          </p:cNvPr>
          <p:cNvSpPr>
            <a:spLocks xmlns:a="http://schemas.openxmlformats.org/drawingml/2006/main" noGrp="1"/>
          </p:cNvSpPr>
          <p:nvPr/>
        </p:nvSpPr>
        <p:spPr>
          <a:xfrm xmlns:a="http://schemas.openxmlformats.org/drawingml/2006/main">
            <a:off x="3860597" y="8125358"/>
            <a:ext cx="2410358" cy="48554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800"/>
              </a:lnSpc>
              <a:buNone/>
            </a:pPr>
            <a:r>
              <a:rPr sz="1100">
                <a:solidFill>
                  <a:srgbClr val="2A2E4B"/>
                </a:solidFill>
                <a:latin typeface="JetBrains Mono"/>
                <a:ea typeface="JetBrains Mono"/>
                <a:cs typeface="JetBrains Mono"/>
              </a:rPr>
              <a:t>Skill vs. null: +8.7%</a:t>
            </a:r>
          </a:p>
          <a:p xmlns:a="http://schemas.openxmlformats.org/drawingml/2006/main">
            <a:pPr marL="0" indent="0" algn="l">
              <a:lnSpc>
                <a:spcPts val="1800"/>
              </a:lnSpc>
              <a:buNone/>
            </a:pPr>
            <a:r>
              <a:rPr sz="1100">
                <a:solidFill>
                  <a:srgbClr val="2A2E4B"/>
                </a:solidFill>
                <a:latin typeface="JetBrains Mono"/>
                <a:ea typeface="JetBrains Mono"/>
                <a:cs typeface="JetBrains Mono"/>
              </a:rPr>
              <a:t>Calibration slope: 0.91</a:t>
            </a:r>
          </a:p>
        </p:txBody>
      </p:sp>
      <p:sp>
        <p:nvSpPr>
          <p:cNvPr id="23" name="Text 17">
            <a:extLst xmlns:a="http://schemas.openxmlformats.org/drawingml/2006/main">
              <a:ext uri="{FF2B5EF4-FFF2-40B4-BE49-F238E27FC236}">
                <a16:creationId xmlns:a16="http://schemas.microsoft.com/office/drawing/2014/main" id="{9B58D98B-B810-41BC-AFE4-179550A66F11}"/>
              </a:ext>
            </a:extLst>
          </p:cNvPr>
          <p:cNvSpPr>
            <a:spLocks xmlns:a="http://schemas.openxmlformats.org/drawingml/2006/main" noGrp="1"/>
          </p:cNvSpPr>
          <p:nvPr/>
        </p:nvSpPr>
        <p:spPr>
          <a:xfrm xmlns:a="http://schemas.openxmlformats.org/drawingml/2006/main">
            <a:off x="6578194" y="7715707"/>
            <a:ext cx="2572207" cy="1335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2A2E7A"/>
                </a:solidFill>
                <a:latin typeface="JetBrains Mono"/>
                <a:ea typeface="JetBrains Mono"/>
                <a:cs typeface="JetBrains Mono"/>
              </a:rPr>
              <a:t>DAY 75</a:t>
            </a:r>
          </a:p>
        </p:txBody>
      </p:sp>
      <p:sp>
        <p:nvSpPr>
          <p:cNvPr id="24" name="Text 18">
            <a:extLst xmlns:a="http://schemas.openxmlformats.org/drawingml/2006/main">
              <a:ext uri="{FF2B5EF4-FFF2-40B4-BE49-F238E27FC236}">
                <a16:creationId xmlns:a16="http://schemas.microsoft.com/office/drawing/2014/main" id="{8C811022-8825-4EC6-9053-B6FCF3A19E66}"/>
              </a:ext>
            </a:extLst>
          </p:cNvPr>
          <p:cNvSpPr>
            <a:spLocks xmlns:a="http://schemas.openxmlformats.org/drawingml/2006/main" noGrp="1"/>
          </p:cNvSpPr>
          <p:nvPr/>
        </p:nvSpPr>
        <p:spPr>
          <a:xfrm xmlns:a="http://schemas.openxmlformats.org/drawingml/2006/main">
            <a:off x="6578194" y="7905902"/>
            <a:ext cx="2572207" cy="191110"/>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200" b="1">
                <a:solidFill>
                  <a:srgbClr val="0F1226"/>
                </a:solidFill>
                <a:latin typeface="Inter"/>
                <a:ea typeface="Inter"/>
                <a:cs typeface="Inter"/>
              </a:rPr>
              <a:t>Brier score 0.101</a:t>
            </a:r>
          </a:p>
        </p:txBody>
      </p:sp>
      <p:sp>
        <p:nvSpPr>
          <p:cNvPr id="25" name="Text 19">
            <a:extLst xmlns:a="http://schemas.openxmlformats.org/drawingml/2006/main">
              <a:ext uri="{FF2B5EF4-FFF2-40B4-BE49-F238E27FC236}">
                <a16:creationId xmlns:a16="http://schemas.microsoft.com/office/drawing/2014/main" id="{C2E14732-A733-4D65-B31B-581295605C4A}"/>
              </a:ext>
            </a:extLst>
          </p:cNvPr>
          <p:cNvSpPr>
            <a:spLocks xmlns:a="http://schemas.openxmlformats.org/drawingml/2006/main" noGrp="1"/>
          </p:cNvSpPr>
          <p:nvPr/>
        </p:nvSpPr>
        <p:spPr>
          <a:xfrm xmlns:a="http://schemas.openxmlformats.org/drawingml/2006/main">
            <a:off x="6578194" y="8125358"/>
            <a:ext cx="2572207" cy="485546"/>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800"/>
              </a:lnSpc>
              <a:buNone/>
            </a:pPr>
            <a:r>
              <a:rPr sz="1100">
                <a:solidFill>
                  <a:srgbClr val="2A2E4B"/>
                </a:solidFill>
                <a:latin typeface="JetBrains Mono"/>
                <a:ea typeface="JetBrains Mono"/>
                <a:cs typeface="JetBrains Mono"/>
              </a:rPr>
              <a:t>Skill vs. null: +7.6%</a:t>
            </a:r>
          </a:p>
          <a:p xmlns:a="http://schemas.openxmlformats.org/drawingml/2006/main">
            <a:pPr marL="0" indent="0" algn="l">
              <a:lnSpc>
                <a:spcPts val="1800"/>
              </a:lnSpc>
              <a:buNone/>
            </a:pPr>
            <a:r>
              <a:rPr sz="1100">
                <a:solidFill>
                  <a:srgbClr val="2A2E4B"/>
                </a:solidFill>
                <a:latin typeface="JetBrains Mono"/>
                <a:ea typeface="JetBrains Mono"/>
                <a:cs typeface="JetBrains Mono"/>
              </a:rPr>
              <a:t>Calibration slope: 0.88</a:t>
            </a:r>
          </a:p>
        </p:txBody>
      </p:sp>
      <p:sp>
        <p:nvSpPr>
          <p:cNvPr id="26" name="Text 20">
            <a:extLst xmlns:a="http://schemas.openxmlformats.org/drawingml/2006/main">
              <a:ext uri="{FF2B5EF4-FFF2-40B4-BE49-F238E27FC236}">
                <a16:creationId xmlns:a16="http://schemas.microsoft.com/office/drawing/2014/main" id="{A9A78E08-7140-4601-82B0-51E36DFCDF85}"/>
              </a:ext>
            </a:extLst>
          </p:cNvPr>
          <p:cNvSpPr>
            <a:spLocks xmlns:a="http://schemas.openxmlformats.org/drawingml/2006/main" noGrp="1"/>
          </p:cNvSpPr>
          <p:nvPr/>
        </p:nvSpPr>
        <p:spPr>
          <a:xfrm xmlns:a="http://schemas.openxmlformats.org/drawingml/2006/main">
            <a:off x="10001707" y="2857500"/>
            <a:ext cx="7239305" cy="1335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E4237A"/>
                </a:solidFill>
                <a:latin typeface="JetBrains Mono"/>
                <a:ea typeface="JetBrains Mono"/>
                <a:cs typeface="JetBrains Mono"/>
              </a:rPr>
              <a:t>LATER-COHORT TEST · 2014J</a:t>
            </a:r>
          </a:p>
        </p:txBody>
      </p:sp>
      <p:sp>
        <p:nvSpPr>
          <p:cNvPr id="27" name="Text 21">
            <a:extLst xmlns:a="http://schemas.openxmlformats.org/drawingml/2006/main">
              <a:ext uri="{FF2B5EF4-FFF2-40B4-BE49-F238E27FC236}">
                <a16:creationId xmlns:a16="http://schemas.microsoft.com/office/drawing/2014/main" id="{A4C6895D-93BD-4D11-BF7C-BCEBD790E436}"/>
              </a:ext>
            </a:extLst>
          </p:cNvPr>
          <p:cNvSpPr>
            <a:spLocks xmlns:a="http://schemas.openxmlformats.org/drawingml/2006/main" noGrp="1"/>
          </p:cNvSpPr>
          <p:nvPr/>
        </p:nvSpPr>
        <p:spPr>
          <a:xfrm xmlns:a="http://schemas.openxmlformats.org/drawingml/2006/main">
            <a:off x="10001707" y="3029407"/>
            <a:ext cx="7239305" cy="181051"/>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100">
                <a:solidFill>
                  <a:srgbClr val="2A2E4B"/>
                </a:solidFill>
                <a:latin typeface="Inter"/>
                <a:ea typeface="Inter"/>
                <a:cs typeface="Inter"/>
              </a:rPr>
              <a:t>Train: 2013B/J · validate: 2014B · test: 2014J</a:t>
            </a:r>
          </a:p>
        </p:txBody>
      </p:sp>
      <p:sp>
        <p:nvSpPr>
          <p:cNvPr id="28" name="Text 22">
            <a:extLst xmlns:a="http://schemas.openxmlformats.org/drawingml/2006/main">
              <a:ext uri="{FF2B5EF4-FFF2-40B4-BE49-F238E27FC236}">
                <a16:creationId xmlns:a16="http://schemas.microsoft.com/office/drawing/2014/main" id="{E8C235E1-DA0C-456A-8A26-5A72A45CA682}"/>
              </a:ext>
            </a:extLst>
          </p:cNvPr>
          <p:cNvSpPr>
            <a:spLocks xmlns:a="http://schemas.openxmlformats.org/drawingml/2006/main" noGrp="1"/>
          </p:cNvSpPr>
          <p:nvPr/>
        </p:nvSpPr>
        <p:spPr>
          <a:xfrm xmlns:a="http://schemas.openxmlformats.org/drawingml/2006/main">
            <a:off x="10001707" y="7715707"/>
            <a:ext cx="7239305" cy="1335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FF5CA0"/>
                </a:solidFill>
                <a:latin typeface="JetBrains Mono"/>
                <a:ea typeface="JetBrains Mono"/>
                <a:cs typeface="JetBrains Mono"/>
              </a:rPr>
              <a:t>Temporal generalization</a:t>
            </a:r>
          </a:p>
        </p:txBody>
      </p:sp>
      <p:sp>
        <p:nvSpPr>
          <p:cNvPr id="29" name="Text 23">
            <a:extLst xmlns:a="http://schemas.openxmlformats.org/drawingml/2006/main">
              <a:ext uri="{FF2B5EF4-FFF2-40B4-BE49-F238E27FC236}">
                <a16:creationId xmlns:a16="http://schemas.microsoft.com/office/drawing/2014/main" id="{17837CBD-C5F1-4840-80A9-FDAC656D4C37}"/>
              </a:ext>
            </a:extLst>
          </p:cNvPr>
          <p:cNvSpPr>
            <a:spLocks xmlns:a="http://schemas.openxmlformats.org/drawingml/2006/main" noGrp="1"/>
          </p:cNvSpPr>
          <p:nvPr/>
        </p:nvSpPr>
        <p:spPr>
          <a:xfrm xmlns:a="http://schemas.openxmlformats.org/drawingml/2006/main">
            <a:off x="10001707" y="7925105"/>
            <a:ext cx="7239305" cy="2478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200">
                <a:solidFill>
                  <a:srgbClr val="FFFFFF"/>
                </a:solidFill>
                <a:latin typeface="Inter"/>
                <a:ea typeface="Inter"/>
                <a:cs typeface="Inter"/>
              </a:rPr>
              <a:t>Ranking remains above chance, but the drop is material.</a:t>
            </a:r>
          </a:p>
        </p:txBody>
      </p:sp>
      <p:sp>
        <p:nvSpPr>
          <p:cNvPr id="30" name="Text 24">
            <a:extLst xmlns:a="http://schemas.openxmlformats.org/drawingml/2006/main">
              <a:ext uri="{FF2B5EF4-FFF2-40B4-BE49-F238E27FC236}">
                <a16:creationId xmlns:a16="http://schemas.microsoft.com/office/drawing/2014/main" id="{66E149F4-2759-48AD-9D7F-EB1F78266D49}"/>
              </a:ext>
            </a:extLst>
          </p:cNvPr>
          <p:cNvSpPr>
            <a:spLocks xmlns:a="http://schemas.openxmlformats.org/drawingml/2006/main" noGrp="1"/>
          </p:cNvSpPr>
          <p:nvPr/>
        </p:nvSpPr>
        <p:spPr>
          <a:xfrm xmlns:a="http://schemas.openxmlformats.org/drawingml/2006/main">
            <a:off x="10001707" y="8238744"/>
            <a:ext cx="3525012" cy="44348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627"/>
              </a:lnSpc>
              <a:buNone/>
            </a:pPr>
            <a:r>
              <a:rPr sz="1000">
                <a:solidFill>
                  <a:srgbClr val="FFFFFF">
                    <a:alpha val="92000"/>
                  </a:srgbClr>
                </a:solidFill>
                <a:latin typeface="JetBrains Mono"/>
                <a:ea typeface="JetBrains Mono"/>
                <a:cs typeface="JetBrains Mono"/>
              </a:rPr>
              <a:t>ROC-AUC 0.678</a:t>
            </a:r>
          </a:p>
          <a:p xmlns:a="http://schemas.openxmlformats.org/drawingml/2006/main">
            <a:pPr marL="0" indent="0" algn="l">
              <a:lnSpc>
                <a:spcPts val="1627"/>
              </a:lnSpc>
              <a:buNone/>
            </a:pPr>
            <a:r>
              <a:rPr sz="1000">
                <a:solidFill>
                  <a:srgbClr val="FFFFFF">
                    <a:alpha val="92000"/>
                  </a:srgbClr>
                </a:solidFill>
                <a:latin typeface="JetBrains Mono"/>
                <a:ea typeface="JetBrains Mono"/>
                <a:cs typeface="JetBrains Mono"/>
              </a:rPr>
              <a:t>95% CI 0.661–0.695</a:t>
            </a:r>
          </a:p>
        </p:txBody>
      </p:sp>
      <p:sp>
        <p:nvSpPr>
          <p:cNvPr id="31" name="Text 25">
            <a:extLst xmlns:a="http://schemas.openxmlformats.org/drawingml/2006/main">
              <a:ext uri="{FF2B5EF4-FFF2-40B4-BE49-F238E27FC236}">
                <a16:creationId xmlns:a16="http://schemas.microsoft.com/office/drawing/2014/main" id="{F51068F1-E2A5-40ED-A02C-8C1C9C641BF0}"/>
              </a:ext>
            </a:extLst>
          </p:cNvPr>
          <p:cNvSpPr>
            <a:spLocks xmlns:a="http://schemas.openxmlformats.org/drawingml/2006/main" noGrp="1"/>
          </p:cNvSpPr>
          <p:nvPr/>
        </p:nvSpPr>
        <p:spPr>
          <a:xfrm xmlns:a="http://schemas.openxmlformats.org/drawingml/2006/main">
            <a:off x="13716000" y="8238744"/>
            <a:ext cx="3525012" cy="443484"/>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627"/>
              </a:lnSpc>
              <a:buNone/>
            </a:pPr>
            <a:r>
              <a:rPr sz="1000">
                <a:solidFill>
                  <a:srgbClr val="FFFFFF">
                    <a:alpha val="92000"/>
                  </a:srgbClr>
                </a:solidFill>
                <a:latin typeface="JetBrains Mono"/>
                <a:ea typeface="JetBrains Mono"/>
                <a:cs typeface="JetBrains Mono"/>
              </a:rPr>
              <a:t>F1 0.301 · AP 0.229</a:t>
            </a:r>
          </a:p>
          <a:p xmlns:a="http://schemas.openxmlformats.org/drawingml/2006/main">
            <a:pPr marL="0" indent="0" algn="l">
              <a:lnSpc>
                <a:spcPts val="1627"/>
              </a:lnSpc>
              <a:buNone/>
            </a:pPr>
            <a:r>
              <a:rPr sz="1000">
                <a:solidFill>
                  <a:srgbClr val="FFFFFF">
                    <a:alpha val="92000"/>
                  </a:srgbClr>
                </a:solidFill>
                <a:latin typeface="JetBrains Mono"/>
                <a:ea typeface="JetBrains Mono"/>
                <a:cs typeface="JetBrains Mono"/>
              </a:rPr>
              <a:t>Brier 0.107</a:t>
            </a:r>
          </a:p>
        </p:txBody>
      </p:sp>
      <p:pic>
        <p:nvPicPr>
          <p:cNvPr id="61" name=""/>
          <p:cNvPicPr>
            <a:picLocks xmlns:a="http://schemas.openxmlformats.org/drawingml/2006/main" noChangeAspect="1"/>
          </p:cNvPicPr>
          <p:nvPr/>
        </p:nvPicPr>
        <p:blipFill>
          <a:blip xmlns:r="http://schemas.openxmlformats.org/officeDocument/2006/relationships" xmlns:a="http://schemas.openxmlformats.org/drawingml/2006/main" r:embed="R7e698b36996440fc"/>
          <a:stretch xmlns:a="http://schemas.openxmlformats.org/drawingml/2006/main"/>
        </p:blipFill>
        <p:spPr>
          <a:xfrm xmlns:a="http://schemas.openxmlformats.org/drawingml/2006/main">
            <a:off x="3025770" y="3286316"/>
            <a:ext cx="12237413" cy="3905441"/>
          </a:xfrm>
          <a:prstGeom xmlns:a="http://schemas.openxmlformats.org/drawingml/2006/main" prst="rect">
            <a:avLst/>
          </a:prstGeom>
        </p:spPr>
      </p:pic>
    </p:spTree>
    <p:extLst>
      <p:ext uri="{BB962C8B-B14F-4D97-AF65-F5344CB8AC3E}">
        <p14:creationId xmlns:p14="http://schemas.microsoft.com/office/powerpoint/2010/main" val="704192232"/>
      </p:ext>
    </p:extLst>
  </p:cSld>
</p:sld>
</file>

<file path=ppt/slides/slide14.xml><?xml version="1.0" encoding="utf-8"?>
<p:sld xmlns:p="http://schemas.openxmlformats.org/presentationml/2006/main">
  <p:cSld>
    <p:bg>
      <p:bgPr>
        <a:solidFill xmlns:a="http://schemas.openxmlformats.org/drawingml/2006/main">
          <a:srgbClr val="F7F7FB"/>
        </a:solidFill>
      </p:bgPr>
    </p:bg>
    <p:spTree>
      <p:nvGrpSpPr>
        <p:cNvPr id="1" name=""/>
        <p:cNvGrpSpPr/>
        <p:nvPr/>
      </p:nvGrpSpPr>
      <p:grpSpPr>
        <a:xfrm xmlns:a="http://schemas.openxmlformats.org/drawingml/2006/main"/>
      </p:grpSpPr>
      <p:pic>
        <p:nvPicPr>
          <p:cNvPr id="47" name="Image 0"/>
          <p:cNvPicPr>
            <a:picLocks xmlns:a="http://schemas.openxmlformats.org/drawingml/2006/main" noChangeAspect="1"/>
          </p:cNvPicPr>
          <p:nvPr/>
        </p:nvPicPr>
        <p:blipFill>
          <a:blip xmlns:r="http://schemas.openxmlformats.org/officeDocument/2006/relationships" xmlns:a="http://schemas.openxmlformats.org/drawingml/2006/main" r:embed="Re1d9fbc163f14a41"/>
          <a:srcRect xmlns:a="http://schemas.openxmlformats.org/drawingml/2006/main" l="-2083" t="0" r="-2083" b="0"/>
          <a:stretch xmlns:a="http://schemas.openxmlformats.org/drawingml/2006/main"/>
        </p:blipFill>
        <p:spPr>
          <a:xfrm xmlns:a="http://schemas.openxmlformats.org/drawingml/2006/main">
            <a:off x="761695" y="761695"/>
            <a:ext cx="16763695" cy="9144"/>
          </a:xfrm>
          <a:prstGeom xmlns:a="http://schemas.openxmlformats.org/drawingml/2006/main" prst="rect">
            <a:avLst/>
          </a:prstGeom>
        </p:spPr>
      </p:pic>
      <p:sp>
        <p:nvSpPr>
          <p:cNvPr id="4" name="Shape 0">
            <a:extLst xmlns:a="http://schemas.openxmlformats.org/drawingml/2006/main">
              <a:ext uri="{FF2B5EF4-FFF2-40B4-BE49-F238E27FC236}">
                <a16:creationId xmlns:a16="http://schemas.microsoft.com/office/drawing/2014/main" id="{C20E7D21-4D70-49D9-ABCC-0F29B092EE15}"/>
              </a:ext>
            </a:extLst>
          </p:cNvPr>
          <p:cNvSpPr>
            <a:spLocks xmlns:a="http://schemas.openxmlformats.org/drawingml/2006/main" noGrp="1"/>
          </p:cNvSpPr>
          <p:nvPr/>
        </p:nvSpPr>
        <p:spPr>
          <a:xfrm xmlns:a="http://schemas.openxmlformats.org/drawingml/2006/main">
            <a:off x="761695" y="2762402"/>
            <a:ext cx="11259007" cy="5639105"/>
          </a:xfrm>
          <a:prstGeom xmlns:a="http://schemas.openxmlformats.org/drawingml/2006/main" prst="roundRect">
            <a:avLst>
              <a:gd name="adj" fmla="val 341"/>
            </a:avLst>
          </a:prstGeom>
          <a:solidFill xmlns:a="http://schemas.openxmlformats.org/drawingml/2006/main">
            <a:srgbClr val="FFFFFF"/>
          </a:solidFill>
          <a:ln xmlns:a="http://schemas.openxmlformats.org/drawingml/2006/main" w="12700">
            <a:solidFill>
              <a:srgbClr val="E4E5EF"/>
            </a:solidFill>
            <a:prstDash val="solid"/>
          </a:ln>
        </p:spPr>
      </p:sp>
      <p:sp>
        <p:nvSpPr>
          <p:cNvPr id="5" name="Shape 1">
            <a:extLst xmlns:a="http://schemas.openxmlformats.org/drawingml/2006/main">
              <a:ext uri="{FF2B5EF4-FFF2-40B4-BE49-F238E27FC236}">
                <a16:creationId xmlns:a16="http://schemas.microsoft.com/office/drawing/2014/main" id="{EB4ADBDC-8300-4DE4-B2C4-2EDE3D87628F}"/>
              </a:ext>
            </a:extLst>
          </p:cNvPr>
          <p:cNvSpPr>
            <a:spLocks xmlns:a="http://schemas.openxmlformats.org/drawingml/2006/main" noGrp="1"/>
          </p:cNvSpPr>
          <p:nvPr/>
        </p:nvSpPr>
        <p:spPr>
          <a:xfrm xmlns:a="http://schemas.openxmlformats.org/drawingml/2006/main">
            <a:off x="761695" y="8524951"/>
            <a:ext cx="11259007" cy="733349"/>
          </a:xfrm>
          <a:prstGeom xmlns:a="http://schemas.openxmlformats.org/drawingml/2006/main" prst="roundRect">
            <a:avLst>
              <a:gd name="adj" fmla="val 2618"/>
            </a:avLst>
          </a:prstGeom>
          <a:solidFill xmlns:a="http://schemas.openxmlformats.org/drawingml/2006/main">
            <a:srgbClr val="FFF3E9"/>
          </a:solidFill>
          <a:ln xmlns:a="http://schemas.openxmlformats.org/drawingml/2006/main" w="12700">
            <a:solidFill>
              <a:srgbClr val="E8A93A"/>
            </a:solidFill>
            <a:prstDash val="solid"/>
          </a:ln>
        </p:spPr>
      </p:sp>
      <p:sp>
        <p:nvSpPr>
          <p:cNvPr id="6" name="Shape 2">
            <a:extLst xmlns:a="http://schemas.openxmlformats.org/drawingml/2006/main">
              <a:ext uri="{FF2B5EF4-FFF2-40B4-BE49-F238E27FC236}">
                <a16:creationId xmlns:a16="http://schemas.microsoft.com/office/drawing/2014/main" id="{F30C0D7B-EBA9-4965-A2B1-6683297CC1A8}"/>
              </a:ext>
            </a:extLst>
          </p:cNvPr>
          <p:cNvSpPr>
            <a:spLocks xmlns:a="http://schemas.openxmlformats.org/drawingml/2006/main" noGrp="1"/>
          </p:cNvSpPr>
          <p:nvPr/>
        </p:nvSpPr>
        <p:spPr>
          <a:xfrm xmlns:a="http://schemas.openxmlformats.org/drawingml/2006/main">
            <a:off x="12287707" y="2762402"/>
            <a:ext cx="5257800" cy="3066898"/>
          </a:xfrm>
          <a:prstGeom xmlns:a="http://schemas.openxmlformats.org/drawingml/2006/main" prst="roundRect">
            <a:avLst>
              <a:gd name="adj" fmla="val 626"/>
            </a:avLst>
          </a:prstGeom>
          <a:solidFill xmlns:a="http://schemas.openxmlformats.org/drawingml/2006/main">
            <a:srgbClr val="FFFFFF"/>
          </a:solidFill>
          <a:ln xmlns:a="http://schemas.openxmlformats.org/drawingml/2006/main" w="12700">
            <a:solidFill>
              <a:srgbClr val="E4E5EF"/>
            </a:solidFill>
            <a:prstDash val="solid"/>
          </a:ln>
        </p:spPr>
      </p:sp>
      <p:sp>
        <p:nvSpPr>
          <p:cNvPr id="7" name="Shape 3">
            <a:extLst xmlns:a="http://schemas.openxmlformats.org/drawingml/2006/main">
              <a:ext uri="{FF2B5EF4-FFF2-40B4-BE49-F238E27FC236}">
                <a16:creationId xmlns:a16="http://schemas.microsoft.com/office/drawing/2014/main" id="{42A556CE-C8A6-441D-9AEB-840B5A4DB1F6}"/>
              </a:ext>
            </a:extLst>
          </p:cNvPr>
          <p:cNvSpPr>
            <a:spLocks xmlns:a="http://schemas.openxmlformats.org/drawingml/2006/main" noGrp="1"/>
          </p:cNvSpPr>
          <p:nvPr/>
        </p:nvSpPr>
        <p:spPr>
          <a:xfrm xmlns:a="http://schemas.openxmlformats.org/drawingml/2006/main">
            <a:off x="12287707" y="6096305"/>
            <a:ext cx="5238598" cy="3143707"/>
          </a:xfrm>
          <a:prstGeom xmlns:a="http://schemas.openxmlformats.org/drawingml/2006/main" prst="roundRect">
            <a:avLst>
              <a:gd name="adj" fmla="val 611"/>
            </a:avLst>
          </a:prstGeom>
          <a:solidFill xmlns:a="http://schemas.openxmlformats.org/drawingml/2006/main">
            <a:srgbClr val="1A1D5C"/>
          </a:solidFill>
          <a:ln xmlns:a="http://schemas.openxmlformats.org/drawingml/2006/main" w="12700">
            <a:solidFill>
              <a:srgbClr val="FFFFFF">
                <a:alpha val="0"/>
              </a:srgbClr>
            </a:solidFill>
            <a:prstDash val="solid"/>
          </a:ln>
        </p:spPr>
      </p:sp>
      <p:sp>
        <p:nvSpPr>
          <p:cNvPr id="8" name="Shape 4">
            <a:extLst xmlns:a="http://schemas.openxmlformats.org/drawingml/2006/main">
              <a:ext uri="{FF2B5EF4-FFF2-40B4-BE49-F238E27FC236}">
                <a16:creationId xmlns:a16="http://schemas.microsoft.com/office/drawing/2014/main" id="{B0D10C63-DD19-4A61-B70E-E973D1D220E8}"/>
              </a:ext>
            </a:extLst>
          </p:cNvPr>
          <p:cNvSpPr>
            <a:spLocks xmlns:a="http://schemas.openxmlformats.org/drawingml/2006/main" noGrp="1"/>
          </p:cNvSpPr>
          <p:nvPr/>
        </p:nvSpPr>
        <p:spPr>
          <a:xfrm xmlns:a="http://schemas.openxmlformats.org/drawingml/2006/main">
            <a:off x="14287500" y="1380744"/>
            <a:ext cx="3258007" cy="437998"/>
          </a:xfrm>
          <a:prstGeom xmlns:a="http://schemas.openxmlformats.org/drawingml/2006/main" prst="roundRect">
            <a:avLst>
              <a:gd name="adj" fmla="val 47808"/>
            </a:avLst>
          </a:prstGeom>
          <a:solidFill xmlns:a="http://schemas.openxmlformats.org/drawingml/2006/main">
            <a:srgbClr val="FFF3E9"/>
          </a:solidFill>
          <a:ln xmlns:a="http://schemas.openxmlformats.org/drawingml/2006/main" w="12700">
            <a:solidFill>
              <a:srgbClr val="E8A93A"/>
            </a:solidFill>
            <a:prstDash val="solid"/>
          </a:ln>
        </p:spPr>
      </p:sp>
      <p:sp>
        <p:nvSpPr>
          <p:cNvPr id="10" name="Text 5">
            <a:extLst xmlns:a="http://schemas.openxmlformats.org/drawingml/2006/main">
              <a:ext uri="{FF2B5EF4-FFF2-40B4-BE49-F238E27FC236}">
                <a16:creationId xmlns:a16="http://schemas.microsoft.com/office/drawing/2014/main" id="{4944F4F6-0A42-49A6-BF0B-68BEA1C040FD}"/>
              </a:ext>
            </a:extLst>
          </p:cNvPr>
          <p:cNvSpPr>
            <a:spLocks xmlns:a="http://schemas.openxmlformats.org/drawingml/2006/main" noGrp="1"/>
          </p:cNvSpPr>
          <p:nvPr/>
        </p:nvSpPr>
        <p:spPr>
          <a:xfrm xmlns:a="http://schemas.openxmlformats.org/drawingml/2006/main">
            <a:off x="761695" y="428854"/>
            <a:ext cx="8572500" cy="152705"/>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000">
                <a:solidFill>
                  <a:srgbClr val="6A6F8C"/>
                </a:solidFill>
                <a:latin typeface="JetBrains Mono"/>
                <a:ea typeface="JetBrains Mono"/>
                <a:cs typeface="JetBrains Mono"/>
              </a:rPr>
              <a:t>§ 06 · Business impact &amp; transfer plan</a:t>
            </a:r>
          </a:p>
        </p:txBody>
      </p:sp>
      <p:sp>
        <p:nvSpPr>
          <p:cNvPr id="11" name="Text 6">
            <a:extLst xmlns:a="http://schemas.openxmlformats.org/drawingml/2006/main">
              <a:ext uri="{FF2B5EF4-FFF2-40B4-BE49-F238E27FC236}">
                <a16:creationId xmlns:a16="http://schemas.microsoft.com/office/drawing/2014/main" id="{D6EA34C2-9088-461E-A828-03C72551115A}"/>
              </a:ext>
            </a:extLst>
          </p:cNvPr>
          <p:cNvSpPr>
            <a:spLocks xmlns:a="http://schemas.openxmlformats.org/drawingml/2006/main" noGrp="1"/>
          </p:cNvSpPr>
          <p:nvPr/>
        </p:nvSpPr>
        <p:spPr>
          <a:xfrm xmlns:a="http://schemas.openxmlformats.org/drawingml/2006/main">
            <a:off x="15240305" y="428854"/>
            <a:ext cx="2286000" cy="152705"/>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r">
              <a:buNone/>
            </a:pPr>
            <a:r>
              <a:rPr sz="1000">
                <a:solidFill>
                  <a:srgbClr val="6A6F8C"/>
                </a:solidFill>
                <a:latin typeface="JetBrains Mono"/>
                <a:ea typeface="JetBrains Mono"/>
                <a:cs typeface="JetBrains Mono"/>
              </a:rPr>
              <a:t>14 / 20</a:t>
            </a:r>
          </a:p>
        </p:txBody>
      </p:sp>
      <p:sp>
        <p:nvSpPr>
          <p:cNvPr id="12" name="Text 7">
            <a:extLst xmlns:a="http://schemas.openxmlformats.org/drawingml/2006/main">
              <a:ext uri="{FF2B5EF4-FFF2-40B4-BE49-F238E27FC236}">
                <a16:creationId xmlns:a16="http://schemas.microsoft.com/office/drawing/2014/main" id="{58716892-7804-418E-A722-4788BEE1BA77}"/>
              </a:ext>
            </a:extLst>
          </p:cNvPr>
          <p:cNvSpPr>
            <a:spLocks xmlns:a="http://schemas.openxmlformats.org/drawingml/2006/main" noGrp="1"/>
          </p:cNvSpPr>
          <p:nvPr/>
        </p:nvSpPr>
        <p:spPr>
          <a:xfrm xmlns:a="http://schemas.openxmlformats.org/drawingml/2006/main">
            <a:off x="761695" y="1238098"/>
            <a:ext cx="13335610" cy="486461"/>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3600" b="1">
                <a:solidFill>
                  <a:srgbClr val="0F1226"/>
                </a:solidFill>
                <a:latin typeface="Inter"/>
                <a:ea typeface="Inter"/>
                <a:cs typeface="Inter"/>
              </a:rPr>
              <a:t>One shared model reduces rebuild effort; local work remains.</a:t>
            </a:r>
          </a:p>
        </p:txBody>
      </p:sp>
      <p:sp>
        <p:nvSpPr>
          <p:cNvPr id="13" name="Text 8">
            <a:extLst xmlns:a="http://schemas.openxmlformats.org/drawingml/2006/main">
              <a:ext uri="{FF2B5EF4-FFF2-40B4-BE49-F238E27FC236}">
                <a16:creationId xmlns:a16="http://schemas.microsoft.com/office/drawing/2014/main" id="{8124A9A9-FDEF-4956-A126-03E8A55DD558}"/>
              </a:ext>
            </a:extLst>
          </p:cNvPr>
          <p:cNvSpPr>
            <a:spLocks xmlns:a="http://schemas.openxmlformats.org/drawingml/2006/main" noGrp="1"/>
          </p:cNvSpPr>
          <p:nvPr/>
        </p:nvSpPr>
        <p:spPr>
          <a:xfrm xmlns:a="http://schemas.openxmlformats.org/drawingml/2006/main">
            <a:off x="761695" y="1813255"/>
            <a:ext cx="13335610" cy="21031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500" i="1">
                <a:solidFill>
                  <a:srgbClr val="6A6F8C"/>
                </a:solidFill>
                <a:latin typeface="Source Serif Pro"/>
                <a:ea typeface="Source Serif Pro"/>
                <a:cs typeface="Source Serif Pro"/>
              </a:rPr>
              <a:t>The adapter handles schema differences; local thresholds handle advisor capacity.</a:t>
            </a:r>
          </a:p>
        </p:txBody>
      </p:sp>
      <p:sp>
        <p:nvSpPr>
          <p:cNvPr id="14" name="Text 9">
            <a:extLst xmlns:a="http://schemas.openxmlformats.org/drawingml/2006/main">
              <a:ext uri="{FF2B5EF4-FFF2-40B4-BE49-F238E27FC236}">
                <a16:creationId xmlns:a16="http://schemas.microsoft.com/office/drawing/2014/main" id="{6C9AB244-2FF9-4949-9243-CBDDD1FEDB72}"/>
              </a:ext>
            </a:extLst>
          </p:cNvPr>
          <p:cNvSpPr>
            <a:spLocks xmlns:a="http://schemas.openxmlformats.org/drawingml/2006/main" noGrp="1"/>
          </p:cNvSpPr>
          <p:nvPr/>
        </p:nvSpPr>
        <p:spPr>
          <a:xfrm xmlns:a="http://schemas.openxmlformats.org/drawingml/2006/main">
            <a:off x="14287500" y="1380744"/>
            <a:ext cx="3238805" cy="419710"/>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ctr">
              <a:buNone/>
            </a:pPr>
            <a:r>
              <a:rPr sz="900">
                <a:solidFill>
                  <a:srgbClr val="E8A93A"/>
                </a:solidFill>
                <a:latin typeface="JetBrains Mono"/>
                <a:ea typeface="JetBrains Mono"/>
                <a:cs typeface="JetBrains Mono"/>
              </a:rPr>
              <a:t>PLANNING SCENARIO</a:t>
            </a:r>
          </a:p>
        </p:txBody>
      </p:sp>
      <p:sp>
        <p:nvSpPr>
          <p:cNvPr id="15" name="Text 10">
            <a:extLst xmlns:a="http://schemas.openxmlformats.org/drawingml/2006/main">
              <a:ext uri="{FF2B5EF4-FFF2-40B4-BE49-F238E27FC236}">
                <a16:creationId xmlns:a16="http://schemas.microsoft.com/office/drawing/2014/main" id="{4E07767F-739B-4AB6-B278-F5201D4CE535}"/>
              </a:ext>
            </a:extLst>
          </p:cNvPr>
          <p:cNvSpPr>
            <a:spLocks xmlns:a="http://schemas.openxmlformats.org/drawingml/2006/main" noGrp="1"/>
          </p:cNvSpPr>
          <p:nvPr/>
        </p:nvSpPr>
        <p:spPr>
          <a:xfrm xmlns:a="http://schemas.openxmlformats.org/drawingml/2006/main">
            <a:off x="1047902" y="2952598"/>
            <a:ext cx="10478110" cy="1335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E4237A"/>
                </a:solidFill>
                <a:latin typeface="JetBrains Mono"/>
                <a:ea typeface="JetBrains Mono"/>
                <a:cs typeface="JetBrains Mono"/>
              </a:rPr>
              <a:t>FIG | OULAD-specific capacity planning scenario</a:t>
            </a:r>
          </a:p>
        </p:txBody>
      </p:sp>
      <p:sp>
        <p:nvSpPr>
          <p:cNvPr id="16" name="Text 11">
            <a:extLst xmlns:a="http://schemas.openxmlformats.org/drawingml/2006/main">
              <a:ext uri="{FF2B5EF4-FFF2-40B4-BE49-F238E27FC236}">
                <a16:creationId xmlns:a16="http://schemas.microsoft.com/office/drawing/2014/main" id="{6A414565-94B9-4FE5-BCF8-EECF2FA6BECA}"/>
              </a:ext>
            </a:extLst>
          </p:cNvPr>
          <p:cNvSpPr>
            <a:spLocks xmlns:a="http://schemas.openxmlformats.org/drawingml/2006/main" noGrp="1"/>
          </p:cNvSpPr>
          <p:nvPr/>
        </p:nvSpPr>
        <p:spPr>
          <a:xfrm xmlns:a="http://schemas.openxmlformats.org/drawingml/2006/main">
            <a:off x="1047902" y="8667598"/>
            <a:ext cx="10668305" cy="41971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000">
                <a:solidFill>
                  <a:srgbClr val="2A2E4B"/>
                </a:solidFill>
                <a:latin typeface="JetBrains Mono"/>
                <a:ea typeface="JetBrains Mono"/>
                <a:cs typeface="JetBrains Mono"/>
              </a:rPr>
              <a:t>Illustrative advisor workload from the supporting OULAD model; not a guaranteed outcome for a new school.</a:t>
            </a:r>
          </a:p>
        </p:txBody>
      </p:sp>
      <p:sp>
        <p:nvSpPr>
          <p:cNvPr id="17" name="Text 12">
            <a:extLst xmlns:a="http://schemas.openxmlformats.org/drawingml/2006/main">
              <a:ext uri="{FF2B5EF4-FFF2-40B4-BE49-F238E27FC236}">
                <a16:creationId xmlns:a16="http://schemas.microsoft.com/office/drawing/2014/main" id="{A1CCC7A4-D6F9-4067-8CB7-155B5BDD44A8}"/>
              </a:ext>
            </a:extLst>
          </p:cNvPr>
          <p:cNvSpPr>
            <a:spLocks xmlns:a="http://schemas.openxmlformats.org/drawingml/2006/main" noGrp="1"/>
          </p:cNvSpPr>
          <p:nvPr/>
        </p:nvSpPr>
        <p:spPr>
          <a:xfrm xmlns:a="http://schemas.openxmlformats.org/drawingml/2006/main">
            <a:off x="12573000" y="3000146"/>
            <a:ext cx="4668012" cy="1335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E4237A"/>
                </a:solidFill>
                <a:latin typeface="JetBrains Mono"/>
                <a:ea typeface="JetBrains Mono"/>
                <a:cs typeface="JetBrains Mono"/>
              </a:rPr>
              <a:t>New-school use | minimum steps</a:t>
            </a:r>
          </a:p>
        </p:txBody>
      </p:sp>
      <p:sp>
        <p:nvSpPr>
          <p:cNvPr id="18" name="Shape 13">
            <a:extLst xmlns:a="http://schemas.openxmlformats.org/drawingml/2006/main">
              <a:ext uri="{FF2B5EF4-FFF2-40B4-BE49-F238E27FC236}">
                <a16:creationId xmlns:a16="http://schemas.microsoft.com/office/drawing/2014/main" id="{36368597-1FE2-4C24-869E-D2C18015A93A}"/>
              </a:ext>
            </a:extLst>
          </p:cNvPr>
          <p:cNvSpPr>
            <a:spLocks xmlns:a="http://schemas.openxmlformats.org/drawingml/2006/main" noGrp="1"/>
          </p:cNvSpPr>
          <p:nvPr/>
        </p:nvSpPr>
        <p:spPr>
          <a:xfrm xmlns:a="http://schemas.openxmlformats.org/drawingml/2006/main">
            <a:off x="14830654" y="3305556"/>
            <a:ext cx="9144" cy="752551"/>
          </a:xfrm>
          <a:prstGeom xmlns:a="http://schemas.openxmlformats.org/drawingml/2006/main" prst="rect">
            <a:avLst/>
          </a:prstGeom>
          <a:solidFill xmlns:a="http://schemas.openxmlformats.org/drawingml/2006/main">
            <a:srgbClr val="E4E5EF"/>
          </a:solidFill>
          <a:ln xmlns:a="http://schemas.openxmlformats.org/drawingml/2006/main" w="12700">
            <a:solidFill>
              <a:srgbClr val="E4E5EF">
                <a:alpha val="0"/>
              </a:srgbClr>
            </a:solidFill>
            <a:prstDash val="solid"/>
          </a:ln>
        </p:spPr>
      </p:sp>
      <p:sp>
        <p:nvSpPr>
          <p:cNvPr id="19" name="Text 14">
            <a:extLst xmlns:a="http://schemas.openxmlformats.org/drawingml/2006/main">
              <a:ext uri="{FF2B5EF4-FFF2-40B4-BE49-F238E27FC236}">
                <a16:creationId xmlns:a16="http://schemas.microsoft.com/office/drawing/2014/main" id="{D912F792-3693-4D68-834F-1D57D1D54400}"/>
              </a:ext>
            </a:extLst>
          </p:cNvPr>
          <p:cNvSpPr>
            <a:spLocks xmlns:a="http://schemas.openxmlformats.org/drawingml/2006/main" noGrp="1"/>
          </p:cNvSpPr>
          <p:nvPr/>
        </p:nvSpPr>
        <p:spPr>
          <a:xfrm xmlns:a="http://schemas.openxmlformats.org/drawingml/2006/main">
            <a:off x="12573000" y="3305556"/>
            <a:ext cx="2124151" cy="1335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6A6F8C"/>
                </a:solidFill>
                <a:latin typeface="JetBrains Mono"/>
                <a:ea typeface="JetBrains Mono"/>
                <a:cs typeface="JetBrains Mono"/>
              </a:rPr>
              <a:t>ADAPTER</a:t>
            </a:r>
          </a:p>
        </p:txBody>
      </p:sp>
      <p:sp>
        <p:nvSpPr>
          <p:cNvPr id="20" name="Text 15">
            <a:extLst xmlns:a="http://schemas.openxmlformats.org/drawingml/2006/main">
              <a:ext uri="{FF2B5EF4-FFF2-40B4-BE49-F238E27FC236}">
                <a16:creationId xmlns:a16="http://schemas.microsoft.com/office/drawing/2014/main" id="{A3252D90-344E-4852-B0CE-9147B4D70AD6}"/>
              </a:ext>
            </a:extLst>
          </p:cNvPr>
          <p:cNvSpPr>
            <a:spLocks xmlns:a="http://schemas.openxmlformats.org/drawingml/2006/main" noGrp="1"/>
          </p:cNvSpPr>
          <p:nvPr/>
        </p:nvSpPr>
        <p:spPr>
          <a:xfrm xmlns:a="http://schemas.openxmlformats.org/drawingml/2006/main">
            <a:off x="12573000" y="3495751"/>
            <a:ext cx="2124151" cy="3621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2800" b="1">
                <a:solidFill>
                  <a:srgbClr val="2A2E7A"/>
                </a:solidFill>
                <a:latin typeface="JetBrains Mono"/>
                <a:ea typeface="JetBrains Mono"/>
                <a:cs typeface="JetBrains Mono"/>
              </a:rPr>
              <a:t>16</a:t>
            </a:r>
          </a:p>
        </p:txBody>
      </p:sp>
      <p:sp>
        <p:nvSpPr>
          <p:cNvPr id="21" name="Text 16">
            <a:extLst xmlns:a="http://schemas.openxmlformats.org/drawingml/2006/main">
              <a:ext uri="{FF2B5EF4-FFF2-40B4-BE49-F238E27FC236}">
                <a16:creationId xmlns:a16="http://schemas.microsoft.com/office/drawing/2014/main" id="{5FA7F80C-D6DD-41A8-A5BE-A8BE558BEB6B}"/>
              </a:ext>
            </a:extLst>
          </p:cNvPr>
          <p:cNvSpPr>
            <a:spLocks xmlns:a="http://schemas.openxmlformats.org/drawingml/2006/main" noGrp="1"/>
          </p:cNvSpPr>
          <p:nvPr/>
        </p:nvSpPr>
        <p:spPr>
          <a:xfrm xmlns:a="http://schemas.openxmlformats.org/drawingml/2006/main">
            <a:off x="12573000" y="3895344"/>
            <a:ext cx="2124151" cy="162763"/>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000">
                <a:solidFill>
                  <a:srgbClr val="2A2E4B"/>
                </a:solidFill>
                <a:latin typeface="Inter"/>
                <a:ea typeface="Inter"/>
                <a:cs typeface="Inter"/>
              </a:rPr>
              <a:t>fixed semantic columns</a:t>
            </a:r>
          </a:p>
        </p:txBody>
      </p:sp>
      <p:sp>
        <p:nvSpPr>
          <p:cNvPr id="22" name="Text 17">
            <a:extLst xmlns:a="http://schemas.openxmlformats.org/drawingml/2006/main">
              <a:ext uri="{FF2B5EF4-FFF2-40B4-BE49-F238E27FC236}">
                <a16:creationId xmlns:a16="http://schemas.microsoft.com/office/drawing/2014/main" id="{27683651-B785-4276-AD6B-9F0B0C0421DD}"/>
              </a:ext>
            </a:extLst>
          </p:cNvPr>
          <p:cNvSpPr>
            <a:spLocks xmlns:a="http://schemas.openxmlformats.org/drawingml/2006/main" noGrp="1"/>
          </p:cNvSpPr>
          <p:nvPr/>
        </p:nvSpPr>
        <p:spPr>
          <a:xfrm xmlns:a="http://schemas.openxmlformats.org/drawingml/2006/main">
            <a:off x="14973300" y="3305556"/>
            <a:ext cx="2267712" cy="1335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6A6F8C"/>
                </a:solidFill>
                <a:latin typeface="JetBrains Mono"/>
                <a:ea typeface="JetBrains Mono"/>
                <a:cs typeface="JetBrains Mono"/>
              </a:rPr>
              <a:t>REVIEW</a:t>
            </a:r>
          </a:p>
        </p:txBody>
      </p:sp>
      <p:sp>
        <p:nvSpPr>
          <p:cNvPr id="23" name="Text 18">
            <a:extLst xmlns:a="http://schemas.openxmlformats.org/drawingml/2006/main">
              <a:ext uri="{FF2B5EF4-FFF2-40B4-BE49-F238E27FC236}">
                <a16:creationId xmlns:a16="http://schemas.microsoft.com/office/drawing/2014/main" id="{A99E789C-0553-4ABB-9F60-B3E01AFE3534}"/>
              </a:ext>
            </a:extLst>
          </p:cNvPr>
          <p:cNvSpPr>
            <a:spLocks xmlns:a="http://schemas.openxmlformats.org/drawingml/2006/main" noGrp="1"/>
          </p:cNvSpPr>
          <p:nvPr/>
        </p:nvSpPr>
        <p:spPr>
          <a:xfrm xmlns:a="http://schemas.openxmlformats.org/drawingml/2006/main">
            <a:off x="14973300" y="3495751"/>
            <a:ext cx="2267712" cy="3621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2800" b="1">
                <a:solidFill>
                  <a:srgbClr val="2A2E7A"/>
                </a:solidFill>
                <a:latin typeface="JetBrains Mono"/>
                <a:ea typeface="JetBrains Mono"/>
                <a:cs typeface="JetBrains Mono"/>
              </a:rPr>
              <a:t>Top 15%</a:t>
            </a:r>
          </a:p>
        </p:txBody>
      </p:sp>
      <p:sp>
        <p:nvSpPr>
          <p:cNvPr id="24" name="Text 19">
            <a:extLst xmlns:a="http://schemas.openxmlformats.org/drawingml/2006/main">
              <a:ext uri="{FF2B5EF4-FFF2-40B4-BE49-F238E27FC236}">
                <a16:creationId xmlns:a16="http://schemas.microsoft.com/office/drawing/2014/main" id="{E1D6DAEE-6EAF-4FA4-9677-CB3B452DA3B8}"/>
              </a:ext>
            </a:extLst>
          </p:cNvPr>
          <p:cNvSpPr>
            <a:spLocks xmlns:a="http://schemas.openxmlformats.org/drawingml/2006/main" noGrp="1"/>
          </p:cNvSpPr>
          <p:nvPr/>
        </p:nvSpPr>
        <p:spPr>
          <a:xfrm xmlns:a="http://schemas.openxmlformats.org/drawingml/2006/main">
            <a:off x="14973300" y="3895344"/>
            <a:ext cx="2267712" cy="162763"/>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000">
                <a:solidFill>
                  <a:srgbClr val="2A2E4B"/>
                </a:solidFill>
                <a:latin typeface="Inter"/>
                <a:ea typeface="Inter"/>
                <a:cs typeface="Inter"/>
              </a:rPr>
              <a:t>within-course ranking</a:t>
            </a:r>
          </a:p>
        </p:txBody>
      </p:sp>
      <p:sp>
        <p:nvSpPr>
          <p:cNvPr id="25" name="Shape 20">
            <a:extLst xmlns:a="http://schemas.openxmlformats.org/drawingml/2006/main">
              <a:ext uri="{FF2B5EF4-FFF2-40B4-BE49-F238E27FC236}">
                <a16:creationId xmlns:a16="http://schemas.microsoft.com/office/drawing/2014/main" id="{C593C498-4340-4359-855F-2E9BF7353129}"/>
              </a:ext>
            </a:extLst>
          </p:cNvPr>
          <p:cNvSpPr>
            <a:spLocks xmlns:a="http://schemas.openxmlformats.org/drawingml/2006/main" noGrp="1"/>
          </p:cNvSpPr>
          <p:nvPr/>
        </p:nvSpPr>
        <p:spPr>
          <a:xfrm xmlns:a="http://schemas.openxmlformats.org/drawingml/2006/main">
            <a:off x="12573000" y="4229100"/>
            <a:ext cx="4667098" cy="9144"/>
          </a:xfrm>
          <a:prstGeom xmlns:a="http://schemas.openxmlformats.org/drawingml/2006/main" prst="rect">
            <a:avLst/>
          </a:prstGeom>
          <a:solidFill xmlns:a="http://schemas.openxmlformats.org/drawingml/2006/main">
            <a:srgbClr val="E4E5EF"/>
          </a:solidFill>
          <a:ln xmlns:a="http://schemas.openxmlformats.org/drawingml/2006/main" w="12700">
            <a:solidFill>
              <a:srgbClr val="E4E5EF">
                <a:alpha val="0"/>
              </a:srgbClr>
            </a:solidFill>
            <a:prstDash val="solid"/>
          </a:ln>
        </p:spPr>
      </p:sp>
      <p:sp>
        <p:nvSpPr>
          <p:cNvPr id="26" name="Text 21">
            <a:extLst xmlns:a="http://schemas.openxmlformats.org/drawingml/2006/main">
              <a:ext uri="{FF2B5EF4-FFF2-40B4-BE49-F238E27FC236}">
                <a16:creationId xmlns:a16="http://schemas.microsoft.com/office/drawing/2014/main" id="{48F51D5C-2204-4E85-B216-F8586B1DA59E}"/>
              </a:ext>
            </a:extLst>
          </p:cNvPr>
          <p:cNvSpPr>
            <a:spLocks xmlns:a="http://schemas.openxmlformats.org/drawingml/2006/main" noGrp="1"/>
          </p:cNvSpPr>
          <p:nvPr/>
        </p:nvSpPr>
        <p:spPr>
          <a:xfrm xmlns:a="http://schemas.openxmlformats.org/drawingml/2006/main">
            <a:off x="12573000" y="4371746"/>
            <a:ext cx="1485900" cy="181051"/>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6A6F8C"/>
                </a:solidFill>
                <a:latin typeface="JetBrains Mono"/>
                <a:ea typeface="JetBrains Mono"/>
                <a:cs typeface="JetBrains Mono"/>
              </a:rPr>
              <a:t>VALIDATE</a:t>
            </a:r>
          </a:p>
        </p:txBody>
      </p:sp>
      <p:sp>
        <p:nvSpPr>
          <p:cNvPr id="27" name="Text 22">
            <a:extLst xmlns:a="http://schemas.openxmlformats.org/drawingml/2006/main">
              <a:ext uri="{FF2B5EF4-FFF2-40B4-BE49-F238E27FC236}">
                <a16:creationId xmlns:a16="http://schemas.microsoft.com/office/drawing/2014/main" id="{1EC04B28-D506-4B73-BAE9-7AD0C6DFCEE8}"/>
              </a:ext>
            </a:extLst>
          </p:cNvPr>
          <p:cNvSpPr>
            <a:spLocks xmlns:a="http://schemas.openxmlformats.org/drawingml/2006/main" noGrp="1"/>
          </p:cNvSpPr>
          <p:nvPr/>
        </p:nvSpPr>
        <p:spPr>
          <a:xfrm xmlns:a="http://schemas.openxmlformats.org/drawingml/2006/main">
            <a:off x="12573000" y="4562856"/>
            <a:ext cx="1485900" cy="472745"/>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744"/>
              </a:lnSpc>
              <a:buNone/>
            </a:pPr>
            <a:r>
              <a:rPr sz="1100">
                <a:solidFill>
                  <a:srgbClr val="2A2E4B"/>
                </a:solidFill>
                <a:latin typeface="JetBrains Mono"/>
                <a:ea typeface="JetBrains Mono"/>
                <a:cs typeface="JetBrains Mono"/>
              </a:rPr>
              <a:t>ROC-AUC · AP</a:t>
            </a:r>
          </a:p>
          <a:p xmlns:a="http://schemas.openxmlformats.org/drawingml/2006/main">
            <a:pPr marL="0" indent="0" algn="l">
              <a:lnSpc>
                <a:spcPts val="1744"/>
              </a:lnSpc>
              <a:buNone/>
            </a:pPr>
            <a:r>
              <a:rPr sz="1100">
                <a:solidFill>
                  <a:srgbClr val="2A2E4B"/>
                </a:solidFill>
                <a:latin typeface="JetBrains Mono"/>
                <a:ea typeface="JetBrains Mono"/>
                <a:cs typeface="JetBrains Mono"/>
              </a:rPr>
              <a:t>Brier · subgroup checks</a:t>
            </a:r>
          </a:p>
        </p:txBody>
      </p:sp>
      <p:sp>
        <p:nvSpPr>
          <p:cNvPr id="28" name="Text 23">
            <a:extLst xmlns:a="http://schemas.openxmlformats.org/drawingml/2006/main">
              <a:ext uri="{FF2B5EF4-FFF2-40B4-BE49-F238E27FC236}">
                <a16:creationId xmlns:a16="http://schemas.microsoft.com/office/drawing/2014/main" id="{0E2FA28C-2997-45CA-8C2F-3FFA7DC70B3B}"/>
              </a:ext>
            </a:extLst>
          </p:cNvPr>
          <p:cNvSpPr>
            <a:spLocks xmlns:a="http://schemas.openxmlformats.org/drawingml/2006/main" noGrp="1"/>
          </p:cNvSpPr>
          <p:nvPr/>
        </p:nvSpPr>
        <p:spPr>
          <a:xfrm xmlns:a="http://schemas.openxmlformats.org/drawingml/2006/main">
            <a:off x="14166799" y="4371746"/>
            <a:ext cx="1485900" cy="181051"/>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6A6F8C"/>
                </a:solidFill>
                <a:latin typeface="JetBrains Mono"/>
                <a:ea typeface="JetBrains Mono"/>
                <a:cs typeface="JetBrains Mono"/>
              </a:rPr>
              <a:t>CALIBRATE</a:t>
            </a:r>
          </a:p>
        </p:txBody>
      </p:sp>
      <p:sp>
        <p:nvSpPr>
          <p:cNvPr id="29" name="Text 24">
            <a:extLst xmlns:a="http://schemas.openxmlformats.org/drawingml/2006/main">
              <a:ext uri="{FF2B5EF4-FFF2-40B4-BE49-F238E27FC236}">
                <a16:creationId xmlns:a16="http://schemas.microsoft.com/office/drawing/2014/main" id="{6DD486D4-DFCB-41F7-90E7-76E3600A7CBF}"/>
              </a:ext>
            </a:extLst>
          </p:cNvPr>
          <p:cNvSpPr>
            <a:spLocks xmlns:a="http://schemas.openxmlformats.org/drawingml/2006/main" noGrp="1"/>
          </p:cNvSpPr>
          <p:nvPr/>
        </p:nvSpPr>
        <p:spPr>
          <a:xfrm xmlns:a="http://schemas.openxmlformats.org/drawingml/2006/main">
            <a:off x="14166799" y="4562856"/>
            <a:ext cx="1485900" cy="472745"/>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744"/>
              </a:lnSpc>
              <a:buNone/>
            </a:pPr>
            <a:r>
              <a:rPr sz="1100">
                <a:solidFill>
                  <a:srgbClr val="2A2E4B"/>
                </a:solidFill>
                <a:latin typeface="JetBrains Mono"/>
                <a:ea typeface="JetBrains Mono"/>
                <a:cs typeface="JetBrains Mono"/>
              </a:rPr>
              <a:t>Local probability scale</a:t>
            </a:r>
          </a:p>
          <a:p xmlns:a="http://schemas.openxmlformats.org/drawingml/2006/main">
            <a:pPr marL="0" indent="0" algn="l">
              <a:lnSpc>
                <a:spcPts val="1744"/>
              </a:lnSpc>
              <a:buNone/>
            </a:pPr>
            <a:r>
              <a:rPr sz="1100">
                <a:solidFill>
                  <a:srgbClr val="2A2E4B"/>
                </a:solidFill>
                <a:latin typeface="JetBrains Mono"/>
                <a:ea typeface="JetBrains Mono"/>
                <a:cs typeface="JetBrains Mono"/>
              </a:rPr>
              <a:t>and alert threshold</a:t>
            </a:r>
          </a:p>
        </p:txBody>
      </p:sp>
      <p:sp>
        <p:nvSpPr>
          <p:cNvPr id="30" name="Text 25">
            <a:extLst xmlns:a="http://schemas.openxmlformats.org/drawingml/2006/main">
              <a:ext uri="{FF2B5EF4-FFF2-40B4-BE49-F238E27FC236}">
                <a16:creationId xmlns:a16="http://schemas.microsoft.com/office/drawing/2014/main" id="{B429133B-C3B6-47DA-A43D-57BB2F3EA178}"/>
              </a:ext>
            </a:extLst>
          </p:cNvPr>
          <p:cNvSpPr>
            <a:spLocks xmlns:a="http://schemas.openxmlformats.org/drawingml/2006/main" noGrp="1"/>
          </p:cNvSpPr>
          <p:nvPr/>
        </p:nvSpPr>
        <p:spPr>
          <a:xfrm xmlns:a="http://schemas.openxmlformats.org/drawingml/2006/main">
            <a:off x="15760598" y="4371746"/>
            <a:ext cx="1485900" cy="181051"/>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6A6F8C"/>
                </a:solidFill>
                <a:latin typeface="JetBrains Mono"/>
                <a:ea typeface="JetBrains Mono"/>
                <a:cs typeface="JetBrains Mono"/>
              </a:rPr>
              <a:t>PILOT</a:t>
            </a:r>
          </a:p>
        </p:txBody>
      </p:sp>
      <p:sp>
        <p:nvSpPr>
          <p:cNvPr id="31" name="Text 26">
            <a:extLst xmlns:a="http://schemas.openxmlformats.org/drawingml/2006/main">
              <a:ext uri="{FF2B5EF4-FFF2-40B4-BE49-F238E27FC236}">
                <a16:creationId xmlns:a16="http://schemas.microsoft.com/office/drawing/2014/main" id="{BF0A000D-6F34-45AD-B1F0-DC123275129D}"/>
              </a:ext>
            </a:extLst>
          </p:cNvPr>
          <p:cNvSpPr>
            <a:spLocks xmlns:a="http://schemas.openxmlformats.org/drawingml/2006/main" noGrp="1"/>
          </p:cNvSpPr>
          <p:nvPr/>
        </p:nvSpPr>
        <p:spPr>
          <a:xfrm xmlns:a="http://schemas.openxmlformats.org/drawingml/2006/main">
            <a:off x="15760598" y="4562856"/>
            <a:ext cx="1485900" cy="472745"/>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1744"/>
              </a:lnSpc>
              <a:buNone/>
            </a:pPr>
            <a:r>
              <a:rPr sz="1100">
                <a:solidFill>
                  <a:srgbClr val="2A2E4B"/>
                </a:solidFill>
                <a:latin typeface="JetBrains Mono"/>
                <a:ea typeface="JetBrains Mono"/>
                <a:cs typeface="JetBrains Mono"/>
              </a:rPr>
              <a:t>Shadow term before</a:t>
            </a:r>
          </a:p>
          <a:p xmlns:a="http://schemas.openxmlformats.org/drawingml/2006/main">
            <a:pPr marL="0" indent="0" algn="l">
              <a:lnSpc>
                <a:spcPts val="1744"/>
              </a:lnSpc>
              <a:buNone/>
            </a:pPr>
            <a:r>
              <a:rPr sz="1100">
                <a:solidFill>
                  <a:srgbClr val="2A2E4B"/>
                </a:solidFill>
                <a:latin typeface="JetBrains Mono"/>
                <a:ea typeface="JetBrains Mono"/>
                <a:cs typeface="JetBrains Mono"/>
              </a:rPr>
              <a:t>advisor use</a:t>
            </a:r>
          </a:p>
        </p:txBody>
      </p:sp>
      <p:sp>
        <p:nvSpPr>
          <p:cNvPr id="32" name="Shape 27">
            <a:extLst xmlns:a="http://schemas.openxmlformats.org/drawingml/2006/main">
              <a:ext uri="{FF2B5EF4-FFF2-40B4-BE49-F238E27FC236}">
                <a16:creationId xmlns:a16="http://schemas.microsoft.com/office/drawing/2014/main" id="{D81CBF38-686F-4270-8D0A-8EC064494A57}"/>
              </a:ext>
            </a:extLst>
          </p:cNvPr>
          <p:cNvSpPr>
            <a:spLocks xmlns:a="http://schemas.openxmlformats.org/drawingml/2006/main" noGrp="1"/>
          </p:cNvSpPr>
          <p:nvPr/>
        </p:nvSpPr>
        <p:spPr>
          <a:xfrm xmlns:a="http://schemas.openxmlformats.org/drawingml/2006/main">
            <a:off x="12573000" y="5163617"/>
            <a:ext cx="4667098" cy="9144"/>
          </a:xfrm>
          <a:prstGeom xmlns:a="http://schemas.openxmlformats.org/drawingml/2006/main" prst="rect">
            <a:avLst/>
          </a:prstGeom>
          <a:solidFill xmlns:a="http://schemas.openxmlformats.org/drawingml/2006/main">
            <a:srgbClr val="E4E5EF"/>
          </a:solidFill>
          <a:ln xmlns:a="http://schemas.openxmlformats.org/drawingml/2006/main" w="12700">
            <a:solidFill>
              <a:srgbClr val="E4E5EF">
                <a:alpha val="0"/>
              </a:srgbClr>
            </a:solidFill>
            <a:prstDash val="solid"/>
          </a:ln>
        </p:spPr>
      </p:sp>
      <p:sp>
        <p:nvSpPr>
          <p:cNvPr id="33" name="Text 28">
            <a:extLst xmlns:a="http://schemas.openxmlformats.org/drawingml/2006/main">
              <a:ext uri="{FF2B5EF4-FFF2-40B4-BE49-F238E27FC236}">
                <a16:creationId xmlns:a16="http://schemas.microsoft.com/office/drawing/2014/main" id="{74ECD2FF-C276-4F02-AFBF-374852E86C4B}"/>
              </a:ext>
            </a:extLst>
          </p:cNvPr>
          <p:cNvSpPr>
            <a:spLocks xmlns:a="http://schemas.openxmlformats.org/drawingml/2006/main" noGrp="1"/>
          </p:cNvSpPr>
          <p:nvPr/>
        </p:nvSpPr>
        <p:spPr>
          <a:xfrm xmlns:a="http://schemas.openxmlformats.org/drawingml/2006/main">
            <a:off x="12573000" y="5287061"/>
            <a:ext cx="4668012" cy="305410"/>
          </a:xfrm>
          <a:prstGeom xmlns:a="http://schemas.openxmlformats.org/drawingml/2006/main" prst="rect">
            <a:avLst/>
          </a:prstGeom>
          <a:solidFill xmlns:a="http://schemas.openxmlformats.org/drawingml/2006/main">
            <a:srgbClr val="FFFFFF">
              <a:alpha val="0"/>
            </a:srgbClr>
          </a:solidFill>
          <a:ln xmlns:a="http://schemas.openxmlformats.org/drawingml/2006/main">
            <a:solidFill>
              <a:srgbClr val="FFFFFF">
                <a:alpha val="0"/>
              </a:srgbClr>
            </a:solidFill>
          </a:ln>
        </p:spPr>
        <p:txBody>
          <a:bodyPr xmlns:a="http://schemas.openxmlformats.org/drawingml/2006/main" wrap="square" lIns="114300" tIns="0" rIns="114300" bIns="114300" anchor="ctr"/>
          <a:lstStyle xmlns:a="http://schemas.openxmlformats.org/drawingml/2006/main"/>
          <a:p xmlns:a="http://schemas.openxmlformats.org/drawingml/2006/main">
            <a:pPr marL="0" indent="0" algn="l">
              <a:buNone/>
            </a:pPr>
            <a:r>
              <a:rPr sz="1000">
                <a:solidFill>
                  <a:srgbClr val="6A6F8C"/>
                </a:solidFill>
                <a:latin typeface="JetBrains Mono"/>
                <a:ea typeface="JetBrains Mono"/>
                <a:cs typeface="JetBrains Mono"/>
              </a:rPr>
              <a:t>One frozen model version | one local adapter and review policy per institution</a:t>
            </a:r>
          </a:p>
        </p:txBody>
      </p:sp>
      <p:sp>
        <p:nvSpPr>
          <p:cNvPr id="34" name="Text 29">
            <a:extLst xmlns:a="http://schemas.openxmlformats.org/drawingml/2006/main">
              <a:ext uri="{FF2B5EF4-FFF2-40B4-BE49-F238E27FC236}">
                <a16:creationId xmlns:a16="http://schemas.microsoft.com/office/drawing/2014/main" id="{AB26ED77-015E-49E0-884E-7EE5A0F79F2A}"/>
              </a:ext>
            </a:extLst>
          </p:cNvPr>
          <p:cNvSpPr>
            <a:spLocks xmlns:a="http://schemas.openxmlformats.org/drawingml/2006/main" noGrp="1"/>
          </p:cNvSpPr>
          <p:nvPr/>
        </p:nvSpPr>
        <p:spPr>
          <a:xfrm xmlns:a="http://schemas.openxmlformats.org/drawingml/2006/main">
            <a:off x="12573000" y="6334049"/>
            <a:ext cx="4668012" cy="1335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FF5CA0"/>
                </a:solidFill>
                <a:latin typeface="JetBrains Mono"/>
                <a:ea typeface="JetBrains Mono"/>
                <a:cs typeface="JetBrains Mono"/>
              </a:rPr>
              <a:t>Why it matters</a:t>
            </a:r>
          </a:p>
        </p:txBody>
      </p:sp>
      <p:sp>
        <p:nvSpPr>
          <p:cNvPr id="35" name="Text 30">
            <a:extLst xmlns:a="http://schemas.openxmlformats.org/drawingml/2006/main">
              <a:ext uri="{FF2B5EF4-FFF2-40B4-BE49-F238E27FC236}">
                <a16:creationId xmlns:a16="http://schemas.microsoft.com/office/drawing/2014/main" id="{1DF25C79-518B-45CF-AB24-6FBAD9604E8C}"/>
              </a:ext>
            </a:extLst>
          </p:cNvPr>
          <p:cNvSpPr>
            <a:spLocks xmlns:a="http://schemas.openxmlformats.org/drawingml/2006/main" noGrp="1"/>
          </p:cNvSpPr>
          <p:nvPr/>
        </p:nvSpPr>
        <p:spPr>
          <a:xfrm xmlns:a="http://schemas.openxmlformats.org/drawingml/2006/main">
            <a:off x="12573000" y="6638544"/>
            <a:ext cx="1133856" cy="143561"/>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FFFFFF">
                    <a:alpha val="70000"/>
                  </a:srgbClr>
                </a:solidFill>
                <a:latin typeface="JetBrains Mono"/>
                <a:ea typeface="JetBrains Mono"/>
                <a:cs typeface="JetBrains Mono"/>
              </a:rPr>
              <a:t>Lower build cost</a:t>
            </a:r>
          </a:p>
        </p:txBody>
      </p:sp>
      <p:sp>
        <p:nvSpPr>
          <p:cNvPr id="36" name="Text 31">
            <a:extLst xmlns:a="http://schemas.openxmlformats.org/drawingml/2006/main">
              <a:ext uri="{FF2B5EF4-FFF2-40B4-BE49-F238E27FC236}">
                <a16:creationId xmlns:a16="http://schemas.microsoft.com/office/drawing/2014/main" id="{571144E8-024C-45C5-BEA3-3792D650F31F}"/>
              </a:ext>
            </a:extLst>
          </p:cNvPr>
          <p:cNvSpPr>
            <a:spLocks xmlns:a="http://schemas.openxmlformats.org/drawingml/2006/main" noGrp="1"/>
          </p:cNvSpPr>
          <p:nvPr/>
        </p:nvSpPr>
        <p:spPr>
          <a:xfrm xmlns:a="http://schemas.openxmlformats.org/drawingml/2006/main">
            <a:off x="12573000" y="6819595"/>
            <a:ext cx="1133856" cy="286207"/>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900" b="1">
                <a:solidFill>
                  <a:srgbClr val="FFFFFF"/>
                </a:solidFill>
                <a:latin typeface="JetBrains Mono"/>
                <a:ea typeface="JetBrains Mono"/>
                <a:cs typeface="JetBrains Mono"/>
              </a:rPr>
              <a:t>Reuse</a:t>
            </a:r>
          </a:p>
        </p:txBody>
      </p:sp>
      <p:sp>
        <p:nvSpPr>
          <p:cNvPr id="37" name="Text 32">
            <a:extLst xmlns:a="http://schemas.openxmlformats.org/drawingml/2006/main">
              <a:ext uri="{FF2B5EF4-FFF2-40B4-BE49-F238E27FC236}">
                <a16:creationId xmlns:a16="http://schemas.microsoft.com/office/drawing/2014/main" id="{1AF134BC-04AB-470A-AA66-EFBB5DAF4772}"/>
              </a:ext>
            </a:extLst>
          </p:cNvPr>
          <p:cNvSpPr>
            <a:spLocks xmlns:a="http://schemas.openxmlformats.org/drawingml/2006/main" noGrp="1"/>
          </p:cNvSpPr>
          <p:nvPr/>
        </p:nvSpPr>
        <p:spPr>
          <a:xfrm xmlns:a="http://schemas.openxmlformats.org/drawingml/2006/main">
            <a:off x="12573000" y="7105802"/>
            <a:ext cx="1133856" cy="162763"/>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000">
                <a:solidFill>
                  <a:srgbClr val="FFFFFF">
                    <a:alpha val="70000"/>
                  </a:srgbClr>
                </a:solidFill>
                <a:latin typeface="Inter"/>
                <a:ea typeface="Inter"/>
                <a:cs typeface="Inter"/>
              </a:rPr>
              <a:t>local definitions</a:t>
            </a:r>
          </a:p>
        </p:txBody>
      </p:sp>
      <p:sp>
        <p:nvSpPr>
          <p:cNvPr id="38" name="Text 33">
            <a:extLst xmlns:a="http://schemas.openxmlformats.org/drawingml/2006/main">
              <a:ext uri="{FF2B5EF4-FFF2-40B4-BE49-F238E27FC236}">
                <a16:creationId xmlns:a16="http://schemas.microsoft.com/office/drawing/2014/main" id="{6E0F9627-858C-4671-ACE2-088B3D473BB8}"/>
              </a:ext>
            </a:extLst>
          </p:cNvPr>
          <p:cNvSpPr>
            <a:spLocks xmlns:a="http://schemas.openxmlformats.org/drawingml/2006/main" noGrp="1"/>
          </p:cNvSpPr>
          <p:nvPr/>
        </p:nvSpPr>
        <p:spPr>
          <a:xfrm xmlns:a="http://schemas.openxmlformats.org/drawingml/2006/main">
            <a:off x="13929055" y="6638544"/>
            <a:ext cx="1219810" cy="143561"/>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FFFFFF">
                    <a:alpha val="70000"/>
                  </a:srgbClr>
                </a:solidFill>
                <a:latin typeface="JetBrains Mono"/>
                <a:ea typeface="JetBrains Mono"/>
                <a:cs typeface="JetBrains Mono"/>
              </a:rPr>
              <a:t>Local control</a:t>
            </a:r>
          </a:p>
        </p:txBody>
      </p:sp>
      <p:sp>
        <p:nvSpPr>
          <p:cNvPr id="39" name="Text 34">
            <a:extLst xmlns:a="http://schemas.openxmlformats.org/drawingml/2006/main">
              <a:ext uri="{FF2B5EF4-FFF2-40B4-BE49-F238E27FC236}">
                <a16:creationId xmlns:a16="http://schemas.microsoft.com/office/drawing/2014/main" id="{4EBAD39F-B094-40D6-BAA2-5377E3415ABD}"/>
              </a:ext>
            </a:extLst>
          </p:cNvPr>
          <p:cNvSpPr>
            <a:spLocks xmlns:a="http://schemas.openxmlformats.org/drawingml/2006/main" noGrp="1"/>
          </p:cNvSpPr>
          <p:nvPr/>
        </p:nvSpPr>
        <p:spPr>
          <a:xfrm xmlns:a="http://schemas.openxmlformats.org/drawingml/2006/main">
            <a:off x="13929055" y="6819595"/>
            <a:ext cx="1219810" cy="286207"/>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900" b="1">
                <a:solidFill>
                  <a:srgbClr val="FFFFFF"/>
                </a:solidFill>
                <a:latin typeface="JetBrains Mono"/>
                <a:ea typeface="JetBrains Mono"/>
                <a:cs typeface="JetBrains Mono"/>
              </a:rPr>
              <a:t>Keep</a:t>
            </a:r>
          </a:p>
        </p:txBody>
      </p:sp>
      <p:sp>
        <p:nvSpPr>
          <p:cNvPr id="40" name="Text 35">
            <a:extLst xmlns:a="http://schemas.openxmlformats.org/drawingml/2006/main">
              <a:ext uri="{FF2B5EF4-FFF2-40B4-BE49-F238E27FC236}">
                <a16:creationId xmlns:a16="http://schemas.microsoft.com/office/drawing/2014/main" id="{0A205306-6F3C-4FE1-B0D8-10DD45DD483B}"/>
              </a:ext>
            </a:extLst>
          </p:cNvPr>
          <p:cNvSpPr>
            <a:spLocks xmlns:a="http://schemas.openxmlformats.org/drawingml/2006/main" noGrp="1"/>
          </p:cNvSpPr>
          <p:nvPr/>
        </p:nvSpPr>
        <p:spPr>
          <a:xfrm xmlns:a="http://schemas.openxmlformats.org/drawingml/2006/main">
            <a:off x="13929055" y="7105802"/>
            <a:ext cx="1219810" cy="162763"/>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000">
                <a:solidFill>
                  <a:srgbClr val="FFFFFF">
                    <a:alpha val="70000"/>
                  </a:srgbClr>
                </a:solidFill>
                <a:latin typeface="Inter"/>
                <a:ea typeface="Inter"/>
                <a:cs typeface="Inter"/>
              </a:rPr>
              <a:t>future cases</a:t>
            </a:r>
          </a:p>
        </p:txBody>
      </p:sp>
      <p:sp>
        <p:nvSpPr>
          <p:cNvPr id="41" name="Shape 36">
            <a:extLst xmlns:a="http://schemas.openxmlformats.org/drawingml/2006/main">
              <a:ext uri="{FF2B5EF4-FFF2-40B4-BE49-F238E27FC236}">
                <a16:creationId xmlns:a16="http://schemas.microsoft.com/office/drawing/2014/main" id="{802F7C1C-92D1-4155-9AEC-4EA60FF43218}"/>
              </a:ext>
            </a:extLst>
          </p:cNvPr>
          <p:cNvSpPr>
            <a:spLocks xmlns:a="http://schemas.openxmlformats.org/drawingml/2006/main" noGrp="1"/>
          </p:cNvSpPr>
          <p:nvPr/>
        </p:nvSpPr>
        <p:spPr>
          <a:xfrm xmlns:a="http://schemas.openxmlformats.org/drawingml/2006/main">
            <a:off x="12573000" y="7477049"/>
            <a:ext cx="4667098" cy="9144"/>
          </a:xfrm>
          <a:prstGeom xmlns:a="http://schemas.openxmlformats.org/drawingml/2006/main" prst="rect">
            <a:avLst/>
          </a:prstGeom>
          <a:solidFill xmlns:a="http://schemas.openxmlformats.org/drawingml/2006/main">
            <a:srgbClr val="FFFFFF">
              <a:alpha val="15000"/>
            </a:srgbClr>
          </a:solidFill>
          <a:ln xmlns:a="http://schemas.openxmlformats.org/drawingml/2006/main" w="12700">
            <a:solidFill>
              <a:srgbClr val="FFFFFF">
                <a:alpha val="0"/>
              </a:srgbClr>
            </a:solidFill>
            <a:prstDash val="solid"/>
          </a:ln>
        </p:spPr>
      </p:sp>
      <p:sp>
        <p:nvSpPr>
          <p:cNvPr id="42" name="Text 37">
            <a:extLst xmlns:a="http://schemas.openxmlformats.org/drawingml/2006/main">
              <a:ext uri="{FF2B5EF4-FFF2-40B4-BE49-F238E27FC236}">
                <a16:creationId xmlns:a16="http://schemas.microsoft.com/office/drawing/2014/main" id="{5F0E9ADD-59E3-498E-B72F-7B26E0D99575}"/>
              </a:ext>
            </a:extLst>
          </p:cNvPr>
          <p:cNvSpPr>
            <a:spLocks xmlns:a="http://schemas.openxmlformats.org/drawingml/2006/main" noGrp="1"/>
          </p:cNvSpPr>
          <p:nvPr/>
        </p:nvSpPr>
        <p:spPr>
          <a:xfrm xmlns:a="http://schemas.openxmlformats.org/drawingml/2006/main">
            <a:off x="12573000" y="7658100"/>
            <a:ext cx="4668012" cy="1335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FFFFFF">
                    <a:alpha val="70000"/>
                  </a:srgbClr>
                </a:solidFill>
                <a:latin typeface="JetBrains Mono"/>
                <a:ea typeface="JetBrains Mono"/>
                <a:cs typeface="JetBrains Mono"/>
              </a:rPr>
              <a:t>Decision rule</a:t>
            </a:r>
          </a:p>
        </p:txBody>
      </p:sp>
      <p:sp>
        <p:nvSpPr>
          <p:cNvPr id="43" name="Text 38">
            <a:extLst xmlns:a="http://schemas.openxmlformats.org/drawingml/2006/main">
              <a:ext uri="{FF2B5EF4-FFF2-40B4-BE49-F238E27FC236}">
                <a16:creationId xmlns:a16="http://schemas.microsoft.com/office/drawing/2014/main" id="{281FDC00-755E-4027-A7A7-0605C44DB36E}"/>
              </a:ext>
            </a:extLst>
          </p:cNvPr>
          <p:cNvSpPr>
            <a:spLocks xmlns:a="http://schemas.openxmlformats.org/drawingml/2006/main" noGrp="1"/>
          </p:cNvSpPr>
          <p:nvPr/>
        </p:nvSpPr>
        <p:spPr>
          <a:xfrm xmlns:a="http://schemas.openxmlformats.org/drawingml/2006/main">
            <a:off x="12573000" y="7867498"/>
            <a:ext cx="4668012" cy="59070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600" b="1">
                <a:solidFill>
                  <a:srgbClr val="FF5CA0"/>
                </a:solidFill>
                <a:latin typeface="Inter"/>
                <a:ea typeface="Inter"/>
                <a:cs typeface="Inter"/>
              </a:rPr>
              <a:t>Use the model only after an untouched historical test; set the review budget with advisors.</a:t>
            </a:r>
          </a:p>
        </p:txBody>
      </p:sp>
      <p:sp>
        <p:nvSpPr>
          <p:cNvPr id="44" name="Text 39">
            <a:extLst xmlns:a="http://schemas.openxmlformats.org/drawingml/2006/main">
              <a:ext uri="{FF2B5EF4-FFF2-40B4-BE49-F238E27FC236}">
                <a16:creationId xmlns:a16="http://schemas.microsoft.com/office/drawing/2014/main" id="{32C63D70-5D68-426A-A910-9D159A57A3F2}"/>
              </a:ext>
            </a:extLst>
          </p:cNvPr>
          <p:cNvSpPr>
            <a:spLocks xmlns:a="http://schemas.openxmlformats.org/drawingml/2006/main" noGrp="1"/>
          </p:cNvSpPr>
          <p:nvPr/>
        </p:nvSpPr>
        <p:spPr>
          <a:xfrm xmlns:a="http://schemas.openxmlformats.org/drawingml/2006/main">
            <a:off x="12573000" y="8549640"/>
            <a:ext cx="4668012" cy="143561"/>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FFFFFF">
                    <a:alpha val="70000"/>
                  </a:srgbClr>
                </a:solidFill>
                <a:latin typeface="JetBrains Mono"/>
                <a:ea typeface="JetBrains Mono"/>
                <a:cs typeface="JetBrains Mono"/>
              </a:rPr>
              <a:t>This project evaluates prediction and workload, not whether an intervention causes retention.</a:t>
            </a:r>
          </a:p>
        </p:txBody>
      </p:sp>
      <p:graphicFrame>
        <p:nvGraphicFramePr>
          <p:cNvPr id="88" name="Chart"/>
          <p:cNvGraphicFramePr/>
          <p:nvPr/>
        </p:nvGraphicFramePr>
        <p:xfrm>
          <a:off xmlns:a="http://schemas.openxmlformats.org/drawingml/2006/main" x="1047941" y="3381470"/>
          <a:ext xmlns:a="http://schemas.openxmlformats.org/drawingml/2006/main" cx="10477214" cy="4858226"/>
        </p:xfrm>
        <a:graphic xmlns:a="http://schemas.openxmlformats.org/drawingml/2006/main">
          <a:graphicData uri="http://schemas.openxmlformats.org/drawingml/2006/chart">
            <c:chart xmlns:r="http://schemas.openxmlformats.org/officeDocument/2006/relationships" xmlns:c="http://schemas.openxmlformats.org/drawingml/2006/chart" r:id="R69982ebcd672423e"/>
          </a:graphicData>
        </a:graphic>
      </p:graphicFrame>
    </p:spTree>
    <p:extLst>
      <p:ext uri="{BB962C8B-B14F-4D97-AF65-F5344CB8AC3E}">
        <p14:creationId xmlns:p14="http://schemas.microsoft.com/office/powerpoint/2010/main" val="1579045319"/>
      </p:ext>
    </p:extLst>
  </p:cSld>
</p:sld>
</file>

<file path=ppt/slides/slide15.xml><?xml version="1.0" encoding="utf-8"?>
<p:sld xmlns:p="http://schemas.openxmlformats.org/presentationml/2006/main">
  <p:cSld>
    <p:bg>
      <p:bgPr>
        <a:solidFill xmlns:a="http://schemas.openxmlformats.org/drawingml/2006/main">
          <a:srgbClr val="F7F7FB"/>
        </a:solidFill>
      </p:bgPr>
    </p:bg>
    <p:spTree>
      <p:nvGrpSpPr>
        <p:cNvPr id="1" name=""/>
        <p:cNvGrpSpPr/>
        <p:nvPr/>
      </p:nvGrpSpPr>
      <p:grpSpPr>
        <a:xfrm xmlns:a="http://schemas.openxmlformats.org/drawingml/2006/main"/>
      </p:grpSpPr>
      <p:pic>
        <p:nvPicPr>
          <p:cNvPr id="32" name="Image 0"/>
          <p:cNvPicPr>
            <a:picLocks xmlns:a="http://schemas.openxmlformats.org/drawingml/2006/main" noChangeAspect="1"/>
          </p:cNvPicPr>
          <p:nvPr/>
        </p:nvPicPr>
        <p:blipFill>
          <a:blip xmlns:r="http://schemas.openxmlformats.org/officeDocument/2006/relationships" xmlns:a="http://schemas.openxmlformats.org/drawingml/2006/main" r:embed="R1ca6cbcdb410453e"/>
          <a:srcRect xmlns:a="http://schemas.openxmlformats.org/drawingml/2006/main" l="-2083" t="0" r="-2083" b="0"/>
          <a:stretch xmlns:a="http://schemas.openxmlformats.org/drawingml/2006/main"/>
        </p:blipFill>
        <p:spPr>
          <a:xfrm xmlns:a="http://schemas.openxmlformats.org/drawingml/2006/main">
            <a:off x="761695" y="761695"/>
            <a:ext cx="16763695" cy="9144"/>
          </a:xfrm>
          <a:prstGeom xmlns:a="http://schemas.openxmlformats.org/drawingml/2006/main" prst="rect">
            <a:avLst/>
          </a:prstGeom>
        </p:spPr>
      </p:pic>
      <p:sp>
        <p:nvSpPr>
          <p:cNvPr id="4" name="Shape 0">
            <a:extLst xmlns:a="http://schemas.openxmlformats.org/drawingml/2006/main">
              <a:ext uri="{FF2B5EF4-FFF2-40B4-BE49-F238E27FC236}">
                <a16:creationId xmlns:a16="http://schemas.microsoft.com/office/drawing/2014/main" id="{6AD2C79D-7E18-4C48-A861-825DC6E7F08F}"/>
              </a:ext>
            </a:extLst>
          </p:cNvPr>
          <p:cNvSpPr>
            <a:spLocks xmlns:a="http://schemas.openxmlformats.org/drawingml/2006/main" noGrp="1"/>
          </p:cNvSpPr>
          <p:nvPr/>
        </p:nvSpPr>
        <p:spPr>
          <a:xfrm xmlns:a="http://schemas.openxmlformats.org/drawingml/2006/main">
            <a:off x="761695" y="2476195"/>
            <a:ext cx="8305495" cy="3429000"/>
          </a:xfrm>
          <a:prstGeom xmlns:a="http://schemas.openxmlformats.org/drawingml/2006/main" prst="roundRect">
            <a:avLst>
              <a:gd name="adj" fmla="val 560"/>
            </a:avLst>
          </a:prstGeom>
          <a:solidFill xmlns:a="http://schemas.openxmlformats.org/drawingml/2006/main">
            <a:srgbClr val="FFFFFF"/>
          </a:solidFill>
          <a:ln xmlns:a="http://schemas.openxmlformats.org/drawingml/2006/main" w="12700">
            <a:solidFill>
              <a:srgbClr val="E4E5EF"/>
            </a:solidFill>
            <a:prstDash val="solid"/>
          </a:ln>
        </p:spPr>
      </p:sp>
      <p:sp>
        <p:nvSpPr>
          <p:cNvPr id="5" name="Shape 1">
            <a:extLst xmlns:a="http://schemas.openxmlformats.org/drawingml/2006/main">
              <a:ext uri="{FF2B5EF4-FFF2-40B4-BE49-F238E27FC236}">
                <a16:creationId xmlns:a16="http://schemas.microsoft.com/office/drawing/2014/main" id="{656A2DAA-94B4-4146-A093-CEC7C56866D4}"/>
              </a:ext>
            </a:extLst>
          </p:cNvPr>
          <p:cNvSpPr>
            <a:spLocks xmlns:a="http://schemas.openxmlformats.org/drawingml/2006/main" noGrp="1"/>
          </p:cNvSpPr>
          <p:nvPr/>
        </p:nvSpPr>
        <p:spPr>
          <a:xfrm xmlns:a="http://schemas.openxmlformats.org/drawingml/2006/main">
            <a:off x="761695" y="2476195"/>
            <a:ext cx="8305495" cy="38405"/>
          </a:xfrm>
          <a:prstGeom xmlns:a="http://schemas.openxmlformats.org/drawingml/2006/main" prst="roundRect">
            <a:avLst>
              <a:gd name="adj" fmla="val 50000"/>
            </a:avLst>
          </a:prstGeom>
          <a:solidFill xmlns:a="http://schemas.openxmlformats.org/drawingml/2006/main">
            <a:srgbClr val="E4237A"/>
          </a:solidFill>
          <a:ln xmlns:a="http://schemas.openxmlformats.org/drawingml/2006/main" w="12700">
            <a:solidFill>
              <a:srgbClr val="E4237A">
                <a:alpha val="0"/>
              </a:srgbClr>
            </a:solidFill>
            <a:prstDash val="solid"/>
          </a:ln>
        </p:spPr>
      </p:sp>
      <p:sp>
        <p:nvSpPr>
          <p:cNvPr id="6" name="Shape 2">
            <a:extLst xmlns:a="http://schemas.openxmlformats.org/drawingml/2006/main">
              <a:ext uri="{FF2B5EF4-FFF2-40B4-BE49-F238E27FC236}">
                <a16:creationId xmlns:a16="http://schemas.microsoft.com/office/drawing/2014/main" id="{08A5ED76-F7C5-46E7-A7C5-EBEA95624A46}"/>
              </a:ext>
            </a:extLst>
          </p:cNvPr>
          <p:cNvSpPr>
            <a:spLocks xmlns:a="http://schemas.openxmlformats.org/drawingml/2006/main" noGrp="1"/>
          </p:cNvSpPr>
          <p:nvPr/>
        </p:nvSpPr>
        <p:spPr>
          <a:xfrm xmlns:a="http://schemas.openxmlformats.org/drawingml/2006/main">
            <a:off x="9239098" y="2476195"/>
            <a:ext cx="8305495" cy="3429000"/>
          </a:xfrm>
          <a:prstGeom xmlns:a="http://schemas.openxmlformats.org/drawingml/2006/main" prst="roundRect">
            <a:avLst>
              <a:gd name="adj" fmla="val 560"/>
            </a:avLst>
          </a:prstGeom>
          <a:solidFill xmlns:a="http://schemas.openxmlformats.org/drawingml/2006/main">
            <a:srgbClr val="FFFFFF"/>
          </a:solidFill>
          <a:ln xmlns:a="http://schemas.openxmlformats.org/drawingml/2006/main" w="12700">
            <a:solidFill>
              <a:srgbClr val="E4E5EF"/>
            </a:solidFill>
            <a:prstDash val="solid"/>
          </a:ln>
        </p:spPr>
      </p:sp>
      <p:sp>
        <p:nvSpPr>
          <p:cNvPr id="7" name="Shape 3">
            <a:extLst xmlns:a="http://schemas.openxmlformats.org/drawingml/2006/main">
              <a:ext uri="{FF2B5EF4-FFF2-40B4-BE49-F238E27FC236}">
                <a16:creationId xmlns:a16="http://schemas.microsoft.com/office/drawing/2014/main" id="{F2054AB1-AB9A-40AC-8B2A-70B6254E27C1}"/>
              </a:ext>
            </a:extLst>
          </p:cNvPr>
          <p:cNvSpPr>
            <a:spLocks xmlns:a="http://schemas.openxmlformats.org/drawingml/2006/main" noGrp="1"/>
          </p:cNvSpPr>
          <p:nvPr/>
        </p:nvSpPr>
        <p:spPr>
          <a:xfrm xmlns:a="http://schemas.openxmlformats.org/drawingml/2006/main">
            <a:off x="9239098" y="2476195"/>
            <a:ext cx="8305495" cy="38405"/>
          </a:xfrm>
          <a:prstGeom xmlns:a="http://schemas.openxmlformats.org/drawingml/2006/main" prst="roundRect">
            <a:avLst>
              <a:gd name="adj" fmla="val 50000"/>
            </a:avLst>
          </a:prstGeom>
          <a:solidFill xmlns:a="http://schemas.openxmlformats.org/drawingml/2006/main">
            <a:srgbClr val="E8A93A"/>
          </a:solidFill>
          <a:ln xmlns:a="http://schemas.openxmlformats.org/drawingml/2006/main" w="12700">
            <a:solidFill>
              <a:srgbClr val="E8A93A">
                <a:alpha val="0"/>
              </a:srgbClr>
            </a:solidFill>
            <a:prstDash val="solid"/>
          </a:ln>
        </p:spPr>
      </p:sp>
      <p:sp>
        <p:nvSpPr>
          <p:cNvPr id="8" name="Shape 4">
            <a:extLst xmlns:a="http://schemas.openxmlformats.org/drawingml/2006/main">
              <a:ext uri="{FF2B5EF4-FFF2-40B4-BE49-F238E27FC236}">
                <a16:creationId xmlns:a16="http://schemas.microsoft.com/office/drawing/2014/main" id="{49ED4AD8-5BD7-456F-B7A2-A359B061B6AD}"/>
              </a:ext>
            </a:extLst>
          </p:cNvPr>
          <p:cNvSpPr>
            <a:spLocks xmlns:a="http://schemas.openxmlformats.org/drawingml/2006/main" noGrp="1"/>
          </p:cNvSpPr>
          <p:nvPr/>
        </p:nvSpPr>
        <p:spPr>
          <a:xfrm xmlns:a="http://schemas.openxmlformats.org/drawingml/2006/main">
            <a:off x="761695" y="6048756"/>
            <a:ext cx="8305495" cy="3238805"/>
          </a:xfrm>
          <a:prstGeom xmlns:a="http://schemas.openxmlformats.org/drawingml/2006/main" prst="roundRect">
            <a:avLst>
              <a:gd name="adj" fmla="val 593"/>
            </a:avLst>
          </a:prstGeom>
          <a:solidFill xmlns:a="http://schemas.openxmlformats.org/drawingml/2006/main">
            <a:srgbClr val="FFFFFF"/>
          </a:solidFill>
          <a:ln xmlns:a="http://schemas.openxmlformats.org/drawingml/2006/main" w="12700">
            <a:solidFill>
              <a:srgbClr val="E4E5EF"/>
            </a:solidFill>
            <a:prstDash val="solid"/>
          </a:ln>
        </p:spPr>
      </p:sp>
      <p:sp>
        <p:nvSpPr>
          <p:cNvPr id="9" name="Shape 5">
            <a:extLst xmlns:a="http://schemas.openxmlformats.org/drawingml/2006/main">
              <a:ext uri="{FF2B5EF4-FFF2-40B4-BE49-F238E27FC236}">
                <a16:creationId xmlns:a16="http://schemas.microsoft.com/office/drawing/2014/main" id="{656F918D-3BE7-4F1C-BCCD-F260A5FAD869}"/>
              </a:ext>
            </a:extLst>
          </p:cNvPr>
          <p:cNvSpPr>
            <a:spLocks xmlns:a="http://schemas.openxmlformats.org/drawingml/2006/main" noGrp="1"/>
          </p:cNvSpPr>
          <p:nvPr/>
        </p:nvSpPr>
        <p:spPr>
          <a:xfrm xmlns:a="http://schemas.openxmlformats.org/drawingml/2006/main">
            <a:off x="761695" y="6048756"/>
            <a:ext cx="8305495" cy="38405"/>
          </a:xfrm>
          <a:prstGeom xmlns:a="http://schemas.openxmlformats.org/drawingml/2006/main" prst="roundRect">
            <a:avLst>
              <a:gd name="adj" fmla="val 50000"/>
            </a:avLst>
          </a:prstGeom>
          <a:solidFill xmlns:a="http://schemas.openxmlformats.org/drawingml/2006/main">
            <a:srgbClr val="2A2E7A"/>
          </a:solidFill>
          <a:ln xmlns:a="http://schemas.openxmlformats.org/drawingml/2006/main" w="12700">
            <a:solidFill>
              <a:srgbClr val="2A2E7A">
                <a:alpha val="0"/>
              </a:srgbClr>
            </a:solidFill>
            <a:prstDash val="solid"/>
          </a:ln>
        </p:spPr>
      </p:sp>
      <p:sp>
        <p:nvSpPr>
          <p:cNvPr id="10" name="Shape 6">
            <a:extLst xmlns:a="http://schemas.openxmlformats.org/drawingml/2006/main">
              <a:ext uri="{FF2B5EF4-FFF2-40B4-BE49-F238E27FC236}">
                <a16:creationId xmlns:a16="http://schemas.microsoft.com/office/drawing/2014/main" id="{FDF02A82-552C-406A-BCDF-5E73D526A4AD}"/>
              </a:ext>
            </a:extLst>
          </p:cNvPr>
          <p:cNvSpPr>
            <a:spLocks xmlns:a="http://schemas.openxmlformats.org/drawingml/2006/main" noGrp="1"/>
          </p:cNvSpPr>
          <p:nvPr/>
        </p:nvSpPr>
        <p:spPr>
          <a:xfrm xmlns:a="http://schemas.openxmlformats.org/drawingml/2006/main">
            <a:off x="9239098" y="6048756"/>
            <a:ext cx="8305495" cy="3238805"/>
          </a:xfrm>
          <a:prstGeom xmlns:a="http://schemas.openxmlformats.org/drawingml/2006/main" prst="roundRect">
            <a:avLst>
              <a:gd name="adj" fmla="val 593"/>
            </a:avLst>
          </a:prstGeom>
          <a:solidFill xmlns:a="http://schemas.openxmlformats.org/drawingml/2006/main">
            <a:srgbClr val="FFFFFF"/>
          </a:solidFill>
          <a:ln xmlns:a="http://schemas.openxmlformats.org/drawingml/2006/main" w="12700">
            <a:solidFill>
              <a:srgbClr val="E4E5EF"/>
            </a:solidFill>
            <a:prstDash val="solid"/>
          </a:ln>
        </p:spPr>
      </p:sp>
      <p:sp>
        <p:nvSpPr>
          <p:cNvPr id="11" name="Shape 7">
            <a:extLst xmlns:a="http://schemas.openxmlformats.org/drawingml/2006/main">
              <a:ext uri="{FF2B5EF4-FFF2-40B4-BE49-F238E27FC236}">
                <a16:creationId xmlns:a16="http://schemas.microsoft.com/office/drawing/2014/main" id="{D3F8E897-13ED-4251-A244-F2B78C27B8EC}"/>
              </a:ext>
            </a:extLst>
          </p:cNvPr>
          <p:cNvSpPr>
            <a:spLocks xmlns:a="http://schemas.openxmlformats.org/drawingml/2006/main" noGrp="1"/>
          </p:cNvSpPr>
          <p:nvPr/>
        </p:nvSpPr>
        <p:spPr>
          <a:xfrm xmlns:a="http://schemas.openxmlformats.org/drawingml/2006/main">
            <a:off x="9239098" y="6048756"/>
            <a:ext cx="8305495" cy="38405"/>
          </a:xfrm>
          <a:prstGeom xmlns:a="http://schemas.openxmlformats.org/drawingml/2006/main" prst="roundRect">
            <a:avLst>
              <a:gd name="adj" fmla="val 50000"/>
            </a:avLst>
          </a:prstGeom>
          <a:solidFill xmlns:a="http://schemas.openxmlformats.org/drawingml/2006/main">
            <a:srgbClr val="1B9E8F"/>
          </a:solidFill>
          <a:ln xmlns:a="http://schemas.openxmlformats.org/drawingml/2006/main" w="12700">
            <a:solidFill>
              <a:srgbClr val="1B9E8F">
                <a:alpha val="0"/>
              </a:srgbClr>
            </a:solidFill>
            <a:prstDash val="solid"/>
          </a:ln>
        </p:spPr>
      </p:sp>
      <p:sp>
        <p:nvSpPr>
          <p:cNvPr id="12" name="Text 8">
            <a:extLst xmlns:a="http://schemas.openxmlformats.org/drawingml/2006/main">
              <a:ext uri="{FF2B5EF4-FFF2-40B4-BE49-F238E27FC236}">
                <a16:creationId xmlns:a16="http://schemas.microsoft.com/office/drawing/2014/main" id="{425753AB-B233-4059-85CB-37D4A1278D42}"/>
              </a:ext>
            </a:extLst>
          </p:cNvPr>
          <p:cNvSpPr>
            <a:spLocks xmlns:a="http://schemas.openxmlformats.org/drawingml/2006/main" noGrp="1"/>
          </p:cNvSpPr>
          <p:nvPr/>
        </p:nvSpPr>
        <p:spPr>
          <a:xfrm xmlns:a="http://schemas.openxmlformats.org/drawingml/2006/main">
            <a:off x="761695" y="428854"/>
            <a:ext cx="8572500" cy="152705"/>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000">
                <a:solidFill>
                  <a:srgbClr val="6A6F8C"/>
                </a:solidFill>
                <a:latin typeface="JetBrains Mono"/>
                <a:ea typeface="JetBrains Mono"/>
                <a:cs typeface="JetBrains Mono"/>
              </a:rPr>
              <a:t>§ 07 · Challenges &amp; limitations</a:t>
            </a:r>
          </a:p>
        </p:txBody>
      </p:sp>
      <p:sp>
        <p:nvSpPr>
          <p:cNvPr id="13" name="Text 9">
            <a:extLst xmlns:a="http://schemas.openxmlformats.org/drawingml/2006/main">
              <a:ext uri="{FF2B5EF4-FFF2-40B4-BE49-F238E27FC236}">
                <a16:creationId xmlns:a16="http://schemas.microsoft.com/office/drawing/2014/main" id="{42BD94A9-EDFD-4217-932C-326EFA78F607}"/>
              </a:ext>
            </a:extLst>
          </p:cNvPr>
          <p:cNvSpPr>
            <a:spLocks xmlns:a="http://schemas.openxmlformats.org/drawingml/2006/main" noGrp="1"/>
          </p:cNvSpPr>
          <p:nvPr/>
        </p:nvSpPr>
        <p:spPr>
          <a:xfrm xmlns:a="http://schemas.openxmlformats.org/drawingml/2006/main">
            <a:off x="15240305" y="400050"/>
            <a:ext cx="2286000" cy="209550"/>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r">
              <a:buNone/>
            </a:pPr>
            <a:r>
              <a:rPr sz="1200">
                <a:solidFill>
                  <a:srgbClr val="6A6F8C"/>
                </a:solidFill>
                <a:latin typeface="JetBrains Mono"/>
                <a:ea typeface="JetBrains Mono"/>
                <a:cs typeface="JetBrains Mono"/>
              </a:rPr>
              <a:t>15 / 20</a:t>
            </a:r>
          </a:p>
        </p:txBody>
      </p:sp>
      <p:sp>
        <p:nvSpPr>
          <p:cNvPr id="14" name="Text 10">
            <a:extLst xmlns:a="http://schemas.openxmlformats.org/drawingml/2006/main">
              <a:ext uri="{FF2B5EF4-FFF2-40B4-BE49-F238E27FC236}">
                <a16:creationId xmlns:a16="http://schemas.microsoft.com/office/drawing/2014/main" id="{07729B98-68DF-4073-975C-848A6ADDD93E}"/>
              </a:ext>
            </a:extLst>
          </p:cNvPr>
          <p:cNvSpPr>
            <a:spLocks xmlns:a="http://schemas.openxmlformats.org/drawingml/2006/main" noGrp="1"/>
          </p:cNvSpPr>
          <p:nvPr/>
        </p:nvSpPr>
        <p:spPr>
          <a:xfrm xmlns:a="http://schemas.openxmlformats.org/drawingml/2006/main">
            <a:off x="761695" y="1238098"/>
            <a:ext cx="16764610" cy="523951"/>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3900" b="1">
                <a:solidFill>
                  <a:srgbClr val="0F1226"/>
                </a:solidFill>
                <a:latin typeface="Inter"/>
                <a:ea typeface="Inter"/>
                <a:cs typeface="Inter"/>
              </a:rPr>
              <a:t>Four limits define what the transfer claim means.</a:t>
            </a:r>
          </a:p>
        </p:txBody>
      </p:sp>
      <p:sp>
        <p:nvSpPr>
          <p:cNvPr id="15" name="Text 11">
            <a:extLst xmlns:a="http://schemas.openxmlformats.org/drawingml/2006/main">
              <a:ext uri="{FF2B5EF4-FFF2-40B4-BE49-F238E27FC236}">
                <a16:creationId xmlns:a16="http://schemas.microsoft.com/office/drawing/2014/main" id="{768A074E-2E8D-4EEA-A19E-2D4A7EEA619B}"/>
              </a:ext>
            </a:extLst>
          </p:cNvPr>
          <p:cNvSpPr>
            <a:spLocks xmlns:a="http://schemas.openxmlformats.org/drawingml/2006/main" noGrp="1"/>
          </p:cNvSpPr>
          <p:nvPr/>
        </p:nvSpPr>
        <p:spPr>
          <a:xfrm xmlns:a="http://schemas.openxmlformats.org/drawingml/2006/main">
            <a:off x="1143000" y="2714854"/>
            <a:ext cx="419710" cy="400507"/>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2700" b="1">
                <a:solidFill>
                  <a:srgbClr val="E4237A"/>
                </a:solidFill>
                <a:latin typeface="JetBrains Mono"/>
                <a:ea typeface="JetBrains Mono"/>
                <a:cs typeface="JetBrains Mono"/>
              </a:rPr>
              <a:t>01</a:t>
            </a:r>
          </a:p>
        </p:txBody>
      </p:sp>
      <p:sp>
        <p:nvSpPr>
          <p:cNvPr id="16" name="Text 12">
            <a:extLst xmlns:a="http://schemas.openxmlformats.org/drawingml/2006/main">
              <a:ext uri="{FF2B5EF4-FFF2-40B4-BE49-F238E27FC236}">
                <a16:creationId xmlns:a16="http://schemas.microsoft.com/office/drawing/2014/main" id="{8725D395-9B4C-47F1-AC1B-003A1B414309}"/>
              </a:ext>
            </a:extLst>
          </p:cNvPr>
          <p:cNvSpPr>
            <a:spLocks xmlns:a="http://schemas.openxmlformats.org/drawingml/2006/main" noGrp="1"/>
          </p:cNvSpPr>
          <p:nvPr/>
        </p:nvSpPr>
        <p:spPr>
          <a:xfrm xmlns:a="http://schemas.openxmlformats.org/drawingml/2006/main">
            <a:off x="1687982" y="2924251"/>
            <a:ext cx="2067458" cy="1335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6A6F8C"/>
                </a:solidFill>
                <a:latin typeface="JetBrains Mono"/>
                <a:ea typeface="JetBrains Mono"/>
                <a:cs typeface="JetBrains Mono"/>
              </a:rPr>
              <a:t>Only two institutions</a:t>
            </a:r>
          </a:p>
        </p:txBody>
      </p:sp>
      <p:sp>
        <p:nvSpPr>
          <p:cNvPr id="17" name="Text 13">
            <a:extLst xmlns:a="http://schemas.openxmlformats.org/drawingml/2006/main">
              <a:ext uri="{FF2B5EF4-FFF2-40B4-BE49-F238E27FC236}">
                <a16:creationId xmlns:a16="http://schemas.microsoft.com/office/drawing/2014/main" id="{A6424C08-3A3F-482A-A94F-2595C6EB3DB6}"/>
              </a:ext>
            </a:extLst>
          </p:cNvPr>
          <p:cNvSpPr>
            <a:spLocks xmlns:a="http://schemas.openxmlformats.org/drawingml/2006/main" noGrp="1"/>
          </p:cNvSpPr>
          <p:nvPr/>
        </p:nvSpPr>
        <p:spPr>
          <a:xfrm xmlns:a="http://schemas.openxmlformats.org/drawingml/2006/main">
            <a:off x="1143000" y="3247949"/>
            <a:ext cx="7525512" cy="5715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600" b="1">
                <a:solidFill>
                  <a:srgbClr val="0F1226"/>
                </a:solidFill>
                <a:latin typeface="Inter"/>
                <a:ea typeface="Inter"/>
                <a:cs typeface="Inter"/>
              </a:rPr>
              <a:t>No third-school external test yet.</a:t>
            </a:r>
          </a:p>
        </p:txBody>
      </p:sp>
      <p:sp>
        <p:nvSpPr>
          <p:cNvPr id="18" name="Text 14">
            <a:extLst xmlns:a="http://schemas.openxmlformats.org/drawingml/2006/main">
              <a:ext uri="{FF2B5EF4-FFF2-40B4-BE49-F238E27FC236}">
                <a16:creationId xmlns:a16="http://schemas.microsoft.com/office/drawing/2014/main" id="{6AFE5CBD-909F-455D-8AA7-60CDA5F01139}"/>
              </a:ext>
            </a:extLst>
          </p:cNvPr>
          <p:cNvSpPr>
            <a:spLocks xmlns:a="http://schemas.openxmlformats.org/drawingml/2006/main" noGrp="1"/>
          </p:cNvSpPr>
          <p:nvPr/>
        </p:nvSpPr>
        <p:spPr>
          <a:xfrm xmlns:a="http://schemas.openxmlformats.org/drawingml/2006/main">
            <a:off x="1143000" y="3946550"/>
            <a:ext cx="7525512" cy="7818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200">
                <a:solidFill>
                  <a:srgbClr val="2A2E4B"/>
                </a:solidFill>
                <a:latin typeface="Inter"/>
                <a:ea typeface="Inter"/>
                <a:cs typeface="Inter"/>
              </a:rPr>
              <a:t>UCI and OULAD show that the approach is possible, but they do not represent every institutional system or student population.</a:t>
            </a:r>
          </a:p>
        </p:txBody>
      </p:sp>
      <p:sp>
        <p:nvSpPr>
          <p:cNvPr id="19" name="Text 15">
            <a:extLst xmlns:a="http://schemas.openxmlformats.org/drawingml/2006/main">
              <a:ext uri="{FF2B5EF4-FFF2-40B4-BE49-F238E27FC236}">
                <a16:creationId xmlns:a16="http://schemas.microsoft.com/office/drawing/2014/main" id="{252767BC-C64B-4C9E-964A-2E2028C42C34}"/>
              </a:ext>
            </a:extLst>
          </p:cNvPr>
          <p:cNvSpPr>
            <a:spLocks xmlns:a="http://schemas.openxmlformats.org/drawingml/2006/main" noGrp="1"/>
          </p:cNvSpPr>
          <p:nvPr/>
        </p:nvSpPr>
        <p:spPr>
          <a:xfrm xmlns:a="http://schemas.openxmlformats.org/drawingml/2006/main">
            <a:off x="9620402" y="2714854"/>
            <a:ext cx="419710" cy="400507"/>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2700" b="1">
                <a:solidFill>
                  <a:srgbClr val="E8A93A"/>
                </a:solidFill>
                <a:latin typeface="JetBrains Mono"/>
                <a:ea typeface="JetBrains Mono"/>
                <a:cs typeface="JetBrains Mono"/>
              </a:rPr>
              <a:t>02</a:t>
            </a:r>
          </a:p>
        </p:txBody>
      </p:sp>
      <p:sp>
        <p:nvSpPr>
          <p:cNvPr id="20" name="Text 16">
            <a:extLst xmlns:a="http://schemas.openxmlformats.org/drawingml/2006/main">
              <a:ext uri="{FF2B5EF4-FFF2-40B4-BE49-F238E27FC236}">
                <a16:creationId xmlns:a16="http://schemas.microsoft.com/office/drawing/2014/main" id="{0E2FB221-93E7-4BF8-BDCB-26B1C4CE13F5}"/>
              </a:ext>
            </a:extLst>
          </p:cNvPr>
          <p:cNvSpPr>
            <a:spLocks xmlns:a="http://schemas.openxmlformats.org/drawingml/2006/main" noGrp="1"/>
          </p:cNvSpPr>
          <p:nvPr/>
        </p:nvSpPr>
        <p:spPr>
          <a:xfrm xmlns:a="http://schemas.openxmlformats.org/drawingml/2006/main">
            <a:off x="10165385" y="2924251"/>
            <a:ext cx="2533802" cy="1335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6A6F8C"/>
                </a:solidFill>
                <a:latin typeface="JetBrains Mono"/>
                <a:ea typeface="JetBrains Mono"/>
                <a:cs typeface="JetBrains Mono"/>
              </a:rPr>
              <a:t>Dynamic fields have one source</a:t>
            </a:r>
          </a:p>
        </p:txBody>
      </p:sp>
      <p:sp>
        <p:nvSpPr>
          <p:cNvPr id="21" name="Text 17">
            <a:extLst xmlns:a="http://schemas.openxmlformats.org/drawingml/2006/main">
              <a:ext uri="{FF2B5EF4-FFF2-40B4-BE49-F238E27FC236}">
                <a16:creationId xmlns:a16="http://schemas.microsoft.com/office/drawing/2014/main" id="{6820B339-9699-4EB2-B93D-9866ED5DFB81}"/>
              </a:ext>
            </a:extLst>
          </p:cNvPr>
          <p:cNvSpPr>
            <a:spLocks xmlns:a="http://schemas.openxmlformats.org/drawingml/2006/main" noGrp="1"/>
          </p:cNvSpPr>
          <p:nvPr/>
        </p:nvSpPr>
        <p:spPr>
          <a:xfrm xmlns:a="http://schemas.openxmlformats.org/drawingml/2006/main">
            <a:off x="9620402" y="3247949"/>
            <a:ext cx="7525512" cy="286207"/>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600" b="1">
                <a:solidFill>
                  <a:srgbClr val="0F1226"/>
                </a:solidFill>
                <a:latin typeface="Inter"/>
                <a:ea typeface="Inter"/>
                <a:cs typeface="Inter"/>
              </a:rPr>
              <a:t>Cross-school dynamic validity is not finished.</a:t>
            </a:r>
          </a:p>
        </p:txBody>
      </p:sp>
      <p:sp>
        <p:nvSpPr>
          <p:cNvPr id="22" name="Text 18">
            <a:extLst xmlns:a="http://schemas.openxmlformats.org/drawingml/2006/main">
              <a:ext uri="{FF2B5EF4-FFF2-40B4-BE49-F238E27FC236}">
                <a16:creationId xmlns:a16="http://schemas.microsoft.com/office/drawing/2014/main" id="{357826EE-2B55-4AE4-AB59-1AF824266B57}"/>
              </a:ext>
            </a:extLst>
          </p:cNvPr>
          <p:cNvSpPr>
            <a:spLocks xmlns:a="http://schemas.openxmlformats.org/drawingml/2006/main" noGrp="1"/>
          </p:cNvSpPr>
          <p:nvPr/>
        </p:nvSpPr>
        <p:spPr>
          <a:xfrm xmlns:a="http://schemas.openxmlformats.org/drawingml/2006/main">
            <a:off x="9620402" y="3664001"/>
            <a:ext cx="7525512" cy="7818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200">
                <a:solidFill>
                  <a:srgbClr val="2A2E4B"/>
                </a:solidFill>
                <a:latin typeface="Inter"/>
                <a:ea typeface="Inter"/>
                <a:cs typeface="Inter"/>
              </a:rPr>
              <a:t>UCI supplies enrolment only. OULAD supplies all day-35/60/75 assessment and activity values. A third school with dated events is still required.</a:t>
            </a:r>
          </a:p>
        </p:txBody>
      </p:sp>
      <p:sp>
        <p:nvSpPr>
          <p:cNvPr id="23" name="Text 19">
            <a:extLst xmlns:a="http://schemas.openxmlformats.org/drawingml/2006/main">
              <a:ext uri="{FF2B5EF4-FFF2-40B4-BE49-F238E27FC236}">
                <a16:creationId xmlns:a16="http://schemas.microsoft.com/office/drawing/2014/main" id="{CF305B24-76AF-4ADA-BAC3-EC30E325BC79}"/>
              </a:ext>
            </a:extLst>
          </p:cNvPr>
          <p:cNvSpPr>
            <a:spLocks xmlns:a="http://schemas.openxmlformats.org/drawingml/2006/main" noGrp="1"/>
          </p:cNvSpPr>
          <p:nvPr/>
        </p:nvSpPr>
        <p:spPr>
          <a:xfrm xmlns:a="http://schemas.openxmlformats.org/drawingml/2006/main">
            <a:off x="1143000" y="6286500"/>
            <a:ext cx="419710" cy="400507"/>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2700" b="1">
                <a:solidFill>
                  <a:srgbClr val="2A2E7A"/>
                </a:solidFill>
                <a:latin typeface="JetBrains Mono"/>
                <a:ea typeface="JetBrains Mono"/>
                <a:cs typeface="JetBrains Mono"/>
              </a:rPr>
              <a:t>03</a:t>
            </a:r>
          </a:p>
        </p:txBody>
      </p:sp>
      <p:sp>
        <p:nvSpPr>
          <p:cNvPr id="24" name="Text 20">
            <a:extLst xmlns:a="http://schemas.openxmlformats.org/drawingml/2006/main">
              <a:ext uri="{FF2B5EF4-FFF2-40B4-BE49-F238E27FC236}">
                <a16:creationId xmlns:a16="http://schemas.microsoft.com/office/drawing/2014/main" id="{2296A459-CD16-4707-B244-6378283711C0}"/>
              </a:ext>
            </a:extLst>
          </p:cNvPr>
          <p:cNvSpPr>
            <a:spLocks xmlns:a="http://schemas.openxmlformats.org/drawingml/2006/main" noGrp="1"/>
          </p:cNvSpPr>
          <p:nvPr/>
        </p:nvSpPr>
        <p:spPr>
          <a:xfrm xmlns:a="http://schemas.openxmlformats.org/drawingml/2006/main">
            <a:off x="1687982" y="6495898"/>
            <a:ext cx="1600200" cy="1335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6A6F8C"/>
                </a:solidFill>
                <a:latin typeface="JetBrains Mono"/>
                <a:ea typeface="JetBrains Mono"/>
                <a:cs typeface="JetBrains Mono"/>
              </a:rPr>
              <a:t>Mappings are approximate</a:t>
            </a:r>
          </a:p>
        </p:txBody>
      </p:sp>
      <p:sp>
        <p:nvSpPr>
          <p:cNvPr id="25" name="Text 21">
            <a:extLst xmlns:a="http://schemas.openxmlformats.org/drawingml/2006/main">
              <a:ext uri="{FF2B5EF4-FFF2-40B4-BE49-F238E27FC236}">
                <a16:creationId xmlns:a16="http://schemas.microsoft.com/office/drawing/2014/main" id="{30C4A0F6-BE23-4711-9D7B-BBFF4CA7F03E}"/>
              </a:ext>
            </a:extLst>
          </p:cNvPr>
          <p:cNvSpPr>
            <a:spLocks xmlns:a="http://schemas.openxmlformats.org/drawingml/2006/main" noGrp="1"/>
          </p:cNvSpPr>
          <p:nvPr/>
        </p:nvSpPr>
        <p:spPr>
          <a:xfrm xmlns:a="http://schemas.openxmlformats.org/drawingml/2006/main">
            <a:off x="1143000" y="6819595"/>
            <a:ext cx="7525512" cy="286207"/>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600" b="1">
                <a:solidFill>
                  <a:srgbClr val="0F1226"/>
                </a:solidFill>
                <a:latin typeface="Inter"/>
                <a:ea typeface="Inter"/>
                <a:cs typeface="Inter"/>
              </a:rPr>
              <a:t>Local measurements are not identical.</a:t>
            </a:r>
          </a:p>
        </p:txBody>
      </p:sp>
      <p:sp>
        <p:nvSpPr>
          <p:cNvPr id="26" name="Text 22">
            <a:extLst xmlns:a="http://schemas.openxmlformats.org/drawingml/2006/main">
              <a:ext uri="{FF2B5EF4-FFF2-40B4-BE49-F238E27FC236}">
                <a16:creationId xmlns:a16="http://schemas.microsoft.com/office/drawing/2014/main" id="{8615B885-7DB1-41D0-AE74-CF08265E8DB5}"/>
              </a:ext>
            </a:extLst>
          </p:cNvPr>
          <p:cNvSpPr>
            <a:spLocks xmlns:a="http://schemas.openxmlformats.org/drawingml/2006/main" noGrp="1"/>
          </p:cNvSpPr>
          <p:nvPr/>
        </p:nvSpPr>
        <p:spPr>
          <a:xfrm xmlns:a="http://schemas.openxmlformats.org/drawingml/2006/main">
            <a:off x="1143000" y="7197242"/>
            <a:ext cx="7525512" cy="820217"/>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2040"/>
              </a:lnSpc>
              <a:buNone/>
            </a:pPr>
            <a:r>
              <a:rPr sz="1200">
                <a:solidFill>
                  <a:srgbClr val="2A2E4B"/>
                </a:solidFill>
                <a:latin typeface="Inter"/>
                <a:ea typeface="Inter"/>
                <a:cs typeface="Inter"/>
              </a:rPr>
              <a:t>Age, education, load, and financial stability use documented but non-identical local measurements.</a:t>
            </a:r>
          </a:p>
        </p:txBody>
      </p:sp>
      <p:sp>
        <p:nvSpPr>
          <p:cNvPr id="27" name="Text 23">
            <a:extLst xmlns:a="http://schemas.openxmlformats.org/drawingml/2006/main">
              <a:ext uri="{FF2B5EF4-FFF2-40B4-BE49-F238E27FC236}">
                <a16:creationId xmlns:a16="http://schemas.microsoft.com/office/drawing/2014/main" id="{83A96EA2-E606-4126-9767-16EC6F08A8B3}"/>
              </a:ext>
            </a:extLst>
          </p:cNvPr>
          <p:cNvSpPr>
            <a:spLocks xmlns:a="http://schemas.openxmlformats.org/drawingml/2006/main" noGrp="1"/>
          </p:cNvSpPr>
          <p:nvPr/>
        </p:nvSpPr>
        <p:spPr>
          <a:xfrm xmlns:a="http://schemas.openxmlformats.org/drawingml/2006/main">
            <a:off x="9620402" y="6286500"/>
            <a:ext cx="419710" cy="400507"/>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2700" b="1">
                <a:solidFill>
                  <a:srgbClr val="1B9E8F"/>
                </a:solidFill>
                <a:latin typeface="JetBrains Mono"/>
                <a:ea typeface="JetBrains Mono"/>
                <a:cs typeface="JetBrains Mono"/>
              </a:rPr>
              <a:t>04</a:t>
            </a:r>
          </a:p>
        </p:txBody>
      </p:sp>
      <p:sp>
        <p:nvSpPr>
          <p:cNvPr id="28" name="Text 24">
            <a:extLst xmlns:a="http://schemas.openxmlformats.org/drawingml/2006/main">
              <a:ext uri="{FF2B5EF4-FFF2-40B4-BE49-F238E27FC236}">
                <a16:creationId xmlns:a16="http://schemas.microsoft.com/office/drawing/2014/main" id="{A6D7DD5F-6E36-4E79-B451-1E2B20C3058D}"/>
              </a:ext>
            </a:extLst>
          </p:cNvPr>
          <p:cNvSpPr>
            <a:spLocks xmlns:a="http://schemas.openxmlformats.org/drawingml/2006/main" noGrp="1"/>
          </p:cNvSpPr>
          <p:nvPr/>
        </p:nvSpPr>
        <p:spPr>
          <a:xfrm xmlns:a="http://schemas.openxmlformats.org/drawingml/2006/main">
            <a:off x="10165385" y="6495898"/>
            <a:ext cx="1781251" cy="1335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6A6F8C"/>
                </a:solidFill>
                <a:latin typeface="JetBrains Mono"/>
                <a:ea typeface="JetBrains Mono"/>
                <a:cs typeface="JetBrains Mono"/>
              </a:rPr>
              <a:t>Portability has a cost</a:t>
            </a:r>
          </a:p>
        </p:txBody>
      </p:sp>
      <p:sp>
        <p:nvSpPr>
          <p:cNvPr id="29" name="Text 25">
            <a:extLst xmlns:a="http://schemas.openxmlformats.org/drawingml/2006/main">
              <a:ext uri="{FF2B5EF4-FFF2-40B4-BE49-F238E27FC236}">
                <a16:creationId xmlns:a16="http://schemas.microsoft.com/office/drawing/2014/main" id="{71239952-3978-49F7-87FF-1B6B0B4CBFBB}"/>
              </a:ext>
            </a:extLst>
          </p:cNvPr>
          <p:cNvSpPr>
            <a:spLocks xmlns:a="http://schemas.openxmlformats.org/drawingml/2006/main" noGrp="1"/>
          </p:cNvSpPr>
          <p:nvPr/>
        </p:nvSpPr>
        <p:spPr>
          <a:xfrm xmlns:a="http://schemas.openxmlformats.org/drawingml/2006/main">
            <a:off x="9620402" y="6819595"/>
            <a:ext cx="7525512" cy="286207"/>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600" b="1">
                <a:solidFill>
                  <a:srgbClr val="0F1226"/>
                </a:solidFill>
                <a:latin typeface="Inter"/>
                <a:ea typeface="Inter"/>
                <a:cs typeface="Inter"/>
              </a:rPr>
              <a:t>Later OULAD AUC is slightly lower.</a:t>
            </a:r>
          </a:p>
        </p:txBody>
      </p:sp>
      <p:sp>
        <p:nvSpPr>
          <p:cNvPr id="30" name="Text 26">
            <a:extLst xmlns:a="http://schemas.openxmlformats.org/drawingml/2006/main">
              <a:ext uri="{FF2B5EF4-FFF2-40B4-BE49-F238E27FC236}">
                <a16:creationId xmlns:a16="http://schemas.microsoft.com/office/drawing/2014/main" id="{E40A78D9-EF07-4059-9848-4FE997C4AA10}"/>
              </a:ext>
            </a:extLst>
          </p:cNvPr>
          <p:cNvSpPr>
            <a:spLocks xmlns:a="http://schemas.openxmlformats.org/drawingml/2006/main" noGrp="1"/>
          </p:cNvSpPr>
          <p:nvPr/>
        </p:nvSpPr>
        <p:spPr>
          <a:xfrm xmlns:a="http://schemas.openxmlformats.org/drawingml/2006/main">
            <a:off x="9620402" y="7197242"/>
            <a:ext cx="7525512" cy="820217"/>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2040"/>
              </a:lnSpc>
              <a:buNone/>
            </a:pPr>
            <a:r>
              <a:rPr sz="1200">
                <a:solidFill>
                  <a:srgbClr val="2A2E4B"/>
                </a:solidFill>
                <a:latin typeface="Inter"/>
                <a:ea typeface="Inter"/>
                <a:cs typeface="Inter"/>
              </a:rPr>
              <a:t>Pooled minus local-only is -0.009 to -0.013 and statistically significant at days 35, 60, and 75.</a:t>
            </a:r>
          </a:p>
        </p:txBody>
      </p:sp>
    </p:spTree>
    <p:extLst>
      <p:ext uri="{BB962C8B-B14F-4D97-AF65-F5344CB8AC3E}">
        <p14:creationId xmlns:p14="http://schemas.microsoft.com/office/powerpoint/2010/main" val="1895381261"/>
      </p:ext>
    </p:extLst>
  </p:cSld>
</p:sld>
</file>

<file path=ppt/slides/slide16.xml><?xml version="1.0" encoding="utf-8"?>
<p:sld xmlns:p="http://schemas.openxmlformats.org/presentationml/2006/main">
  <p:cSld>
    <p:bg>
      <p:bgPr>
        <a:solidFill xmlns:a="http://schemas.openxmlformats.org/drawingml/2006/main">
          <a:srgbClr val="F7F7FB"/>
        </a:solidFill>
      </p:bgPr>
    </p:bg>
    <p:spTree>
      <p:nvGrpSpPr>
        <p:cNvPr id="1" name=""/>
        <p:cNvGrpSpPr/>
        <p:nvPr/>
      </p:nvGrpSpPr>
      <p:grpSpPr>
        <a:xfrm xmlns:a="http://schemas.openxmlformats.org/drawingml/2006/main"/>
      </p:grpSpPr>
      <p:pic>
        <p:nvPicPr>
          <p:cNvPr id="41" name="Image 0"/>
          <p:cNvPicPr>
            <a:picLocks xmlns:a="http://schemas.openxmlformats.org/drawingml/2006/main" noChangeAspect="1"/>
          </p:cNvPicPr>
          <p:nvPr/>
        </p:nvPicPr>
        <p:blipFill>
          <a:blip xmlns:r="http://schemas.openxmlformats.org/officeDocument/2006/relationships" xmlns:a="http://schemas.openxmlformats.org/drawingml/2006/main" r:embed="R1d9b1eed1b5b4ccd"/>
          <a:srcRect xmlns:a="http://schemas.openxmlformats.org/drawingml/2006/main" l="-2083" t="0" r="-2083" b="0"/>
          <a:stretch xmlns:a="http://schemas.openxmlformats.org/drawingml/2006/main"/>
        </p:blipFill>
        <p:spPr>
          <a:xfrm xmlns:a="http://schemas.openxmlformats.org/drawingml/2006/main">
            <a:off x="761695" y="761695"/>
            <a:ext cx="16763695" cy="9144"/>
          </a:xfrm>
          <a:prstGeom xmlns:a="http://schemas.openxmlformats.org/drawingml/2006/main" prst="rect">
            <a:avLst/>
          </a:prstGeom>
        </p:spPr>
      </p:pic>
      <p:sp>
        <p:nvSpPr>
          <p:cNvPr id="4" name="Shape 0">
            <a:extLst xmlns:a="http://schemas.openxmlformats.org/drawingml/2006/main">
              <a:ext uri="{FF2B5EF4-FFF2-40B4-BE49-F238E27FC236}">
                <a16:creationId xmlns:a16="http://schemas.microsoft.com/office/drawing/2014/main" id="{71E3EDC6-1EC2-4281-9603-EABF22F2E8E5}"/>
              </a:ext>
            </a:extLst>
          </p:cNvPr>
          <p:cNvSpPr>
            <a:spLocks xmlns:a="http://schemas.openxmlformats.org/drawingml/2006/main" noGrp="1"/>
          </p:cNvSpPr>
          <p:nvPr/>
        </p:nvSpPr>
        <p:spPr>
          <a:xfrm xmlns:a="http://schemas.openxmlformats.org/drawingml/2006/main">
            <a:off x="761695" y="2762402"/>
            <a:ext cx="16782898" cy="2638044"/>
          </a:xfrm>
          <a:prstGeom xmlns:a="http://schemas.openxmlformats.org/drawingml/2006/main" prst="roundRect">
            <a:avLst>
              <a:gd name="adj" fmla="val 728"/>
            </a:avLst>
          </a:prstGeom>
          <a:solidFill xmlns:a="http://schemas.openxmlformats.org/drawingml/2006/main">
            <a:srgbClr val="FFFFFF"/>
          </a:solidFill>
          <a:ln xmlns:a="http://schemas.openxmlformats.org/drawingml/2006/main" w="12700">
            <a:solidFill>
              <a:srgbClr val="E4E5EF"/>
            </a:solidFill>
            <a:prstDash val="solid"/>
          </a:ln>
        </p:spPr>
      </p:sp>
      <p:sp>
        <p:nvSpPr>
          <p:cNvPr id="5" name="Shape 1">
            <a:extLst xmlns:a="http://schemas.openxmlformats.org/drawingml/2006/main">
              <a:ext uri="{FF2B5EF4-FFF2-40B4-BE49-F238E27FC236}">
                <a16:creationId xmlns:a16="http://schemas.microsoft.com/office/drawing/2014/main" id="{85ED1C3F-814A-4172-A884-53118002F5AE}"/>
              </a:ext>
            </a:extLst>
          </p:cNvPr>
          <p:cNvSpPr>
            <a:spLocks xmlns:a="http://schemas.openxmlformats.org/drawingml/2006/main" noGrp="1"/>
          </p:cNvSpPr>
          <p:nvPr/>
        </p:nvSpPr>
        <p:spPr>
          <a:xfrm xmlns:a="http://schemas.openxmlformats.org/drawingml/2006/main">
            <a:off x="761695" y="5524805"/>
            <a:ext cx="5505602" cy="3733495"/>
          </a:xfrm>
          <a:prstGeom xmlns:a="http://schemas.openxmlformats.org/drawingml/2006/main" prst="roundRect">
            <a:avLst>
              <a:gd name="adj" fmla="val 514"/>
            </a:avLst>
          </a:prstGeom>
          <a:solidFill xmlns:a="http://schemas.openxmlformats.org/drawingml/2006/main">
            <a:srgbClr val="FFFFFF"/>
          </a:solidFill>
          <a:ln xmlns:a="http://schemas.openxmlformats.org/drawingml/2006/main" w="12700">
            <a:solidFill>
              <a:srgbClr val="E4E5EF"/>
            </a:solidFill>
            <a:prstDash val="solid"/>
          </a:ln>
        </p:spPr>
      </p:sp>
      <p:sp>
        <p:nvSpPr>
          <p:cNvPr id="6" name="Shape 2">
            <a:extLst xmlns:a="http://schemas.openxmlformats.org/drawingml/2006/main">
              <a:ext uri="{FF2B5EF4-FFF2-40B4-BE49-F238E27FC236}">
                <a16:creationId xmlns:a16="http://schemas.microsoft.com/office/drawing/2014/main" id="{EF2E5D3C-5E28-4A84-91E6-9ED486027B28}"/>
              </a:ext>
            </a:extLst>
          </p:cNvPr>
          <p:cNvSpPr>
            <a:spLocks xmlns:a="http://schemas.openxmlformats.org/drawingml/2006/main" noGrp="1"/>
          </p:cNvSpPr>
          <p:nvPr/>
        </p:nvSpPr>
        <p:spPr>
          <a:xfrm xmlns:a="http://schemas.openxmlformats.org/drawingml/2006/main">
            <a:off x="6400800" y="5524805"/>
            <a:ext cx="5505602" cy="3733495"/>
          </a:xfrm>
          <a:prstGeom xmlns:a="http://schemas.openxmlformats.org/drawingml/2006/main" prst="roundRect">
            <a:avLst>
              <a:gd name="adj" fmla="val 514"/>
            </a:avLst>
          </a:prstGeom>
          <a:solidFill xmlns:a="http://schemas.openxmlformats.org/drawingml/2006/main">
            <a:srgbClr val="FFFFFF"/>
          </a:solidFill>
          <a:ln xmlns:a="http://schemas.openxmlformats.org/drawingml/2006/main" w="12700">
            <a:solidFill>
              <a:srgbClr val="E4E5EF"/>
            </a:solidFill>
            <a:prstDash val="solid"/>
          </a:ln>
        </p:spPr>
      </p:sp>
      <p:sp>
        <p:nvSpPr>
          <p:cNvPr id="7" name="Shape 3">
            <a:extLst xmlns:a="http://schemas.openxmlformats.org/drawingml/2006/main">
              <a:ext uri="{FF2B5EF4-FFF2-40B4-BE49-F238E27FC236}">
                <a16:creationId xmlns:a16="http://schemas.microsoft.com/office/drawing/2014/main" id="{F8DDE09C-0C4B-49FE-8EC2-F4D1EB8BD33F}"/>
              </a:ext>
            </a:extLst>
          </p:cNvPr>
          <p:cNvSpPr>
            <a:spLocks xmlns:a="http://schemas.openxmlformats.org/drawingml/2006/main" noGrp="1"/>
          </p:cNvSpPr>
          <p:nvPr/>
        </p:nvSpPr>
        <p:spPr>
          <a:xfrm xmlns:a="http://schemas.openxmlformats.org/drawingml/2006/main">
            <a:off x="12039905" y="5524805"/>
            <a:ext cx="5486400" cy="3715207"/>
          </a:xfrm>
          <a:prstGeom xmlns:a="http://schemas.openxmlformats.org/drawingml/2006/main" prst="roundRect">
            <a:avLst>
              <a:gd name="adj" fmla="val 517"/>
            </a:avLst>
          </a:prstGeom>
          <a:solidFill xmlns:a="http://schemas.openxmlformats.org/drawingml/2006/main">
            <a:srgbClr val="1A1D5C"/>
          </a:solidFill>
          <a:ln xmlns:a="http://schemas.openxmlformats.org/drawingml/2006/main" w="12700">
            <a:solidFill>
              <a:srgbClr val="FFFFFF">
                <a:alpha val="0"/>
              </a:srgbClr>
            </a:solidFill>
            <a:prstDash val="solid"/>
          </a:ln>
        </p:spPr>
      </p:sp>
      <p:pic>
        <p:nvPicPr>
          <p:cNvPr id="46" name="Image 1"/>
          <p:cNvPicPr>
            <a:picLocks xmlns:a="http://schemas.openxmlformats.org/drawingml/2006/main" noChangeAspect="1"/>
          </p:cNvPicPr>
          <p:nvPr/>
        </p:nvPicPr>
        <p:blipFill>
          <a:blip xmlns:r="http://schemas.openxmlformats.org/officeDocument/2006/relationships" xmlns:a="http://schemas.openxmlformats.org/drawingml/2006/main" r:embed="R42cfe5e7ebb94833"/>
          <a:srcRect xmlns:a="http://schemas.openxmlformats.org/drawingml/2006/main" l="0" t="-400" r="0" b="-400"/>
          <a:stretch xmlns:a="http://schemas.openxmlformats.org/drawingml/2006/main"/>
        </p:blipFill>
        <p:spPr>
          <a:xfrm xmlns:a="http://schemas.openxmlformats.org/drawingml/2006/main">
            <a:off x="1714500" y="3429000"/>
            <a:ext cx="14859000" cy="19202"/>
          </a:xfrm>
          <a:prstGeom xmlns:a="http://schemas.openxmlformats.org/drawingml/2006/main" prst="rect">
            <a:avLst/>
          </a:prstGeom>
        </p:spPr>
      </p:pic>
      <p:sp>
        <p:nvSpPr>
          <p:cNvPr id="9" name="Shape 4">
            <a:extLst xmlns:a="http://schemas.openxmlformats.org/drawingml/2006/main">
              <a:ext uri="{FF2B5EF4-FFF2-40B4-BE49-F238E27FC236}">
                <a16:creationId xmlns:a16="http://schemas.microsoft.com/office/drawing/2014/main" id="{9DE7DD95-5CB8-434C-A3CC-1532ED8A3360}"/>
              </a:ext>
            </a:extLst>
          </p:cNvPr>
          <p:cNvSpPr>
            <a:spLocks xmlns:a="http://schemas.openxmlformats.org/drawingml/2006/main" noGrp="1"/>
          </p:cNvSpPr>
          <p:nvPr/>
        </p:nvSpPr>
        <p:spPr>
          <a:xfrm xmlns:a="http://schemas.openxmlformats.org/drawingml/2006/main">
            <a:off x="1619402" y="3362249"/>
            <a:ext cx="152705" cy="152705"/>
          </a:xfrm>
          <a:prstGeom xmlns:a="http://schemas.openxmlformats.org/drawingml/2006/main" prst="ellipse">
            <a:avLst/>
          </a:prstGeom>
          <a:solidFill xmlns:a="http://schemas.openxmlformats.org/drawingml/2006/main">
            <a:srgbClr val="E4237A"/>
          </a:solidFill>
          <a:ln xmlns:a="http://schemas.openxmlformats.org/drawingml/2006/main" w="12700">
            <a:solidFill>
              <a:srgbClr val="FFFFFF">
                <a:alpha val="0"/>
              </a:srgbClr>
            </a:solidFill>
            <a:prstDash val="solid"/>
          </a:ln>
        </p:spPr>
      </p:sp>
      <p:sp>
        <p:nvSpPr>
          <p:cNvPr id="10" name="Shape 5">
            <a:extLst xmlns:a="http://schemas.openxmlformats.org/drawingml/2006/main">
              <a:ext uri="{FF2B5EF4-FFF2-40B4-BE49-F238E27FC236}">
                <a16:creationId xmlns:a16="http://schemas.microsoft.com/office/drawing/2014/main" id="{07177008-9DE7-43F4-89D4-7EF7A5562DA7}"/>
              </a:ext>
            </a:extLst>
          </p:cNvPr>
          <p:cNvSpPr>
            <a:spLocks xmlns:a="http://schemas.openxmlformats.org/drawingml/2006/main" noGrp="1"/>
          </p:cNvSpPr>
          <p:nvPr/>
        </p:nvSpPr>
        <p:spPr>
          <a:xfrm xmlns:a="http://schemas.openxmlformats.org/drawingml/2006/main">
            <a:off x="5619902" y="3362249"/>
            <a:ext cx="152705" cy="152705"/>
          </a:xfrm>
          <a:prstGeom xmlns:a="http://schemas.openxmlformats.org/drawingml/2006/main" prst="ellipse">
            <a:avLst/>
          </a:prstGeom>
          <a:solidFill xmlns:a="http://schemas.openxmlformats.org/drawingml/2006/main">
            <a:srgbClr val="E4237A"/>
          </a:solidFill>
          <a:ln xmlns:a="http://schemas.openxmlformats.org/drawingml/2006/main" w="12700">
            <a:solidFill>
              <a:srgbClr val="FFFFFF">
                <a:alpha val="0"/>
              </a:srgbClr>
            </a:solidFill>
            <a:prstDash val="solid"/>
          </a:ln>
        </p:spPr>
      </p:sp>
      <p:sp>
        <p:nvSpPr>
          <p:cNvPr id="11" name="Shape 6">
            <a:extLst xmlns:a="http://schemas.openxmlformats.org/drawingml/2006/main">
              <a:ext uri="{FF2B5EF4-FFF2-40B4-BE49-F238E27FC236}">
                <a16:creationId xmlns:a16="http://schemas.microsoft.com/office/drawing/2014/main" id="{B1343CD4-8BA5-44E1-A80D-4B6D7A01D8AB}"/>
              </a:ext>
            </a:extLst>
          </p:cNvPr>
          <p:cNvSpPr>
            <a:spLocks xmlns:a="http://schemas.openxmlformats.org/drawingml/2006/main" noGrp="1"/>
          </p:cNvSpPr>
          <p:nvPr/>
        </p:nvSpPr>
        <p:spPr>
          <a:xfrm xmlns:a="http://schemas.openxmlformats.org/drawingml/2006/main">
            <a:off x="9620402" y="3362249"/>
            <a:ext cx="152705" cy="152705"/>
          </a:xfrm>
          <a:prstGeom xmlns:a="http://schemas.openxmlformats.org/drawingml/2006/main" prst="ellipse">
            <a:avLst/>
          </a:prstGeom>
          <a:solidFill xmlns:a="http://schemas.openxmlformats.org/drawingml/2006/main">
            <a:srgbClr val="2A2E7A"/>
          </a:solidFill>
          <a:ln xmlns:a="http://schemas.openxmlformats.org/drawingml/2006/main" w="12700">
            <a:solidFill>
              <a:srgbClr val="FFFFFF">
                <a:alpha val="0"/>
              </a:srgbClr>
            </a:solidFill>
            <a:prstDash val="solid"/>
          </a:ln>
        </p:spPr>
      </p:sp>
      <p:sp>
        <p:nvSpPr>
          <p:cNvPr id="12" name="Shape 7">
            <a:extLst xmlns:a="http://schemas.openxmlformats.org/drawingml/2006/main">
              <a:ext uri="{FF2B5EF4-FFF2-40B4-BE49-F238E27FC236}">
                <a16:creationId xmlns:a16="http://schemas.microsoft.com/office/drawing/2014/main" id="{C752BDE2-99B5-4418-9440-BE578AA6B002}"/>
              </a:ext>
            </a:extLst>
          </p:cNvPr>
          <p:cNvSpPr>
            <a:spLocks xmlns:a="http://schemas.openxmlformats.org/drawingml/2006/main" noGrp="1"/>
          </p:cNvSpPr>
          <p:nvPr/>
        </p:nvSpPr>
        <p:spPr>
          <a:xfrm xmlns:a="http://schemas.openxmlformats.org/drawingml/2006/main">
            <a:off x="13620902" y="3362249"/>
            <a:ext cx="152705" cy="152705"/>
          </a:xfrm>
          <a:prstGeom xmlns:a="http://schemas.openxmlformats.org/drawingml/2006/main" prst="ellipse">
            <a:avLst/>
          </a:prstGeom>
          <a:solidFill xmlns:a="http://schemas.openxmlformats.org/drawingml/2006/main">
            <a:srgbClr val="1B9E8F"/>
          </a:solidFill>
          <a:ln xmlns:a="http://schemas.openxmlformats.org/drawingml/2006/main" w="12700">
            <a:solidFill>
              <a:srgbClr val="FFFFFF">
                <a:alpha val="0"/>
              </a:srgbClr>
            </a:solidFill>
            <a:prstDash val="solid"/>
          </a:ln>
        </p:spPr>
      </p:sp>
      <p:sp>
        <p:nvSpPr>
          <p:cNvPr id="13" name="Text 8">
            <a:extLst xmlns:a="http://schemas.openxmlformats.org/drawingml/2006/main">
              <a:ext uri="{FF2B5EF4-FFF2-40B4-BE49-F238E27FC236}">
                <a16:creationId xmlns:a16="http://schemas.microsoft.com/office/drawing/2014/main" id="{A969B94D-3F76-4905-9C52-725985B15626}"/>
              </a:ext>
            </a:extLst>
          </p:cNvPr>
          <p:cNvSpPr>
            <a:spLocks xmlns:a="http://schemas.openxmlformats.org/drawingml/2006/main" noGrp="1"/>
          </p:cNvSpPr>
          <p:nvPr/>
        </p:nvSpPr>
        <p:spPr>
          <a:xfrm xmlns:a="http://schemas.openxmlformats.org/drawingml/2006/main">
            <a:off x="761695" y="428854"/>
            <a:ext cx="8572500" cy="152705"/>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000">
                <a:solidFill>
                  <a:srgbClr val="6A6F8C"/>
                </a:solidFill>
                <a:latin typeface="JetBrains Mono"/>
                <a:ea typeface="JetBrains Mono"/>
                <a:cs typeface="JetBrains Mono"/>
              </a:rPr>
              <a:t>§ 08 · Deployment &amp; future work</a:t>
            </a:r>
          </a:p>
        </p:txBody>
      </p:sp>
      <p:sp>
        <p:nvSpPr>
          <p:cNvPr id="14" name="Text 9">
            <a:extLst xmlns:a="http://schemas.openxmlformats.org/drawingml/2006/main">
              <a:ext uri="{FF2B5EF4-FFF2-40B4-BE49-F238E27FC236}">
                <a16:creationId xmlns:a16="http://schemas.microsoft.com/office/drawing/2014/main" id="{4D38D3F1-AA19-48AD-83B5-4F6385163878}"/>
              </a:ext>
            </a:extLst>
          </p:cNvPr>
          <p:cNvSpPr>
            <a:spLocks xmlns:a="http://schemas.openxmlformats.org/drawingml/2006/main" noGrp="1"/>
          </p:cNvSpPr>
          <p:nvPr/>
        </p:nvSpPr>
        <p:spPr>
          <a:xfrm xmlns:a="http://schemas.openxmlformats.org/drawingml/2006/main">
            <a:off x="15240305" y="428854"/>
            <a:ext cx="2286000" cy="152705"/>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r">
              <a:buNone/>
            </a:pPr>
            <a:r>
              <a:rPr sz="1000">
                <a:solidFill>
                  <a:srgbClr val="6A6F8C"/>
                </a:solidFill>
                <a:latin typeface="JetBrains Mono"/>
                <a:ea typeface="JetBrains Mono"/>
                <a:cs typeface="JetBrains Mono"/>
              </a:rPr>
              <a:t>16 / 20</a:t>
            </a:r>
          </a:p>
        </p:txBody>
      </p:sp>
      <p:sp>
        <p:nvSpPr>
          <p:cNvPr id="15" name="Text 10">
            <a:extLst xmlns:a="http://schemas.openxmlformats.org/drawingml/2006/main">
              <a:ext uri="{FF2B5EF4-FFF2-40B4-BE49-F238E27FC236}">
                <a16:creationId xmlns:a16="http://schemas.microsoft.com/office/drawing/2014/main" id="{32A17B0D-0F09-46AE-8538-6B3BE5609E74}"/>
              </a:ext>
            </a:extLst>
          </p:cNvPr>
          <p:cNvSpPr>
            <a:spLocks xmlns:a="http://schemas.openxmlformats.org/drawingml/2006/main" noGrp="1"/>
          </p:cNvSpPr>
          <p:nvPr/>
        </p:nvSpPr>
        <p:spPr>
          <a:xfrm xmlns:a="http://schemas.openxmlformats.org/drawingml/2006/main">
            <a:off x="761695" y="1238098"/>
            <a:ext cx="17208094" cy="486461"/>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3600" b="1">
                <a:solidFill>
                  <a:srgbClr val="0F1226"/>
                </a:solidFill>
                <a:latin typeface="Inter"/>
                <a:ea typeface="Inter"/>
                <a:cs typeface="Inter"/>
              </a:rPr>
              <a:t>Deploy the shared model as advisor support, not autonomous action.</a:t>
            </a:r>
          </a:p>
        </p:txBody>
      </p:sp>
      <p:sp>
        <p:nvSpPr>
          <p:cNvPr id="16" name="Text 11">
            <a:extLst xmlns:a="http://schemas.openxmlformats.org/drawingml/2006/main">
              <a:ext uri="{FF2B5EF4-FFF2-40B4-BE49-F238E27FC236}">
                <a16:creationId xmlns:a16="http://schemas.microsoft.com/office/drawing/2014/main" id="{CE728E11-05B3-4D5F-AF15-817FDEE99A49}"/>
              </a:ext>
            </a:extLst>
          </p:cNvPr>
          <p:cNvSpPr>
            <a:spLocks xmlns:a="http://schemas.openxmlformats.org/drawingml/2006/main" noGrp="1"/>
          </p:cNvSpPr>
          <p:nvPr/>
        </p:nvSpPr>
        <p:spPr>
          <a:xfrm xmlns:a="http://schemas.openxmlformats.org/drawingml/2006/main">
            <a:off x="761695" y="1813255"/>
            <a:ext cx="16764610" cy="21031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500" i="1">
                <a:solidFill>
                  <a:srgbClr val="6A6F8C"/>
                </a:solidFill>
                <a:latin typeface="Source Serif Pro"/>
                <a:ea typeface="Source Serif Pro"/>
                <a:cs typeface="Source Serif Pro"/>
              </a:rPr>
              <a:t>A proposed third-school validation plan, not an existing institutional deployment.</a:t>
            </a:r>
          </a:p>
        </p:txBody>
      </p:sp>
      <p:sp>
        <p:nvSpPr>
          <p:cNvPr id="17" name="Text 12">
            <a:extLst xmlns:a="http://schemas.openxmlformats.org/drawingml/2006/main">
              <a:ext uri="{FF2B5EF4-FFF2-40B4-BE49-F238E27FC236}">
                <a16:creationId xmlns:a16="http://schemas.microsoft.com/office/drawing/2014/main" id="{E6BE0C39-ED52-468A-9E36-4075E008A0CA}"/>
              </a:ext>
            </a:extLst>
          </p:cNvPr>
          <p:cNvSpPr>
            <a:spLocks xmlns:a="http://schemas.openxmlformats.org/drawingml/2006/main" noGrp="1"/>
          </p:cNvSpPr>
          <p:nvPr/>
        </p:nvSpPr>
        <p:spPr>
          <a:xfrm xmlns:a="http://schemas.openxmlformats.org/drawingml/2006/main">
            <a:off x="1047902" y="2905049"/>
            <a:ext cx="16193110" cy="124358"/>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800">
                <a:solidFill>
                  <a:srgbClr val="E4237A"/>
                </a:solidFill>
                <a:latin typeface="JetBrains Mono"/>
                <a:ea typeface="JetBrains Mono"/>
                <a:cs typeface="JetBrains Mono"/>
              </a:rPr>
              <a:t>Proposed pilot timeline — not currently deployed</a:t>
            </a:r>
          </a:p>
        </p:txBody>
      </p:sp>
      <p:sp>
        <p:nvSpPr>
          <p:cNvPr id="18" name="Text 13">
            <a:extLst xmlns:a="http://schemas.openxmlformats.org/drawingml/2006/main">
              <a:ext uri="{FF2B5EF4-FFF2-40B4-BE49-F238E27FC236}">
                <a16:creationId xmlns:a16="http://schemas.microsoft.com/office/drawing/2014/main" id="{B3FFC9AA-1A2D-4F5D-8BA8-D48DDE4E6B6E}"/>
              </a:ext>
            </a:extLst>
          </p:cNvPr>
          <p:cNvSpPr>
            <a:spLocks xmlns:a="http://schemas.openxmlformats.org/drawingml/2006/main" noGrp="1"/>
          </p:cNvSpPr>
          <p:nvPr/>
        </p:nvSpPr>
        <p:spPr>
          <a:xfrm xmlns:a="http://schemas.openxmlformats.org/drawingml/2006/main">
            <a:off x="1143000" y="3762756"/>
            <a:ext cx="3810305" cy="1335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E4237A"/>
                </a:solidFill>
                <a:latin typeface="JetBrains Mono"/>
                <a:ea typeface="JetBrains Mono"/>
                <a:cs typeface="JetBrains Mono"/>
              </a:rPr>
              <a:t>Step 1 · Map</a:t>
            </a:r>
          </a:p>
        </p:txBody>
      </p:sp>
      <p:sp>
        <p:nvSpPr>
          <p:cNvPr id="19" name="Text 14">
            <a:extLst xmlns:a="http://schemas.openxmlformats.org/drawingml/2006/main">
              <a:ext uri="{FF2B5EF4-FFF2-40B4-BE49-F238E27FC236}">
                <a16:creationId xmlns:a16="http://schemas.microsoft.com/office/drawing/2014/main" id="{23202FC3-1364-4FFE-91CB-A2C3F2E3FFF0}"/>
              </a:ext>
            </a:extLst>
          </p:cNvPr>
          <p:cNvSpPr>
            <a:spLocks xmlns:a="http://schemas.openxmlformats.org/drawingml/2006/main" noGrp="1"/>
          </p:cNvSpPr>
          <p:nvPr/>
        </p:nvSpPr>
        <p:spPr>
          <a:xfrm xmlns:a="http://schemas.openxmlformats.org/drawingml/2006/main">
            <a:off x="1143000" y="3952951"/>
            <a:ext cx="3810305" cy="228600"/>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500" b="1">
                <a:solidFill>
                  <a:srgbClr val="0F1226"/>
                </a:solidFill>
                <a:latin typeface="Inter"/>
                <a:ea typeface="Inter"/>
                <a:cs typeface="Inter"/>
              </a:rPr>
              <a:t>Build local adapter</a:t>
            </a:r>
          </a:p>
        </p:txBody>
      </p:sp>
      <p:sp>
        <p:nvSpPr>
          <p:cNvPr id="20" name="Text 15">
            <a:extLst xmlns:a="http://schemas.openxmlformats.org/drawingml/2006/main">
              <a:ext uri="{FF2B5EF4-FFF2-40B4-BE49-F238E27FC236}">
                <a16:creationId xmlns:a16="http://schemas.microsoft.com/office/drawing/2014/main" id="{1CE63455-210D-40CD-BC53-6D0DE9E4F31B}"/>
              </a:ext>
            </a:extLst>
          </p:cNvPr>
          <p:cNvSpPr>
            <a:spLocks xmlns:a="http://schemas.openxmlformats.org/drawingml/2006/main" noGrp="1"/>
          </p:cNvSpPr>
          <p:nvPr/>
        </p:nvSpPr>
        <p:spPr>
          <a:xfrm xmlns:a="http://schemas.openxmlformats.org/drawingml/2006/main">
            <a:off x="1143000" y="4257446"/>
            <a:ext cx="3810305" cy="42885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000">
                <a:solidFill>
                  <a:srgbClr val="6A6F8C"/>
                </a:solidFill>
                <a:latin typeface="JetBrains Mono"/>
                <a:ea typeface="JetBrains Mono"/>
                <a:cs typeface="JetBrains Mono"/>
              </a:rPr>
              <a:t>Document raw fields | construct 4 required + available optional features</a:t>
            </a:r>
          </a:p>
        </p:txBody>
      </p:sp>
      <p:sp>
        <p:nvSpPr>
          <p:cNvPr id="21" name="Text 16">
            <a:extLst xmlns:a="http://schemas.openxmlformats.org/drawingml/2006/main">
              <a:ext uri="{FF2B5EF4-FFF2-40B4-BE49-F238E27FC236}">
                <a16:creationId xmlns:a16="http://schemas.microsoft.com/office/drawing/2014/main" id="{4C3F1C71-FF46-4383-9216-3640874685C8}"/>
              </a:ext>
            </a:extLst>
          </p:cNvPr>
          <p:cNvSpPr>
            <a:spLocks xmlns:a="http://schemas.openxmlformats.org/drawingml/2006/main" noGrp="1"/>
          </p:cNvSpPr>
          <p:nvPr/>
        </p:nvSpPr>
        <p:spPr>
          <a:xfrm xmlns:a="http://schemas.openxmlformats.org/drawingml/2006/main">
            <a:off x="5143500" y="3762756"/>
            <a:ext cx="3810305" cy="1335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E4237A"/>
                </a:solidFill>
                <a:latin typeface="JetBrains Mono"/>
                <a:ea typeface="JetBrains Mono"/>
                <a:cs typeface="JetBrains Mono"/>
              </a:rPr>
              <a:t>Step 2 | Score</a:t>
            </a:r>
          </a:p>
        </p:txBody>
      </p:sp>
      <p:sp>
        <p:nvSpPr>
          <p:cNvPr id="22" name="Text 17">
            <a:extLst xmlns:a="http://schemas.openxmlformats.org/drawingml/2006/main">
              <a:ext uri="{FF2B5EF4-FFF2-40B4-BE49-F238E27FC236}">
                <a16:creationId xmlns:a16="http://schemas.microsoft.com/office/drawing/2014/main" id="{0649AD25-FA0B-45EE-9374-DE31E56668F7}"/>
              </a:ext>
            </a:extLst>
          </p:cNvPr>
          <p:cNvSpPr>
            <a:spLocks xmlns:a="http://schemas.openxmlformats.org/drawingml/2006/main" noGrp="1"/>
          </p:cNvSpPr>
          <p:nvPr/>
        </p:nvSpPr>
        <p:spPr>
          <a:xfrm xmlns:a="http://schemas.openxmlformats.org/drawingml/2006/main">
            <a:off x="5143500" y="3952951"/>
            <a:ext cx="3810305" cy="228600"/>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500" b="1">
                <a:solidFill>
                  <a:srgbClr val="0F1226"/>
                </a:solidFill>
                <a:latin typeface="Inter"/>
                <a:ea typeface="Inter"/>
                <a:cs typeface="Inter"/>
              </a:rPr>
              <a:t>Score frozen model</a:t>
            </a:r>
          </a:p>
        </p:txBody>
      </p:sp>
      <p:sp>
        <p:nvSpPr>
          <p:cNvPr id="23" name="Text 18">
            <a:extLst xmlns:a="http://schemas.openxmlformats.org/drawingml/2006/main">
              <a:ext uri="{FF2B5EF4-FFF2-40B4-BE49-F238E27FC236}">
                <a16:creationId xmlns:a16="http://schemas.microsoft.com/office/drawing/2014/main" id="{302AA7A0-C074-4DF4-82B0-A24C44AAF8B3}"/>
              </a:ext>
            </a:extLst>
          </p:cNvPr>
          <p:cNvSpPr>
            <a:spLocks xmlns:a="http://schemas.openxmlformats.org/drawingml/2006/main" noGrp="1"/>
          </p:cNvSpPr>
          <p:nvPr/>
        </p:nvSpPr>
        <p:spPr>
          <a:xfrm xmlns:a="http://schemas.openxmlformats.org/drawingml/2006/main">
            <a:off x="5143500" y="4257446"/>
            <a:ext cx="3810305" cy="42885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000">
                <a:solidFill>
                  <a:srgbClr val="6A6F8C"/>
                </a:solidFill>
                <a:latin typeface="JetBrains Mono"/>
                <a:ea typeface="JetBrains Mono"/>
                <a:cs typeface="JetBrains Mono"/>
              </a:rPr>
              <a:t>Run untouched historical cohort | report optional-feature coverage</a:t>
            </a:r>
          </a:p>
        </p:txBody>
      </p:sp>
      <p:sp>
        <p:nvSpPr>
          <p:cNvPr id="24" name="Text 19">
            <a:extLst xmlns:a="http://schemas.openxmlformats.org/drawingml/2006/main">
              <a:ext uri="{FF2B5EF4-FFF2-40B4-BE49-F238E27FC236}">
                <a16:creationId xmlns:a16="http://schemas.microsoft.com/office/drawing/2014/main" id="{90ABBA02-E867-4D35-B195-08B7C557BBC3}"/>
              </a:ext>
            </a:extLst>
          </p:cNvPr>
          <p:cNvSpPr>
            <a:spLocks xmlns:a="http://schemas.openxmlformats.org/drawingml/2006/main" noGrp="1"/>
          </p:cNvSpPr>
          <p:nvPr/>
        </p:nvSpPr>
        <p:spPr>
          <a:xfrm xmlns:a="http://schemas.openxmlformats.org/drawingml/2006/main">
            <a:off x="9144000" y="3762756"/>
            <a:ext cx="3810305" cy="1335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2A2E7A"/>
                </a:solidFill>
                <a:latin typeface="JetBrains Mono"/>
                <a:ea typeface="JetBrains Mono"/>
                <a:cs typeface="JetBrains Mono"/>
              </a:rPr>
              <a:t>Step 3 · Validate</a:t>
            </a:r>
          </a:p>
        </p:txBody>
      </p:sp>
      <p:sp>
        <p:nvSpPr>
          <p:cNvPr id="25" name="Text 20">
            <a:extLst xmlns:a="http://schemas.openxmlformats.org/drawingml/2006/main">
              <a:ext uri="{FF2B5EF4-FFF2-40B4-BE49-F238E27FC236}">
                <a16:creationId xmlns:a16="http://schemas.microsoft.com/office/drawing/2014/main" id="{4DCC660C-88E2-4ED6-A01F-B88222952B1F}"/>
              </a:ext>
            </a:extLst>
          </p:cNvPr>
          <p:cNvSpPr>
            <a:spLocks xmlns:a="http://schemas.openxmlformats.org/drawingml/2006/main" noGrp="1"/>
          </p:cNvSpPr>
          <p:nvPr/>
        </p:nvSpPr>
        <p:spPr>
          <a:xfrm xmlns:a="http://schemas.openxmlformats.org/drawingml/2006/main">
            <a:off x="9144000" y="3952951"/>
            <a:ext cx="3810305" cy="228600"/>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500" b="1">
                <a:solidFill>
                  <a:srgbClr val="0F1226"/>
                </a:solidFill>
                <a:latin typeface="Inter"/>
                <a:ea typeface="Inter"/>
                <a:cs typeface="Inter"/>
              </a:rPr>
              <a:t>Validate ranking and workload</a:t>
            </a:r>
          </a:p>
        </p:txBody>
      </p:sp>
      <p:sp>
        <p:nvSpPr>
          <p:cNvPr id="26" name="Text 21">
            <a:extLst xmlns:a="http://schemas.openxmlformats.org/drawingml/2006/main">
              <a:ext uri="{FF2B5EF4-FFF2-40B4-BE49-F238E27FC236}">
                <a16:creationId xmlns:a16="http://schemas.microsoft.com/office/drawing/2014/main" id="{49AAD647-A4FA-4574-A459-06E88EDC015C}"/>
              </a:ext>
            </a:extLst>
          </p:cNvPr>
          <p:cNvSpPr>
            <a:spLocks xmlns:a="http://schemas.openxmlformats.org/drawingml/2006/main" noGrp="1"/>
          </p:cNvSpPr>
          <p:nvPr/>
        </p:nvSpPr>
        <p:spPr>
          <a:xfrm xmlns:a="http://schemas.openxmlformats.org/drawingml/2006/main">
            <a:off x="9144000" y="4257446"/>
            <a:ext cx="3810305" cy="42885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000">
                <a:solidFill>
                  <a:srgbClr val="6A6F8C"/>
                </a:solidFill>
                <a:latin typeface="JetBrains Mono"/>
                <a:ea typeface="JetBrains Mono"/>
                <a:cs typeface="JetBrains Mono"/>
              </a:rPr>
              <a:t>Check ranking, calibration, subgroup results, and advisor workload</a:t>
            </a:r>
          </a:p>
        </p:txBody>
      </p:sp>
      <p:sp>
        <p:nvSpPr>
          <p:cNvPr id="27" name="Text 22">
            <a:extLst xmlns:a="http://schemas.openxmlformats.org/drawingml/2006/main">
              <a:ext uri="{FF2B5EF4-FFF2-40B4-BE49-F238E27FC236}">
                <a16:creationId xmlns:a16="http://schemas.microsoft.com/office/drawing/2014/main" id="{863B83F8-2F76-4EA0-B6DE-0EB37C6DAEEB}"/>
              </a:ext>
            </a:extLst>
          </p:cNvPr>
          <p:cNvSpPr>
            <a:spLocks xmlns:a="http://schemas.openxmlformats.org/drawingml/2006/main" noGrp="1"/>
          </p:cNvSpPr>
          <p:nvPr/>
        </p:nvSpPr>
        <p:spPr>
          <a:xfrm xmlns:a="http://schemas.openxmlformats.org/drawingml/2006/main">
            <a:off x="13144500" y="3762756"/>
            <a:ext cx="3810305" cy="1335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1B9E8F"/>
                </a:solidFill>
                <a:latin typeface="JetBrains Mono"/>
                <a:ea typeface="JetBrains Mono"/>
                <a:cs typeface="JetBrains Mono"/>
              </a:rPr>
              <a:t>Step 4 · Pilot</a:t>
            </a:r>
          </a:p>
        </p:txBody>
      </p:sp>
      <p:sp>
        <p:nvSpPr>
          <p:cNvPr id="28" name="Text 23">
            <a:extLst xmlns:a="http://schemas.openxmlformats.org/drawingml/2006/main">
              <a:ext uri="{FF2B5EF4-FFF2-40B4-BE49-F238E27FC236}">
                <a16:creationId xmlns:a16="http://schemas.microsoft.com/office/drawing/2014/main" id="{48D56C1D-51C3-40C3-9465-E09D5FB0EA03}"/>
              </a:ext>
            </a:extLst>
          </p:cNvPr>
          <p:cNvSpPr>
            <a:spLocks xmlns:a="http://schemas.openxmlformats.org/drawingml/2006/main" noGrp="1"/>
          </p:cNvSpPr>
          <p:nvPr/>
        </p:nvSpPr>
        <p:spPr>
          <a:xfrm xmlns:a="http://schemas.openxmlformats.org/drawingml/2006/main">
            <a:off x="13144500" y="3952951"/>
            <a:ext cx="3810305" cy="228600"/>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500" b="1">
                <a:solidFill>
                  <a:srgbClr val="0F1226"/>
                </a:solidFill>
                <a:latin typeface="Inter"/>
                <a:ea typeface="Inter"/>
                <a:cs typeface="Inter"/>
              </a:rPr>
              <a:t>Limited advisor use</a:t>
            </a:r>
          </a:p>
        </p:txBody>
      </p:sp>
      <p:sp>
        <p:nvSpPr>
          <p:cNvPr id="29" name="Text 24">
            <a:extLst xmlns:a="http://schemas.openxmlformats.org/drawingml/2006/main">
              <a:ext uri="{FF2B5EF4-FFF2-40B4-BE49-F238E27FC236}">
                <a16:creationId xmlns:a16="http://schemas.microsoft.com/office/drawing/2014/main" id="{9993A22A-BA9B-4BF8-A7CF-1323C4F7FE12}"/>
              </a:ext>
            </a:extLst>
          </p:cNvPr>
          <p:cNvSpPr>
            <a:spLocks xmlns:a="http://schemas.openxmlformats.org/drawingml/2006/main" noGrp="1"/>
          </p:cNvSpPr>
          <p:nvPr/>
        </p:nvSpPr>
        <p:spPr>
          <a:xfrm xmlns:a="http://schemas.openxmlformats.org/drawingml/2006/main">
            <a:off x="13144500" y="4257446"/>
            <a:ext cx="3810305" cy="42885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000">
                <a:solidFill>
                  <a:srgbClr val="6A6F8C"/>
                </a:solidFill>
                <a:latin typeface="JetBrains Mono"/>
                <a:ea typeface="JetBrains Mono"/>
                <a:cs typeface="JetBrains Mono"/>
              </a:rPr>
              <a:t>Human review · support-only action · rollback rule</a:t>
            </a:r>
          </a:p>
        </p:txBody>
      </p:sp>
      <p:sp>
        <p:nvSpPr>
          <p:cNvPr id="30" name="Text 25">
            <a:extLst xmlns:a="http://schemas.openxmlformats.org/drawingml/2006/main">
              <a:ext uri="{FF2B5EF4-FFF2-40B4-BE49-F238E27FC236}">
                <a16:creationId xmlns:a16="http://schemas.microsoft.com/office/drawing/2014/main" id="{620719D6-7E52-4CE3-B8F4-9B20F2D32789}"/>
              </a:ext>
            </a:extLst>
          </p:cNvPr>
          <p:cNvSpPr>
            <a:spLocks xmlns:a="http://schemas.openxmlformats.org/drawingml/2006/main" noGrp="1"/>
          </p:cNvSpPr>
          <p:nvPr/>
        </p:nvSpPr>
        <p:spPr>
          <a:xfrm xmlns:a="http://schemas.openxmlformats.org/drawingml/2006/main">
            <a:off x="1143000" y="5762549"/>
            <a:ext cx="4763110" cy="124358"/>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800">
                <a:solidFill>
                  <a:srgbClr val="E4237A"/>
                </a:solidFill>
                <a:latin typeface="JetBrains Mono"/>
                <a:ea typeface="JetBrains Mono"/>
                <a:cs typeface="JetBrains Mono"/>
              </a:rPr>
              <a:t>Monitoring stack</a:t>
            </a:r>
          </a:p>
        </p:txBody>
      </p:sp>
      <p:sp>
        <p:nvSpPr>
          <p:cNvPr id="31" name="Text 26">
            <a:extLst xmlns:a="http://schemas.openxmlformats.org/drawingml/2006/main">
              <a:ext uri="{FF2B5EF4-FFF2-40B4-BE49-F238E27FC236}">
                <a16:creationId xmlns:a16="http://schemas.microsoft.com/office/drawing/2014/main" id="{089F0D7A-3D86-4BDD-9EE8-56223C983E5D}"/>
              </a:ext>
            </a:extLst>
          </p:cNvPr>
          <p:cNvSpPr>
            <a:spLocks xmlns:a="http://schemas.openxmlformats.org/drawingml/2006/main" noGrp="1"/>
          </p:cNvSpPr>
          <p:nvPr/>
        </p:nvSpPr>
        <p:spPr>
          <a:xfrm xmlns:a="http://schemas.openxmlformats.org/drawingml/2006/main">
            <a:off x="1143000" y="5982005"/>
            <a:ext cx="4763110" cy="314554"/>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800" b="1">
                <a:solidFill>
                  <a:srgbClr val="0F1226"/>
                </a:solidFill>
                <a:latin typeface="Inter"/>
                <a:ea typeface="Inter"/>
                <a:cs typeface="Inter"/>
              </a:rPr>
              <a:t>What we watch by institution.</a:t>
            </a:r>
          </a:p>
        </p:txBody>
      </p:sp>
      <p:sp>
        <p:nvSpPr>
          <p:cNvPr id="32" name="Text 27">
            <a:extLst xmlns:a="http://schemas.openxmlformats.org/drawingml/2006/main">
              <a:ext uri="{FF2B5EF4-FFF2-40B4-BE49-F238E27FC236}">
                <a16:creationId xmlns:a16="http://schemas.microsoft.com/office/drawing/2014/main" id="{CC490E0B-8D14-4F3C-9278-D96E3AF922C9}"/>
              </a:ext>
            </a:extLst>
          </p:cNvPr>
          <p:cNvSpPr>
            <a:spLocks xmlns:a="http://schemas.openxmlformats.org/drawingml/2006/main" noGrp="1"/>
          </p:cNvSpPr>
          <p:nvPr/>
        </p:nvSpPr>
        <p:spPr>
          <a:xfrm xmlns:a="http://schemas.openxmlformats.org/drawingml/2006/main">
            <a:off x="1143000" y="6416345"/>
            <a:ext cx="4763110" cy="1417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2160"/>
              </a:lnSpc>
              <a:buNone/>
            </a:pPr>
            <a:r>
              <a:rPr sz="1200">
                <a:solidFill>
                  <a:srgbClr val="2A2E4B"/>
                </a:solidFill>
                <a:latin typeface="Inter"/>
                <a:ea typeface="Inter"/>
                <a:cs typeface="Inter"/>
              </a:rPr>
              <a:t>· Missing-feature and range failures · ROC-AUC, AP, Brier, and calibration · Subgroup metrics with uncertainty · Alert volume and workload · Adapter and score drift</a:t>
            </a:r>
          </a:p>
        </p:txBody>
      </p:sp>
      <p:sp>
        <p:nvSpPr>
          <p:cNvPr id="33" name="Text 28">
            <a:extLst xmlns:a="http://schemas.openxmlformats.org/drawingml/2006/main">
              <a:ext uri="{FF2B5EF4-FFF2-40B4-BE49-F238E27FC236}">
                <a16:creationId xmlns:a16="http://schemas.microsoft.com/office/drawing/2014/main" id="{049FF67C-6802-4972-A05C-C6FCD5EDB5E0}"/>
              </a:ext>
            </a:extLst>
          </p:cNvPr>
          <p:cNvSpPr>
            <a:spLocks xmlns:a="http://schemas.openxmlformats.org/drawingml/2006/main" noGrp="1"/>
          </p:cNvSpPr>
          <p:nvPr/>
        </p:nvSpPr>
        <p:spPr>
          <a:xfrm xmlns:a="http://schemas.openxmlformats.org/drawingml/2006/main">
            <a:off x="6782105" y="5762549"/>
            <a:ext cx="4763110" cy="124358"/>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800">
                <a:solidFill>
                  <a:srgbClr val="2A2E7A"/>
                </a:solidFill>
                <a:latin typeface="JetBrains Mono"/>
                <a:ea typeface="JetBrains Mono"/>
                <a:cs typeface="JetBrains Mono"/>
              </a:rPr>
              <a:t>Model governance</a:t>
            </a:r>
          </a:p>
        </p:txBody>
      </p:sp>
      <p:sp>
        <p:nvSpPr>
          <p:cNvPr id="34" name="Text 29">
            <a:extLst xmlns:a="http://schemas.openxmlformats.org/drawingml/2006/main">
              <a:ext uri="{FF2B5EF4-FFF2-40B4-BE49-F238E27FC236}">
                <a16:creationId xmlns:a16="http://schemas.microsoft.com/office/drawing/2014/main" id="{F4E8BF00-78AD-4774-9B25-EEF196782FE2}"/>
              </a:ext>
            </a:extLst>
          </p:cNvPr>
          <p:cNvSpPr>
            <a:spLocks xmlns:a="http://schemas.openxmlformats.org/drawingml/2006/main" noGrp="1"/>
          </p:cNvSpPr>
          <p:nvPr/>
        </p:nvSpPr>
        <p:spPr>
          <a:xfrm xmlns:a="http://schemas.openxmlformats.org/drawingml/2006/main">
            <a:off x="6782105" y="5982005"/>
            <a:ext cx="4763110" cy="314554"/>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800" b="1">
                <a:solidFill>
                  <a:srgbClr val="0F1226"/>
                </a:solidFill>
                <a:latin typeface="Inter"/>
                <a:ea typeface="Inter"/>
                <a:cs typeface="Inter"/>
              </a:rPr>
              <a:t>Shared core, local configuration.</a:t>
            </a:r>
          </a:p>
        </p:txBody>
      </p:sp>
      <p:sp>
        <p:nvSpPr>
          <p:cNvPr id="35" name="Text 30">
            <a:extLst xmlns:a="http://schemas.openxmlformats.org/drawingml/2006/main">
              <a:ext uri="{FF2B5EF4-FFF2-40B4-BE49-F238E27FC236}">
                <a16:creationId xmlns:a16="http://schemas.microsoft.com/office/drawing/2014/main" id="{04EB5A80-8F3B-426E-B750-DA7F987AEF79}"/>
              </a:ext>
            </a:extLst>
          </p:cNvPr>
          <p:cNvSpPr>
            <a:spLocks xmlns:a="http://schemas.openxmlformats.org/drawingml/2006/main" noGrp="1"/>
          </p:cNvSpPr>
          <p:nvPr/>
        </p:nvSpPr>
        <p:spPr>
          <a:xfrm xmlns:a="http://schemas.openxmlformats.org/drawingml/2006/main">
            <a:off x="6782105" y="6416345"/>
            <a:ext cx="4763110" cy="1417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2160"/>
              </a:lnSpc>
              <a:buNone/>
            </a:pPr>
            <a:r>
              <a:rPr sz="1200">
                <a:solidFill>
                  <a:srgbClr val="2A2E4B"/>
                </a:solidFill>
                <a:latin typeface="Inter"/>
                <a:ea typeface="Inter"/>
                <a:cs typeface="Inter"/>
              </a:rPr>
              <a:t>· Version the shared model and each adapter · Recalibrate each term · Retest after schema changes · Roll back on regression · Record mapping decisions</a:t>
            </a:r>
          </a:p>
        </p:txBody>
      </p:sp>
      <p:sp>
        <p:nvSpPr>
          <p:cNvPr id="36" name="Text 31">
            <a:extLst xmlns:a="http://schemas.openxmlformats.org/drawingml/2006/main">
              <a:ext uri="{FF2B5EF4-FFF2-40B4-BE49-F238E27FC236}">
                <a16:creationId xmlns:a16="http://schemas.microsoft.com/office/drawing/2014/main" id="{5AEE0D95-4CFF-4A47-BF6C-3D0A24C5991D}"/>
              </a:ext>
            </a:extLst>
          </p:cNvPr>
          <p:cNvSpPr>
            <a:spLocks xmlns:a="http://schemas.openxmlformats.org/drawingml/2006/main" noGrp="1"/>
          </p:cNvSpPr>
          <p:nvPr/>
        </p:nvSpPr>
        <p:spPr>
          <a:xfrm xmlns:a="http://schemas.openxmlformats.org/drawingml/2006/main">
            <a:off x="12420295" y="5762549"/>
            <a:ext cx="4763110" cy="124358"/>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800">
                <a:solidFill>
                  <a:srgbClr val="FF5CA0"/>
                </a:solidFill>
                <a:latin typeface="JetBrains Mono"/>
                <a:ea typeface="JetBrains Mono"/>
                <a:cs typeface="JetBrains Mono"/>
              </a:rPr>
              <a:t>Required next study</a:t>
            </a:r>
          </a:p>
        </p:txBody>
      </p:sp>
      <p:sp>
        <p:nvSpPr>
          <p:cNvPr id="37" name="Text 32">
            <a:extLst xmlns:a="http://schemas.openxmlformats.org/drawingml/2006/main">
              <a:ext uri="{FF2B5EF4-FFF2-40B4-BE49-F238E27FC236}">
                <a16:creationId xmlns:a16="http://schemas.microsoft.com/office/drawing/2014/main" id="{9B1F2362-EDCF-4DC2-AA1A-E650A98EEA00}"/>
              </a:ext>
            </a:extLst>
          </p:cNvPr>
          <p:cNvSpPr>
            <a:spLocks xmlns:a="http://schemas.openxmlformats.org/drawingml/2006/main" noGrp="1"/>
          </p:cNvSpPr>
          <p:nvPr/>
        </p:nvSpPr>
        <p:spPr>
          <a:xfrm xmlns:a="http://schemas.openxmlformats.org/drawingml/2006/main">
            <a:off x="12420295" y="5982005"/>
            <a:ext cx="5216652" cy="314554"/>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800" b="1">
                <a:solidFill>
                  <a:srgbClr val="FFFFFF"/>
                </a:solidFill>
                <a:latin typeface="Inter"/>
                <a:ea typeface="Inter"/>
                <a:cs typeface="Inter"/>
              </a:rPr>
              <a:t>Validate dynamic portability at a third institution.</a:t>
            </a:r>
          </a:p>
        </p:txBody>
      </p:sp>
      <p:sp>
        <p:nvSpPr>
          <p:cNvPr id="38" name="Text 33">
            <a:extLst xmlns:a="http://schemas.openxmlformats.org/drawingml/2006/main">
              <a:ext uri="{FF2B5EF4-FFF2-40B4-BE49-F238E27FC236}">
                <a16:creationId xmlns:a16="http://schemas.microsoft.com/office/drawing/2014/main" id="{BBA70B4B-773B-494E-B02E-9AA8595CCD14}"/>
              </a:ext>
            </a:extLst>
          </p:cNvPr>
          <p:cNvSpPr>
            <a:spLocks xmlns:a="http://schemas.openxmlformats.org/drawingml/2006/main" noGrp="1"/>
          </p:cNvSpPr>
          <p:nvPr/>
        </p:nvSpPr>
        <p:spPr>
          <a:xfrm xmlns:a="http://schemas.openxmlformats.org/drawingml/2006/main">
            <a:off x="12420295" y="6416345"/>
            <a:ext cx="4763110" cy="14173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2160"/>
              </a:lnSpc>
              <a:buNone/>
            </a:pPr>
            <a:r>
              <a:rPr sz="1200">
                <a:solidFill>
                  <a:srgbClr val="FFFFFF">
                    <a:alpha val="85000"/>
                  </a:srgbClr>
                </a:solidFill>
                <a:latin typeface="Inter"/>
                <a:ea typeface="Inter"/>
                <a:cs typeface="Inter"/>
              </a:rPr>
              <a:t>Pre-register untouched dynamic validation | test missing optional feeds | compare local-only and frozen pooled scores | study advisor outcomes prospectively</a:t>
            </a:r>
          </a:p>
        </p:txBody>
      </p:sp>
    </p:spTree>
    <p:extLst>
      <p:ext uri="{BB962C8B-B14F-4D97-AF65-F5344CB8AC3E}">
        <p14:creationId xmlns:p14="http://schemas.microsoft.com/office/powerpoint/2010/main" val="171712585"/>
      </p:ext>
    </p:extLst>
  </p:cSld>
</p:sld>
</file>

<file path=ppt/slides/slide17.xml><?xml version="1.0" encoding="utf-8"?>
<p:sld xmlns:p="http://schemas.openxmlformats.org/presentationml/2006/main">
  <p:cSld>
    <p:bg>
      <p:bgPr>
        <a:solidFill xmlns:a="http://schemas.openxmlformats.org/drawingml/2006/main">
          <a:srgbClr val="F7F7FB"/>
        </a:solidFill>
      </p:bgPr>
    </p:bg>
    <p:spTree>
      <p:nvGrpSpPr>
        <p:cNvPr id="1" name=""/>
        <p:cNvGrpSpPr/>
        <p:nvPr/>
      </p:nvGrpSpPr>
      <p:grpSpPr>
        <a:xfrm xmlns:a="http://schemas.openxmlformats.org/drawingml/2006/main"/>
      </p:grpSpPr>
      <p:pic>
        <p:nvPicPr>
          <p:cNvPr id="27" name="Image 0"/>
          <p:cNvPicPr>
            <a:picLocks xmlns:a="http://schemas.openxmlformats.org/drawingml/2006/main" noChangeAspect="1"/>
          </p:cNvPicPr>
          <p:nvPr/>
        </p:nvPicPr>
        <p:blipFill>
          <a:blip xmlns:r="http://schemas.openxmlformats.org/officeDocument/2006/relationships" xmlns:a="http://schemas.openxmlformats.org/drawingml/2006/main" r:embed="Rb6f8522a391247c1"/>
          <a:srcRect xmlns:a="http://schemas.openxmlformats.org/drawingml/2006/main" l="-2083" t="0" r="-2083" b="0"/>
          <a:stretch xmlns:a="http://schemas.openxmlformats.org/drawingml/2006/main"/>
        </p:blipFill>
        <p:spPr>
          <a:xfrm xmlns:a="http://schemas.openxmlformats.org/drawingml/2006/main">
            <a:off x="761695" y="761695"/>
            <a:ext cx="16763695" cy="9144"/>
          </a:xfrm>
          <a:prstGeom xmlns:a="http://schemas.openxmlformats.org/drawingml/2006/main" prst="rect">
            <a:avLst/>
          </a:prstGeom>
        </p:spPr>
      </p:pic>
      <p:sp>
        <p:nvSpPr>
          <p:cNvPr id="4" name="Shape 0">
            <a:extLst xmlns:a="http://schemas.openxmlformats.org/drawingml/2006/main">
              <a:ext uri="{FF2B5EF4-FFF2-40B4-BE49-F238E27FC236}">
                <a16:creationId xmlns:a16="http://schemas.microsoft.com/office/drawing/2014/main" id="{4038A1CC-A9B0-4426-B733-1A07C6D07986}"/>
              </a:ext>
            </a:extLst>
          </p:cNvPr>
          <p:cNvSpPr>
            <a:spLocks xmlns:a="http://schemas.openxmlformats.org/drawingml/2006/main" noGrp="1"/>
          </p:cNvSpPr>
          <p:nvPr/>
        </p:nvSpPr>
        <p:spPr>
          <a:xfrm xmlns:a="http://schemas.openxmlformats.org/drawingml/2006/main">
            <a:off x="761695" y="4190695"/>
            <a:ext cx="16763695" cy="1238098"/>
          </a:xfrm>
          <a:prstGeom xmlns:a="http://schemas.openxmlformats.org/drawingml/2006/main" prst="roundRect">
            <a:avLst>
              <a:gd name="adj" fmla="val 1551"/>
            </a:avLst>
          </a:prstGeom>
          <a:solidFill xmlns:a="http://schemas.openxmlformats.org/drawingml/2006/main">
            <a:srgbClr val="1A1D5C"/>
          </a:solidFill>
          <a:ln xmlns:a="http://schemas.openxmlformats.org/drawingml/2006/main" w="12700">
            <a:solidFill>
              <a:srgbClr val="FFFFFF">
                <a:alpha val="0"/>
              </a:srgbClr>
            </a:solidFill>
            <a:prstDash val="solid"/>
          </a:ln>
        </p:spPr>
      </p:sp>
      <p:sp>
        <p:nvSpPr>
          <p:cNvPr id="5" name="Shape 1">
            <a:extLst xmlns:a="http://schemas.openxmlformats.org/drawingml/2006/main">
              <a:ext uri="{FF2B5EF4-FFF2-40B4-BE49-F238E27FC236}">
                <a16:creationId xmlns:a16="http://schemas.microsoft.com/office/drawing/2014/main" id="{C714848E-3BDC-46D9-A568-D56B55485334}"/>
              </a:ext>
            </a:extLst>
          </p:cNvPr>
          <p:cNvSpPr>
            <a:spLocks xmlns:a="http://schemas.openxmlformats.org/drawingml/2006/main" noGrp="1"/>
          </p:cNvSpPr>
          <p:nvPr/>
        </p:nvSpPr>
        <p:spPr>
          <a:xfrm xmlns:a="http://schemas.openxmlformats.org/drawingml/2006/main">
            <a:off x="761695" y="5715000"/>
            <a:ext cx="5505602" cy="3543300"/>
          </a:xfrm>
          <a:prstGeom xmlns:a="http://schemas.openxmlformats.org/drawingml/2006/main" prst="roundRect">
            <a:avLst>
              <a:gd name="adj" fmla="val 542"/>
            </a:avLst>
          </a:prstGeom>
          <a:solidFill xmlns:a="http://schemas.openxmlformats.org/drawingml/2006/main">
            <a:srgbClr val="FFFFFF"/>
          </a:solidFill>
          <a:ln xmlns:a="http://schemas.openxmlformats.org/drawingml/2006/main" w="12700">
            <a:solidFill>
              <a:srgbClr val="E4E5EF"/>
            </a:solidFill>
            <a:prstDash val="solid"/>
          </a:ln>
        </p:spPr>
      </p:sp>
      <p:sp>
        <p:nvSpPr>
          <p:cNvPr id="6" name="Shape 2">
            <a:extLst xmlns:a="http://schemas.openxmlformats.org/drawingml/2006/main">
              <a:ext uri="{FF2B5EF4-FFF2-40B4-BE49-F238E27FC236}">
                <a16:creationId xmlns:a16="http://schemas.microsoft.com/office/drawing/2014/main" id="{C8223D0A-30E6-422C-BA55-541B775573F0}"/>
              </a:ext>
            </a:extLst>
          </p:cNvPr>
          <p:cNvSpPr>
            <a:spLocks xmlns:a="http://schemas.openxmlformats.org/drawingml/2006/main" noGrp="1"/>
          </p:cNvSpPr>
          <p:nvPr/>
        </p:nvSpPr>
        <p:spPr>
          <a:xfrm xmlns:a="http://schemas.openxmlformats.org/drawingml/2006/main">
            <a:off x="6400800" y="5715000"/>
            <a:ext cx="5505602" cy="3543300"/>
          </a:xfrm>
          <a:prstGeom xmlns:a="http://schemas.openxmlformats.org/drawingml/2006/main" prst="roundRect">
            <a:avLst>
              <a:gd name="adj" fmla="val 542"/>
            </a:avLst>
          </a:prstGeom>
          <a:solidFill xmlns:a="http://schemas.openxmlformats.org/drawingml/2006/main">
            <a:srgbClr val="FFFFFF"/>
          </a:solidFill>
          <a:ln xmlns:a="http://schemas.openxmlformats.org/drawingml/2006/main" w="12700">
            <a:solidFill>
              <a:srgbClr val="E4E5EF"/>
            </a:solidFill>
            <a:prstDash val="solid"/>
          </a:ln>
        </p:spPr>
      </p:sp>
      <p:sp>
        <p:nvSpPr>
          <p:cNvPr id="7" name="Shape 3">
            <a:extLst xmlns:a="http://schemas.openxmlformats.org/drawingml/2006/main">
              <a:ext uri="{FF2B5EF4-FFF2-40B4-BE49-F238E27FC236}">
                <a16:creationId xmlns:a16="http://schemas.microsoft.com/office/drawing/2014/main" id="{A024FB3E-8F0E-491F-A4AD-8402687B301D}"/>
              </a:ext>
            </a:extLst>
          </p:cNvPr>
          <p:cNvSpPr>
            <a:spLocks xmlns:a="http://schemas.openxmlformats.org/drawingml/2006/main" noGrp="1"/>
          </p:cNvSpPr>
          <p:nvPr/>
        </p:nvSpPr>
        <p:spPr>
          <a:xfrm xmlns:a="http://schemas.openxmlformats.org/drawingml/2006/main">
            <a:off x="12039905" y="5715000"/>
            <a:ext cx="5505602" cy="3543300"/>
          </a:xfrm>
          <a:prstGeom xmlns:a="http://schemas.openxmlformats.org/drawingml/2006/main" prst="roundRect">
            <a:avLst>
              <a:gd name="adj" fmla="val 542"/>
            </a:avLst>
          </a:prstGeom>
          <a:solidFill xmlns:a="http://schemas.openxmlformats.org/drawingml/2006/main">
            <a:srgbClr val="FFFFFF"/>
          </a:solidFill>
          <a:ln xmlns:a="http://schemas.openxmlformats.org/drawingml/2006/main" w="12700">
            <a:solidFill>
              <a:srgbClr val="E4E5EF"/>
            </a:solidFill>
            <a:prstDash val="solid"/>
          </a:ln>
        </p:spPr>
      </p:sp>
      <p:pic>
        <p:nvPicPr>
          <p:cNvPr id="32" name="Image 1"/>
          <p:cNvPicPr>
            <a:picLocks xmlns:a="http://schemas.openxmlformats.org/drawingml/2006/main" noChangeAspect="1"/>
          </p:cNvPicPr>
          <p:nvPr/>
        </p:nvPicPr>
        <p:blipFill>
          <a:blip xmlns:r="http://schemas.openxmlformats.org/officeDocument/2006/relationships" xmlns:a="http://schemas.openxmlformats.org/drawingml/2006/main" r:embed="R8079b5bfe6104c48"/>
          <a:srcRect xmlns:a="http://schemas.openxmlformats.org/drawingml/2006/main" l="0" t="-195" r="0" b="-195"/>
          <a:stretch xmlns:a="http://schemas.openxmlformats.org/drawingml/2006/main"/>
        </p:blipFill>
        <p:spPr>
          <a:xfrm xmlns:a="http://schemas.openxmlformats.org/drawingml/2006/main">
            <a:off x="761695" y="4190695"/>
            <a:ext cx="75895" cy="1238098"/>
          </a:xfrm>
          <a:prstGeom xmlns:a="http://schemas.openxmlformats.org/drawingml/2006/main" prst="rect">
            <a:avLst/>
          </a:prstGeom>
        </p:spPr>
      </p:pic>
      <p:sp>
        <p:nvSpPr>
          <p:cNvPr id="9" name="Text 4">
            <a:extLst xmlns:a="http://schemas.openxmlformats.org/drawingml/2006/main">
              <a:ext uri="{FF2B5EF4-FFF2-40B4-BE49-F238E27FC236}">
                <a16:creationId xmlns:a16="http://schemas.microsoft.com/office/drawing/2014/main" id="{3D60F995-474F-4301-A372-C26FA934668C}"/>
              </a:ext>
            </a:extLst>
          </p:cNvPr>
          <p:cNvSpPr>
            <a:spLocks xmlns:a="http://schemas.openxmlformats.org/drawingml/2006/main" noGrp="1"/>
          </p:cNvSpPr>
          <p:nvPr/>
        </p:nvSpPr>
        <p:spPr>
          <a:xfrm xmlns:a="http://schemas.openxmlformats.org/drawingml/2006/main">
            <a:off x="761695" y="428854"/>
            <a:ext cx="8572500" cy="152705"/>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000">
                <a:solidFill>
                  <a:srgbClr val="6A6F8C"/>
                </a:solidFill>
                <a:latin typeface="JetBrains Mono"/>
                <a:ea typeface="JetBrains Mono"/>
                <a:cs typeface="JetBrains Mono"/>
              </a:rPr>
              <a:t>§ 09 · Key takeaways</a:t>
            </a:r>
          </a:p>
        </p:txBody>
      </p:sp>
      <p:sp>
        <p:nvSpPr>
          <p:cNvPr id="10" name="Text 5">
            <a:extLst xmlns:a="http://schemas.openxmlformats.org/drawingml/2006/main">
              <a:ext uri="{FF2B5EF4-FFF2-40B4-BE49-F238E27FC236}">
                <a16:creationId xmlns:a16="http://schemas.microsoft.com/office/drawing/2014/main" id="{07865E82-5148-4B87-8EB8-9176933561F2}"/>
              </a:ext>
            </a:extLst>
          </p:cNvPr>
          <p:cNvSpPr>
            <a:spLocks xmlns:a="http://schemas.openxmlformats.org/drawingml/2006/main" noGrp="1"/>
          </p:cNvSpPr>
          <p:nvPr/>
        </p:nvSpPr>
        <p:spPr>
          <a:xfrm xmlns:a="http://schemas.openxmlformats.org/drawingml/2006/main">
            <a:off x="15240305" y="400050"/>
            <a:ext cx="2286000" cy="209550"/>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r">
              <a:buNone/>
            </a:pPr>
            <a:r>
              <a:rPr sz="1200">
                <a:solidFill>
                  <a:srgbClr val="6A6F8C"/>
                </a:solidFill>
                <a:latin typeface="JetBrains Mono"/>
                <a:ea typeface="JetBrains Mono"/>
                <a:cs typeface="JetBrains Mono"/>
              </a:rPr>
              <a:t>17 / 20</a:t>
            </a:r>
          </a:p>
        </p:txBody>
      </p:sp>
      <p:sp>
        <p:nvSpPr>
          <p:cNvPr id="11" name="Text 6">
            <a:extLst xmlns:a="http://schemas.openxmlformats.org/drawingml/2006/main">
              <a:ext uri="{FF2B5EF4-FFF2-40B4-BE49-F238E27FC236}">
                <a16:creationId xmlns:a16="http://schemas.microsoft.com/office/drawing/2014/main" id="{A7DAD5B9-04F9-47FE-89B0-507B81B67DEE}"/>
              </a:ext>
            </a:extLst>
          </p:cNvPr>
          <p:cNvSpPr>
            <a:spLocks xmlns:a="http://schemas.openxmlformats.org/drawingml/2006/main" noGrp="1"/>
          </p:cNvSpPr>
          <p:nvPr/>
        </p:nvSpPr>
        <p:spPr>
          <a:xfrm xmlns:a="http://schemas.openxmlformats.org/drawingml/2006/main">
            <a:off x="761695" y="1238098"/>
            <a:ext cx="16764610" cy="152705"/>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000">
                <a:solidFill>
                  <a:srgbClr val="E4237A"/>
                </a:solidFill>
                <a:latin typeface="JetBrains Mono"/>
                <a:ea typeface="JetBrains Mono"/>
                <a:cs typeface="JetBrains Mono"/>
              </a:rPr>
              <a:t>Primary message</a:t>
            </a:r>
          </a:p>
        </p:txBody>
      </p:sp>
      <p:sp>
        <p:nvSpPr>
          <p:cNvPr id="12" name="Text 7">
            <a:extLst xmlns:a="http://schemas.openxmlformats.org/drawingml/2006/main">
              <a:ext uri="{FF2B5EF4-FFF2-40B4-BE49-F238E27FC236}">
                <a16:creationId xmlns:a16="http://schemas.microsoft.com/office/drawing/2014/main" id="{339A8976-DA1C-4191-A690-F1D5C29EC252}"/>
              </a:ext>
            </a:extLst>
          </p:cNvPr>
          <p:cNvSpPr>
            <a:spLocks xmlns:a="http://schemas.openxmlformats.org/drawingml/2006/main" noGrp="1"/>
          </p:cNvSpPr>
          <p:nvPr/>
        </p:nvSpPr>
        <p:spPr>
          <a:xfrm xmlns:a="http://schemas.openxmlformats.org/drawingml/2006/main">
            <a:off x="761695" y="1505102"/>
            <a:ext cx="18031968" cy="55321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3900" b="1">
                <a:solidFill>
                  <a:srgbClr val="0F1226"/>
                </a:solidFill>
                <a:latin typeface="Inter"/>
                <a:ea typeface="Inter"/>
                <a:cs typeface="Inter"/>
              </a:rPr>
              <a:t>A shared model crosses schools only through a validated adapter.</a:t>
            </a:r>
          </a:p>
        </p:txBody>
      </p:sp>
      <p:sp>
        <p:nvSpPr>
          <p:cNvPr id="13" name="Text 8">
            <a:extLst xmlns:a="http://schemas.openxmlformats.org/drawingml/2006/main">
              <a:ext uri="{FF2B5EF4-FFF2-40B4-BE49-F238E27FC236}">
                <a16:creationId xmlns:a16="http://schemas.microsoft.com/office/drawing/2014/main" id="{335BFEC0-1EF1-41F6-98CD-8DCF48C468D0}"/>
              </a:ext>
            </a:extLst>
          </p:cNvPr>
          <p:cNvSpPr>
            <a:spLocks xmlns:a="http://schemas.openxmlformats.org/drawingml/2006/main" noGrp="1"/>
          </p:cNvSpPr>
          <p:nvPr/>
        </p:nvSpPr>
        <p:spPr>
          <a:xfrm xmlns:a="http://schemas.openxmlformats.org/drawingml/2006/main">
            <a:off x="761695" y="2183587"/>
            <a:ext cx="13335610" cy="5715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500" i="1">
                <a:solidFill>
                  <a:srgbClr val="2A2E4B"/>
                </a:solidFill>
                <a:latin typeface="Source Serif Pro"/>
                <a:ea typeface="Source Serif Pro"/>
                <a:cs typeface="Source Serif Pro"/>
              </a:rPr>
              <a:t>One fixed 16-feature model scores enrolment and later snapshots. It stays close to local-only models, but the later OULAD cost is small and statistically real.</a:t>
            </a:r>
          </a:p>
        </p:txBody>
      </p:sp>
      <p:sp>
        <p:nvSpPr>
          <p:cNvPr id="14" name="Text 9">
            <a:extLst xmlns:a="http://schemas.openxmlformats.org/drawingml/2006/main">
              <a:ext uri="{FF2B5EF4-FFF2-40B4-BE49-F238E27FC236}">
                <a16:creationId xmlns:a16="http://schemas.microsoft.com/office/drawing/2014/main" id="{43B0D023-3E7D-466E-83E1-08A19602DCB5}"/>
              </a:ext>
            </a:extLst>
          </p:cNvPr>
          <p:cNvSpPr>
            <a:spLocks xmlns:a="http://schemas.openxmlformats.org/drawingml/2006/main" noGrp="1"/>
          </p:cNvSpPr>
          <p:nvPr/>
        </p:nvSpPr>
        <p:spPr>
          <a:xfrm xmlns:a="http://schemas.openxmlformats.org/drawingml/2006/main">
            <a:off x="1143000" y="4401007"/>
            <a:ext cx="16193110" cy="1335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FF5CA0"/>
                </a:solidFill>
                <a:latin typeface="JetBrains Mono"/>
                <a:ea typeface="JetBrains Mono"/>
                <a:cs typeface="JetBrains Mono"/>
              </a:rPr>
              <a:t>Project contribution</a:t>
            </a:r>
          </a:p>
        </p:txBody>
      </p:sp>
      <p:sp>
        <p:nvSpPr>
          <p:cNvPr id="15" name="Text 10">
            <a:extLst xmlns:a="http://schemas.openxmlformats.org/drawingml/2006/main">
              <a:ext uri="{FF2B5EF4-FFF2-40B4-BE49-F238E27FC236}">
                <a16:creationId xmlns:a16="http://schemas.microsoft.com/office/drawing/2014/main" id="{EDE08E87-EB4E-4F49-BDD0-9CE47449AB52}"/>
              </a:ext>
            </a:extLst>
          </p:cNvPr>
          <p:cNvSpPr>
            <a:spLocks xmlns:a="http://schemas.openxmlformats.org/drawingml/2006/main" noGrp="1"/>
          </p:cNvSpPr>
          <p:nvPr/>
        </p:nvSpPr>
        <p:spPr>
          <a:xfrm xmlns:a="http://schemas.openxmlformats.org/drawingml/2006/main">
            <a:off x="1143000" y="4629607"/>
            <a:ext cx="16193110" cy="609905"/>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600">
                <a:solidFill>
                  <a:srgbClr val="FFFFFF"/>
                </a:solidFill>
                <a:latin typeface="Inter"/>
                <a:ea typeface="Inter"/>
                <a:cs typeface="Inter"/>
              </a:rPr>
              <a:t>A semantic contract, two source adapters, one frozen model artifact, missing-group handling, paired tests, SHAP, and a working new-school scoring example.</a:t>
            </a:r>
          </a:p>
        </p:txBody>
      </p:sp>
      <p:sp>
        <p:nvSpPr>
          <p:cNvPr id="16" name="Text 11">
            <a:extLst xmlns:a="http://schemas.openxmlformats.org/drawingml/2006/main">
              <a:ext uri="{FF2B5EF4-FFF2-40B4-BE49-F238E27FC236}">
                <a16:creationId xmlns:a16="http://schemas.microsoft.com/office/drawing/2014/main" id="{30977E7B-E1D7-4C7F-868B-151885AC4D5B}"/>
              </a:ext>
            </a:extLst>
          </p:cNvPr>
          <p:cNvSpPr>
            <a:spLocks xmlns:a="http://schemas.openxmlformats.org/drawingml/2006/main" noGrp="1"/>
          </p:cNvSpPr>
          <p:nvPr/>
        </p:nvSpPr>
        <p:spPr>
          <a:xfrm xmlns:a="http://schemas.openxmlformats.org/drawingml/2006/main">
            <a:off x="1143000" y="5905195"/>
            <a:ext cx="4763110" cy="419710"/>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3300" b="1">
                <a:solidFill>
                  <a:srgbClr val="E4237A"/>
                </a:solidFill>
                <a:latin typeface="JetBrains Mono"/>
                <a:ea typeface="JetBrains Mono"/>
                <a:cs typeface="JetBrains Mono"/>
              </a:rPr>
              <a:t>01</a:t>
            </a:r>
          </a:p>
        </p:txBody>
      </p:sp>
      <p:sp>
        <p:nvSpPr>
          <p:cNvPr id="17" name="Text 12">
            <a:extLst xmlns:a="http://schemas.openxmlformats.org/drawingml/2006/main">
              <a:ext uri="{FF2B5EF4-FFF2-40B4-BE49-F238E27FC236}">
                <a16:creationId xmlns:a16="http://schemas.microsoft.com/office/drawing/2014/main" id="{41D8E78A-FDE1-4881-BF52-1FF5D44B85D7}"/>
              </a:ext>
            </a:extLst>
          </p:cNvPr>
          <p:cNvSpPr>
            <a:spLocks xmlns:a="http://schemas.openxmlformats.org/drawingml/2006/main" noGrp="1"/>
          </p:cNvSpPr>
          <p:nvPr/>
        </p:nvSpPr>
        <p:spPr>
          <a:xfrm xmlns:a="http://schemas.openxmlformats.org/drawingml/2006/main">
            <a:off x="1143000" y="6439205"/>
            <a:ext cx="5448910" cy="277063"/>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600" b="1">
                <a:solidFill>
                  <a:srgbClr val="0F1226"/>
                </a:solidFill>
                <a:latin typeface="Inter"/>
                <a:ea typeface="Inter"/>
                <a:cs typeface="Inter"/>
              </a:rPr>
              <a:t>Shared meaning comes before shared modelling.</a:t>
            </a:r>
          </a:p>
        </p:txBody>
      </p:sp>
      <p:sp>
        <p:nvSpPr>
          <p:cNvPr id="18" name="Text 13">
            <a:extLst xmlns:a="http://schemas.openxmlformats.org/drawingml/2006/main">
              <a:ext uri="{FF2B5EF4-FFF2-40B4-BE49-F238E27FC236}">
                <a16:creationId xmlns:a16="http://schemas.microsoft.com/office/drawing/2014/main" id="{D3602F1F-D777-477A-AA58-02FA8370E98E}"/>
              </a:ext>
            </a:extLst>
          </p:cNvPr>
          <p:cNvSpPr>
            <a:spLocks xmlns:a="http://schemas.openxmlformats.org/drawingml/2006/main" noGrp="1"/>
          </p:cNvSpPr>
          <p:nvPr/>
        </p:nvSpPr>
        <p:spPr>
          <a:xfrm xmlns:a="http://schemas.openxmlformats.org/drawingml/2006/main">
            <a:off x="1143000" y="6844284"/>
            <a:ext cx="4763110" cy="943661"/>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100">
                <a:solidFill>
                  <a:srgbClr val="2A2E4B"/>
                </a:solidFill>
                <a:latin typeface="Inter"/>
                <a:ea typeface="Inter"/>
                <a:cs typeface="Inter"/>
              </a:rPr>
              <a:t>Different raw columns are acceptable only when each school can map them to the same documented concepts and prediction time.</a:t>
            </a:r>
          </a:p>
        </p:txBody>
      </p:sp>
      <p:sp>
        <p:nvSpPr>
          <p:cNvPr id="19" name="Text 14">
            <a:extLst xmlns:a="http://schemas.openxmlformats.org/drawingml/2006/main">
              <a:ext uri="{FF2B5EF4-FFF2-40B4-BE49-F238E27FC236}">
                <a16:creationId xmlns:a16="http://schemas.microsoft.com/office/drawing/2014/main" id="{A33BD362-8F92-49BC-8981-43639A2CB2D5}"/>
              </a:ext>
            </a:extLst>
          </p:cNvPr>
          <p:cNvSpPr>
            <a:spLocks xmlns:a="http://schemas.openxmlformats.org/drawingml/2006/main" noGrp="1"/>
          </p:cNvSpPr>
          <p:nvPr/>
        </p:nvSpPr>
        <p:spPr>
          <a:xfrm xmlns:a="http://schemas.openxmlformats.org/drawingml/2006/main">
            <a:off x="6782105" y="5905195"/>
            <a:ext cx="4763110" cy="419710"/>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3300" b="1">
                <a:solidFill>
                  <a:srgbClr val="E4237A"/>
                </a:solidFill>
                <a:latin typeface="JetBrains Mono"/>
                <a:ea typeface="JetBrains Mono"/>
                <a:cs typeface="JetBrains Mono"/>
              </a:rPr>
              <a:t>02</a:t>
            </a:r>
          </a:p>
        </p:txBody>
      </p:sp>
      <p:sp>
        <p:nvSpPr>
          <p:cNvPr id="20" name="Text 15">
            <a:extLst xmlns:a="http://schemas.openxmlformats.org/drawingml/2006/main">
              <a:ext uri="{FF2B5EF4-FFF2-40B4-BE49-F238E27FC236}">
                <a16:creationId xmlns:a16="http://schemas.microsoft.com/office/drawing/2014/main" id="{8A2FC5D1-E657-4BF3-81D3-C0D0F3D75623}"/>
              </a:ext>
            </a:extLst>
          </p:cNvPr>
          <p:cNvSpPr>
            <a:spLocks xmlns:a="http://schemas.openxmlformats.org/drawingml/2006/main" noGrp="1"/>
          </p:cNvSpPr>
          <p:nvPr/>
        </p:nvSpPr>
        <p:spPr>
          <a:xfrm xmlns:a="http://schemas.openxmlformats.org/drawingml/2006/main">
            <a:off x="6782105" y="6439205"/>
            <a:ext cx="4763110" cy="55321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600" b="1">
                <a:solidFill>
                  <a:srgbClr val="0F1226"/>
                </a:solidFill>
                <a:latin typeface="Inter"/>
                <a:ea typeface="Inter"/>
                <a:cs typeface="Inter"/>
              </a:rPr>
              <a:t>One pooled dynamic model is feasible.</a:t>
            </a:r>
          </a:p>
        </p:txBody>
      </p:sp>
      <p:sp>
        <p:nvSpPr>
          <p:cNvPr id="21" name="Text 16">
            <a:extLst xmlns:a="http://schemas.openxmlformats.org/drawingml/2006/main">
              <a:ext uri="{FF2B5EF4-FFF2-40B4-BE49-F238E27FC236}">
                <a16:creationId xmlns:a16="http://schemas.microsoft.com/office/drawing/2014/main" id="{85A89FEE-EF3B-4105-AFF1-E8F554B36BBB}"/>
              </a:ext>
            </a:extLst>
          </p:cNvPr>
          <p:cNvSpPr>
            <a:spLocks xmlns:a="http://schemas.openxmlformats.org/drawingml/2006/main" noGrp="1"/>
          </p:cNvSpPr>
          <p:nvPr/>
        </p:nvSpPr>
        <p:spPr>
          <a:xfrm xmlns:a="http://schemas.openxmlformats.org/drawingml/2006/main">
            <a:off x="6782105" y="7116775"/>
            <a:ext cx="4763110" cy="943661"/>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100">
                <a:solidFill>
                  <a:srgbClr val="2A2E4B"/>
                </a:solidFill>
                <a:latin typeface="Inter"/>
                <a:ea typeface="Inter"/>
                <a:cs typeface="Inter"/>
              </a:rPr>
              <a:t>Pooled AUC is 0.771 on UCI enrolment and 0.677-0.694 on later OULAD snapshots; local-only is slightly stronger.</a:t>
            </a:r>
          </a:p>
        </p:txBody>
      </p:sp>
      <p:sp>
        <p:nvSpPr>
          <p:cNvPr id="22" name="Text 17">
            <a:extLst xmlns:a="http://schemas.openxmlformats.org/drawingml/2006/main">
              <a:ext uri="{FF2B5EF4-FFF2-40B4-BE49-F238E27FC236}">
                <a16:creationId xmlns:a16="http://schemas.microsoft.com/office/drawing/2014/main" id="{94E81009-3475-4D60-A01C-6F8ADB3B4C2B}"/>
              </a:ext>
            </a:extLst>
          </p:cNvPr>
          <p:cNvSpPr>
            <a:spLocks xmlns:a="http://schemas.openxmlformats.org/drawingml/2006/main" noGrp="1"/>
          </p:cNvSpPr>
          <p:nvPr/>
        </p:nvSpPr>
        <p:spPr>
          <a:xfrm xmlns:a="http://schemas.openxmlformats.org/drawingml/2006/main">
            <a:off x="12420295" y="5905195"/>
            <a:ext cx="4763110" cy="419710"/>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3300" b="1">
                <a:solidFill>
                  <a:srgbClr val="E4237A"/>
                </a:solidFill>
                <a:latin typeface="JetBrains Mono"/>
                <a:ea typeface="JetBrains Mono"/>
                <a:cs typeface="JetBrains Mono"/>
              </a:rPr>
              <a:t>03</a:t>
            </a:r>
          </a:p>
        </p:txBody>
      </p:sp>
      <p:sp>
        <p:nvSpPr>
          <p:cNvPr id="23" name="Text 18">
            <a:extLst xmlns:a="http://schemas.openxmlformats.org/drawingml/2006/main">
              <a:ext uri="{FF2B5EF4-FFF2-40B4-BE49-F238E27FC236}">
                <a16:creationId xmlns:a16="http://schemas.microsoft.com/office/drawing/2014/main" id="{2220A44E-B750-45DC-96BF-6C9E817256EA}"/>
              </a:ext>
            </a:extLst>
          </p:cNvPr>
          <p:cNvSpPr>
            <a:spLocks xmlns:a="http://schemas.openxmlformats.org/drawingml/2006/main" noGrp="1"/>
          </p:cNvSpPr>
          <p:nvPr/>
        </p:nvSpPr>
        <p:spPr>
          <a:xfrm xmlns:a="http://schemas.openxmlformats.org/drawingml/2006/main">
            <a:off x="12420295" y="6439205"/>
            <a:ext cx="4763110" cy="277063"/>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600" b="1">
                <a:solidFill>
                  <a:srgbClr val="0F1226"/>
                </a:solidFill>
                <a:latin typeface="Inter"/>
                <a:ea typeface="Inter"/>
                <a:cs typeface="Inter"/>
              </a:rPr>
              <a:t>Local evidence decides readiness.</a:t>
            </a:r>
          </a:p>
        </p:txBody>
      </p:sp>
      <p:sp>
        <p:nvSpPr>
          <p:cNvPr id="24" name="Text 19">
            <a:extLst xmlns:a="http://schemas.openxmlformats.org/drawingml/2006/main">
              <a:ext uri="{FF2B5EF4-FFF2-40B4-BE49-F238E27FC236}">
                <a16:creationId xmlns:a16="http://schemas.microsoft.com/office/drawing/2014/main" id="{2BCCD961-F48B-487C-84C8-E84F1CBAF336}"/>
              </a:ext>
            </a:extLst>
          </p:cNvPr>
          <p:cNvSpPr>
            <a:spLocks xmlns:a="http://schemas.openxmlformats.org/drawingml/2006/main" noGrp="1"/>
          </p:cNvSpPr>
          <p:nvPr/>
        </p:nvSpPr>
        <p:spPr>
          <a:xfrm xmlns:a="http://schemas.openxmlformats.org/drawingml/2006/main">
            <a:off x="12420295" y="6844284"/>
            <a:ext cx="4763110" cy="715061"/>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100">
                <a:solidFill>
                  <a:srgbClr val="2A2E4B"/>
                </a:solidFill>
                <a:latin typeface="Inter"/>
                <a:ea typeface="Inter"/>
                <a:cs typeface="Inter"/>
              </a:rPr>
              <a:t>A third school must map fields, test the frozen model, review calibration and subgroups, and complete a shadow pilot.</a:t>
            </a:r>
          </a:p>
        </p:txBody>
      </p:sp>
    </p:spTree>
    <p:extLst>
      <p:ext uri="{BB962C8B-B14F-4D97-AF65-F5344CB8AC3E}">
        <p14:creationId xmlns:p14="http://schemas.microsoft.com/office/powerpoint/2010/main" val="482715771"/>
      </p:ext>
    </p:extLst>
  </p:cSld>
</p:sld>
</file>

<file path=ppt/slides/slide18.xml><?xml version="1.0" encoding="utf-8"?>
<p:sld xmlns:p="http://schemas.openxmlformats.org/presentationml/2006/main">
  <p:cSld>
    <p:bg>
      <p:bgPr>
        <a:solidFill xmlns:a="http://schemas.openxmlformats.org/drawingml/2006/main">
          <a:srgbClr val="0F1226"/>
        </a:solidFill>
      </p:bgPr>
    </p:bg>
    <p:spTree>
      <p:nvGrpSpPr>
        <p:cNvPr id="1" name=""/>
        <p:cNvGrpSpPr/>
        <p:nvPr/>
      </p:nvGrpSpPr>
      <p:grpSpPr>
        <a:xfrm xmlns:a="http://schemas.openxmlformats.org/drawingml/2006/main"/>
      </p:grpSpPr>
      <p:pic>
        <p:nvPicPr>
          <p:cNvPr id="23" name="Image 0"/>
          <p:cNvPicPr>
            <a:picLocks xmlns:a="http://schemas.openxmlformats.org/drawingml/2006/main" noChangeAspect="1"/>
          </p:cNvPicPr>
          <p:nvPr/>
        </p:nvPicPr>
        <p:blipFill>
          <a:blip xmlns:r="http://schemas.openxmlformats.org/officeDocument/2006/relationships" xmlns:a="http://schemas.openxmlformats.org/drawingml/2006/main" r:embed="R30c4ff07ca82499f"/>
          <a:srcRect xmlns:a="http://schemas.openxmlformats.org/drawingml/2006/main" l="0" t="0" r="0" b="0"/>
          <a:stretch xmlns:a="http://schemas.openxmlformats.org/drawingml/2006/main"/>
        </p:blipFill>
        <p:spPr>
          <a:xfrm xmlns:a="http://schemas.openxmlformats.org/drawingml/2006/main">
            <a:off x="0" y="0"/>
            <a:ext cx="18288000" cy="10287000"/>
          </a:xfrm>
          <a:prstGeom xmlns:a="http://schemas.openxmlformats.org/drawingml/2006/main" prst="rect">
            <a:avLst/>
          </a:prstGeom>
        </p:spPr>
      </p:pic>
      <p:pic>
        <p:nvPicPr>
          <p:cNvPr id="24" name="Image 1"/>
          <p:cNvPicPr>
            <a:picLocks xmlns:a="http://schemas.openxmlformats.org/drawingml/2006/main" noChangeAspect="1"/>
          </p:cNvPicPr>
          <p:nvPr/>
        </p:nvPicPr>
        <p:blipFill>
          <a:blip xmlns:r="http://schemas.openxmlformats.org/officeDocument/2006/relationships" xmlns:a="http://schemas.openxmlformats.org/drawingml/2006/main" r:embed="R0fc13529161f4fbe"/>
          <a:srcRect xmlns:a="http://schemas.openxmlformats.org/drawingml/2006/main" l="0" t="-207" r="0" b="-207"/>
          <a:stretch xmlns:a="http://schemas.openxmlformats.org/drawingml/2006/main"/>
        </p:blipFill>
        <p:spPr>
          <a:xfrm xmlns:a="http://schemas.openxmlformats.org/drawingml/2006/main">
            <a:off x="0" y="0"/>
            <a:ext cx="75895" cy="2667305"/>
          </a:xfrm>
          <a:prstGeom xmlns:a="http://schemas.openxmlformats.org/drawingml/2006/main" prst="rect">
            <a:avLst/>
          </a:prstGeom>
        </p:spPr>
      </p:pic>
      <p:pic>
        <p:nvPicPr>
          <p:cNvPr id="25" name="Image 2"/>
          <p:cNvPicPr>
            <a:picLocks xmlns:a="http://schemas.openxmlformats.org/drawingml/2006/main" noChangeAspect="1"/>
          </p:cNvPicPr>
          <p:nvPr/>
        </p:nvPicPr>
        <p:blipFill>
          <a:blip xmlns:r="http://schemas.openxmlformats.org/officeDocument/2006/relationships" xmlns:a="http://schemas.openxmlformats.org/drawingml/2006/main" r:embed="Re8ddfa4b54d24268"/>
          <a:srcRect xmlns:a="http://schemas.openxmlformats.org/drawingml/2006/main" l="-207" t="0" r="-207" b="0"/>
          <a:stretch xmlns:a="http://schemas.openxmlformats.org/drawingml/2006/main"/>
        </p:blipFill>
        <p:spPr>
          <a:xfrm xmlns:a="http://schemas.openxmlformats.org/drawingml/2006/main">
            <a:off x="0" y="0"/>
            <a:ext cx="2667305" cy="75895"/>
          </a:xfrm>
          <a:prstGeom xmlns:a="http://schemas.openxmlformats.org/drawingml/2006/main" prst="rect">
            <a:avLst/>
          </a:prstGeom>
        </p:spPr>
      </p:pic>
      <p:sp>
        <p:nvSpPr>
          <p:cNvPr id="6" name="Shape 0">
            <a:extLst xmlns:a="http://schemas.openxmlformats.org/drawingml/2006/main">
              <a:ext uri="{FF2B5EF4-FFF2-40B4-BE49-F238E27FC236}">
                <a16:creationId xmlns:a16="http://schemas.microsoft.com/office/drawing/2014/main" id="{3EA1E4C6-0D0F-41B9-9BFE-3C5F04D0E8C7}"/>
              </a:ext>
            </a:extLst>
          </p:cNvPr>
          <p:cNvSpPr>
            <a:spLocks xmlns:a="http://schemas.openxmlformats.org/drawingml/2006/main" noGrp="1"/>
          </p:cNvSpPr>
          <p:nvPr/>
        </p:nvSpPr>
        <p:spPr>
          <a:xfrm xmlns:a="http://schemas.openxmlformats.org/drawingml/2006/main">
            <a:off x="12954305" y="3238805"/>
            <a:ext cx="4401007" cy="3829507"/>
          </a:xfrm>
          <a:prstGeom xmlns:a="http://schemas.openxmlformats.org/drawingml/2006/main" prst="roundRect">
            <a:avLst>
              <a:gd name="adj" fmla="val 501"/>
            </a:avLst>
          </a:prstGeom>
          <a:solidFill xmlns:a="http://schemas.openxmlformats.org/drawingml/2006/main">
            <a:srgbClr val="FFFFFF">
              <a:alpha val="4000"/>
            </a:srgbClr>
          </a:solidFill>
          <a:ln xmlns:a="http://schemas.openxmlformats.org/drawingml/2006/main" w="12700">
            <a:solidFill>
              <a:srgbClr val="FFFFFF">
                <a:alpha val="10000"/>
              </a:srgbClr>
            </a:solidFill>
            <a:prstDash val="solid"/>
          </a:ln>
        </p:spPr>
      </p:sp>
      <p:sp>
        <p:nvSpPr>
          <p:cNvPr id="7" name="Text 1">
            <a:extLst xmlns:a="http://schemas.openxmlformats.org/drawingml/2006/main">
              <a:ext uri="{FF2B5EF4-FFF2-40B4-BE49-F238E27FC236}">
                <a16:creationId xmlns:a16="http://schemas.microsoft.com/office/drawing/2014/main" id="{AD5C0D60-9440-4A1B-BA36-1632B60FC641}"/>
              </a:ext>
            </a:extLst>
          </p:cNvPr>
          <p:cNvSpPr>
            <a:spLocks xmlns:a="http://schemas.openxmlformats.org/drawingml/2006/main" noGrp="1"/>
          </p:cNvSpPr>
          <p:nvPr/>
        </p:nvSpPr>
        <p:spPr>
          <a:xfrm xmlns:a="http://schemas.openxmlformats.org/drawingml/2006/main">
            <a:off x="952805" y="761695"/>
            <a:ext cx="8572500" cy="152705"/>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000">
                <a:solidFill>
                  <a:srgbClr val="FFFFFF">
                    <a:alpha val="55000"/>
                  </a:srgbClr>
                </a:solidFill>
                <a:latin typeface="JetBrains Mono"/>
                <a:ea typeface="JetBrains Mono"/>
                <a:cs typeface="JetBrains Mono"/>
              </a:rPr>
              <a:t>§ 10 · Discussion</a:t>
            </a:r>
          </a:p>
        </p:txBody>
      </p:sp>
      <p:sp>
        <p:nvSpPr>
          <p:cNvPr id="8" name="Text 2">
            <a:extLst xmlns:a="http://schemas.openxmlformats.org/drawingml/2006/main">
              <a:ext uri="{FF2B5EF4-FFF2-40B4-BE49-F238E27FC236}">
                <a16:creationId xmlns:a16="http://schemas.microsoft.com/office/drawing/2014/main" id="{6A3759CE-299E-4E2D-903F-A8E13E8886F7}"/>
              </a:ext>
            </a:extLst>
          </p:cNvPr>
          <p:cNvSpPr>
            <a:spLocks xmlns:a="http://schemas.openxmlformats.org/drawingml/2006/main" noGrp="1"/>
          </p:cNvSpPr>
          <p:nvPr/>
        </p:nvSpPr>
        <p:spPr>
          <a:xfrm xmlns:a="http://schemas.openxmlformats.org/drawingml/2006/main">
            <a:off x="15240305" y="761695"/>
            <a:ext cx="2286000" cy="152705"/>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r">
              <a:buNone/>
            </a:pPr>
            <a:r>
              <a:rPr sz="1000">
                <a:solidFill>
                  <a:srgbClr val="FFFFFF">
                    <a:alpha val="55000"/>
                  </a:srgbClr>
                </a:solidFill>
                <a:latin typeface="JetBrains Mono"/>
                <a:ea typeface="JetBrains Mono"/>
                <a:cs typeface="JetBrains Mono"/>
              </a:rPr>
              <a:t>18 / 20</a:t>
            </a:r>
          </a:p>
        </p:txBody>
      </p:sp>
      <p:sp>
        <p:nvSpPr>
          <p:cNvPr id="9" name="Text 3">
            <a:extLst xmlns:a="http://schemas.openxmlformats.org/drawingml/2006/main">
              <a:ext uri="{FF2B5EF4-FFF2-40B4-BE49-F238E27FC236}">
                <a16:creationId xmlns:a16="http://schemas.microsoft.com/office/drawing/2014/main" id="{62F006FD-EA69-4115-8B2B-45797E658BBF}"/>
              </a:ext>
            </a:extLst>
          </p:cNvPr>
          <p:cNvSpPr>
            <a:spLocks xmlns:a="http://schemas.openxmlformats.org/drawingml/2006/main" noGrp="1"/>
          </p:cNvSpPr>
          <p:nvPr/>
        </p:nvSpPr>
        <p:spPr>
          <a:xfrm xmlns:a="http://schemas.openxmlformats.org/drawingml/2006/main">
            <a:off x="952805" y="1904695"/>
            <a:ext cx="13335610" cy="2400300"/>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21000" i="1">
                <a:solidFill>
                  <a:srgbClr val="FFFFFF">
                    <a:alpha val="10000"/>
                  </a:srgbClr>
                </a:solidFill>
                <a:latin typeface="Source Serif Pro"/>
                <a:ea typeface="Source Serif Pro"/>
                <a:cs typeface="Source Serif Pro"/>
              </a:rPr>
              <a:t>Q&amp;A</a:t>
            </a:r>
          </a:p>
        </p:txBody>
      </p:sp>
      <p:sp>
        <p:nvSpPr>
          <p:cNvPr id="10" name="Text 4">
            <a:extLst xmlns:a="http://schemas.openxmlformats.org/drawingml/2006/main">
              <a:ext uri="{FF2B5EF4-FFF2-40B4-BE49-F238E27FC236}">
                <a16:creationId xmlns:a16="http://schemas.microsoft.com/office/drawing/2014/main" id="{3B672DA6-ABEC-4516-ABE1-A4FEB0DD6DA3}"/>
              </a:ext>
            </a:extLst>
          </p:cNvPr>
          <p:cNvSpPr>
            <a:spLocks xmlns:a="http://schemas.openxmlformats.org/drawingml/2006/main" noGrp="1"/>
          </p:cNvSpPr>
          <p:nvPr/>
        </p:nvSpPr>
        <p:spPr>
          <a:xfrm xmlns:a="http://schemas.openxmlformats.org/drawingml/2006/main">
            <a:off x="952805" y="5524805"/>
            <a:ext cx="11430000" cy="152705"/>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000">
                <a:solidFill>
                  <a:srgbClr val="FF5CA0"/>
                </a:solidFill>
                <a:latin typeface="JetBrains Mono"/>
                <a:ea typeface="JetBrains Mono"/>
                <a:cs typeface="JetBrains Mono"/>
              </a:rPr>
              <a:t>Five minutes for discussion</a:t>
            </a:r>
          </a:p>
        </p:txBody>
      </p:sp>
      <p:sp>
        <p:nvSpPr>
          <p:cNvPr id="11" name="Text 5">
            <a:extLst xmlns:a="http://schemas.openxmlformats.org/drawingml/2006/main">
              <a:ext uri="{FF2B5EF4-FFF2-40B4-BE49-F238E27FC236}">
                <a16:creationId xmlns:a16="http://schemas.microsoft.com/office/drawing/2014/main" id="{E9C74FAE-76A2-4458-921B-B9B3588D4984}"/>
              </a:ext>
            </a:extLst>
          </p:cNvPr>
          <p:cNvSpPr>
            <a:spLocks xmlns:a="http://schemas.openxmlformats.org/drawingml/2006/main" noGrp="1"/>
          </p:cNvSpPr>
          <p:nvPr/>
        </p:nvSpPr>
        <p:spPr>
          <a:xfrm xmlns:a="http://schemas.openxmlformats.org/drawingml/2006/main">
            <a:off x="952805" y="5905195"/>
            <a:ext cx="13376758" cy="914400"/>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7200" b="1">
                <a:solidFill>
                  <a:srgbClr val="FFFFFF"/>
                </a:solidFill>
                <a:latin typeface="Inter"/>
                <a:ea typeface="Inter"/>
                <a:cs typeface="Inter"/>
              </a:rPr>
              <a:t>Questions and Discussion</a:t>
            </a:r>
          </a:p>
        </p:txBody>
      </p:sp>
      <p:sp>
        <p:nvSpPr>
          <p:cNvPr id="12" name="Text 6">
            <a:extLst xmlns:a="http://schemas.openxmlformats.org/drawingml/2006/main">
              <a:ext uri="{FF2B5EF4-FFF2-40B4-BE49-F238E27FC236}">
                <a16:creationId xmlns:a16="http://schemas.microsoft.com/office/drawing/2014/main" id="{7F8065DA-EBFC-4182-B896-8A4C6BE39992}"/>
              </a:ext>
            </a:extLst>
          </p:cNvPr>
          <p:cNvSpPr>
            <a:spLocks xmlns:a="http://schemas.openxmlformats.org/drawingml/2006/main" noGrp="1"/>
          </p:cNvSpPr>
          <p:nvPr/>
        </p:nvSpPr>
        <p:spPr>
          <a:xfrm xmlns:a="http://schemas.openxmlformats.org/drawingml/2006/main">
            <a:off x="952805" y="7125005"/>
            <a:ext cx="11430000" cy="734263"/>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4800" b="1">
                <a:solidFill>
                  <a:srgbClr val="FF5CA0"/>
                </a:solidFill>
                <a:latin typeface="Inter"/>
                <a:ea typeface="Inter"/>
                <a:cs typeface="Inter"/>
              </a:rPr>
              <a:t>Questions?</a:t>
            </a:r>
          </a:p>
        </p:txBody>
      </p:sp>
      <p:sp>
        <p:nvSpPr>
          <p:cNvPr id="13" name="Text 7">
            <a:extLst xmlns:a="http://schemas.openxmlformats.org/drawingml/2006/main">
              <a:ext uri="{FF2B5EF4-FFF2-40B4-BE49-F238E27FC236}">
                <a16:creationId xmlns:a16="http://schemas.microsoft.com/office/drawing/2014/main" id="{DEC3C37D-8797-4FD5-B978-88536DF92469}"/>
              </a:ext>
            </a:extLst>
          </p:cNvPr>
          <p:cNvSpPr>
            <a:spLocks xmlns:a="http://schemas.openxmlformats.org/drawingml/2006/main" noGrp="1"/>
          </p:cNvSpPr>
          <p:nvPr/>
        </p:nvSpPr>
        <p:spPr>
          <a:xfrm xmlns:a="http://schemas.openxmlformats.org/drawingml/2006/main">
            <a:off x="952805" y="9239098"/>
            <a:ext cx="11430000" cy="228600"/>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100">
                <a:solidFill>
                  <a:srgbClr val="FFFFFF">
                    <a:alpha val="70000"/>
                  </a:srgbClr>
                </a:solidFill>
                <a:latin typeface="JetBrains Mono"/>
                <a:ea typeface="JetBrains Mono"/>
                <a:cs typeface="JetBrains Mono"/>
              </a:rPr>
              <a:t>Suggested topics | 16-feature contract | adapter mapping | pooled model | portability cost | SHAP | statistical tests | deployment limits</a:t>
            </a:r>
          </a:p>
        </p:txBody>
      </p:sp>
      <p:sp>
        <p:nvSpPr>
          <p:cNvPr id="14" name="Text 8">
            <a:extLst xmlns:a="http://schemas.openxmlformats.org/drawingml/2006/main">
              <a:ext uri="{FF2B5EF4-FFF2-40B4-BE49-F238E27FC236}">
                <a16:creationId xmlns:a16="http://schemas.microsoft.com/office/drawing/2014/main" id="{96A86732-91DB-46AE-85F0-72770F0CAC21}"/>
              </a:ext>
            </a:extLst>
          </p:cNvPr>
          <p:cNvSpPr>
            <a:spLocks xmlns:a="http://schemas.openxmlformats.org/drawingml/2006/main" noGrp="1"/>
          </p:cNvSpPr>
          <p:nvPr/>
        </p:nvSpPr>
        <p:spPr>
          <a:xfrm xmlns:a="http://schemas.openxmlformats.org/drawingml/2006/main">
            <a:off x="13334695" y="3476549"/>
            <a:ext cx="3715207" cy="124358"/>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800">
                <a:solidFill>
                  <a:srgbClr val="FFFFFF">
                    <a:alpha val="55000"/>
                  </a:srgbClr>
                </a:solidFill>
                <a:latin typeface="JetBrains Mono"/>
                <a:ea typeface="JetBrains Mono"/>
                <a:cs typeface="JetBrains Mono"/>
              </a:rPr>
              <a:t>Group 21</a:t>
            </a:r>
          </a:p>
        </p:txBody>
      </p:sp>
      <p:sp>
        <p:nvSpPr>
          <p:cNvPr id="15" name="Text 9">
            <a:extLst xmlns:a="http://schemas.openxmlformats.org/drawingml/2006/main">
              <a:ext uri="{FF2B5EF4-FFF2-40B4-BE49-F238E27FC236}">
                <a16:creationId xmlns:a16="http://schemas.microsoft.com/office/drawing/2014/main" id="{2F9133EF-123A-4170-86AA-3CC3D3E368EF}"/>
              </a:ext>
            </a:extLst>
          </p:cNvPr>
          <p:cNvSpPr>
            <a:spLocks xmlns:a="http://schemas.openxmlformats.org/drawingml/2006/main" noGrp="1"/>
          </p:cNvSpPr>
          <p:nvPr/>
        </p:nvSpPr>
        <p:spPr>
          <a:xfrm xmlns:a="http://schemas.openxmlformats.org/drawingml/2006/main">
            <a:off x="13334695" y="3706978"/>
            <a:ext cx="3715207" cy="779069"/>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lgn="l">
              <a:lnSpc>
                <a:spcPts val="2940"/>
              </a:lnSpc>
              <a:buNone/>
            </a:pPr>
            <a:r>
              <a:rPr sz="2100" b="1">
                <a:solidFill>
                  <a:srgbClr val="FFFFFF"/>
                </a:solidFill>
                <a:latin typeface="Inter"/>
                <a:ea typeface="Inter"/>
                <a:cs typeface="Inter"/>
              </a:rPr>
              <a:t>Xinyu Wang</a:t>
            </a:r>
          </a:p>
          <a:p xmlns:a="http://schemas.openxmlformats.org/drawingml/2006/main">
            <a:pPr marL="0" indent="0" algn="l">
              <a:lnSpc>
                <a:spcPts val="2940"/>
              </a:lnSpc>
              <a:buNone/>
            </a:pPr>
            <a:r>
              <a:rPr sz="2100" b="1">
                <a:solidFill>
                  <a:srgbClr val="FFFFFF"/>
                </a:solidFill>
                <a:latin typeface="Inter"/>
                <a:ea typeface="Inter"/>
                <a:cs typeface="Inter"/>
              </a:rPr>
              <a:t>Wu Hanming</a:t>
            </a:r>
          </a:p>
        </p:txBody>
      </p:sp>
      <p:sp>
        <p:nvSpPr>
          <p:cNvPr id="16" name="Shape 10">
            <a:extLst xmlns:a="http://schemas.openxmlformats.org/drawingml/2006/main">
              <a:ext uri="{FF2B5EF4-FFF2-40B4-BE49-F238E27FC236}">
                <a16:creationId xmlns:a16="http://schemas.microsoft.com/office/drawing/2014/main" id="{DC1389AD-1452-4889-A32D-C4A51EC26C61}"/>
              </a:ext>
            </a:extLst>
          </p:cNvPr>
          <p:cNvSpPr>
            <a:spLocks xmlns:a="http://schemas.openxmlformats.org/drawingml/2006/main" noGrp="1"/>
          </p:cNvSpPr>
          <p:nvPr/>
        </p:nvSpPr>
        <p:spPr>
          <a:xfrm xmlns:a="http://schemas.openxmlformats.org/drawingml/2006/main">
            <a:off x="13334695" y="4785055"/>
            <a:ext cx="3715207" cy="9144"/>
          </a:xfrm>
          <a:prstGeom xmlns:a="http://schemas.openxmlformats.org/drawingml/2006/main" prst="rect">
            <a:avLst/>
          </a:prstGeom>
          <a:solidFill xmlns:a="http://schemas.openxmlformats.org/drawingml/2006/main">
            <a:srgbClr val="FFFFFF">
              <a:alpha val="15000"/>
            </a:srgbClr>
          </a:solidFill>
          <a:ln xmlns:a="http://schemas.openxmlformats.org/drawingml/2006/main" w="12700">
            <a:solidFill>
              <a:srgbClr val="FFFFFF">
                <a:alpha val="0"/>
              </a:srgbClr>
            </a:solidFill>
            <a:prstDash val="solid"/>
          </a:ln>
        </p:spPr>
      </p:sp>
      <p:sp>
        <p:nvSpPr>
          <p:cNvPr id="17" name="Text 11">
            <a:extLst xmlns:a="http://schemas.openxmlformats.org/drawingml/2006/main">
              <a:ext uri="{FF2B5EF4-FFF2-40B4-BE49-F238E27FC236}">
                <a16:creationId xmlns:a16="http://schemas.microsoft.com/office/drawing/2014/main" id="{4CC6DD20-4831-4877-9D3E-1643366332B7}"/>
              </a:ext>
            </a:extLst>
          </p:cNvPr>
          <p:cNvSpPr>
            <a:spLocks xmlns:a="http://schemas.openxmlformats.org/drawingml/2006/main" noGrp="1"/>
          </p:cNvSpPr>
          <p:nvPr/>
        </p:nvSpPr>
        <p:spPr>
          <a:xfrm xmlns:a="http://schemas.openxmlformats.org/drawingml/2006/main">
            <a:off x="13334695" y="4937760"/>
            <a:ext cx="3715207" cy="1067105"/>
          </a:xfrm>
          <a:prstGeom xmlns:a="http://schemas.openxmlformats.org/drawingml/2006/main" prst="rect">
            <a:avLst/>
          </a:prstGeom>
          <a:solidFill xmlns:a="http://schemas.openxmlformats.org/drawingml/2006/main">
            <a:srgbClr val="FFFFFF">
              <a:alpha val="0"/>
            </a:srgbClr>
          </a:solidFill>
          <a:ln xmlns:a="http://schemas.openxmlformats.org/drawingml/2006/main">
            <a:solidFill>
              <a:srgbClr val="FFFFFF">
                <a:alpha val="0"/>
              </a:srgbClr>
            </a:solidFill>
          </a:ln>
        </p:spPr>
        <p:txBody>
          <a:bodyPr xmlns:a="http://schemas.openxmlformats.org/drawingml/2006/main" wrap="square" lIns="190500" tIns="0" rIns="190500" bIns="190500" anchor="t"/>
          <a:lstStyle xmlns:a="http://schemas.openxmlformats.org/drawingml/2006/main"/>
          <a:p xmlns:a="http://schemas.openxmlformats.org/drawingml/2006/main">
            <a:pPr marL="0" indent="0" algn="l">
              <a:lnSpc>
                <a:spcPts val="1995"/>
              </a:lnSpc>
              <a:buNone/>
            </a:pPr>
            <a:r>
              <a:rPr sz="1000">
                <a:solidFill>
                  <a:srgbClr val="FFFFFF">
                    <a:alpha val="70000"/>
                  </a:srgbClr>
                </a:solidFill>
                <a:latin typeface="JetBrains Mono"/>
                <a:ea typeface="JetBrains Mono"/>
                <a:cs typeface="JetBrains Mono"/>
              </a:rPr>
              <a:t>MBAI 5600G Capstone</a:t>
            </a:r>
          </a:p>
          <a:p xmlns:a="http://schemas.openxmlformats.org/drawingml/2006/main">
            <a:pPr marL="0" indent="0" algn="l">
              <a:lnSpc>
                <a:spcPts val="1995"/>
              </a:lnSpc>
              <a:buNone/>
            </a:pPr>
            <a:r>
              <a:rPr sz="1000">
                <a:solidFill>
                  <a:srgbClr val="FFFFFF">
                    <a:alpha val="70000"/>
                  </a:srgbClr>
                </a:solidFill>
                <a:latin typeface="JetBrains Mono"/>
                <a:ea typeface="JetBrains Mono"/>
                <a:cs typeface="JetBrains Mono"/>
              </a:rPr>
              <a:t>Faculty of Business and IT</a:t>
            </a:r>
          </a:p>
          <a:p xmlns:a="http://schemas.openxmlformats.org/drawingml/2006/main">
            <a:pPr marL="0" indent="0" algn="l">
              <a:lnSpc>
                <a:spcPts val="1995"/>
              </a:lnSpc>
              <a:buNone/>
            </a:pPr>
            <a:r>
              <a:rPr sz="1000">
                <a:solidFill>
                  <a:srgbClr val="FFFFFF">
                    <a:alpha val="70000"/>
                  </a:srgbClr>
                </a:solidFill>
                <a:latin typeface="JetBrains Mono"/>
                <a:ea typeface="JetBrains Mono"/>
                <a:cs typeface="JetBrains Mono"/>
              </a:rPr>
              <a:t>Ontario Tech University</a:t>
            </a:r>
          </a:p>
          <a:p xmlns:a="http://schemas.openxmlformats.org/drawingml/2006/main">
            <a:pPr marL="0" indent="0" algn="l">
              <a:lnSpc>
                <a:spcPts val="1995"/>
              </a:lnSpc>
              <a:buNone/>
            </a:pPr>
            <a:r>
              <a:rPr sz="1000">
                <a:solidFill>
                  <a:srgbClr val="FFFFFF">
                    <a:alpha val="70000"/>
                  </a:srgbClr>
                </a:solidFill>
                <a:latin typeface="JetBrains Mono"/>
                <a:ea typeface="JetBrains Mono"/>
                <a:cs typeface="JetBrains Mono"/>
              </a:rPr>
              <a:t>August 11, 2026</a:t>
            </a:r>
          </a:p>
        </p:txBody>
      </p:sp>
      <p:sp>
        <p:nvSpPr>
          <p:cNvPr id="18" name="Shape 12">
            <a:extLst xmlns:a="http://schemas.openxmlformats.org/drawingml/2006/main">
              <a:ext uri="{FF2B5EF4-FFF2-40B4-BE49-F238E27FC236}">
                <a16:creationId xmlns:a16="http://schemas.microsoft.com/office/drawing/2014/main" id="{8625C5DB-58C6-4F1D-A3CB-61ECFCB8D99A}"/>
              </a:ext>
            </a:extLst>
          </p:cNvPr>
          <p:cNvSpPr>
            <a:spLocks xmlns:a="http://schemas.openxmlformats.org/drawingml/2006/main" noGrp="1"/>
          </p:cNvSpPr>
          <p:nvPr/>
        </p:nvSpPr>
        <p:spPr>
          <a:xfrm xmlns:a="http://schemas.openxmlformats.org/drawingml/2006/main">
            <a:off x="13334695" y="6227064"/>
            <a:ext cx="3715207" cy="9144"/>
          </a:xfrm>
          <a:prstGeom xmlns:a="http://schemas.openxmlformats.org/drawingml/2006/main" prst="rect">
            <a:avLst/>
          </a:prstGeom>
          <a:solidFill xmlns:a="http://schemas.openxmlformats.org/drawingml/2006/main">
            <a:srgbClr val="FFFFFF">
              <a:alpha val="15000"/>
            </a:srgbClr>
          </a:solidFill>
          <a:ln xmlns:a="http://schemas.openxmlformats.org/drawingml/2006/main" w="12700">
            <a:solidFill>
              <a:srgbClr val="FFFFFF">
                <a:alpha val="0"/>
              </a:srgbClr>
            </a:solidFill>
            <a:prstDash val="solid"/>
          </a:ln>
        </p:spPr>
      </p:sp>
      <p:sp>
        <p:nvSpPr>
          <p:cNvPr id="19" name="Text 13">
            <a:extLst xmlns:a="http://schemas.openxmlformats.org/drawingml/2006/main">
              <a:ext uri="{FF2B5EF4-FFF2-40B4-BE49-F238E27FC236}">
                <a16:creationId xmlns:a16="http://schemas.microsoft.com/office/drawing/2014/main" id="{EF2DE8C1-EEF3-4E4D-A927-E8674C7F3316}"/>
              </a:ext>
            </a:extLst>
          </p:cNvPr>
          <p:cNvSpPr>
            <a:spLocks xmlns:a="http://schemas.openxmlformats.org/drawingml/2006/main" noGrp="1"/>
          </p:cNvSpPr>
          <p:nvPr/>
        </p:nvSpPr>
        <p:spPr>
          <a:xfrm xmlns:a="http://schemas.openxmlformats.org/drawingml/2006/main">
            <a:off x="13334695" y="6388913"/>
            <a:ext cx="3715207" cy="400507"/>
          </a:xfrm>
          <a:prstGeom xmlns:a="http://schemas.openxmlformats.org/drawingml/2006/main" prst="rect">
            <a:avLst/>
          </a:prstGeom>
          <a:solidFill xmlns:a="http://schemas.openxmlformats.org/drawingml/2006/main">
            <a:srgbClr val="FFFFFF">
              <a:alpha val="0"/>
            </a:srgbClr>
          </a:solidFill>
          <a:ln xmlns:a="http://schemas.openxmlformats.org/drawingml/2006/main">
            <a:solidFill>
              <a:srgbClr val="FFFFFF">
                <a:alpha val="0"/>
              </a:srgbClr>
            </a:solidFill>
          </a:ln>
        </p:spPr>
        <p:txBody>
          <a:bodyPr xmlns:a="http://schemas.openxmlformats.org/drawingml/2006/main" wrap="square" lIns="152400" tIns="0" rIns="152400" bIns="152400" anchor="ctr"/>
          <a:lstStyle xmlns:a="http://schemas.openxmlformats.org/drawingml/2006/main"/>
          <a:p xmlns:a="http://schemas.openxmlformats.org/drawingml/2006/main">
            <a:pPr marL="0" indent="0" algn="l">
              <a:buNone/>
            </a:pPr>
            <a:r>
              <a:rPr sz="900">
                <a:solidFill>
                  <a:srgbClr val="FFFFFF">
                    <a:alpha val="50000"/>
                  </a:srgbClr>
                </a:solidFill>
                <a:latin typeface="JetBrains Mono"/>
                <a:ea typeface="JetBrains Mono"/>
                <a:cs typeface="JetBrains Mono"/>
              </a:rPr>
              <a:t>All figures produced from the project pipeline. Full references on slide 20.</a:t>
            </a:r>
          </a:p>
        </p:txBody>
      </p:sp>
    </p:spTree>
    <p:extLst>
      <p:ext uri="{BB962C8B-B14F-4D97-AF65-F5344CB8AC3E}">
        <p14:creationId xmlns:p14="http://schemas.microsoft.com/office/powerpoint/2010/main" val="1154100330"/>
      </p:ext>
    </p:extLst>
  </p:cSld>
</p:sld>
</file>

<file path=ppt/slides/slide19.xml><?xml version="1.0" encoding="utf-8"?>
<p:sld xmlns:p="http://schemas.openxmlformats.org/presentationml/2006/main">
  <p:cSld>
    <p:bg>
      <p:bgPr>
        <a:solidFill xmlns:a="http://schemas.openxmlformats.org/drawingml/2006/main">
          <a:srgbClr val="F7F7FB"/>
        </a:solidFill>
      </p:bgPr>
    </p:bg>
    <p:spTree>
      <p:nvGrpSpPr>
        <p:cNvPr id="1" name=""/>
        <p:cNvGrpSpPr/>
        <p:nvPr/>
      </p:nvGrpSpPr>
      <p:grpSpPr>
        <a:xfrm xmlns:a="http://schemas.openxmlformats.org/drawingml/2006/main"/>
      </p:grpSpPr>
      <p:pic>
        <p:nvPicPr>
          <p:cNvPr id="29" name="Image 0"/>
          <p:cNvPicPr>
            <a:picLocks xmlns:a="http://schemas.openxmlformats.org/drawingml/2006/main" noChangeAspect="1"/>
          </p:cNvPicPr>
          <p:nvPr/>
        </p:nvPicPr>
        <p:blipFill>
          <a:blip xmlns:r="http://schemas.openxmlformats.org/officeDocument/2006/relationships" xmlns:a="http://schemas.openxmlformats.org/drawingml/2006/main" r:embed="Rc33799ce8fc347e7"/>
          <a:srcRect xmlns:a="http://schemas.openxmlformats.org/drawingml/2006/main" l="-2083" t="0" r="-2083" b="0"/>
          <a:stretch xmlns:a="http://schemas.openxmlformats.org/drawingml/2006/main"/>
        </p:blipFill>
        <p:spPr>
          <a:xfrm xmlns:a="http://schemas.openxmlformats.org/drawingml/2006/main">
            <a:off x="761695" y="761695"/>
            <a:ext cx="16763695" cy="9144"/>
          </a:xfrm>
          <a:prstGeom xmlns:a="http://schemas.openxmlformats.org/drawingml/2006/main" prst="rect">
            <a:avLst/>
          </a:prstGeom>
        </p:spPr>
      </p:pic>
      <p:sp>
        <p:nvSpPr>
          <p:cNvPr id="3" name="Shape 0">
            <a:extLst xmlns:a="http://schemas.openxmlformats.org/drawingml/2006/main">
              <a:ext uri="{FF2B5EF4-FFF2-40B4-BE49-F238E27FC236}">
                <a16:creationId xmlns:a16="http://schemas.microsoft.com/office/drawing/2014/main" id="{1C7CB7DE-BCDE-431F-B889-4F4A3BA234C0}"/>
              </a:ext>
            </a:extLst>
          </p:cNvPr>
          <p:cNvSpPr>
            <a:spLocks xmlns:a="http://schemas.openxmlformats.org/drawingml/2006/main" noGrp="1"/>
          </p:cNvSpPr>
          <p:nvPr/>
        </p:nvSpPr>
        <p:spPr>
          <a:xfrm xmlns:a="http://schemas.openxmlformats.org/drawingml/2006/main">
            <a:off x="761695" y="2762402"/>
            <a:ext cx="8305495" cy="6495898"/>
          </a:xfrm>
          <a:prstGeom xmlns:a="http://schemas.openxmlformats.org/drawingml/2006/main" prst="roundRect">
            <a:avLst>
              <a:gd name="adj" fmla="val 296"/>
            </a:avLst>
          </a:prstGeom>
          <a:solidFill xmlns:a="http://schemas.openxmlformats.org/drawingml/2006/main">
            <a:srgbClr val="FFFFFF"/>
          </a:solidFill>
          <a:ln xmlns:a="http://schemas.openxmlformats.org/drawingml/2006/main" w="12700">
            <a:solidFill>
              <a:srgbClr val="E4E5EF"/>
            </a:solidFill>
            <a:prstDash val="solid"/>
          </a:ln>
        </p:spPr>
      </p:sp>
      <p:sp>
        <p:nvSpPr>
          <p:cNvPr id="4" name="Shape 1">
            <a:extLst xmlns:a="http://schemas.openxmlformats.org/drawingml/2006/main">
              <a:ext uri="{FF2B5EF4-FFF2-40B4-BE49-F238E27FC236}">
                <a16:creationId xmlns:a16="http://schemas.microsoft.com/office/drawing/2014/main" id="{886F26FD-D06A-4C6B-8379-63AF94E2B96B}"/>
              </a:ext>
            </a:extLst>
          </p:cNvPr>
          <p:cNvSpPr>
            <a:spLocks xmlns:a="http://schemas.openxmlformats.org/drawingml/2006/main" noGrp="1"/>
          </p:cNvSpPr>
          <p:nvPr/>
        </p:nvSpPr>
        <p:spPr>
          <a:xfrm xmlns:a="http://schemas.openxmlformats.org/drawingml/2006/main">
            <a:off x="9239098" y="2762402"/>
            <a:ext cx="8287207" cy="6476695"/>
          </a:xfrm>
          <a:prstGeom xmlns:a="http://schemas.openxmlformats.org/drawingml/2006/main" prst="roundRect">
            <a:avLst>
              <a:gd name="adj" fmla="val 296"/>
            </a:avLst>
          </a:prstGeom>
          <a:solidFill xmlns:a="http://schemas.openxmlformats.org/drawingml/2006/main">
            <a:srgbClr val="1A1D5C"/>
          </a:solidFill>
          <a:ln xmlns:a="http://schemas.openxmlformats.org/drawingml/2006/main" w="12700">
            <a:solidFill>
              <a:srgbClr val="FFFFFF">
                <a:alpha val="0"/>
              </a:srgbClr>
            </a:solidFill>
            <a:prstDash val="solid"/>
          </a:ln>
        </p:spPr>
      </p:sp>
      <p:sp>
        <p:nvSpPr>
          <p:cNvPr id="5" name="Text 2">
            <a:extLst xmlns:a="http://schemas.openxmlformats.org/drawingml/2006/main">
              <a:ext uri="{FF2B5EF4-FFF2-40B4-BE49-F238E27FC236}">
                <a16:creationId xmlns:a16="http://schemas.microsoft.com/office/drawing/2014/main" id="{BAF51B3B-8398-4B58-AADA-C1A2EF73A58C}"/>
              </a:ext>
            </a:extLst>
          </p:cNvPr>
          <p:cNvSpPr>
            <a:spLocks xmlns:a="http://schemas.openxmlformats.org/drawingml/2006/main" noGrp="1"/>
          </p:cNvSpPr>
          <p:nvPr/>
        </p:nvSpPr>
        <p:spPr>
          <a:xfrm xmlns:a="http://schemas.openxmlformats.org/drawingml/2006/main">
            <a:off x="761695" y="428854"/>
            <a:ext cx="8572500" cy="152705"/>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000">
                <a:solidFill>
                  <a:srgbClr val="6A6F8C"/>
                </a:solidFill>
                <a:latin typeface="JetBrains Mono"/>
                <a:ea typeface="JetBrains Mono"/>
                <a:cs typeface="JetBrains Mono"/>
              </a:rPr>
              <a:t>Unified-model assumptions &amp; evaluation criteria.</a:t>
            </a:r>
          </a:p>
        </p:txBody>
      </p:sp>
      <p:sp>
        <p:nvSpPr>
          <p:cNvPr id="6" name="Text 3">
            <a:extLst xmlns:a="http://schemas.openxmlformats.org/drawingml/2006/main">
              <a:ext uri="{FF2B5EF4-FFF2-40B4-BE49-F238E27FC236}">
                <a16:creationId xmlns:a16="http://schemas.microsoft.com/office/drawing/2014/main" id="{0305CB88-351D-46AD-BE09-50E2F9CA892D}"/>
              </a:ext>
            </a:extLst>
          </p:cNvPr>
          <p:cNvSpPr>
            <a:spLocks xmlns:a="http://schemas.openxmlformats.org/drawingml/2006/main" noGrp="1"/>
          </p:cNvSpPr>
          <p:nvPr/>
        </p:nvSpPr>
        <p:spPr>
          <a:xfrm xmlns:a="http://schemas.openxmlformats.org/drawingml/2006/main">
            <a:off x="15240305" y="428854"/>
            <a:ext cx="2286000" cy="152705"/>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r">
              <a:buNone/>
            </a:pPr>
            <a:r>
              <a:rPr sz="1000">
                <a:solidFill>
                  <a:srgbClr val="6A6F8C"/>
                </a:solidFill>
                <a:latin typeface="JetBrains Mono"/>
                <a:ea typeface="JetBrains Mono"/>
                <a:cs typeface="JetBrains Mono"/>
              </a:rPr>
              <a:t>19 / 20</a:t>
            </a:r>
          </a:p>
        </p:txBody>
      </p:sp>
      <p:sp>
        <p:nvSpPr>
          <p:cNvPr id="7" name="Text 4">
            <a:extLst xmlns:a="http://schemas.openxmlformats.org/drawingml/2006/main">
              <a:ext uri="{FF2B5EF4-FFF2-40B4-BE49-F238E27FC236}">
                <a16:creationId xmlns:a16="http://schemas.microsoft.com/office/drawing/2014/main" id="{B1E223A2-34F7-489E-A141-94EC097F586C}"/>
              </a:ext>
            </a:extLst>
          </p:cNvPr>
          <p:cNvSpPr>
            <a:spLocks xmlns:a="http://schemas.openxmlformats.org/drawingml/2006/main" noGrp="1"/>
          </p:cNvSpPr>
          <p:nvPr/>
        </p:nvSpPr>
        <p:spPr>
          <a:xfrm xmlns:a="http://schemas.openxmlformats.org/drawingml/2006/main">
            <a:off x="761695" y="1238098"/>
            <a:ext cx="16764610" cy="562356"/>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4200" b="1">
                <a:solidFill>
                  <a:srgbClr val="0F1226"/>
                </a:solidFill>
                <a:latin typeface="Inter"/>
                <a:ea typeface="Inter"/>
                <a:cs typeface="Inter"/>
              </a:rPr>
              <a:t>Detailed assumptions &amp; evaluation criteria.</a:t>
            </a:r>
          </a:p>
        </p:txBody>
      </p:sp>
      <p:sp>
        <p:nvSpPr>
          <p:cNvPr id="8" name="Text 5">
            <a:extLst xmlns:a="http://schemas.openxmlformats.org/drawingml/2006/main">
              <a:ext uri="{FF2B5EF4-FFF2-40B4-BE49-F238E27FC236}">
                <a16:creationId xmlns:a16="http://schemas.microsoft.com/office/drawing/2014/main" id="{CA1C26BC-C394-493D-8D5A-50E9B72D670C}"/>
              </a:ext>
            </a:extLst>
          </p:cNvPr>
          <p:cNvSpPr>
            <a:spLocks xmlns:a="http://schemas.openxmlformats.org/drawingml/2006/main" noGrp="1"/>
          </p:cNvSpPr>
          <p:nvPr/>
        </p:nvSpPr>
        <p:spPr>
          <a:xfrm xmlns:a="http://schemas.openxmlformats.org/drawingml/2006/main">
            <a:off x="761695" y="1931213"/>
            <a:ext cx="16764610" cy="21031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500" i="1">
                <a:solidFill>
                  <a:srgbClr val="6A6F8C"/>
                </a:solidFill>
                <a:latin typeface="Source Serif Pro"/>
                <a:ea typeface="Source Serif Pro"/>
                <a:cs typeface="Source Serif Pro"/>
              </a:rPr>
              <a:t>Reference material for the written submission and Q&amp;A — not part of the spoken talk.</a:t>
            </a:r>
          </a:p>
        </p:txBody>
      </p:sp>
      <p:sp>
        <p:nvSpPr>
          <p:cNvPr id="9" name="Text 6">
            <a:extLst xmlns:a="http://schemas.openxmlformats.org/drawingml/2006/main">
              <a:ext uri="{FF2B5EF4-FFF2-40B4-BE49-F238E27FC236}">
                <a16:creationId xmlns:a16="http://schemas.microsoft.com/office/drawing/2014/main" id="{AFF922E4-0D75-408F-B975-97E974FF4916}"/>
              </a:ext>
            </a:extLst>
          </p:cNvPr>
          <p:cNvSpPr>
            <a:spLocks xmlns:a="http://schemas.openxmlformats.org/drawingml/2006/main" noGrp="1"/>
          </p:cNvSpPr>
          <p:nvPr/>
        </p:nvSpPr>
        <p:spPr>
          <a:xfrm xmlns:a="http://schemas.openxmlformats.org/drawingml/2006/main">
            <a:off x="1143000" y="3047695"/>
            <a:ext cx="7525512" cy="1335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E4237A"/>
                </a:solidFill>
                <a:latin typeface="JetBrains Mono"/>
                <a:ea typeface="JetBrains Mono"/>
                <a:cs typeface="JetBrains Mono"/>
              </a:rPr>
              <a:t>Working assumptions</a:t>
            </a:r>
          </a:p>
        </p:txBody>
      </p:sp>
      <p:sp>
        <p:nvSpPr>
          <p:cNvPr id="10" name="Text 7">
            <a:extLst xmlns:a="http://schemas.openxmlformats.org/drawingml/2006/main">
              <a:ext uri="{FF2B5EF4-FFF2-40B4-BE49-F238E27FC236}">
                <a16:creationId xmlns:a16="http://schemas.microsoft.com/office/drawing/2014/main" id="{53532896-9CF0-45C7-8B7A-430362A9180E}"/>
              </a:ext>
            </a:extLst>
          </p:cNvPr>
          <p:cNvSpPr>
            <a:spLocks xmlns:a="http://schemas.openxmlformats.org/drawingml/2006/main" noGrp="1"/>
          </p:cNvSpPr>
          <p:nvPr/>
        </p:nvSpPr>
        <p:spPr>
          <a:xfrm xmlns:a="http://schemas.openxmlformats.org/drawingml/2006/main">
            <a:off x="1143000" y="3276295"/>
            <a:ext cx="7525512" cy="305410"/>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800" b="1">
                <a:solidFill>
                  <a:srgbClr val="0F1226"/>
                </a:solidFill>
                <a:latin typeface="Inter"/>
                <a:ea typeface="Inter"/>
                <a:cs typeface="Inter"/>
              </a:rPr>
              <a:t>What has to hold for the results to be meaningful.</a:t>
            </a:r>
          </a:p>
        </p:txBody>
      </p:sp>
      <p:sp>
        <p:nvSpPr>
          <p:cNvPr id="11" name="Shape 8">
            <a:extLst xmlns:a="http://schemas.openxmlformats.org/drawingml/2006/main">
              <a:ext uri="{FF2B5EF4-FFF2-40B4-BE49-F238E27FC236}">
                <a16:creationId xmlns:a16="http://schemas.microsoft.com/office/drawing/2014/main" id="{DBEABBAD-B968-488E-83F0-743C761B79A1}"/>
              </a:ext>
            </a:extLst>
          </p:cNvPr>
          <p:cNvSpPr>
            <a:spLocks xmlns:a="http://schemas.openxmlformats.org/drawingml/2006/main" noGrp="1"/>
          </p:cNvSpPr>
          <p:nvPr/>
        </p:nvSpPr>
        <p:spPr>
          <a:xfrm xmlns:a="http://schemas.openxmlformats.org/drawingml/2006/main">
            <a:off x="1143000" y="3782873"/>
            <a:ext cx="7524598" cy="9144"/>
          </a:xfrm>
          <a:prstGeom xmlns:a="http://schemas.openxmlformats.org/drawingml/2006/main" prst="rect">
            <a:avLst/>
          </a:prstGeom>
          <a:solidFill xmlns:a="http://schemas.openxmlformats.org/drawingml/2006/main">
            <a:srgbClr val="E4E5EF"/>
          </a:solidFill>
          <a:ln xmlns:a="http://schemas.openxmlformats.org/drawingml/2006/main" w="12700">
            <a:solidFill>
              <a:srgbClr val="E4E5EF">
                <a:alpha val="0"/>
              </a:srgbClr>
            </a:solidFill>
            <a:prstDash val="solid"/>
          </a:ln>
        </p:spPr>
      </p:sp>
      <p:sp>
        <p:nvSpPr>
          <p:cNvPr id="12" name="Text 9">
            <a:extLst xmlns:a="http://schemas.openxmlformats.org/drawingml/2006/main">
              <a:ext uri="{FF2B5EF4-FFF2-40B4-BE49-F238E27FC236}">
                <a16:creationId xmlns:a16="http://schemas.microsoft.com/office/drawing/2014/main" id="{D9763B12-3254-41C5-AF6C-1C919896CAD8}"/>
              </a:ext>
            </a:extLst>
          </p:cNvPr>
          <p:cNvSpPr>
            <a:spLocks xmlns:a="http://schemas.openxmlformats.org/drawingml/2006/main" noGrp="1"/>
          </p:cNvSpPr>
          <p:nvPr/>
        </p:nvSpPr>
        <p:spPr>
          <a:xfrm xmlns:a="http://schemas.openxmlformats.org/drawingml/2006/main">
            <a:off x="1143000" y="3983126"/>
            <a:ext cx="8211312" cy="277063"/>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200" b="1">
                <a:solidFill>
                  <a:srgbClr val="2A2E7A"/>
                </a:solidFill>
                <a:latin typeface="JetBrains Mono"/>
                <a:ea typeface="JetBrains Mono"/>
                <a:cs typeface="JetBrains Mono"/>
              </a:rPr>
              <a:t>A1 Each school can map local fields to documented shared concepts.</a:t>
            </a:r>
          </a:p>
        </p:txBody>
      </p:sp>
      <p:sp>
        <p:nvSpPr>
          <p:cNvPr id="13" name="Text 10">
            <a:extLst xmlns:a="http://schemas.openxmlformats.org/drawingml/2006/main">
              <a:ext uri="{FF2B5EF4-FFF2-40B4-BE49-F238E27FC236}">
                <a16:creationId xmlns:a16="http://schemas.microsoft.com/office/drawing/2014/main" id="{8F1E6A98-D8AE-407B-9D3F-03D9D71508B6}"/>
              </a:ext>
            </a:extLst>
          </p:cNvPr>
          <p:cNvSpPr>
            <a:spLocks xmlns:a="http://schemas.openxmlformats.org/drawingml/2006/main" noGrp="1"/>
          </p:cNvSpPr>
          <p:nvPr/>
        </p:nvSpPr>
        <p:spPr>
          <a:xfrm xmlns:a="http://schemas.openxmlformats.org/drawingml/2006/main">
            <a:off x="1143000" y="4449470"/>
            <a:ext cx="8211312" cy="277063"/>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200" b="1">
                <a:solidFill>
                  <a:srgbClr val="2A2E7A"/>
                </a:solidFill>
                <a:latin typeface="JetBrains Mono"/>
                <a:ea typeface="JetBrains Mono"/>
                <a:cs typeface="JetBrains Mono"/>
              </a:rPr>
              <a:t>A2 Optional feature groups may be blank, but the four required fields remain available.</a:t>
            </a:r>
          </a:p>
        </p:txBody>
      </p:sp>
      <p:sp>
        <p:nvSpPr>
          <p:cNvPr id="14" name="Text 11">
            <a:extLst xmlns:a="http://schemas.openxmlformats.org/drawingml/2006/main">
              <a:ext uri="{FF2B5EF4-FFF2-40B4-BE49-F238E27FC236}">
                <a16:creationId xmlns:a16="http://schemas.microsoft.com/office/drawing/2014/main" id="{6E2A7488-1047-41CD-ACB7-F212DF52A249}"/>
              </a:ext>
            </a:extLst>
          </p:cNvPr>
          <p:cNvSpPr>
            <a:spLocks xmlns:a="http://schemas.openxmlformats.org/drawingml/2006/main" noGrp="1"/>
          </p:cNvSpPr>
          <p:nvPr/>
        </p:nvSpPr>
        <p:spPr>
          <a:xfrm xmlns:a="http://schemas.openxmlformats.org/drawingml/2006/main">
            <a:off x="1143000" y="4914900"/>
            <a:ext cx="8211312" cy="277063"/>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200" b="1">
                <a:solidFill>
                  <a:srgbClr val="2A2E7A"/>
                </a:solidFill>
                <a:latin typeface="JetBrains Mono"/>
                <a:ea typeface="JetBrains Mono"/>
                <a:cs typeface="JetBrains Mono"/>
              </a:rPr>
              <a:t>A3 Labels represent non-persistence after the chosen prediction point.</a:t>
            </a:r>
          </a:p>
        </p:txBody>
      </p:sp>
      <p:sp>
        <p:nvSpPr>
          <p:cNvPr id="15" name="Text 12">
            <a:extLst xmlns:a="http://schemas.openxmlformats.org/drawingml/2006/main">
              <a:ext uri="{FF2B5EF4-FFF2-40B4-BE49-F238E27FC236}">
                <a16:creationId xmlns:a16="http://schemas.microsoft.com/office/drawing/2014/main" id="{9434A96A-D1EE-4A17-9FCD-62CD70327C4F}"/>
              </a:ext>
            </a:extLst>
          </p:cNvPr>
          <p:cNvSpPr>
            <a:spLocks xmlns:a="http://schemas.openxmlformats.org/drawingml/2006/main" noGrp="1"/>
          </p:cNvSpPr>
          <p:nvPr/>
        </p:nvSpPr>
        <p:spPr>
          <a:xfrm xmlns:a="http://schemas.openxmlformats.org/drawingml/2006/main">
            <a:off x="1143000" y="5380330"/>
            <a:ext cx="7525512" cy="277063"/>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200" b="1">
                <a:solidFill>
                  <a:srgbClr val="2A2E7A"/>
                </a:solidFill>
                <a:latin typeface="JetBrains Mono"/>
                <a:ea typeface="JetBrains Mono"/>
                <a:cs typeface="JetBrains Mono"/>
              </a:rPr>
              <a:t>A4 Student-level train and test sets have zero ID overlap.</a:t>
            </a:r>
          </a:p>
        </p:txBody>
      </p:sp>
      <p:sp>
        <p:nvSpPr>
          <p:cNvPr id="16" name="Text 13">
            <a:extLst xmlns:a="http://schemas.openxmlformats.org/drawingml/2006/main">
              <a:ext uri="{FF2B5EF4-FFF2-40B4-BE49-F238E27FC236}">
                <a16:creationId xmlns:a16="http://schemas.microsoft.com/office/drawing/2014/main" id="{7FF2A26A-6A97-4607-8CD9-D90C8049CD6D}"/>
              </a:ext>
            </a:extLst>
          </p:cNvPr>
          <p:cNvSpPr>
            <a:spLocks xmlns:a="http://schemas.openxmlformats.org/drawingml/2006/main" noGrp="1"/>
          </p:cNvSpPr>
          <p:nvPr/>
        </p:nvSpPr>
        <p:spPr>
          <a:xfrm xmlns:a="http://schemas.openxmlformats.org/drawingml/2006/main">
            <a:off x="1143000" y="5846674"/>
            <a:ext cx="8211312" cy="277063"/>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200" b="1">
                <a:solidFill>
                  <a:srgbClr val="2A2E7A"/>
                </a:solidFill>
                <a:latin typeface="JetBrains Mono"/>
                <a:ea typeface="JetBrains Mono"/>
                <a:cs typeface="JetBrains Mono"/>
              </a:rPr>
              <a:t>A5 Thresholds, calibration, and review share use local training-side data only.</a:t>
            </a:r>
          </a:p>
        </p:txBody>
      </p:sp>
      <p:sp>
        <p:nvSpPr>
          <p:cNvPr id="17" name="Text 14">
            <a:extLst xmlns:a="http://schemas.openxmlformats.org/drawingml/2006/main">
              <a:ext uri="{FF2B5EF4-FFF2-40B4-BE49-F238E27FC236}">
                <a16:creationId xmlns:a16="http://schemas.microsoft.com/office/drawing/2014/main" id="{C3CE9D7B-4850-48A7-9706-2034D602651D}"/>
              </a:ext>
            </a:extLst>
          </p:cNvPr>
          <p:cNvSpPr>
            <a:spLocks xmlns:a="http://schemas.openxmlformats.org/drawingml/2006/main" noGrp="1"/>
          </p:cNvSpPr>
          <p:nvPr/>
        </p:nvSpPr>
        <p:spPr>
          <a:xfrm xmlns:a="http://schemas.openxmlformats.org/drawingml/2006/main">
            <a:off x="9620402" y="3047695"/>
            <a:ext cx="7525512" cy="1335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FF5CA0"/>
                </a:solidFill>
                <a:latin typeface="JetBrains Mono"/>
                <a:ea typeface="JetBrains Mono"/>
                <a:cs typeface="JetBrains Mono"/>
              </a:rPr>
              <a:t>Evidence considered</a:t>
            </a:r>
          </a:p>
        </p:txBody>
      </p:sp>
      <p:sp>
        <p:nvSpPr>
          <p:cNvPr id="18" name="Text 15">
            <a:extLst xmlns:a="http://schemas.openxmlformats.org/drawingml/2006/main">
              <a:ext uri="{FF2B5EF4-FFF2-40B4-BE49-F238E27FC236}">
                <a16:creationId xmlns:a16="http://schemas.microsoft.com/office/drawing/2014/main" id="{1F4A3EF0-DD4D-472F-AC27-48419F7F304B}"/>
              </a:ext>
            </a:extLst>
          </p:cNvPr>
          <p:cNvSpPr>
            <a:spLocks xmlns:a="http://schemas.openxmlformats.org/drawingml/2006/main" noGrp="1"/>
          </p:cNvSpPr>
          <p:nvPr/>
        </p:nvSpPr>
        <p:spPr>
          <a:xfrm xmlns:a="http://schemas.openxmlformats.org/drawingml/2006/main">
            <a:off x="9620402" y="3276295"/>
            <a:ext cx="7525512" cy="305410"/>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800" b="1">
                <a:solidFill>
                  <a:srgbClr val="FFFFFF"/>
                </a:solidFill>
                <a:latin typeface="Inter"/>
                <a:ea typeface="Inter"/>
                <a:cs typeface="Inter"/>
              </a:rPr>
              <a:t>Evidence considered before recommending a pilot.</a:t>
            </a:r>
          </a:p>
        </p:txBody>
      </p:sp>
      <p:sp>
        <p:nvSpPr>
          <p:cNvPr id="19" name="Shape 16">
            <a:extLst xmlns:a="http://schemas.openxmlformats.org/drawingml/2006/main">
              <a:ext uri="{FF2B5EF4-FFF2-40B4-BE49-F238E27FC236}">
                <a16:creationId xmlns:a16="http://schemas.microsoft.com/office/drawing/2014/main" id="{5C913664-A5E7-481E-9A89-32A4A90CB840}"/>
              </a:ext>
            </a:extLst>
          </p:cNvPr>
          <p:cNvSpPr>
            <a:spLocks xmlns:a="http://schemas.openxmlformats.org/drawingml/2006/main" noGrp="1"/>
          </p:cNvSpPr>
          <p:nvPr/>
        </p:nvSpPr>
        <p:spPr>
          <a:xfrm xmlns:a="http://schemas.openxmlformats.org/drawingml/2006/main">
            <a:off x="9620402" y="3782873"/>
            <a:ext cx="7524598" cy="9144"/>
          </a:xfrm>
          <a:prstGeom xmlns:a="http://schemas.openxmlformats.org/drawingml/2006/main" prst="rect">
            <a:avLst/>
          </a:prstGeom>
          <a:solidFill xmlns:a="http://schemas.openxmlformats.org/drawingml/2006/main">
            <a:srgbClr val="FFFFFF">
              <a:alpha val="15000"/>
            </a:srgbClr>
          </a:solidFill>
          <a:ln xmlns:a="http://schemas.openxmlformats.org/drawingml/2006/main" w="12700">
            <a:solidFill>
              <a:srgbClr val="FFFFFF">
                <a:alpha val="0"/>
              </a:srgbClr>
            </a:solidFill>
            <a:prstDash val="solid"/>
          </a:ln>
        </p:spPr>
      </p:sp>
      <p:sp>
        <p:nvSpPr>
          <p:cNvPr id="20" name="Text 17">
            <a:extLst xmlns:a="http://schemas.openxmlformats.org/drawingml/2006/main">
              <a:ext uri="{FF2B5EF4-FFF2-40B4-BE49-F238E27FC236}">
                <a16:creationId xmlns:a16="http://schemas.microsoft.com/office/drawing/2014/main" id="{6210712A-26C3-487B-950D-70AE07127BA5}"/>
              </a:ext>
            </a:extLst>
          </p:cNvPr>
          <p:cNvSpPr>
            <a:spLocks xmlns:a="http://schemas.openxmlformats.org/drawingml/2006/main" noGrp="1"/>
          </p:cNvSpPr>
          <p:nvPr/>
        </p:nvSpPr>
        <p:spPr>
          <a:xfrm xmlns:a="http://schemas.openxmlformats.org/drawingml/2006/main">
            <a:off x="9620402" y="4002329"/>
            <a:ext cx="7525512" cy="143561"/>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FF5CA0"/>
                </a:solidFill>
                <a:latin typeface="JetBrains Mono"/>
                <a:ea typeface="JetBrains Mono"/>
                <a:cs typeface="JetBrains Mono"/>
              </a:rPr>
              <a:t>Statistical</a:t>
            </a:r>
          </a:p>
        </p:txBody>
      </p:sp>
      <p:sp>
        <p:nvSpPr>
          <p:cNvPr id="21" name="Text 18">
            <a:extLst xmlns:a="http://schemas.openxmlformats.org/drawingml/2006/main">
              <a:ext uri="{FF2B5EF4-FFF2-40B4-BE49-F238E27FC236}">
                <a16:creationId xmlns:a16="http://schemas.microsoft.com/office/drawing/2014/main" id="{C34716C5-6EC1-41F7-BA55-F22CDE744AEF}"/>
              </a:ext>
            </a:extLst>
          </p:cNvPr>
          <p:cNvSpPr>
            <a:spLocks xmlns:a="http://schemas.openxmlformats.org/drawingml/2006/main" noGrp="1"/>
          </p:cNvSpPr>
          <p:nvPr/>
        </p:nvSpPr>
        <p:spPr>
          <a:xfrm xmlns:a="http://schemas.openxmlformats.org/drawingml/2006/main">
            <a:off x="9620402" y="4202582"/>
            <a:ext cx="7525512" cy="257861"/>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200">
                <a:solidFill>
                  <a:srgbClr val="FFFFFF"/>
                </a:solidFill>
                <a:latin typeface="Inter"/>
                <a:ea typeface="Inter"/>
                <a:cs typeface="Inter"/>
              </a:rPr>
              <a:t>Held-out ROC-AUC, AP, F1, clustered bootstrap CIs, and paired permutation tests.</a:t>
            </a:r>
          </a:p>
        </p:txBody>
      </p:sp>
      <p:sp>
        <p:nvSpPr>
          <p:cNvPr id="22" name="Text 19">
            <a:extLst xmlns:a="http://schemas.openxmlformats.org/drawingml/2006/main">
              <a:ext uri="{FF2B5EF4-FFF2-40B4-BE49-F238E27FC236}">
                <a16:creationId xmlns:a16="http://schemas.microsoft.com/office/drawing/2014/main" id="{AB7D4FF3-FF8C-4FF3-88E0-FF12BBA7104E}"/>
              </a:ext>
            </a:extLst>
          </p:cNvPr>
          <p:cNvSpPr>
            <a:spLocks xmlns:a="http://schemas.openxmlformats.org/drawingml/2006/main" noGrp="1"/>
          </p:cNvSpPr>
          <p:nvPr/>
        </p:nvSpPr>
        <p:spPr>
          <a:xfrm xmlns:a="http://schemas.openxmlformats.org/drawingml/2006/main">
            <a:off x="9620402" y="4662526"/>
            <a:ext cx="7525512" cy="143561"/>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FF5CA0"/>
                </a:solidFill>
                <a:latin typeface="JetBrains Mono"/>
                <a:ea typeface="JetBrains Mono"/>
                <a:cs typeface="JetBrains Mono"/>
              </a:rPr>
              <a:t>Operational</a:t>
            </a:r>
          </a:p>
        </p:txBody>
      </p:sp>
      <p:sp>
        <p:nvSpPr>
          <p:cNvPr id="23" name="Text 20">
            <a:extLst xmlns:a="http://schemas.openxmlformats.org/drawingml/2006/main">
              <a:ext uri="{FF2B5EF4-FFF2-40B4-BE49-F238E27FC236}">
                <a16:creationId xmlns:a16="http://schemas.microsoft.com/office/drawing/2014/main" id="{5280E9B3-E6B8-4CD5-BD27-96DB39860EAF}"/>
              </a:ext>
            </a:extLst>
          </p:cNvPr>
          <p:cNvSpPr>
            <a:spLocks xmlns:a="http://schemas.openxmlformats.org/drawingml/2006/main" noGrp="1"/>
          </p:cNvSpPr>
          <p:nvPr/>
        </p:nvSpPr>
        <p:spPr>
          <a:xfrm xmlns:a="http://schemas.openxmlformats.org/drawingml/2006/main">
            <a:off x="9620402" y="4862779"/>
            <a:ext cx="7525512" cy="257861"/>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200">
                <a:solidFill>
                  <a:srgbClr val="FFFFFF"/>
                </a:solidFill>
                <a:latin typeface="Inter"/>
                <a:ea typeface="Inter"/>
                <a:cs typeface="Inter"/>
              </a:rPr>
              <a:t>Frozen-model historical test, local ranking, and optional-feature coverage.</a:t>
            </a:r>
          </a:p>
        </p:txBody>
      </p:sp>
      <p:sp>
        <p:nvSpPr>
          <p:cNvPr id="24" name="Text 21">
            <a:extLst xmlns:a="http://schemas.openxmlformats.org/drawingml/2006/main">
              <a:ext uri="{FF2B5EF4-FFF2-40B4-BE49-F238E27FC236}">
                <a16:creationId xmlns:a16="http://schemas.microsoft.com/office/drawing/2014/main" id="{3A3FBAF0-00F9-4BAB-8626-DB5BBC0CBC3E}"/>
              </a:ext>
            </a:extLst>
          </p:cNvPr>
          <p:cNvSpPr>
            <a:spLocks xmlns:a="http://schemas.openxmlformats.org/drawingml/2006/main" noGrp="1"/>
          </p:cNvSpPr>
          <p:nvPr/>
        </p:nvSpPr>
        <p:spPr>
          <a:xfrm xmlns:a="http://schemas.openxmlformats.org/drawingml/2006/main">
            <a:off x="9620402" y="5323637"/>
            <a:ext cx="7525512" cy="143561"/>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FF5CA0"/>
                </a:solidFill>
                <a:latin typeface="JetBrains Mono"/>
                <a:ea typeface="JetBrains Mono"/>
                <a:cs typeface="JetBrains Mono"/>
              </a:rPr>
              <a:t>Fairness</a:t>
            </a:r>
          </a:p>
        </p:txBody>
      </p:sp>
      <p:sp>
        <p:nvSpPr>
          <p:cNvPr id="25" name="Text 22">
            <a:extLst xmlns:a="http://schemas.openxmlformats.org/drawingml/2006/main">
              <a:ext uri="{FF2B5EF4-FFF2-40B4-BE49-F238E27FC236}">
                <a16:creationId xmlns:a16="http://schemas.microsoft.com/office/drawing/2014/main" id="{397ACCBA-D56C-44C9-A143-40722E52C8CE}"/>
              </a:ext>
            </a:extLst>
          </p:cNvPr>
          <p:cNvSpPr>
            <a:spLocks xmlns:a="http://schemas.openxmlformats.org/drawingml/2006/main" noGrp="1"/>
          </p:cNvSpPr>
          <p:nvPr/>
        </p:nvSpPr>
        <p:spPr>
          <a:xfrm xmlns:a="http://schemas.openxmlformats.org/drawingml/2006/main">
            <a:off x="9620402" y="5522976"/>
            <a:ext cx="7525512" cy="257861"/>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200">
                <a:solidFill>
                  <a:srgbClr val="FFFFFF"/>
                </a:solidFill>
                <a:latin typeface="Inter"/>
                <a:ea typeface="Inter"/>
                <a:cs typeface="Inter"/>
              </a:rPr>
              <a:t>Subgroup ranking and calibration with uncertainty; no formal parity claim.</a:t>
            </a:r>
          </a:p>
        </p:txBody>
      </p:sp>
      <p:sp>
        <p:nvSpPr>
          <p:cNvPr id="26" name="Text 23">
            <a:extLst xmlns:a="http://schemas.openxmlformats.org/drawingml/2006/main">
              <a:ext uri="{FF2B5EF4-FFF2-40B4-BE49-F238E27FC236}">
                <a16:creationId xmlns:a16="http://schemas.microsoft.com/office/drawing/2014/main" id="{F3A571CC-BE09-4615-8614-517CB4853BB8}"/>
              </a:ext>
            </a:extLst>
          </p:cNvPr>
          <p:cNvSpPr>
            <a:spLocks xmlns:a="http://schemas.openxmlformats.org/drawingml/2006/main" noGrp="1"/>
          </p:cNvSpPr>
          <p:nvPr/>
        </p:nvSpPr>
        <p:spPr>
          <a:xfrm xmlns:a="http://schemas.openxmlformats.org/drawingml/2006/main">
            <a:off x="9620402" y="5983834"/>
            <a:ext cx="7525512" cy="143561"/>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FF5CA0"/>
                </a:solidFill>
                <a:latin typeface="JetBrains Mono"/>
                <a:ea typeface="JetBrains Mono"/>
                <a:cs typeface="JetBrains Mono"/>
              </a:rPr>
              <a:t>Robustness</a:t>
            </a:r>
          </a:p>
        </p:txBody>
      </p:sp>
      <p:sp>
        <p:nvSpPr>
          <p:cNvPr id="27" name="Text 24">
            <a:extLst xmlns:a="http://schemas.openxmlformats.org/drawingml/2006/main">
              <a:ext uri="{FF2B5EF4-FFF2-40B4-BE49-F238E27FC236}">
                <a16:creationId xmlns:a16="http://schemas.microsoft.com/office/drawing/2014/main" id="{A3B86138-72EB-4588-91E9-C6FD0F01146B}"/>
              </a:ext>
            </a:extLst>
          </p:cNvPr>
          <p:cNvSpPr>
            <a:spLocks xmlns:a="http://schemas.openxmlformats.org/drawingml/2006/main" noGrp="1"/>
          </p:cNvSpPr>
          <p:nvPr/>
        </p:nvSpPr>
        <p:spPr>
          <a:xfrm xmlns:a="http://schemas.openxmlformats.org/drawingml/2006/main">
            <a:off x="9620402" y="6184087"/>
            <a:ext cx="7525512" cy="257861"/>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200">
                <a:solidFill>
                  <a:srgbClr val="FFFFFF"/>
                </a:solidFill>
                <a:latin typeface="Inter"/>
                <a:ea typeface="Inter"/>
                <a:cs typeface="Inter"/>
              </a:rPr>
              <a:t>No school ID, equal institution/class weights, missing-group masking, range checks, and temporal validation.</a:t>
            </a:r>
          </a:p>
        </p:txBody>
      </p:sp>
    </p:spTree>
    <p:extLst>
      <p:ext uri="{BB962C8B-B14F-4D97-AF65-F5344CB8AC3E}">
        <p14:creationId xmlns:p14="http://schemas.microsoft.com/office/powerpoint/2010/main" val="1727159421"/>
      </p:ext>
    </p:extLst>
  </p:cSld>
</p:sld>
</file>

<file path=ppt/slides/slide20.xml><?xml version="1.0" encoding="utf-8"?>
<p:sld xmlns:p="http://schemas.openxmlformats.org/presentationml/2006/main">
  <p:cSld>
    <p:bg>
      <p:bgPr>
        <a:solidFill xmlns:a="http://schemas.openxmlformats.org/drawingml/2006/main">
          <a:srgbClr val="F7F7FB"/>
        </a:solidFill>
      </p:bgPr>
    </p:bg>
    <p:spTree>
      <p:nvGrpSpPr>
        <p:cNvPr id="1" name=""/>
        <p:cNvGrpSpPr/>
        <p:nvPr/>
      </p:nvGrpSpPr>
      <p:grpSpPr>
        <a:xfrm xmlns:a="http://schemas.openxmlformats.org/drawingml/2006/main"/>
      </p:grpSpPr>
      <p:pic>
        <p:nvPicPr>
          <p:cNvPr id="32" name="Image 0"/>
          <p:cNvPicPr>
            <a:picLocks xmlns:a="http://schemas.openxmlformats.org/drawingml/2006/main" noChangeAspect="1"/>
          </p:cNvPicPr>
          <p:nvPr/>
        </p:nvPicPr>
        <p:blipFill>
          <a:blip xmlns:r="http://schemas.openxmlformats.org/officeDocument/2006/relationships" xmlns:a="http://schemas.openxmlformats.org/drawingml/2006/main" r:embed="R81bdb0ff9fae438e"/>
          <a:srcRect xmlns:a="http://schemas.openxmlformats.org/drawingml/2006/main" l="-2083" t="0" r="-2083" b="0"/>
          <a:stretch xmlns:a="http://schemas.openxmlformats.org/drawingml/2006/main"/>
        </p:blipFill>
        <p:spPr>
          <a:xfrm xmlns:a="http://schemas.openxmlformats.org/drawingml/2006/main">
            <a:off x="761695" y="761695"/>
            <a:ext cx="16763695" cy="9144"/>
          </a:xfrm>
          <a:prstGeom xmlns:a="http://schemas.openxmlformats.org/drawingml/2006/main" prst="rect">
            <a:avLst/>
          </a:prstGeom>
        </p:spPr>
      </p:pic>
      <p:sp>
        <p:nvSpPr>
          <p:cNvPr id="3" name="Shape 0">
            <a:extLst xmlns:a="http://schemas.openxmlformats.org/drawingml/2006/main">
              <a:ext uri="{FF2B5EF4-FFF2-40B4-BE49-F238E27FC236}">
                <a16:creationId xmlns:a16="http://schemas.microsoft.com/office/drawing/2014/main" id="{4915CC32-86E8-40BB-9978-80B1802D4B0D}"/>
              </a:ext>
            </a:extLst>
          </p:cNvPr>
          <p:cNvSpPr>
            <a:spLocks xmlns:a="http://schemas.openxmlformats.org/drawingml/2006/main" noGrp="1"/>
          </p:cNvSpPr>
          <p:nvPr/>
        </p:nvSpPr>
        <p:spPr>
          <a:xfrm xmlns:a="http://schemas.openxmlformats.org/drawingml/2006/main">
            <a:off x="761695" y="2762402"/>
            <a:ext cx="8305495" cy="6495898"/>
          </a:xfrm>
          <a:prstGeom xmlns:a="http://schemas.openxmlformats.org/drawingml/2006/main" prst="roundRect">
            <a:avLst>
              <a:gd name="adj" fmla="val 296"/>
            </a:avLst>
          </a:prstGeom>
          <a:solidFill xmlns:a="http://schemas.openxmlformats.org/drawingml/2006/main">
            <a:srgbClr val="FFFFFF"/>
          </a:solidFill>
          <a:ln xmlns:a="http://schemas.openxmlformats.org/drawingml/2006/main" w="12700">
            <a:solidFill>
              <a:srgbClr val="E4E5EF"/>
            </a:solidFill>
            <a:prstDash val="solid"/>
          </a:ln>
        </p:spPr>
      </p:sp>
      <p:sp>
        <p:nvSpPr>
          <p:cNvPr id="4" name="Shape 1">
            <a:extLst xmlns:a="http://schemas.openxmlformats.org/drawingml/2006/main">
              <a:ext uri="{FF2B5EF4-FFF2-40B4-BE49-F238E27FC236}">
                <a16:creationId xmlns:a16="http://schemas.microsoft.com/office/drawing/2014/main" id="{E47B3416-A0BC-408A-A570-BF38CBF4C611}"/>
              </a:ext>
            </a:extLst>
          </p:cNvPr>
          <p:cNvSpPr>
            <a:spLocks xmlns:a="http://schemas.openxmlformats.org/drawingml/2006/main" noGrp="1"/>
          </p:cNvSpPr>
          <p:nvPr/>
        </p:nvSpPr>
        <p:spPr>
          <a:xfrm xmlns:a="http://schemas.openxmlformats.org/drawingml/2006/main">
            <a:off x="9239098" y="2762402"/>
            <a:ext cx="8305495" cy="6495898"/>
          </a:xfrm>
          <a:prstGeom xmlns:a="http://schemas.openxmlformats.org/drawingml/2006/main" prst="roundRect">
            <a:avLst>
              <a:gd name="adj" fmla="val 296"/>
            </a:avLst>
          </a:prstGeom>
          <a:solidFill xmlns:a="http://schemas.openxmlformats.org/drawingml/2006/main">
            <a:srgbClr val="FFFFFF"/>
          </a:solidFill>
          <a:ln xmlns:a="http://schemas.openxmlformats.org/drawingml/2006/main" w="12700">
            <a:solidFill>
              <a:srgbClr val="E4E5EF"/>
            </a:solidFill>
            <a:prstDash val="solid"/>
          </a:ln>
        </p:spPr>
      </p:sp>
      <p:sp>
        <p:nvSpPr>
          <p:cNvPr id="5" name="Text 2">
            <a:extLst xmlns:a="http://schemas.openxmlformats.org/drawingml/2006/main">
              <a:ext uri="{FF2B5EF4-FFF2-40B4-BE49-F238E27FC236}">
                <a16:creationId xmlns:a16="http://schemas.microsoft.com/office/drawing/2014/main" id="{A83F5886-9141-47C6-A99D-4CF77D6D01E2}"/>
              </a:ext>
            </a:extLst>
          </p:cNvPr>
          <p:cNvSpPr>
            <a:spLocks xmlns:a="http://schemas.openxmlformats.org/drawingml/2006/main" noGrp="1"/>
          </p:cNvSpPr>
          <p:nvPr/>
        </p:nvSpPr>
        <p:spPr>
          <a:xfrm xmlns:a="http://schemas.openxmlformats.org/drawingml/2006/main">
            <a:off x="761695" y="428854"/>
            <a:ext cx="8572500" cy="152705"/>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000">
                <a:solidFill>
                  <a:srgbClr val="6A6F8C"/>
                </a:solidFill>
                <a:latin typeface="JetBrains Mono"/>
                <a:ea typeface="JetBrains Mono"/>
                <a:cs typeface="JetBrains Mono"/>
              </a:rPr>
              <a:t>Appendix · References (not spoken)</a:t>
            </a:r>
          </a:p>
        </p:txBody>
      </p:sp>
      <p:sp>
        <p:nvSpPr>
          <p:cNvPr id="6" name="Text 3">
            <a:extLst xmlns:a="http://schemas.openxmlformats.org/drawingml/2006/main">
              <a:ext uri="{FF2B5EF4-FFF2-40B4-BE49-F238E27FC236}">
                <a16:creationId xmlns:a16="http://schemas.microsoft.com/office/drawing/2014/main" id="{6D672A9B-D3F3-4D9B-B1C6-B1720EDBC51A}"/>
              </a:ext>
            </a:extLst>
          </p:cNvPr>
          <p:cNvSpPr>
            <a:spLocks xmlns:a="http://schemas.openxmlformats.org/drawingml/2006/main" noGrp="1"/>
          </p:cNvSpPr>
          <p:nvPr/>
        </p:nvSpPr>
        <p:spPr>
          <a:xfrm xmlns:a="http://schemas.openxmlformats.org/drawingml/2006/main">
            <a:off x="15240305" y="428854"/>
            <a:ext cx="2286000" cy="152705"/>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r">
              <a:buNone/>
            </a:pPr>
            <a:r>
              <a:rPr sz="1000">
                <a:solidFill>
                  <a:srgbClr val="6A6F8C"/>
                </a:solidFill>
                <a:latin typeface="JetBrains Mono"/>
                <a:ea typeface="JetBrains Mono"/>
                <a:cs typeface="JetBrains Mono"/>
              </a:rPr>
              <a:t>20 / 20</a:t>
            </a:r>
          </a:p>
        </p:txBody>
      </p:sp>
      <p:sp>
        <p:nvSpPr>
          <p:cNvPr id="7" name="Text 4">
            <a:extLst xmlns:a="http://schemas.openxmlformats.org/drawingml/2006/main">
              <a:ext uri="{FF2B5EF4-FFF2-40B4-BE49-F238E27FC236}">
                <a16:creationId xmlns:a16="http://schemas.microsoft.com/office/drawing/2014/main" id="{3CDA930A-188E-471B-A58C-C0B1ADAB7BC2}"/>
              </a:ext>
            </a:extLst>
          </p:cNvPr>
          <p:cNvSpPr>
            <a:spLocks xmlns:a="http://schemas.openxmlformats.org/drawingml/2006/main" noGrp="1"/>
          </p:cNvSpPr>
          <p:nvPr/>
        </p:nvSpPr>
        <p:spPr>
          <a:xfrm xmlns:a="http://schemas.openxmlformats.org/drawingml/2006/main">
            <a:off x="761695" y="1238098"/>
            <a:ext cx="16764610" cy="562356"/>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4200" b="1">
                <a:solidFill>
                  <a:srgbClr val="0F1226"/>
                </a:solidFill>
                <a:latin typeface="Inter"/>
                <a:ea typeface="Inter"/>
                <a:cs typeface="Inter"/>
              </a:rPr>
              <a:t>References</a:t>
            </a:r>
          </a:p>
        </p:txBody>
      </p:sp>
      <p:sp>
        <p:nvSpPr>
          <p:cNvPr id="8" name="Text 5">
            <a:extLst xmlns:a="http://schemas.openxmlformats.org/drawingml/2006/main">
              <a:ext uri="{FF2B5EF4-FFF2-40B4-BE49-F238E27FC236}">
                <a16:creationId xmlns:a16="http://schemas.microsoft.com/office/drawing/2014/main" id="{7CC31A86-968B-4670-B102-BD9B71D7E12F}"/>
              </a:ext>
            </a:extLst>
          </p:cNvPr>
          <p:cNvSpPr>
            <a:spLocks xmlns:a="http://schemas.openxmlformats.org/drawingml/2006/main" noGrp="1"/>
          </p:cNvSpPr>
          <p:nvPr/>
        </p:nvSpPr>
        <p:spPr>
          <a:xfrm xmlns:a="http://schemas.openxmlformats.org/drawingml/2006/main">
            <a:off x="761695" y="1931213"/>
            <a:ext cx="16764610" cy="21031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500" i="1">
                <a:solidFill>
                  <a:srgbClr val="6A6F8C"/>
                </a:solidFill>
                <a:latin typeface="Source Serif Pro"/>
                <a:ea typeface="Source Serif Pro"/>
                <a:cs typeface="Source Serif Pro"/>
              </a:rPr>
              <a:t>IEEE style · core sources used in the report and presentation</a:t>
            </a:r>
          </a:p>
        </p:txBody>
      </p:sp>
      <p:sp>
        <p:nvSpPr>
          <p:cNvPr id="9" name="Text 6">
            <a:extLst xmlns:a="http://schemas.openxmlformats.org/drawingml/2006/main">
              <a:ext uri="{FF2B5EF4-FFF2-40B4-BE49-F238E27FC236}">
                <a16:creationId xmlns:a16="http://schemas.microsoft.com/office/drawing/2014/main" id="{3CD11F9A-BBA5-43FC-8409-FF611EE6CA2A}"/>
              </a:ext>
            </a:extLst>
          </p:cNvPr>
          <p:cNvSpPr>
            <a:spLocks xmlns:a="http://schemas.openxmlformats.org/drawingml/2006/main" noGrp="1"/>
          </p:cNvSpPr>
          <p:nvPr/>
        </p:nvSpPr>
        <p:spPr>
          <a:xfrm xmlns:a="http://schemas.openxmlformats.org/drawingml/2006/main">
            <a:off x="1143000" y="3047695"/>
            <a:ext cx="7525512" cy="1335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E4237A"/>
                </a:solidFill>
                <a:latin typeface="JetBrains Mono"/>
                <a:ea typeface="JetBrains Mono"/>
                <a:cs typeface="JetBrains Mono"/>
              </a:rPr>
              <a:t>Primary literature &amp; datasets</a:t>
            </a:r>
          </a:p>
        </p:txBody>
      </p:sp>
      <p:sp>
        <p:nvSpPr>
          <p:cNvPr id="10" name="Shape 7">
            <a:extLst xmlns:a="http://schemas.openxmlformats.org/drawingml/2006/main">
              <a:ext uri="{FF2B5EF4-FFF2-40B4-BE49-F238E27FC236}">
                <a16:creationId xmlns:a16="http://schemas.microsoft.com/office/drawing/2014/main" id="{EB1BACE4-06CE-4BD9-A4B9-2F1529640FDA}"/>
              </a:ext>
            </a:extLst>
          </p:cNvPr>
          <p:cNvSpPr>
            <a:spLocks xmlns:a="http://schemas.openxmlformats.org/drawingml/2006/main" noGrp="1"/>
          </p:cNvSpPr>
          <p:nvPr/>
        </p:nvSpPr>
        <p:spPr>
          <a:xfrm xmlns:a="http://schemas.openxmlformats.org/drawingml/2006/main">
            <a:off x="1143000" y="3333902"/>
            <a:ext cx="7524598" cy="9144"/>
          </a:xfrm>
          <a:prstGeom xmlns:a="http://schemas.openxmlformats.org/drawingml/2006/main" prst="rect">
            <a:avLst/>
          </a:prstGeom>
          <a:solidFill xmlns:a="http://schemas.openxmlformats.org/drawingml/2006/main">
            <a:srgbClr val="E4E5EF"/>
          </a:solidFill>
          <a:ln xmlns:a="http://schemas.openxmlformats.org/drawingml/2006/main" w="12700">
            <a:solidFill>
              <a:srgbClr val="E4E5EF">
                <a:alpha val="0"/>
              </a:srgbClr>
            </a:solidFill>
            <a:prstDash val="solid"/>
          </a:ln>
        </p:spPr>
      </p:sp>
      <p:sp>
        <p:nvSpPr>
          <p:cNvPr id="11" name="Text 8">
            <a:extLst xmlns:a="http://schemas.openxmlformats.org/drawingml/2006/main">
              <a:ext uri="{FF2B5EF4-FFF2-40B4-BE49-F238E27FC236}">
                <a16:creationId xmlns:a16="http://schemas.microsoft.com/office/drawing/2014/main" id="{E2E54BC4-0B33-4DC2-8F1C-F7FF12F03955}"/>
              </a:ext>
            </a:extLst>
          </p:cNvPr>
          <p:cNvSpPr>
            <a:spLocks xmlns:a="http://schemas.openxmlformats.org/drawingml/2006/main" noGrp="1"/>
          </p:cNvSpPr>
          <p:nvPr/>
        </p:nvSpPr>
        <p:spPr>
          <a:xfrm xmlns:a="http://schemas.openxmlformats.org/drawingml/2006/main">
            <a:off x="1143000" y="3534156"/>
            <a:ext cx="419710" cy="715061"/>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200" b="1">
                <a:solidFill>
                  <a:srgbClr val="2A2E7A"/>
                </a:solidFill>
                <a:latin typeface="JetBrains Mono"/>
                <a:ea typeface="JetBrains Mono"/>
                <a:cs typeface="JetBrains Mono"/>
              </a:rPr>
              <a:t>[1]</a:t>
            </a:r>
          </a:p>
        </p:txBody>
      </p:sp>
      <p:sp>
        <p:nvSpPr>
          <p:cNvPr id="12" name="Text 9">
            <a:extLst xmlns:a="http://schemas.openxmlformats.org/drawingml/2006/main">
              <a:ext uri="{FF2B5EF4-FFF2-40B4-BE49-F238E27FC236}">
                <a16:creationId xmlns:a16="http://schemas.microsoft.com/office/drawing/2014/main" id="{15AFF8ED-4EDD-4B67-8DB2-9B6F6DD83347}"/>
              </a:ext>
            </a:extLst>
          </p:cNvPr>
          <p:cNvSpPr>
            <a:spLocks xmlns:a="http://schemas.openxmlformats.org/drawingml/2006/main" noGrp="1"/>
          </p:cNvSpPr>
          <p:nvPr/>
        </p:nvSpPr>
        <p:spPr>
          <a:xfrm xmlns:a="http://schemas.openxmlformats.org/drawingml/2006/main">
            <a:off x="1638605" y="3534156"/>
            <a:ext cx="7029907" cy="715061"/>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200">
                <a:solidFill>
                  <a:srgbClr val="2A2E4B"/>
                </a:solidFill>
                <a:latin typeface="Inter"/>
                <a:ea typeface="Inter"/>
                <a:cs typeface="Inter"/>
              </a:rPr>
              <a:t>M. M. Islam et al., "The integration of explainable AI in Educational Data Mining for student academic performance prediction and support system," </a:t>
            </a:r>
            <a:r>
              <a:rPr sz="1200" i="1">
                <a:solidFill>
                  <a:srgbClr val="2A2E4B"/>
                </a:solidFill>
                <a:latin typeface="Inter"/>
                <a:ea typeface="Inter"/>
                <a:cs typeface="Inter"/>
              </a:rPr>
              <a:t>Telematics and Informatics Reports</a:t>
            </a:r>
            <a:r>
              <a:rPr sz="1200">
                <a:solidFill>
                  <a:srgbClr val="2A2E4B"/>
                </a:solidFill>
                <a:latin typeface="Inter"/>
                <a:ea typeface="Inter"/>
                <a:cs typeface="Inter"/>
              </a:rPr>
              <a:t>, vol. 18, Art. no. 100203, 2025.</a:t>
            </a:r>
          </a:p>
        </p:txBody>
      </p:sp>
      <p:sp>
        <p:nvSpPr>
          <p:cNvPr id="13" name="Text 10">
            <a:extLst xmlns:a="http://schemas.openxmlformats.org/drawingml/2006/main">
              <a:ext uri="{FF2B5EF4-FFF2-40B4-BE49-F238E27FC236}">
                <a16:creationId xmlns:a16="http://schemas.microsoft.com/office/drawing/2014/main" id="{6D5C5CC4-DA2A-49CB-81E8-D24DD97EFA16}"/>
              </a:ext>
            </a:extLst>
          </p:cNvPr>
          <p:cNvSpPr>
            <a:spLocks xmlns:a="http://schemas.openxmlformats.org/drawingml/2006/main" noGrp="1"/>
          </p:cNvSpPr>
          <p:nvPr/>
        </p:nvSpPr>
        <p:spPr>
          <a:xfrm xmlns:a="http://schemas.openxmlformats.org/drawingml/2006/main">
            <a:off x="1143000" y="4413809"/>
            <a:ext cx="419710" cy="47640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200" b="1">
                <a:solidFill>
                  <a:srgbClr val="2A2E7A"/>
                </a:solidFill>
                <a:latin typeface="JetBrains Mono"/>
                <a:ea typeface="JetBrains Mono"/>
                <a:cs typeface="JetBrains Mono"/>
              </a:rPr>
              <a:t>[2]</a:t>
            </a:r>
          </a:p>
        </p:txBody>
      </p:sp>
      <p:sp>
        <p:nvSpPr>
          <p:cNvPr id="14" name="Text 11">
            <a:extLst xmlns:a="http://schemas.openxmlformats.org/drawingml/2006/main">
              <a:ext uri="{FF2B5EF4-FFF2-40B4-BE49-F238E27FC236}">
                <a16:creationId xmlns:a16="http://schemas.microsoft.com/office/drawing/2014/main" id="{064B8C6F-CBEA-46C2-B6B9-B86487F3E9AE}"/>
              </a:ext>
            </a:extLst>
          </p:cNvPr>
          <p:cNvSpPr>
            <a:spLocks xmlns:a="http://schemas.openxmlformats.org/drawingml/2006/main" noGrp="1"/>
          </p:cNvSpPr>
          <p:nvPr/>
        </p:nvSpPr>
        <p:spPr>
          <a:xfrm xmlns:a="http://schemas.openxmlformats.org/drawingml/2006/main">
            <a:off x="1638605" y="4413809"/>
            <a:ext cx="7029907" cy="47640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200">
                <a:solidFill>
                  <a:srgbClr val="2A2E4B"/>
                </a:solidFill>
                <a:latin typeface="Inter"/>
                <a:ea typeface="Inter"/>
                <a:cs typeface="Inter"/>
              </a:rPr>
              <a:t>V. Realinho et al., "Predicting Student Dropout and Academic Success," </a:t>
            </a:r>
            <a:r>
              <a:rPr sz="1200" i="1">
                <a:solidFill>
                  <a:srgbClr val="2A2E4B"/>
                </a:solidFill>
                <a:latin typeface="Inter"/>
                <a:ea typeface="Inter"/>
                <a:cs typeface="Inter"/>
              </a:rPr>
              <a:t>Data</a:t>
            </a:r>
            <a:r>
              <a:rPr sz="1200">
                <a:solidFill>
                  <a:srgbClr val="2A2E4B"/>
                </a:solidFill>
                <a:latin typeface="Inter"/>
                <a:ea typeface="Inter"/>
                <a:cs typeface="Inter"/>
              </a:rPr>
              <a:t>, vol. 7, no. 11, Art. no. 146, 2022.</a:t>
            </a:r>
          </a:p>
        </p:txBody>
      </p:sp>
      <p:sp>
        <p:nvSpPr>
          <p:cNvPr id="15" name="Text 12">
            <a:extLst xmlns:a="http://schemas.openxmlformats.org/drawingml/2006/main">
              <a:ext uri="{FF2B5EF4-FFF2-40B4-BE49-F238E27FC236}">
                <a16:creationId xmlns:a16="http://schemas.microsoft.com/office/drawing/2014/main" id="{21FE9CFC-AD55-4A67-801F-437201E51A83}"/>
              </a:ext>
            </a:extLst>
          </p:cNvPr>
          <p:cNvSpPr>
            <a:spLocks xmlns:a="http://schemas.openxmlformats.org/drawingml/2006/main" noGrp="1"/>
          </p:cNvSpPr>
          <p:nvPr/>
        </p:nvSpPr>
        <p:spPr>
          <a:xfrm xmlns:a="http://schemas.openxmlformats.org/drawingml/2006/main">
            <a:off x="1143000" y="5057546"/>
            <a:ext cx="419710" cy="47640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200" b="1">
                <a:solidFill>
                  <a:srgbClr val="2A2E7A"/>
                </a:solidFill>
                <a:latin typeface="JetBrains Mono"/>
                <a:ea typeface="JetBrains Mono"/>
                <a:cs typeface="JetBrains Mono"/>
              </a:rPr>
              <a:t>[3]</a:t>
            </a:r>
          </a:p>
        </p:txBody>
      </p:sp>
      <p:sp>
        <p:nvSpPr>
          <p:cNvPr id="16" name="Text 13">
            <a:extLst xmlns:a="http://schemas.openxmlformats.org/drawingml/2006/main">
              <a:ext uri="{FF2B5EF4-FFF2-40B4-BE49-F238E27FC236}">
                <a16:creationId xmlns:a16="http://schemas.microsoft.com/office/drawing/2014/main" id="{1D424695-1737-4E22-BE19-FC9D098612D3}"/>
              </a:ext>
            </a:extLst>
          </p:cNvPr>
          <p:cNvSpPr>
            <a:spLocks xmlns:a="http://schemas.openxmlformats.org/drawingml/2006/main" noGrp="1"/>
          </p:cNvSpPr>
          <p:nvPr/>
        </p:nvSpPr>
        <p:spPr>
          <a:xfrm xmlns:a="http://schemas.openxmlformats.org/drawingml/2006/main">
            <a:off x="1638605" y="5057546"/>
            <a:ext cx="7029907" cy="47640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200">
                <a:solidFill>
                  <a:srgbClr val="2A2E4B"/>
                </a:solidFill>
                <a:latin typeface="Inter"/>
                <a:ea typeface="Inter"/>
                <a:cs typeface="Inter"/>
              </a:rPr>
              <a:t>V. Realinho et al., </a:t>
            </a:r>
            <a:r>
              <a:rPr sz="1200" i="1">
                <a:solidFill>
                  <a:srgbClr val="2A2E4B"/>
                </a:solidFill>
                <a:latin typeface="Inter"/>
                <a:ea typeface="Inter"/>
                <a:cs typeface="Inter"/>
              </a:rPr>
              <a:t>Predict Students' Dropout and Academic Success</a:t>
            </a:r>
            <a:r>
              <a:rPr sz="1200">
                <a:solidFill>
                  <a:srgbClr val="2A2E4B"/>
                </a:solidFill>
                <a:latin typeface="Inter"/>
                <a:ea typeface="Inter"/>
                <a:cs typeface="Inter"/>
              </a:rPr>
              <a:t>, UCI Machine Learning Repository, 2021.</a:t>
            </a:r>
          </a:p>
        </p:txBody>
      </p:sp>
      <p:sp>
        <p:nvSpPr>
          <p:cNvPr id="17" name="Text 14">
            <a:extLst xmlns:a="http://schemas.openxmlformats.org/drawingml/2006/main">
              <a:ext uri="{FF2B5EF4-FFF2-40B4-BE49-F238E27FC236}">
                <a16:creationId xmlns:a16="http://schemas.microsoft.com/office/drawing/2014/main" id="{4AB1EA9F-B45A-470F-BC5B-89DD38E9BD05}"/>
              </a:ext>
            </a:extLst>
          </p:cNvPr>
          <p:cNvSpPr>
            <a:spLocks xmlns:a="http://schemas.openxmlformats.org/drawingml/2006/main" noGrp="1"/>
          </p:cNvSpPr>
          <p:nvPr/>
        </p:nvSpPr>
        <p:spPr>
          <a:xfrm xmlns:a="http://schemas.openxmlformats.org/drawingml/2006/main">
            <a:off x="1143000" y="5701284"/>
            <a:ext cx="419710" cy="47640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200" b="1">
                <a:solidFill>
                  <a:srgbClr val="2A2E7A"/>
                </a:solidFill>
                <a:latin typeface="JetBrains Mono"/>
                <a:ea typeface="JetBrains Mono"/>
                <a:cs typeface="JetBrains Mono"/>
              </a:rPr>
              <a:t>[4]</a:t>
            </a:r>
          </a:p>
        </p:txBody>
      </p:sp>
      <p:sp>
        <p:nvSpPr>
          <p:cNvPr id="18" name="Text 15">
            <a:extLst xmlns:a="http://schemas.openxmlformats.org/drawingml/2006/main">
              <a:ext uri="{FF2B5EF4-FFF2-40B4-BE49-F238E27FC236}">
                <a16:creationId xmlns:a16="http://schemas.microsoft.com/office/drawing/2014/main" id="{42A0F141-FA1B-46DD-B4C6-E41D8E9B5A08}"/>
              </a:ext>
            </a:extLst>
          </p:cNvPr>
          <p:cNvSpPr>
            <a:spLocks xmlns:a="http://schemas.openxmlformats.org/drawingml/2006/main" noGrp="1"/>
          </p:cNvSpPr>
          <p:nvPr/>
        </p:nvSpPr>
        <p:spPr>
          <a:xfrm xmlns:a="http://schemas.openxmlformats.org/drawingml/2006/main">
            <a:off x="1638605" y="5701284"/>
            <a:ext cx="7029907" cy="47640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200">
                <a:solidFill>
                  <a:srgbClr val="2A2E4B"/>
                </a:solidFill>
                <a:latin typeface="Inter"/>
                <a:ea typeface="Inter"/>
                <a:cs typeface="Inter"/>
              </a:rPr>
              <a:t>J. Kuzilek, M. Hlosta, and Z. Zdrahal, "Open University Learning Analytics dataset," </a:t>
            </a:r>
            <a:r>
              <a:rPr sz="1200" i="1">
                <a:solidFill>
                  <a:srgbClr val="2A2E4B"/>
                </a:solidFill>
                <a:latin typeface="Inter"/>
                <a:ea typeface="Inter"/>
                <a:cs typeface="Inter"/>
              </a:rPr>
              <a:t>Scientific Data</a:t>
            </a:r>
            <a:r>
              <a:rPr sz="1200">
                <a:solidFill>
                  <a:srgbClr val="2A2E4B"/>
                </a:solidFill>
                <a:latin typeface="Inter"/>
                <a:ea typeface="Inter"/>
                <a:cs typeface="Inter"/>
              </a:rPr>
              <a:t>, vol. 4, Art. no. 170171, 2017.</a:t>
            </a:r>
          </a:p>
        </p:txBody>
      </p:sp>
      <p:sp>
        <p:nvSpPr>
          <p:cNvPr id="19" name="Text 16">
            <a:extLst xmlns:a="http://schemas.openxmlformats.org/drawingml/2006/main">
              <a:ext uri="{FF2B5EF4-FFF2-40B4-BE49-F238E27FC236}">
                <a16:creationId xmlns:a16="http://schemas.microsoft.com/office/drawing/2014/main" id="{3CFD3A47-C1C4-4EF7-8CBA-51EFFC948956}"/>
              </a:ext>
            </a:extLst>
          </p:cNvPr>
          <p:cNvSpPr>
            <a:spLocks xmlns:a="http://schemas.openxmlformats.org/drawingml/2006/main" noGrp="1"/>
          </p:cNvSpPr>
          <p:nvPr/>
        </p:nvSpPr>
        <p:spPr>
          <a:xfrm xmlns:a="http://schemas.openxmlformats.org/drawingml/2006/main">
            <a:off x="9620402" y="3047695"/>
            <a:ext cx="7525512" cy="133502"/>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900">
                <a:solidFill>
                  <a:srgbClr val="E4237A"/>
                </a:solidFill>
                <a:latin typeface="JetBrains Mono"/>
                <a:ea typeface="JetBrains Mono"/>
                <a:cs typeface="JetBrains Mono"/>
              </a:rPr>
              <a:t>Methods &amp; recent validation literature</a:t>
            </a:r>
          </a:p>
        </p:txBody>
      </p:sp>
      <p:sp>
        <p:nvSpPr>
          <p:cNvPr id="20" name="Shape 17">
            <a:extLst xmlns:a="http://schemas.openxmlformats.org/drawingml/2006/main">
              <a:ext uri="{FF2B5EF4-FFF2-40B4-BE49-F238E27FC236}">
                <a16:creationId xmlns:a16="http://schemas.microsoft.com/office/drawing/2014/main" id="{25B902B2-7A81-4656-8948-DDE29FBD9870}"/>
              </a:ext>
            </a:extLst>
          </p:cNvPr>
          <p:cNvSpPr>
            <a:spLocks xmlns:a="http://schemas.openxmlformats.org/drawingml/2006/main" noGrp="1"/>
          </p:cNvSpPr>
          <p:nvPr/>
        </p:nvSpPr>
        <p:spPr>
          <a:xfrm xmlns:a="http://schemas.openxmlformats.org/drawingml/2006/main">
            <a:off x="9620402" y="3333902"/>
            <a:ext cx="7524598" cy="9144"/>
          </a:xfrm>
          <a:prstGeom xmlns:a="http://schemas.openxmlformats.org/drawingml/2006/main" prst="rect">
            <a:avLst/>
          </a:prstGeom>
          <a:solidFill xmlns:a="http://schemas.openxmlformats.org/drawingml/2006/main">
            <a:srgbClr val="E4E5EF"/>
          </a:solidFill>
          <a:ln xmlns:a="http://schemas.openxmlformats.org/drawingml/2006/main" w="12700">
            <a:solidFill>
              <a:srgbClr val="E4E5EF">
                <a:alpha val="0"/>
              </a:srgbClr>
            </a:solidFill>
            <a:prstDash val="solid"/>
          </a:ln>
        </p:spPr>
      </p:sp>
      <p:sp>
        <p:nvSpPr>
          <p:cNvPr id="21" name="Text 18">
            <a:extLst xmlns:a="http://schemas.openxmlformats.org/drawingml/2006/main">
              <a:ext uri="{FF2B5EF4-FFF2-40B4-BE49-F238E27FC236}">
                <a16:creationId xmlns:a16="http://schemas.microsoft.com/office/drawing/2014/main" id="{0F7351A4-463E-4C38-89F7-F1FE1A9040CD}"/>
              </a:ext>
            </a:extLst>
          </p:cNvPr>
          <p:cNvSpPr>
            <a:spLocks xmlns:a="http://schemas.openxmlformats.org/drawingml/2006/main" noGrp="1"/>
          </p:cNvSpPr>
          <p:nvPr/>
        </p:nvSpPr>
        <p:spPr>
          <a:xfrm xmlns:a="http://schemas.openxmlformats.org/drawingml/2006/main">
            <a:off x="9620402" y="3534156"/>
            <a:ext cx="419710" cy="238658"/>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200" b="1">
                <a:solidFill>
                  <a:srgbClr val="2A2E7A"/>
                </a:solidFill>
                <a:latin typeface="JetBrains Mono"/>
                <a:ea typeface="JetBrains Mono"/>
                <a:cs typeface="JetBrains Mono"/>
              </a:rPr>
              <a:t>[5]</a:t>
            </a:r>
          </a:p>
        </p:txBody>
      </p:sp>
      <p:sp>
        <p:nvSpPr>
          <p:cNvPr id="22" name="Text 19">
            <a:extLst xmlns:a="http://schemas.openxmlformats.org/drawingml/2006/main">
              <a:ext uri="{FF2B5EF4-FFF2-40B4-BE49-F238E27FC236}">
                <a16:creationId xmlns:a16="http://schemas.microsoft.com/office/drawing/2014/main" id="{B835DB80-09F1-408C-8448-2648FC16AB15}"/>
              </a:ext>
            </a:extLst>
          </p:cNvPr>
          <p:cNvSpPr>
            <a:spLocks xmlns:a="http://schemas.openxmlformats.org/drawingml/2006/main" noGrp="1"/>
          </p:cNvSpPr>
          <p:nvPr/>
        </p:nvSpPr>
        <p:spPr>
          <a:xfrm xmlns:a="http://schemas.openxmlformats.org/drawingml/2006/main">
            <a:off x="10116007" y="3534156"/>
            <a:ext cx="7715707" cy="238658"/>
          </a:xfrm>
          <a:prstGeom xmlns:a="http://schemas.openxmlformats.org/drawingml/2006/main" prst="rect">
            <a:avLst/>
          </a:prstGeom>
          <a:noFill xmlns:a="http://schemas.openxmlformats.org/drawingml/2006/main"/>
        </p:spPr>
        <p:txBody>
          <a:bodyPr xmlns:a="http://schemas.openxmlformats.org/drawingml/2006/main" wrap="none" lIns="0" tIns="0" rIns="0" bIns="0" anchor="ctr"/>
          <a:lstStyle xmlns:a="http://schemas.openxmlformats.org/drawingml/2006/main"/>
          <a:p xmlns:a="http://schemas.openxmlformats.org/drawingml/2006/main">
            <a:pPr marL="0" indent="0" algn="l">
              <a:buNone/>
            </a:pPr>
            <a:r>
              <a:rPr sz="1200">
                <a:solidFill>
                  <a:srgbClr val="2A2E4B"/>
                </a:solidFill>
                <a:latin typeface="Inter"/>
                <a:ea typeface="Inter"/>
                <a:cs typeface="Inter"/>
              </a:rPr>
              <a:t>T. Chen and C. Guestrin, "XGBoost: A scalable tree boosting system," </a:t>
            </a:r>
            <a:r>
              <a:rPr sz="1200" i="1">
                <a:solidFill>
                  <a:srgbClr val="2A2E4B"/>
                </a:solidFill>
                <a:latin typeface="Inter"/>
                <a:ea typeface="Inter"/>
                <a:cs typeface="Inter"/>
              </a:rPr>
              <a:t>Proc. ACM SIGKDD</a:t>
            </a:r>
            <a:r>
              <a:rPr sz="1200">
                <a:solidFill>
                  <a:srgbClr val="2A2E4B"/>
                </a:solidFill>
                <a:latin typeface="Inter"/>
                <a:ea typeface="Inter"/>
                <a:cs typeface="Inter"/>
              </a:rPr>
              <a:t>, 2016.</a:t>
            </a:r>
          </a:p>
        </p:txBody>
      </p:sp>
      <p:sp>
        <p:nvSpPr>
          <p:cNvPr id="23" name="Text 20">
            <a:extLst xmlns:a="http://schemas.openxmlformats.org/drawingml/2006/main">
              <a:ext uri="{FF2B5EF4-FFF2-40B4-BE49-F238E27FC236}">
                <a16:creationId xmlns:a16="http://schemas.microsoft.com/office/drawing/2014/main" id="{7B995A66-90EF-45C6-A040-32CB01A434E8}"/>
              </a:ext>
            </a:extLst>
          </p:cNvPr>
          <p:cNvSpPr>
            <a:spLocks xmlns:a="http://schemas.openxmlformats.org/drawingml/2006/main" noGrp="1"/>
          </p:cNvSpPr>
          <p:nvPr/>
        </p:nvSpPr>
        <p:spPr>
          <a:xfrm xmlns:a="http://schemas.openxmlformats.org/drawingml/2006/main">
            <a:off x="9620402" y="3941064"/>
            <a:ext cx="419710" cy="47640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200" b="1">
                <a:solidFill>
                  <a:srgbClr val="2A2E7A"/>
                </a:solidFill>
                <a:latin typeface="JetBrains Mono"/>
                <a:ea typeface="JetBrains Mono"/>
                <a:cs typeface="JetBrains Mono"/>
              </a:rPr>
              <a:t>[6]</a:t>
            </a:r>
          </a:p>
        </p:txBody>
      </p:sp>
      <p:sp>
        <p:nvSpPr>
          <p:cNvPr id="24" name="Text 21">
            <a:extLst xmlns:a="http://schemas.openxmlformats.org/drawingml/2006/main">
              <a:ext uri="{FF2B5EF4-FFF2-40B4-BE49-F238E27FC236}">
                <a16:creationId xmlns:a16="http://schemas.microsoft.com/office/drawing/2014/main" id="{F7A03887-80B3-4C68-B509-D90276C69675}"/>
              </a:ext>
            </a:extLst>
          </p:cNvPr>
          <p:cNvSpPr>
            <a:spLocks xmlns:a="http://schemas.openxmlformats.org/drawingml/2006/main" noGrp="1"/>
          </p:cNvSpPr>
          <p:nvPr/>
        </p:nvSpPr>
        <p:spPr>
          <a:xfrm xmlns:a="http://schemas.openxmlformats.org/drawingml/2006/main">
            <a:off x="10116007" y="3941064"/>
            <a:ext cx="7029907" cy="47640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200">
                <a:solidFill>
                  <a:srgbClr val="2A2E4B"/>
                </a:solidFill>
                <a:latin typeface="Inter"/>
                <a:ea typeface="Inter"/>
                <a:cs typeface="Inter"/>
              </a:rPr>
              <a:t>S. M. Lundberg and S.-I. Lee, "A unified approach to interpreting model predictions," </a:t>
            </a:r>
            <a:r>
              <a:rPr sz="1200" i="1">
                <a:solidFill>
                  <a:srgbClr val="2A2E4B"/>
                </a:solidFill>
                <a:latin typeface="Inter"/>
                <a:ea typeface="Inter"/>
                <a:cs typeface="Inter"/>
              </a:rPr>
              <a:t>NeurIPS</a:t>
            </a:r>
            <a:r>
              <a:rPr sz="1200">
                <a:solidFill>
                  <a:srgbClr val="2A2E4B"/>
                </a:solidFill>
                <a:latin typeface="Inter"/>
                <a:ea typeface="Inter"/>
                <a:cs typeface="Inter"/>
              </a:rPr>
              <a:t>, 2017.</a:t>
            </a:r>
          </a:p>
        </p:txBody>
      </p:sp>
      <p:sp>
        <p:nvSpPr>
          <p:cNvPr id="25" name="Text 22">
            <a:extLst xmlns:a="http://schemas.openxmlformats.org/drawingml/2006/main">
              <a:ext uri="{FF2B5EF4-FFF2-40B4-BE49-F238E27FC236}">
                <a16:creationId xmlns:a16="http://schemas.microsoft.com/office/drawing/2014/main" id="{7DBB5208-E8B2-43CD-AB98-09689DC9F144}"/>
              </a:ext>
            </a:extLst>
          </p:cNvPr>
          <p:cNvSpPr>
            <a:spLocks xmlns:a="http://schemas.openxmlformats.org/drawingml/2006/main" noGrp="1"/>
          </p:cNvSpPr>
          <p:nvPr/>
        </p:nvSpPr>
        <p:spPr>
          <a:xfrm xmlns:a="http://schemas.openxmlformats.org/drawingml/2006/main">
            <a:off x="9620402" y="4584802"/>
            <a:ext cx="419710" cy="47640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200" b="1">
                <a:solidFill>
                  <a:srgbClr val="2A2E7A"/>
                </a:solidFill>
                <a:latin typeface="JetBrains Mono"/>
                <a:ea typeface="JetBrains Mono"/>
                <a:cs typeface="JetBrains Mono"/>
              </a:rPr>
              <a:t>[7]</a:t>
            </a:r>
          </a:p>
        </p:txBody>
      </p:sp>
      <p:sp>
        <p:nvSpPr>
          <p:cNvPr id="26" name="Text 23">
            <a:extLst xmlns:a="http://schemas.openxmlformats.org/drawingml/2006/main">
              <a:ext uri="{FF2B5EF4-FFF2-40B4-BE49-F238E27FC236}">
                <a16:creationId xmlns:a16="http://schemas.microsoft.com/office/drawing/2014/main" id="{91F6B3DF-422F-44A9-BE12-53B480713885}"/>
              </a:ext>
            </a:extLst>
          </p:cNvPr>
          <p:cNvSpPr>
            <a:spLocks xmlns:a="http://schemas.openxmlformats.org/drawingml/2006/main" noGrp="1"/>
          </p:cNvSpPr>
          <p:nvPr/>
        </p:nvSpPr>
        <p:spPr>
          <a:xfrm xmlns:a="http://schemas.openxmlformats.org/drawingml/2006/main">
            <a:off x="10116007" y="4584802"/>
            <a:ext cx="7029907" cy="47640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200">
                <a:solidFill>
                  <a:srgbClr val="2A2E4B"/>
                </a:solidFill>
                <a:latin typeface="Inter"/>
                <a:ea typeface="Inter"/>
                <a:cs typeface="Inter"/>
              </a:rPr>
              <a:t>D. Zhou et al., "Comparative Performance of Machine Learning Models for Predicting At-Risk Students Using the OULAD Dataset," 2026.</a:t>
            </a:r>
          </a:p>
        </p:txBody>
      </p:sp>
      <p:sp>
        <p:nvSpPr>
          <p:cNvPr id="27" name="Text 24">
            <a:extLst xmlns:a="http://schemas.openxmlformats.org/drawingml/2006/main">
              <a:ext uri="{FF2B5EF4-FFF2-40B4-BE49-F238E27FC236}">
                <a16:creationId xmlns:a16="http://schemas.microsoft.com/office/drawing/2014/main" id="{41A015EB-9D15-4568-BCB5-235CBE5E576B}"/>
              </a:ext>
            </a:extLst>
          </p:cNvPr>
          <p:cNvSpPr>
            <a:spLocks xmlns:a="http://schemas.openxmlformats.org/drawingml/2006/main" noGrp="1"/>
          </p:cNvSpPr>
          <p:nvPr/>
        </p:nvSpPr>
        <p:spPr>
          <a:xfrm xmlns:a="http://schemas.openxmlformats.org/drawingml/2006/main">
            <a:off x="9620402" y="5229454"/>
            <a:ext cx="419710" cy="47640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200" b="1">
                <a:solidFill>
                  <a:srgbClr val="2A2E7A"/>
                </a:solidFill>
                <a:latin typeface="JetBrains Mono"/>
                <a:ea typeface="JetBrains Mono"/>
                <a:cs typeface="JetBrains Mono"/>
              </a:rPr>
              <a:t>[8]</a:t>
            </a:r>
          </a:p>
        </p:txBody>
      </p:sp>
      <p:sp>
        <p:nvSpPr>
          <p:cNvPr id="28" name="Text 25">
            <a:extLst xmlns:a="http://schemas.openxmlformats.org/drawingml/2006/main">
              <a:ext uri="{FF2B5EF4-FFF2-40B4-BE49-F238E27FC236}">
                <a16:creationId xmlns:a16="http://schemas.microsoft.com/office/drawing/2014/main" id="{295F6AB0-3596-43F6-A93E-C46D3660A5EB}"/>
              </a:ext>
            </a:extLst>
          </p:cNvPr>
          <p:cNvSpPr>
            <a:spLocks xmlns:a="http://schemas.openxmlformats.org/drawingml/2006/main" noGrp="1"/>
          </p:cNvSpPr>
          <p:nvPr/>
        </p:nvSpPr>
        <p:spPr>
          <a:xfrm xmlns:a="http://schemas.openxmlformats.org/drawingml/2006/main">
            <a:off x="10116007" y="5229454"/>
            <a:ext cx="7029907" cy="47640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1200">
                <a:solidFill>
                  <a:srgbClr val="2A2E4B"/>
                </a:solidFill>
                <a:latin typeface="Inter"/>
                <a:ea typeface="Inter"/>
                <a:cs typeface="Inter"/>
              </a:rPr>
              <a:t>KuznetsovKarazin, "OULAD Early Warning," GitHub repository, accessed 2026.</a:t>
            </a:r>
          </a:p>
        </p:txBody>
      </p:sp>
      <p:sp>
        <p:nvSpPr>
          <p:cNvPr id="29" name="Shape 26">
            <a:extLst xmlns:a="http://schemas.openxmlformats.org/drawingml/2006/main">
              <a:ext uri="{FF2B5EF4-FFF2-40B4-BE49-F238E27FC236}">
                <a16:creationId xmlns:a16="http://schemas.microsoft.com/office/drawing/2014/main" id="{312DC4D2-3FD0-44A4-8A80-7DB76FC3AD95}"/>
              </a:ext>
            </a:extLst>
          </p:cNvPr>
          <p:cNvSpPr>
            <a:spLocks xmlns:a="http://schemas.openxmlformats.org/drawingml/2006/main" noGrp="1"/>
          </p:cNvSpPr>
          <p:nvPr/>
        </p:nvSpPr>
        <p:spPr>
          <a:xfrm xmlns:a="http://schemas.openxmlformats.org/drawingml/2006/main">
            <a:off x="9620402" y="5873191"/>
            <a:ext cx="7524598" cy="9144"/>
          </a:xfrm>
          <a:prstGeom xmlns:a="http://schemas.openxmlformats.org/drawingml/2006/main" prst="rect">
            <a:avLst/>
          </a:prstGeom>
          <a:solidFill xmlns:a="http://schemas.openxmlformats.org/drawingml/2006/main">
            <a:srgbClr val="E4E5EF"/>
          </a:solidFill>
          <a:ln xmlns:a="http://schemas.openxmlformats.org/drawingml/2006/main" w="12700">
            <a:solidFill>
              <a:srgbClr val="E4E5EF">
                <a:alpha val="0"/>
              </a:srgbClr>
            </a:solidFill>
            <a:prstDash val="solid"/>
          </a:ln>
        </p:spPr>
      </p:sp>
      <p:sp>
        <p:nvSpPr>
          <p:cNvPr id="30" name="Text 27">
            <a:extLst xmlns:a="http://schemas.openxmlformats.org/drawingml/2006/main">
              <a:ext uri="{FF2B5EF4-FFF2-40B4-BE49-F238E27FC236}">
                <a16:creationId xmlns:a16="http://schemas.microsoft.com/office/drawing/2014/main" id="{AF64ACED-9B11-4CF4-8804-A84FEAE28E87}"/>
              </a:ext>
            </a:extLst>
          </p:cNvPr>
          <p:cNvSpPr>
            <a:spLocks xmlns:a="http://schemas.openxmlformats.org/drawingml/2006/main" noGrp="1"/>
          </p:cNvSpPr>
          <p:nvPr/>
        </p:nvSpPr>
        <p:spPr>
          <a:xfrm xmlns:a="http://schemas.openxmlformats.org/drawingml/2006/main">
            <a:off x="9620402" y="6035040"/>
            <a:ext cx="7525512" cy="448056"/>
          </a:xfrm>
          <a:prstGeom xmlns:a="http://schemas.openxmlformats.org/drawingml/2006/main" prst="rect">
            <a:avLst/>
          </a:prstGeom>
          <a:solidFill xmlns:a="http://schemas.openxmlformats.org/drawingml/2006/main">
            <a:srgbClr val="FFFFFF">
              <a:alpha val="0"/>
            </a:srgbClr>
          </a:solidFill>
          <a:ln xmlns:a="http://schemas.openxmlformats.org/drawingml/2006/main">
            <a:solidFill>
              <a:srgbClr val="FFFFFF">
                <a:alpha val="0"/>
              </a:srgbClr>
            </a:solidFill>
          </a:ln>
        </p:spPr>
        <p:txBody>
          <a:bodyPr xmlns:a="http://schemas.openxmlformats.org/drawingml/2006/main" wrap="square" lIns="152400" tIns="0" rIns="152400" bIns="152400" anchor="ctr"/>
          <a:lstStyle xmlns:a="http://schemas.openxmlformats.org/drawingml/2006/main"/>
          <a:p xmlns:a="http://schemas.openxmlformats.org/drawingml/2006/main">
            <a:pPr marL="0" indent="0" algn="l">
              <a:buNone/>
            </a:pPr>
            <a:r>
              <a:rPr sz="1000">
                <a:solidFill>
                  <a:srgbClr val="2A2E4B"/>
                </a:solidFill>
                <a:latin typeface="JetBrains Mono"/>
                <a:ea typeface="JetBrains Mono"/>
                <a:cs typeface="JetBrains Mono"/>
              </a:rPr>
              <a:t>[9] J. Demšar, "Statistical Comparisons of Classifiers over Multiple Data Sets," Journal of Machine Learning Research, 2006.</a:t>
            </a:r>
          </a:p>
        </p:txBody>
      </p:sp>
    </p:spTree>
    <p:extLst>
      <p:ext uri="{BB962C8B-B14F-4D97-AF65-F5344CB8AC3E}">
        <p14:creationId xmlns:p14="http://schemas.microsoft.com/office/powerpoint/2010/main" val="1247161040"/>
      </p:ext>
    </p:extLst>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2026-08-04T23:23:28.1850000Z</dcterms:created>
  <dcterms:modified xsi:type="dcterms:W3CDTF">2026-08-04T23:23:28.1850000Z</dcterms:modified>
</coreProperties>
</file>