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514fbfe63b41a7" /><Relationship Type="http://schemas.openxmlformats.org/officeDocument/2006/relationships/extended-properties" Target="/docProps/app.xml" Id="Rbe79619e71c44fc2" /><Relationship Type="http://schemas.openxmlformats.org/officeDocument/2006/relationships/officeDocument" Target="/ppt/presentation.xml" Id="R27f273b1c4a04dba" /></Relationships>
</file>

<file path=ppt/presentation.xml><?xml version="1.0" encoding="utf-8"?>
<p:presentation xmlns:p="http://schemas.openxmlformats.org/presentationml/2006/main">
  <p:sldMasterIdLst>
    <p:sldMasterId xmlns:r="http://schemas.openxmlformats.org/officeDocument/2006/relationships" id="2147483648" r:id="Rf2fde79c6beb4985"/>
  </p:sldMasterIdLst>
  <p:notesMasterIdLst>
    <p:notesMasterId xmlns:r="http://schemas.openxmlformats.org/officeDocument/2006/relationships" r:id="R92ad3d81c0d84aa9"/>
  </p:notesMasterIdLst>
  <p:sldIdLst>
    <p:sldId xmlns:r="http://schemas.openxmlformats.org/officeDocument/2006/relationships" id="256" r:id="Re0c8c377d24b4561"/>
    <p:sldId xmlns:r="http://schemas.openxmlformats.org/officeDocument/2006/relationships" id="257" r:id="R2c0b352f870446c2"/>
    <p:sldId xmlns:r="http://schemas.openxmlformats.org/officeDocument/2006/relationships" id="258" r:id="Rdc9a60c82c604087"/>
    <p:sldId xmlns:r="http://schemas.openxmlformats.org/officeDocument/2006/relationships" id="259" r:id="R2a33f03924834b35"/>
    <p:sldId xmlns:r="http://schemas.openxmlformats.org/officeDocument/2006/relationships" id="260" r:id="R2206f97d7f774a09"/>
    <p:sldId xmlns:r="http://schemas.openxmlformats.org/officeDocument/2006/relationships" id="261" r:id="R6a850b77c1974836"/>
    <p:sldId xmlns:r="http://schemas.openxmlformats.org/officeDocument/2006/relationships" id="262" r:id="R65bf528436ca4f49"/>
    <p:sldId xmlns:r="http://schemas.openxmlformats.org/officeDocument/2006/relationships" id="263" r:id="Rb4d8f84708b24981"/>
    <p:sldId xmlns:r="http://schemas.openxmlformats.org/officeDocument/2006/relationships" id="264" r:id="R9bd4a14e6c0f4651"/>
    <p:sldId xmlns:r="http://schemas.openxmlformats.org/officeDocument/2006/relationships" id="265" r:id="R8607e926b72443ed"/>
    <p:sldId xmlns:r="http://schemas.openxmlformats.org/officeDocument/2006/relationships" id="266" r:id="Re10854c6c4d64017"/>
    <p:sldId xmlns:r="http://schemas.openxmlformats.org/officeDocument/2006/relationships" id="267" r:id="R90edf1885dae4434"/>
    <p:sldId xmlns:r="http://schemas.openxmlformats.org/officeDocument/2006/relationships" id="268" r:id="R0bfbb0ec42f34844"/>
    <p:sldId xmlns:r="http://schemas.openxmlformats.org/officeDocument/2006/relationships" id="269" r:id="R762801c7d09840f7"/>
    <p:sldId xmlns:r="http://schemas.openxmlformats.org/officeDocument/2006/relationships" id="270" r:id="Raeb9607cc1374331"/>
    <p:sldId xmlns:r="http://schemas.openxmlformats.org/officeDocument/2006/relationships" id="271" r:id="Rc9c0f89577984807"/>
    <p:sldId xmlns:r="http://schemas.openxmlformats.org/officeDocument/2006/relationships" id="272" r:id="R1401a4e17e5f4909"/>
    <p:sldId xmlns:r="http://schemas.openxmlformats.org/officeDocument/2006/relationships" id="273" r:id="R34bfdebafffa490b"/>
    <p:sldId xmlns:r="http://schemas.openxmlformats.org/officeDocument/2006/relationships" id="274" r:id="Rb4d0f8da15aa40dc"/>
    <p:sldId xmlns:r="http://schemas.openxmlformats.org/officeDocument/2006/relationships" id="275" r:id="R2e58404ea14941c0"/>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377867e6299479f" /><Relationship Type="http://schemas.openxmlformats.org/officeDocument/2006/relationships/slideMaster" Target="/ppt/slideMasters/slideMaster1.xml" Id="Rf2fde79c6beb4985" /><Relationship Type="http://schemas.openxmlformats.org/officeDocument/2006/relationships/notesMaster" Target="/ppt/notesMasters/notesMaster1.xml" Id="R92ad3d81c0d84aa9" /><Relationship Type="http://schemas.openxmlformats.org/officeDocument/2006/relationships/presProps" Target="/ppt/presProps.xml" Id="R85b6c8d020cf4987" /><Relationship Type="http://schemas.openxmlformats.org/officeDocument/2006/relationships/viewProps" Target="/ppt/viewProps.xml" Id="R953eaad7fac84f10" /><Relationship Type="http://schemas.openxmlformats.org/officeDocument/2006/relationships/tableStyles" Target="/ppt/tableStyles.xml" Id="Rc4fa98aa46f24fa4" /><Relationship Type="http://schemas.openxmlformats.org/officeDocument/2006/relationships/slide" Target="/ppt/slides/slide1.xml" Id="Re0c8c377d24b4561" /><Relationship Type="http://schemas.openxmlformats.org/officeDocument/2006/relationships/slide" Target="/ppt/slides/slide2.xml" Id="R2c0b352f870446c2" /><Relationship Type="http://schemas.openxmlformats.org/officeDocument/2006/relationships/slide" Target="/ppt/slides/slide3.xml" Id="Rdc9a60c82c604087" /><Relationship Type="http://schemas.openxmlformats.org/officeDocument/2006/relationships/slide" Target="/ppt/slides/slide4.xml" Id="R2a33f03924834b35" /><Relationship Type="http://schemas.openxmlformats.org/officeDocument/2006/relationships/slide" Target="/ppt/slides/slide5.xml" Id="R2206f97d7f774a09" /><Relationship Type="http://schemas.openxmlformats.org/officeDocument/2006/relationships/slide" Target="/ppt/slides/slide6.xml" Id="R6a850b77c1974836" /><Relationship Type="http://schemas.openxmlformats.org/officeDocument/2006/relationships/slide" Target="/ppt/slides/slide7.xml" Id="R65bf528436ca4f49" /><Relationship Type="http://schemas.openxmlformats.org/officeDocument/2006/relationships/slide" Target="/ppt/slides/slide8.xml" Id="Rb4d8f84708b24981" /><Relationship Type="http://schemas.openxmlformats.org/officeDocument/2006/relationships/slide" Target="/ppt/slides/slide9.xml" Id="R9bd4a14e6c0f4651" /><Relationship Type="http://schemas.openxmlformats.org/officeDocument/2006/relationships/slide" Target="/ppt/slides/slide10.xml" Id="R8607e926b72443ed" /><Relationship Type="http://schemas.openxmlformats.org/officeDocument/2006/relationships/slide" Target="/ppt/slides/slide11.xml" Id="Re10854c6c4d64017" /><Relationship Type="http://schemas.openxmlformats.org/officeDocument/2006/relationships/slide" Target="/ppt/slides/slide12.xml" Id="R90edf1885dae4434" /><Relationship Type="http://schemas.openxmlformats.org/officeDocument/2006/relationships/slide" Target="/ppt/slides/slide13.xml" Id="R0bfbb0ec42f34844" /><Relationship Type="http://schemas.openxmlformats.org/officeDocument/2006/relationships/slide" Target="/ppt/slides/slide14.xml" Id="R762801c7d09840f7" /><Relationship Type="http://schemas.openxmlformats.org/officeDocument/2006/relationships/slide" Target="/ppt/slides/slide15.xml" Id="Raeb9607cc1374331" /><Relationship Type="http://schemas.openxmlformats.org/officeDocument/2006/relationships/slide" Target="/ppt/slides/slide16.xml" Id="Rc9c0f89577984807" /><Relationship Type="http://schemas.openxmlformats.org/officeDocument/2006/relationships/slide" Target="/ppt/slides/slide17.xml" Id="R1401a4e17e5f4909" /><Relationship Type="http://schemas.openxmlformats.org/officeDocument/2006/relationships/slide" Target="/ppt/slides/slide18.xml" Id="R34bfdebafffa490b" /><Relationship Type="http://schemas.openxmlformats.org/officeDocument/2006/relationships/slide" Target="/ppt/slides/slide19.xml" Id="Rb4d0f8da15aa40dc" /><Relationship Type="http://schemas.openxmlformats.org/officeDocument/2006/relationships/slide" Target="/ppt/slides/slide20.xml" Id="R2e58404ea14941c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321dd155124f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f568207cd74a01" /><Relationship Type="http://schemas.openxmlformats.org/officeDocument/2006/relationships/notesMaster" Target="/ppt/notesMasters/notesMaster1.xml" Id="R57369e3e4d634f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5587a6f0c34cc6" /><Relationship Type="http://schemas.openxmlformats.org/officeDocument/2006/relationships/notesMaster" Target="/ppt/notesMasters/notesMaster1.xml" Id="Ra389790894244f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948b14546e43a2" /><Relationship Type="http://schemas.openxmlformats.org/officeDocument/2006/relationships/notesMaster" Target="/ppt/notesMasters/notesMaster1.xml" Id="R8c66bd7b2efa4c5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516fd32e3b40fb" /><Relationship Type="http://schemas.openxmlformats.org/officeDocument/2006/relationships/notesMaster" Target="/ppt/notesMasters/notesMaster1.xml" Id="Rdc079918426c41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e432f29cf947dd" /><Relationship Type="http://schemas.openxmlformats.org/officeDocument/2006/relationships/notesMaster" Target="/ppt/notesMasters/notesMaster1.xml" Id="R2db9062c0c3441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c2261ed400463e" /><Relationship Type="http://schemas.openxmlformats.org/officeDocument/2006/relationships/notesMaster" Target="/ppt/notesMasters/notesMaster1.xml" Id="R94aff666735742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70a1ce21bb4ed1" /><Relationship Type="http://schemas.openxmlformats.org/officeDocument/2006/relationships/notesMaster" Target="/ppt/notesMasters/notesMaster1.xml" Id="Rb7e9a010e3304c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e69c9a8c0648ea" /><Relationship Type="http://schemas.openxmlformats.org/officeDocument/2006/relationships/notesMaster" Target="/ppt/notesMasters/notesMaster1.xml" Id="Rd1c575274bac42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51d673aacd471b" /><Relationship Type="http://schemas.openxmlformats.org/officeDocument/2006/relationships/notesMaster" Target="/ppt/notesMasters/notesMaster1.xml" Id="R1be41ac653ae406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3acf6943584499" /><Relationship Type="http://schemas.openxmlformats.org/officeDocument/2006/relationships/notesMaster" Target="/ppt/notesMasters/notesMaster1.xml" Id="R142316bf555747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275b0f23844796" /><Relationship Type="http://schemas.openxmlformats.org/officeDocument/2006/relationships/notesMaster" Target="/ppt/notesMasters/notesMaster1.xml" Id="R081671b2d64e4b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71b5de4d504d97" /><Relationship Type="http://schemas.openxmlformats.org/officeDocument/2006/relationships/notesMaster" Target="/ppt/notesMasters/notesMaster1.xml" Id="Re21815ee51f247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9d0d44f8ff4bba" /><Relationship Type="http://schemas.openxmlformats.org/officeDocument/2006/relationships/notesMaster" Target="/ppt/notesMasters/notesMaster1.xml" Id="Rc3d2194553cd40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dfacaa02c54f3b" /><Relationship Type="http://schemas.openxmlformats.org/officeDocument/2006/relationships/notesMaster" Target="/ppt/notesMasters/notesMaster1.xml" Id="R1ae2e1313a1a4e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57b10bbe6d74dd4" /><Relationship Type="http://schemas.openxmlformats.org/officeDocument/2006/relationships/notesMaster" Target="/ppt/notesMasters/notesMaster1.xml" Id="R11823b020909416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8d26935b29a40b5" /><Relationship Type="http://schemas.openxmlformats.org/officeDocument/2006/relationships/notesMaster" Target="/ppt/notesMasters/notesMaster1.xml" Id="Re8ce562b7412443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f48c65d4d441fd" /><Relationship Type="http://schemas.openxmlformats.org/officeDocument/2006/relationships/notesMaster" Target="/ppt/notesMasters/notesMaster1.xml" Id="R6ee4128599f44e8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fcd136ef65454b" /><Relationship Type="http://schemas.openxmlformats.org/officeDocument/2006/relationships/notesMaster" Target="/ppt/notesMasters/notesMaster1.xml" Id="R0a0a7c51b5164e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a9b908b2c249ad" /><Relationship Type="http://schemas.openxmlformats.org/officeDocument/2006/relationships/notesMaster" Target="/ppt/notesMasters/notesMaster1.xml" Id="Rb1404539fe9846d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61a72575e3f4782" /><Relationship Type="http://schemas.openxmlformats.org/officeDocument/2006/relationships/notesMaster" Target="/ppt/notesMasters/notesMaster1.xml" Id="R98f43eb79a0846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We are Group 21, Xinyu Wang and Wu Hanming. Our capstone is an AI-based student dropout early warning system.</a:t>
            </a:r>
          </a:p>
          <a:p xmlns:a="http://schemas.openxmlformats.org/drawingml/2006/main">
            <a:r>
              <a:t/>
            </a:r>
          </a:p>
          <a:p xmlns:a="http://schemas.openxmlformats.org/drawingml/2006/main">
            <a:r>
              <a:t>We first reproduced a published modelling approach on the UCI student dataset. We then applied the same leakage-aware workflow separately to OULAD, which contains online learning behaviour. This is a comparison across two educational settings, not a direct model transfer.</a:t>
            </a:r>
          </a:p>
          <a:p xmlns:a="http://schemas.openxmlformats.org/drawingml/2006/main">
            <a:r>
              <a:t/>
            </a:r>
          </a:p>
          <a:p xmlns:a="http://schemas.openxmlformats.org/drawingml/2006/main">
            <a:r>
              <a:t>Our selected models achieved ROC AUC scores of 0.911 on UCI and 0.885 on OULAD. Based on these results, we recommend a small human-in-the-loop advisor pilot rather than automated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structure of the presentation. We will begin with the problem and the two datasets. We will then spend the largest section on data exploration, followed by methodology and model results.</a:t>
            </a:r>
          </a:p>
          <a:p xmlns:a="http://schemas.openxmlformats.org/drawingml/2006/main">
            <a:r>
              <a:t/>
            </a:r>
          </a:p>
          <a:p xmlns:a="http://schemas.openxmlformats.org/drawingml/2006/main">
            <a:r>
              <a:t>After that, we will discuss practical impact, limitations, a possible pilot plan, and our main takeaways. The presentation is planned for about 20 minutes, followed by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Higher-education institutions collect useful information early, including grades, tuition status, and online engagement. However, withdrawal is often addressed only after a student has already disengaged. Our goal is to identify risk earlier, when support may still be useful.</a:t>
            </a:r>
          </a:p>
          <a:p xmlns:a="http://schemas.openxmlformats.org/drawingml/2006/main">
            <a:r>
              <a:t/>
            </a:r>
          </a:p>
          <a:p xmlns:a="http://schemas.openxmlformats.org/drawingml/2006/main">
            <a:r>
              <a:t>We used 4,424 UCI records and 32,593 OULAD student-module records. For OULAD, prediction features were limited to the first 75 days. Our output is a decision-support prototype and a proposed pilot plan. It is not a deployed institutional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question is simple: how can advisors identify at-risk students earlier and more consistently? We translated this into binary classification.</a:t>
            </a:r>
          </a:p>
          <a:p xmlns:a="http://schemas.openxmlformats.org/drawingml/2006/main">
            <a:r>
              <a:t/>
            </a:r>
          </a:p>
          <a:p xmlns:a="http://schemas.openxmlformats.org/drawingml/2006/main">
            <a:r>
              <a:t>For UCI, the positive class is Dropout. Enrolled and Graduate are the comparison class. For OULAD, the positive class is Withdrawn, while Pass, Distinction, and Fail form the comparison class.</a:t>
            </a:r>
          </a:p>
          <a:p xmlns:a="http://schemas.openxmlformats.org/drawingml/2006/main">
            <a:r>
              <a:t/>
            </a:r>
          </a:p>
          <a:p xmlns:a="http://schemas.openxmlformats.org/drawingml/2006/main">
            <a:r>
              <a:t>The main users would be students, advisors, student-success teams, and data-governance staff. We also worked under important constraints: public historical data, no live student system, limited local computing resources, and no causal evidence that an intervention improves retention. These limits are why we recommend a pilot, not full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basic data profile. The class balance is similar in both datasets: roughly one third of UCI students are labelled Dropout, and roughly one third of OULAD records are Withdrawn. We handled this with class weights rather than resampling.</a:t>
            </a:r>
          </a:p>
          <a:p xmlns:a="http://schemas.openxmlformats.org/drawingml/2006/main">
            <a:r>
              <a:t/>
            </a:r>
          </a:p>
          <a:p xmlns:a="http://schemas.openxmlformats.org/drawingml/2006/main">
            <a:r>
              <a:t>UCI has no missing values or duplicate rows. In the final OULAD modelling table, duplicate rows are also zero. The main missing field is the area deprivation band, at about 3.4 percent. Registration-date fields have about 0.14 percent missingness.</a:t>
            </a:r>
          </a:p>
          <a:p xmlns:a="http://schemas.openxmlformats.org/drawingml/2006/main">
            <a:r>
              <a:t/>
            </a:r>
          </a:p>
          <a:p xmlns:a="http://schemas.openxmlformats.org/drawingml/2006/main">
            <a:r>
              <a:t>Imputation happens inside the modelling pipeline after the data split. Numeric outliers are clipped using the first and ninety-ninth percentiles estimated from training data only. This prevents information leakage.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UCI exploratory analysis. On the left, dropout students completed fewer first-semester curricular units. Their median is about two approved units, compared with about six for graduate students. Enrolled students fall between those groups.</a:t>
            </a:r>
          </a:p>
          <a:p xmlns:a="http://schemas.openxmlformats.org/drawingml/2006/main">
            <a:r>
              <a:t/>
            </a:r>
          </a:p>
          <a:p xmlns:a="http://schemas.openxmlformats.org/drawingml/2006/main">
            <a:r>
              <a:t>The heatmap on the right shows that first- and second-semester academic variables are strongly correlated. Since second-semester information would not be available at an early prediction point, using it would create leakage.</a:t>
            </a:r>
          </a:p>
          <a:p xmlns:a="http://schemas.openxmlformats.org/drawingml/2006/main">
            <a:r>
              <a:t/>
            </a:r>
          </a:p>
          <a:p xmlns:a="http://schemas.openxmlformats.org/drawingml/2006/main">
            <a:r>
              <a:t>For that reason, we retained first-semester variables and removed second-semester variables. The exploratory relationship is strong, but it should not be interpreted as causal.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OULAD exploratory analysis. On the left, withdrawn students generally have fewer virtual learning environment clicks. Pass and Distinction students tend to show more activity.</a:t>
            </a:r>
          </a:p>
          <a:p xmlns:a="http://schemas.openxmlformats.org/drawingml/2006/main">
            <a:r>
              <a:t/>
            </a:r>
          </a:p>
          <a:p xmlns:a="http://schemas.openxmlformats.org/drawingml/2006/main">
            <a:r>
              <a:t>On the right, withdrawn students also have lower and more variable assessment scores. Students with no recorded assessment activity are shown as zero for this descriptive chart. That means no activity was recorded; it does not prove why the activity is missing.</a:t>
            </a:r>
          </a:p>
          <a:p xmlns:a="http://schemas.openxmlformats.org/drawingml/2006/main">
            <a:r>
              <a:t/>
            </a:r>
          </a:p>
          <a:p xmlns:a="http://schemas.openxmlformats.org/drawingml/2006/main">
            <a:r>
              <a:t>These groups still overlap, so one measure is not enough by itself. Also, this EDA uses full-course information only to identify possible signals. The predictive model uses activity available within the first 75 days. This distinction prevents future information from entering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ran the same six-step workflow separately on each dataset. First, we removed leakage-prone columns, created the binary target, and made a stratified 60, 20, 20 split for training, validation, and testing.</a:t>
            </a:r>
          </a:p>
          <a:p xmlns:a="http://schemas.openxmlformats.org/drawingml/2006/main">
            <a:r>
              <a:t/>
            </a:r>
          </a:p>
          <a:p xmlns:a="http://schemas.openxmlformats.org/drawingml/2006/main">
            <a:r>
              <a:t>Next, we encoded categorical variables, scaled numeric variables where needed, and created OULAD behavioural features using only the allowed observation window.</a:t>
            </a:r>
          </a:p>
          <a:p xmlns:a="http://schemas.openxmlformats.org/drawingml/2006/main">
            <a:r>
              <a:t/>
            </a:r>
          </a:p>
          <a:p xmlns:a="http://schemas.openxmlformats.org/drawingml/2006/main">
            <a:r>
              <a:t>We compared five baseline models, then tuned the strongest candidates using validation F1. Classification thresholds were also selected on the validation set. The test set remained untouched until the model and threshold were fixed.</a:t>
            </a:r>
          </a:p>
          <a:p xmlns:a="http://schemas.openxmlformats.org/drawingml/2006/main">
            <a:r>
              <a:t/>
            </a:r>
          </a:p>
          <a:p xmlns:a="http://schemas.openxmlformats.org/drawingml/2006/main">
            <a:r>
              <a:t>Logistic Regression was selected for UCI because it performed well with a mostly linear signal. XGBoost was selected for OULAD because it captured interactions between assessments and engagement.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separates tuning from threshold selection. The table reports baseline and tuned performance on the final test set. UCI Logistic Regression improved from 0.783 to 0.793 F1. OULAD XGBoost improved from 0.729 to 0.738.</a:t>
            </a:r>
          </a:p>
          <a:p xmlns:a="http://schemas.openxmlformats.org/drawingml/2006/main">
            <a:r>
              <a:t/>
            </a:r>
          </a:p>
          <a:p xmlns:a="http://schemas.openxmlformats.org/drawingml/2006/main">
            <a:r>
              <a:t>However, two other tuned models became slightly worse. This shows that tuning does not guarantee improvement, especially when the search is narrow and the validation sample is limited.</a:t>
            </a:r>
          </a:p>
          <a:p xmlns:a="http://schemas.openxmlformats.org/drawingml/2006/main">
            <a:r>
              <a:t/>
            </a:r>
          </a:p>
          <a:p xmlns:a="http://schemas.openxmlformats.org/drawingml/2006/main">
            <a:r>
              <a:t>The thresholds were chosen using validation data only. The selected values were 0.50 for UCI Logistic Regression, 0.46 for UCI XGBoost, and 0.60 for OULAD XGBoost. The gains are modest, so we do not claim that tuning created a major breakthrough.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final held-out test results. UCI Logistic Regression achieved ROC AUC of 0.911 and F1 of 0.793. Its recall was 0.820 and precision was 0.766.</a:t>
            </a:r>
          </a:p>
          <a:p xmlns:a="http://schemas.openxmlformats.org/drawingml/2006/main">
            <a:r>
              <a:t/>
            </a:r>
          </a:p>
          <a:p xmlns:a="http://schemas.openxmlformats.org/drawingml/2006/main">
            <a:r>
              <a:t>OULAD XGBoost achieved ROC AUC of 0.885 and F1 of 0.738. Its recall was 0.719 and precision was 0.758.</a:t>
            </a:r>
          </a:p>
          <a:p xmlns:a="http://schemas.openxmlformats.org/drawingml/2006/main">
            <a:r>
              <a:t/>
            </a:r>
          </a:p>
          <a:p xmlns:a="http://schemas.openxmlformats.org/drawingml/2006/main">
            <a:r>
              <a:t>Both models show useful discrimination on unseen data. Still, UCI is relatively small, and OULAD misses about 88 at-risk cases per 1,000 test observations. These results support further pilot evaluation, not autonomous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added this timing experiment to test whether more course history improves prediction. We kept the same 32,593 OULAD records, the same held-out students, the same tuned XGBoost settings, and the same fixed threshold of 0.60. Only the available history changes.</a:t>
            </a:r>
          </a:p>
          <a:p xmlns:a="http://schemas.openxmlformats.org/drawingml/2006/main">
            <a:r>
              <a:t/>
            </a:r>
          </a:p>
          <a:p xmlns:a="http://schemas.openxmlformats.org/drawingml/2006/main">
            <a:r>
              <a:t>Held-out F1 increases from 0.682 at day 35, to 0.716 at day 60, and 0.738 at day 75.</a:t>
            </a:r>
          </a:p>
          <a:p xmlns:a="http://schemas.openxmlformats.org/drawingml/2006/main">
            <a:r>
              <a:t/>
            </a:r>
          </a:p>
          <a:p xmlns:a="http://schemas.openxmlformats.org/drawingml/2006/main">
            <a:r>
              <a:t>For day 75 minus day 35, the paired bootstrap F1 difference is about 0.056. The 95 percent confidence interval runs from 0.044 to 0.068 and does not include zero.</a:t>
            </a:r>
          </a:p>
          <a:p xmlns:a="http://schemas.openxmlformats.org/drawingml/2006/main">
            <a:r>
              <a:t/>
            </a:r>
          </a:p>
          <a:p xmlns:a="http://schemas.openxmlformats.org/drawingml/2006/main">
            <a:r>
              <a:t>The practical result is a trade-off: later prediction is more accurate, but earlier prediction leaves advisors more time to help.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SHAP analysis compares which feature families matter in the two datasets. On UCI, early academic progress contributes about 44 percent of the total SHAP magnitude, followed by financial support at about 20 percent.</a:t>
            </a:r>
          </a:p>
          <a:p xmlns:a="http://schemas.openxmlformats.org/drawingml/2006/main">
            <a:r>
              <a:t/>
            </a:r>
          </a:p>
          <a:p xmlns:a="http://schemas.openxmlformats.org/drawingml/2006/main">
            <a:r>
              <a:t>On OULAD, early academic progress contributes about 55 percent. Early engagement also contributes about 19 percent, while it is almost absent from UCI because UCI does not contain comparable online activity.</a:t>
            </a:r>
          </a:p>
          <a:p xmlns:a="http://schemas.openxmlformats.org/drawingml/2006/main">
            <a:r>
              <a:t/>
            </a:r>
          </a:p>
          <a:p xmlns:a="http://schemas.openxmlformats.org/drawingml/2006/main">
            <a:r>
              <a:t>For a fair feature-family comparison, this chart uses XGBoost on both datasets. Therefore, it does not directly explain the selected UCI Logistic Regression model. SHAP describes model associations, not causality. The findings suggest possible support areas such as tutoring, financial referral, and engagement outreach.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combines robustness and error analysis. Adding five percent numeric noise changed F1 very little. Ten percent random missingness had a larger effect, especially on UCI, where F1 fell from 0.793 to 0.753.</a:t>
            </a:r>
          </a:p>
          <a:p xmlns:a="http://schemas.openxmlformats.org/drawingml/2006/main">
            <a:r>
              <a:t/>
            </a:r>
          </a:p>
          <a:p xmlns:a="http://schemas.openxmlformats.org/drawingml/2006/main">
            <a:r>
              <a:t>Across repeated splits, OULAD was more stable, with F1 of 0.738 and a standard deviation of 0.005. UCI had more variation because the dataset is smaller.</a:t>
            </a:r>
          </a:p>
          <a:p xmlns:a="http://schemas.openxmlformats.org/drawingml/2006/main">
            <a:r>
              <a:t/>
            </a:r>
          </a:p>
          <a:p xmlns:a="http://schemas.openxmlformats.org/drawingml/2006/main">
            <a:r>
              <a:t>The right side reports errors per 1,000 test observations. UCI produced 263 true positives and 58 false negatives. OULAD produced 224 true positives and 88 false negatives.</a:t>
            </a:r>
          </a:p>
          <a:p xmlns:a="http://schemas.openxmlformats.org/drawingml/2006/main">
            <a:r>
              <a:t/>
            </a:r>
          </a:p>
          <a:p xmlns:a="http://schemas.openxmlformats.org/drawingml/2006/main">
            <a:r>
              <a:t>The missed cases often looked lower-risk in the observed data. This is a practical reason to keep advisor judgement in the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translate predictions into advisor workload per 1,000 students. The UCI model would raise about 344 alerts and correctly identify 263 at-risk students. The OULAD model would raise about 295 alerts and correctly identify 224.</a:t>
            </a:r>
          </a:p>
          <a:p xmlns:a="http://schemas.openxmlformats.org/drawingml/2006/main">
            <a:r>
              <a:t/>
            </a:r>
          </a:p>
          <a:p xmlns:a="http://schemas.openxmlformats.org/drawingml/2006/main">
            <a:r>
              <a:t>Using a planning capacity of 25 alerts per advisor per week, this equals about 13.7 advisor-weeks for UCI and 11.8 for OULAD.</a:t>
            </a:r>
          </a:p>
          <a:p xmlns:a="http://schemas.openxmlformats.org/drawingml/2006/main">
            <a:r>
              <a:t/>
            </a:r>
          </a:p>
          <a:p xmlns:a="http://schemas.openxmlformats.org/drawingml/2006/main">
            <a:r>
              <a:t>The economic example is illustrative, not an observed return on investment. We assumed a 100-dollar outreach cost and a 6,000-dollar value for retaining one student. Under those assumptions, retaining about five or six additional students would offset the alert cost. The real effect must be measured in a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recommending a pilot, we would state four limitations.</a:t>
            </a:r>
          </a:p>
          <a:p xmlns:a="http://schemas.openxmlformats.org/drawingml/2006/main">
            <a:r>
              <a:t/>
            </a:r>
          </a:p>
          <a:p xmlns:a="http://schemas.openxmlformats.org/drawingml/2006/main">
            <a:r>
              <a:t>First, external performance numbers are not directly comparable when studies use different targets and observation windows. Our OULAD model predicts Withdrawn using 75 days, while the referenced implementation uses a different population and a much earlier window.</a:t>
            </a:r>
          </a:p>
          <a:p xmlns:a="http://schemas.openxmlformats.org/drawingml/2006/main">
            <a:r>
              <a:t/>
            </a:r>
          </a:p>
          <a:p xmlns:a="http://schemas.openxmlformats.org/drawingml/2006/main">
            <a:r>
              <a:t>Second, institutional data may be less complete than these public datasets. Our missingness test shows that data quality can reduce performance.</a:t>
            </a:r>
          </a:p>
          <a:p xmlns:a="http://schemas.openxmlformats.org/drawingml/2006/main">
            <a:r>
              <a:t/>
            </a:r>
          </a:p>
          <a:p xmlns:a="http://schemas.openxmlformats.org/drawingml/2006/main">
            <a:r>
              <a:t>Third, risk scores should be used for supportive outreach, with access controls and subgroup recall monitoring.</a:t>
            </a:r>
          </a:p>
          <a:p xmlns:a="http://schemas.openxmlformats.org/drawingml/2006/main">
            <a:r>
              <a:t/>
            </a:r>
          </a:p>
          <a:p xmlns:a="http://schemas.openxmlformats.org/drawingml/2006/main">
            <a:r>
              <a:t>Finally, results from two public datasets may not transfer to another institution. A new institution should retrain and recalibrate the model rather than reuse our fitted weights.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proposed deployment starts with preparation, followed by silent or shadow scoring. After that, a limited advisor-facing pilot could run in one or two modules. The final phase would review outcomes and decide whether to expand.</a:t>
            </a:r>
          </a:p>
          <a:p xmlns:a="http://schemas.openxmlformats.org/drawingml/2006/main">
            <a:r>
              <a:t/>
            </a:r>
          </a:p>
          <a:p xmlns:a="http://schemas.openxmlformats.org/drawingml/2006/main">
            <a:r>
              <a:t>During the pilot, we would monitor alert volume, precision and recall, subgroup recall, score drift, and advisor overrides. Retraining would happen by academic term, with versioned data and model records.</a:t>
            </a:r>
          </a:p>
          <a:p xmlns:a="http://schemas.openxmlformats.org/drawingml/2006/main">
            <a:r>
              <a:t/>
            </a:r>
          </a:p>
          <a:p xmlns:a="http://schemas.openxmlformats.org/drawingml/2006/main">
            <a:r>
              <a:t>The most important future step is to evaluate the intervention itself. A model can identify risk, but only a prospective pilot can show whether advisor support changes student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contribution is not a new algorithm. It is a common, leakage-aware framework that compares timing, feature families, robustness, and advisor workload across two different educational datasets.</a:t>
            </a:r>
          </a:p>
          <a:p xmlns:a="http://schemas.openxmlformats.org/drawingml/2006/main">
            <a:r>
              <a:t/>
            </a:r>
          </a:p>
          <a:p xmlns:a="http://schemas.openxmlformats.org/drawingml/2006/main">
            <a:r>
              <a:t>There are three main takeaways.</a:t>
            </a:r>
          </a:p>
          <a:p xmlns:a="http://schemas.openxmlformats.org/drawingml/2006/main">
            <a:r>
              <a:t/>
            </a:r>
          </a:p>
          <a:p xmlns:a="http://schemas.openxmlformats.org/drawingml/2006/main">
            <a:r>
              <a:t>First, useful signals depend on context. UCI relies more on academic and financial records, while OULAD adds assessment and engagement behaviour.</a:t>
            </a:r>
          </a:p>
          <a:p xmlns:a="http://schemas.openxmlformats.org/drawingml/2006/main">
            <a:r>
              <a:t/>
            </a:r>
          </a:p>
          <a:p xmlns:a="http://schemas.openxmlformats.org/drawingml/2006/main">
            <a:r>
              <a:t>Second, timing matters. OULAD F1 rises from 0.682 at day 35 to 0.738 at day 75, but the later window leaves less time for intervention.</a:t>
            </a:r>
          </a:p>
          <a:p xmlns:a="http://schemas.openxmlformats.org/drawingml/2006/main">
            <a:r>
              <a:t/>
            </a:r>
          </a:p>
          <a:p xmlns:a="http://schemas.openxmlformats.org/drawingml/2006/main">
            <a:r>
              <a:t>Third, prediction is only the first step. These historical datasets cannot show that an intervention causes better retention. That question requires a controlled, prospective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concludes our presentation. Thank you for listening. We are happy to answer questions about the data, modelling choices, timing experiment, SHAP analysis, limitations, or proposed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slide. Do not present this slide unless a question requires the detailed assumptions or evaluation criteria. Use the left column for model-holding criteria and the right column for evidence required before recommending a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slide. Do not read this slide during the main presentation. Use it only to identify the base paper, datasets, software documentation, or external OULAD comparisons during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0a6dd4fcd94ce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f573de2f794bbb" /><Relationship Type="http://schemas.openxmlformats.org/officeDocument/2006/relationships/slideLayout" Target="/ppt/slideLayouts/slideLayout1.xml" Id="Rfb74a5a8f0b0427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74a5a8f0b0427a"/>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4de8f8ba1043f1" /><Relationship Type="http://schemas.openxmlformats.org/officeDocument/2006/relationships/image" Target="/ppt/media/image.png" Id="Rc69584a50cbd4ff7" /><Relationship Type="http://schemas.openxmlformats.org/officeDocument/2006/relationships/image" Target="/ppt/media/image2.png" Id="R87d0f531c39840a0" /><Relationship Type="http://schemas.openxmlformats.org/officeDocument/2006/relationships/image" Target="/ppt/media/image3.png" Id="Rf53a957bdb594edf" /><Relationship Type="http://schemas.openxmlformats.org/officeDocument/2006/relationships/image" Target="/ppt/media/image4.png" Id="R22a9c92230a14733" /><Relationship Type="http://schemas.openxmlformats.org/officeDocument/2006/relationships/notesSlide" Target="/ppt/notesSlides/notesSlide1.xml" Id="Rc5f877f6b16843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679fedaab004637" /><Relationship Type="http://schemas.openxmlformats.org/officeDocument/2006/relationships/image" Target="/ppt/media/image5.png" Id="Rb9c80349637f4499" /><Relationship Type="http://schemas.openxmlformats.org/officeDocument/2006/relationships/notesSlide" Target="/ppt/notesSlides/notesSlide2.xml" Id="Rc6cf898e4f1c4b1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cf3845dd324a04" /><Relationship Type="http://schemas.openxmlformats.org/officeDocument/2006/relationships/image" Target="/ppt/media/image6.png" Id="Ra19f7aff8eb04721" /><Relationship Type="http://schemas.openxmlformats.org/officeDocument/2006/relationships/image" Target="/ppt/media/image7.png" Id="R383ee5ba89a94465" /><Relationship Type="http://schemas.openxmlformats.org/officeDocument/2006/relationships/notesSlide" Target="/ppt/notesSlides/notesSlide3.xml" Id="R3f44f0ffc41346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db004e1d7fd4b2d" /><Relationship Type="http://schemas.openxmlformats.org/officeDocument/2006/relationships/image" Target="/ppt/media/image8.png" Id="Rf9715b0462794239" /><Relationship Type="http://schemas.openxmlformats.org/officeDocument/2006/relationships/image" Target="/ppt/media/image9.png" Id="R178aa24844e04073" /><Relationship Type="http://schemas.openxmlformats.org/officeDocument/2006/relationships/image" Target="/ppt/media/image10.png" Id="R1bdd9e0f190840bb" /><Relationship Type="http://schemas.openxmlformats.org/officeDocument/2006/relationships/image" Target="/ppt/media/image11.png" Id="Rcedcf97475454531" /><Relationship Type="http://schemas.openxmlformats.org/officeDocument/2006/relationships/notesSlide" Target="/ppt/notesSlides/notesSlide4.xml" Id="R37ba2ab790ff446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862c65e358145c4" /><Relationship Type="http://schemas.openxmlformats.org/officeDocument/2006/relationships/image" Target="/ppt/media/image12.png" Id="R6e4369d687b24fc4" /><Relationship Type="http://schemas.openxmlformats.org/officeDocument/2006/relationships/image" Target="/ppt/media/image.jpeg" Id="Rc9329952f01d45a8" /><Relationship Type="http://schemas.openxmlformats.org/officeDocument/2006/relationships/image" Target="/ppt/media/image2.jpeg" Id="Rbc9abd10d79040ed" /><Relationship Type="http://schemas.openxmlformats.org/officeDocument/2006/relationships/image" Target="/ppt/media/image13.png" Id="Ra4da59eba04f4a4b" /><Relationship Type="http://schemas.openxmlformats.org/officeDocument/2006/relationships/notesSlide" Target="/ppt/notesSlides/notesSlide5.xml" Id="R7016e07cbe0443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418592a5fba4220" /><Relationship Type="http://schemas.openxmlformats.org/officeDocument/2006/relationships/image" Target="/ppt/media/image14.png" Id="R48762ad6bf684f87" /><Relationship Type="http://schemas.openxmlformats.org/officeDocument/2006/relationships/image" Target="/ppt/media/image3.jpeg" Id="R455f08bce1504210" /><Relationship Type="http://schemas.openxmlformats.org/officeDocument/2006/relationships/image" Target="/ppt/media/image4.jpeg" Id="Rbe381ee16c1141b0" /><Relationship Type="http://schemas.openxmlformats.org/officeDocument/2006/relationships/notesSlide" Target="/ppt/notesSlides/notesSlide6.xml" Id="R951e8c940c3e4b0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d30ec71dde24040" /><Relationship Type="http://schemas.openxmlformats.org/officeDocument/2006/relationships/image" Target="/ppt/media/image15.png" Id="R77c19011bc4e4f35" /><Relationship Type="http://schemas.openxmlformats.org/officeDocument/2006/relationships/image" Target="/ppt/media/image5.jpeg" Id="R28386150e29c47b4" /><Relationship Type="http://schemas.openxmlformats.org/officeDocument/2006/relationships/image" Target="/ppt/media/image6.jpeg" Id="Raed1a95eb7184b39" /><Relationship Type="http://schemas.openxmlformats.org/officeDocument/2006/relationships/notesSlide" Target="/ppt/notesSlides/notesSlide7.xml" Id="R51c185d6476a45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af1ec1df6c4b4f" /><Relationship Type="http://schemas.openxmlformats.org/officeDocument/2006/relationships/image" Target="/ppt/media/image16.png" Id="R8db4b8fe365c4d39" /><Relationship Type="http://schemas.openxmlformats.org/officeDocument/2006/relationships/notesSlide" Target="/ppt/notesSlides/notesSlide8.xml" Id="R3ac8c5b2f43946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c770ad3478d44bd" /><Relationship Type="http://schemas.openxmlformats.org/officeDocument/2006/relationships/image" Target="/ppt/media/image17.png" Id="R2b14045962ad4740" /><Relationship Type="http://schemas.openxmlformats.org/officeDocument/2006/relationships/image" Target="/ppt/media/image7.jpeg" Id="R411cc3b156d44fe9" /><Relationship Type="http://schemas.openxmlformats.org/officeDocument/2006/relationships/notesSlide" Target="/ppt/notesSlides/notesSlide9.xml" Id="R91b915db0bff44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887be600f424c5a" /><Relationship Type="http://schemas.openxmlformats.org/officeDocument/2006/relationships/image" Target="/ppt/media/image18.png" Id="Rd4e0d316da974149" /><Relationship Type="http://schemas.openxmlformats.org/officeDocument/2006/relationships/image" Target="/ppt/media/image8.jpeg" Id="R12ba2ad2fff84ec3" /><Relationship Type="http://schemas.openxmlformats.org/officeDocument/2006/relationships/notesSlide" Target="/ppt/notesSlides/notesSlide10.xml" Id="Rfc4cac31c42d41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0608fa0929f4be4" /><Relationship Type="http://schemas.openxmlformats.org/officeDocument/2006/relationships/image" Target="/ppt/media/image19.png" Id="Rac644918f36f44fd" /><Relationship Type="http://schemas.openxmlformats.org/officeDocument/2006/relationships/image" Target="/ppt/media/image20.png" Id="R2d2b42f369bf4b8c" /><Relationship Type="http://schemas.openxmlformats.org/officeDocument/2006/relationships/notesSlide" Target="/ppt/notesSlides/notesSlide11.xml" Id="R855fbb2d60f245c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c3e3055411647ee" /><Relationship Type="http://schemas.openxmlformats.org/officeDocument/2006/relationships/image" Target="/ppt/media/image19.png" Id="R842d04fdceab4719" /><Relationship Type="http://schemas.openxmlformats.org/officeDocument/2006/relationships/image" Target="/ppt/media/image20.png" Id="R3d719e238e714fa9" /><Relationship Type="http://schemas.openxmlformats.org/officeDocument/2006/relationships/notesSlide" Target="/ppt/notesSlides/notesSlide12.xml" Id="R594e27c9af8244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c9edef6f41e45bc" /><Relationship Type="http://schemas.openxmlformats.org/officeDocument/2006/relationships/image" Target="/ppt/media/image21.png" Id="R49a3ef6ee2e34c2e" /><Relationship Type="http://schemas.openxmlformats.org/officeDocument/2006/relationships/image" Target="/ppt/media/image9.jpeg" Id="R4a29ef20958d410a" /><Relationship Type="http://schemas.openxmlformats.org/officeDocument/2006/relationships/image" Target="/ppt/media/image10.jpeg" Id="Ra1e81ddaad05458a" /><Relationship Type="http://schemas.openxmlformats.org/officeDocument/2006/relationships/notesSlide" Target="/ppt/notesSlides/notesSlide13.xml" Id="R815bc38fe9314b1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0670c59c1d54174" /><Relationship Type="http://schemas.openxmlformats.org/officeDocument/2006/relationships/image" Target="/ppt/media/image22.png" Id="Reca7134df5f1456f" /><Relationship Type="http://schemas.openxmlformats.org/officeDocument/2006/relationships/image" Target="/ppt/media/image11.jpeg" Id="R20b8e008c4a44b7f" /><Relationship Type="http://schemas.openxmlformats.org/officeDocument/2006/relationships/notesSlide" Target="/ppt/notesSlides/notesSlide14.xml" Id="R6383a1e5b7874de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b28af8f6f2b44da" /><Relationship Type="http://schemas.openxmlformats.org/officeDocument/2006/relationships/image" Target="/ppt/media/image23.png" Id="R5882b1072469473a" /><Relationship Type="http://schemas.openxmlformats.org/officeDocument/2006/relationships/notesSlide" Target="/ppt/notesSlides/notesSlide15.xml" Id="R76c49e42776a4ba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48968d238fc4148" /><Relationship Type="http://schemas.openxmlformats.org/officeDocument/2006/relationships/image" Target="/ppt/media/image24.png" Id="Red44b79b8e3d4246" /><Relationship Type="http://schemas.openxmlformats.org/officeDocument/2006/relationships/image" Target="/ppt/media/image25.png" Id="R526e0a1953ae4cdb" /><Relationship Type="http://schemas.openxmlformats.org/officeDocument/2006/relationships/notesSlide" Target="/ppt/notesSlides/notesSlide16.xml" Id="Rc6b8c4da65b843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dc4e80243904e6b" /><Relationship Type="http://schemas.openxmlformats.org/officeDocument/2006/relationships/image" Target="/ppt/media/image26.png" Id="R43a7d537bd104c3f" /><Relationship Type="http://schemas.openxmlformats.org/officeDocument/2006/relationships/image" Target="/ppt/media/image27.png" Id="R9f22110c01f74cd5" /><Relationship Type="http://schemas.openxmlformats.org/officeDocument/2006/relationships/notesSlide" Target="/ppt/notesSlides/notesSlide17.xml" Id="R208cde979b844e6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08be776f097401b" /><Relationship Type="http://schemas.openxmlformats.org/officeDocument/2006/relationships/image" Target="/ppt/media/image28.png" Id="Ree7bbd78bf6b4265" /><Relationship Type="http://schemas.openxmlformats.org/officeDocument/2006/relationships/image" Target="/ppt/media/image29.png" Id="R1b738889cc9f4c78" /><Relationship Type="http://schemas.openxmlformats.org/officeDocument/2006/relationships/image" Target="/ppt/media/image30.png" Id="R4b5a02082e924999" /><Relationship Type="http://schemas.openxmlformats.org/officeDocument/2006/relationships/notesSlide" Target="/ppt/notesSlides/notesSlide18.xml" Id="R15e8d6af22f1491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ab4b259254e44e6" /><Relationship Type="http://schemas.openxmlformats.org/officeDocument/2006/relationships/image" Target="/ppt/media/image31.png" Id="R898d58baa7114bb4" /><Relationship Type="http://schemas.openxmlformats.org/officeDocument/2006/relationships/notesSlide" Target="/ppt/notesSlides/notesSlide19.xml" Id="R3abac6c572f44c5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ce494b2ce2a4b58" /><Relationship Type="http://schemas.openxmlformats.org/officeDocument/2006/relationships/image" Target="/ppt/media/image32.png" Id="R508f42fa0ff44368" /><Relationship Type="http://schemas.openxmlformats.org/officeDocument/2006/relationships/notesSlide" Target="/ppt/notesSlides/notesSlide20.xml" Id="Rc0375a23770846bc" /></Relationships>
</file>

<file path=ppt/slides/slide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c69584a50cbd4ff7"/>
          <a:srcRect xmlns:a="http://schemas.openxmlformats.org/drawingml/2006/main" l="-2" t="0" r="-2" b="0"/>
          <a:stretch xmlns:a="http://schemas.openxmlformats.org/drawingml/2006/main"/>
        </p:blipFill>
        <p:spPr>
          <a:xfrm xmlns:a="http://schemas.openxmlformats.org/drawingml/2006/main">
            <a:off x="0" y="0"/>
            <a:ext cx="7810805" cy="10287000"/>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87d0f531c39840a0"/>
          <a:srcRect xmlns:a="http://schemas.openxmlformats.org/drawingml/2006/main" l="0" t="-201" r="0" b="-201"/>
          <a:stretch xmlns:a="http://schemas.openxmlformats.org/drawingml/2006/main"/>
        </p:blipFill>
        <p:spPr>
          <a:xfrm xmlns:a="http://schemas.openxmlformats.org/drawingml/2006/main">
            <a:off x="7810805" y="0"/>
            <a:ext cx="75895" cy="10287000"/>
          </a:xfrm>
          <a:prstGeom xmlns:a="http://schemas.openxmlformats.org/drawingml/2006/main" prst="rect">
            <a:avLst/>
          </a:prstGeom>
        </p:spPr>
      </p:pic>
      <p:sp>
        <p:nvSpPr>
          <p:cNvPr id="5" name="Shape 0">
            <a:extLst xmlns:a="http://schemas.openxmlformats.org/drawingml/2006/main">
              <a:ext uri="{FF2B5EF4-FFF2-40B4-BE49-F238E27FC236}">
                <a16:creationId xmlns:a16="http://schemas.microsoft.com/office/drawing/2014/main" id="{9CC1D203-C276-4DAD-BAF0-9D4370D8B67E}"/>
              </a:ext>
            </a:extLst>
          </p:cNvPr>
          <p:cNvSpPr>
            <a:spLocks xmlns:a="http://schemas.openxmlformats.org/drawingml/2006/main" noGrp="1"/>
          </p:cNvSpPr>
          <p:nvPr/>
        </p:nvSpPr>
        <p:spPr>
          <a:xfrm xmlns:a="http://schemas.openxmlformats.org/drawingml/2006/main">
            <a:off x="8572500" y="1714500"/>
            <a:ext cx="8781898" cy="2686507"/>
          </a:xfrm>
          <a:prstGeom xmlns:a="http://schemas.openxmlformats.org/drawingml/2006/main" prst="roundRect">
            <a:avLst>
              <a:gd name="adj" fmla="val 715"/>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1">
            <a:extLst xmlns:a="http://schemas.openxmlformats.org/drawingml/2006/main">
              <a:ext uri="{FF2B5EF4-FFF2-40B4-BE49-F238E27FC236}">
                <a16:creationId xmlns:a16="http://schemas.microsoft.com/office/drawing/2014/main" id="{CE9DE7E3-D65C-4F0D-87C1-EA4602AF3E2C}"/>
              </a:ext>
            </a:extLst>
          </p:cNvPr>
          <p:cNvSpPr>
            <a:spLocks xmlns:a="http://schemas.openxmlformats.org/drawingml/2006/main" noGrp="1"/>
          </p:cNvSpPr>
          <p:nvPr/>
        </p:nvSpPr>
        <p:spPr>
          <a:xfrm xmlns:a="http://schemas.openxmlformats.org/drawingml/2006/main">
            <a:off x="8572500"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2">
            <a:extLst xmlns:a="http://schemas.openxmlformats.org/drawingml/2006/main">
              <a:ext uri="{FF2B5EF4-FFF2-40B4-BE49-F238E27FC236}">
                <a16:creationId xmlns:a16="http://schemas.microsoft.com/office/drawing/2014/main" id="{90A2FE41-EE1A-423B-8102-88D88639CFE1}"/>
              </a:ext>
            </a:extLst>
          </p:cNvPr>
          <p:cNvSpPr>
            <a:spLocks xmlns:a="http://schemas.openxmlformats.org/drawingml/2006/main" noGrp="1"/>
          </p:cNvSpPr>
          <p:nvPr/>
        </p:nvSpPr>
        <p:spPr>
          <a:xfrm xmlns:a="http://schemas.openxmlformats.org/drawingml/2006/main">
            <a:off x="13096951"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3">
            <a:extLst xmlns:a="http://schemas.openxmlformats.org/drawingml/2006/main">
              <a:ext uri="{FF2B5EF4-FFF2-40B4-BE49-F238E27FC236}">
                <a16:creationId xmlns:a16="http://schemas.microsoft.com/office/drawing/2014/main" id="{AA5CC052-9A25-4527-96B6-06EBCE455EC9}"/>
              </a:ext>
            </a:extLst>
          </p:cNvPr>
          <p:cNvSpPr>
            <a:spLocks xmlns:a="http://schemas.openxmlformats.org/drawingml/2006/main" noGrp="1"/>
          </p:cNvSpPr>
          <p:nvPr/>
        </p:nvSpPr>
        <p:spPr>
          <a:xfrm xmlns:a="http://schemas.openxmlformats.org/drawingml/2006/main">
            <a:off x="8572500" y="7239305"/>
            <a:ext cx="8781898" cy="1923898"/>
          </a:xfrm>
          <a:prstGeom xmlns:a="http://schemas.openxmlformats.org/drawingml/2006/main" prst="roundRect">
            <a:avLst>
              <a:gd name="adj" fmla="val 998"/>
            </a:avLst>
          </a:prstGeom>
          <a:solidFill xmlns:a="http://schemas.openxmlformats.org/drawingml/2006/main">
            <a:srgbClr val="FFFFFF"/>
          </a:solidFill>
          <a:ln xmlns:a="http://schemas.openxmlformats.org/drawingml/2006/main" w="12700">
            <a:solidFill>
              <a:srgbClr val="E4E5EF"/>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f53a957bdb594edf"/>
          <a:srcRect xmlns:a="http://schemas.openxmlformats.org/drawingml/2006/main" l="0" t="-2100" r="0" b="-2100"/>
          <a:stretch xmlns:a="http://schemas.openxmlformats.org/drawingml/2006/main"/>
        </p:blipFill>
        <p:spPr>
          <a:xfrm xmlns:a="http://schemas.openxmlformats.org/drawingml/2006/main">
            <a:off x="13334695" y="2476195"/>
            <a:ext cx="9144" cy="1429207"/>
          </a:xfrm>
          <a:prstGeom xmlns:a="http://schemas.openxmlformats.org/drawingml/2006/main" prst="rect">
            <a:avLst/>
          </a:prstGeom>
        </p:spPr>
      </p:pic>
      <p:pic>
        <p:nvPicPr>
          <p:cNvPr id="50" name="Image 3"/>
          <p:cNvPicPr>
            <a:picLocks xmlns:a="http://schemas.openxmlformats.org/drawingml/2006/main" noChangeAspect="1"/>
          </p:cNvPicPr>
          <p:nvPr/>
        </p:nvPicPr>
        <p:blipFill>
          <a:blip xmlns:r="http://schemas.openxmlformats.org/officeDocument/2006/relationships" xmlns:a="http://schemas.openxmlformats.org/drawingml/2006/main" r:embed="R22a9c92230a14733"/>
          <a:srcRect xmlns:a="http://schemas.openxmlformats.org/drawingml/2006/main" l="-2083" t="0" r="-2083" b="0"/>
          <a:stretch xmlns:a="http://schemas.openxmlformats.org/drawingml/2006/main"/>
        </p:blipFill>
        <p:spPr>
          <a:xfrm xmlns:a="http://schemas.openxmlformats.org/drawingml/2006/main">
            <a:off x="7810805" y="9715500"/>
            <a:ext cx="10477195" cy="9144"/>
          </a:xfrm>
          <a:prstGeom xmlns:a="http://schemas.openxmlformats.org/drawingml/2006/main" prst="rect">
            <a:avLst/>
          </a:prstGeom>
        </p:spPr>
      </p:pic>
      <p:sp>
        <p:nvSpPr>
          <p:cNvPr id="11" name="Text 4">
            <a:extLst xmlns:a="http://schemas.openxmlformats.org/drawingml/2006/main">
              <a:ext uri="{FF2B5EF4-FFF2-40B4-BE49-F238E27FC236}">
                <a16:creationId xmlns:a16="http://schemas.microsoft.com/office/drawing/2014/main" id="{C4E9E62F-1639-48E7-AADE-90A3BF5182F6}"/>
              </a:ext>
            </a:extLst>
          </p:cNvPr>
          <p:cNvSpPr>
            <a:spLocks xmlns:a="http://schemas.openxmlformats.org/drawingml/2006/main" noGrp="1"/>
          </p:cNvSpPr>
          <p:nvPr/>
        </p:nvSpPr>
        <p:spPr>
          <a:xfrm xmlns:a="http://schemas.openxmlformats.org/drawingml/2006/main">
            <a:off x="952805" y="1047902"/>
            <a:ext cx="6096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55000"/>
                  </a:srgbClr>
                </a:solidFill>
                <a:latin typeface="JetBrains Mono"/>
                <a:ea typeface="JetBrains Mono"/>
                <a:cs typeface="JetBrains Mono"/>
              </a:rPr>
              <a:t>MBAI 5600G · CAPSTONE · MILESTONE 7</a:t>
            </a:r>
          </a:p>
        </p:txBody>
      </p:sp>
      <p:sp>
        <p:nvSpPr>
          <p:cNvPr id="12" name="Text 5">
            <a:extLst xmlns:a="http://schemas.openxmlformats.org/drawingml/2006/main">
              <a:ext uri="{FF2B5EF4-FFF2-40B4-BE49-F238E27FC236}">
                <a16:creationId xmlns:a16="http://schemas.microsoft.com/office/drawing/2014/main" id="{B33F1B22-AC55-4697-ABEB-35C23FC65F2F}"/>
              </a:ext>
            </a:extLst>
          </p:cNvPr>
          <p:cNvSpPr>
            <a:spLocks xmlns:a="http://schemas.openxmlformats.org/drawingml/2006/main" noGrp="1"/>
          </p:cNvSpPr>
          <p:nvPr/>
        </p:nvSpPr>
        <p:spPr>
          <a:xfrm xmlns:a="http://schemas.openxmlformats.org/drawingml/2006/main">
            <a:off x="952805" y="1619402"/>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 project · dropout-ews · v7</a:t>
            </a:r>
          </a:p>
        </p:txBody>
      </p:sp>
      <p:sp>
        <p:nvSpPr>
          <p:cNvPr id="13" name="Text 6">
            <a:extLst xmlns:a="http://schemas.openxmlformats.org/drawingml/2006/main">
              <a:ext uri="{FF2B5EF4-FFF2-40B4-BE49-F238E27FC236}">
                <a16:creationId xmlns:a16="http://schemas.microsoft.com/office/drawing/2014/main" id="{E1D06B86-FE4E-45C2-8323-B83CCF34FD45}"/>
              </a:ext>
            </a:extLst>
          </p:cNvPr>
          <p:cNvSpPr>
            <a:spLocks xmlns:a="http://schemas.openxmlformats.org/drawingml/2006/main" noGrp="1"/>
          </p:cNvSpPr>
          <p:nvPr/>
        </p:nvSpPr>
        <p:spPr>
          <a:xfrm xmlns:a="http://schemas.openxmlformats.org/drawingml/2006/main">
            <a:off x="952805" y="2952598"/>
            <a:ext cx="6286500" cy="19248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4800" b="1">
                <a:solidFill>
                  <a:srgbClr val="FFFFFF"/>
                </a:solidFill>
                <a:latin typeface="Inter"/>
                <a:ea typeface="Inter"/>
                <a:cs typeface="Inter"/>
              </a:rPr>
              <a:t>AI-Based Student</a:t>
            </a:r>
          </a:p>
          <a:p xmlns:a="http://schemas.openxmlformats.org/drawingml/2006/main">
            <a:pPr marL="0" indent="0" algn="l">
              <a:buNone/>
            </a:pPr>
            <a:r>
              <a:rPr sz="4800" b="1">
                <a:solidFill>
                  <a:srgbClr val="FFFFFF"/>
                </a:solidFill>
                <a:latin typeface="Inter"/>
                <a:ea typeface="Inter"/>
                <a:cs typeface="Inter"/>
              </a:rPr>
              <a:t>Dropout Early</a:t>
            </a:r>
          </a:p>
          <a:p xmlns:a="http://schemas.openxmlformats.org/drawingml/2006/main">
            <a:pPr marL="0" indent="0" algn="l">
              <a:buNone/>
            </a:pPr>
            <a:r>
              <a:rPr sz="4800" b="1">
                <a:solidFill>
                  <a:srgbClr val="FFFFFF"/>
                </a:solidFill>
                <a:latin typeface="Inter"/>
                <a:ea typeface="Inter"/>
                <a:cs typeface="Inter"/>
              </a:rPr>
              <a:t>Warning System</a:t>
            </a:r>
          </a:p>
        </p:txBody>
      </p:sp>
      <p:sp>
        <p:nvSpPr>
          <p:cNvPr id="14" name="Text 7">
            <a:extLst xmlns:a="http://schemas.openxmlformats.org/drawingml/2006/main">
              <a:ext uri="{FF2B5EF4-FFF2-40B4-BE49-F238E27FC236}">
                <a16:creationId xmlns:a16="http://schemas.microsoft.com/office/drawing/2014/main" id="{012688D6-BAF5-4BC2-9873-1DAA70C0C25F}"/>
              </a:ext>
            </a:extLst>
          </p:cNvPr>
          <p:cNvSpPr>
            <a:spLocks xmlns:a="http://schemas.openxmlformats.org/drawingml/2006/main" noGrp="1"/>
          </p:cNvSpPr>
          <p:nvPr/>
        </p:nvSpPr>
        <p:spPr>
          <a:xfrm xmlns:a="http://schemas.openxmlformats.org/drawingml/2006/main">
            <a:off x="952805" y="6261811"/>
            <a:ext cx="6286500" cy="72054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30"/>
              </a:lnSpc>
              <a:buNone/>
            </a:pPr>
            <a:r>
              <a:rPr sz="1900" i="1">
                <a:solidFill>
                  <a:srgbClr val="FFFFFF">
                    <a:alpha val="85000"/>
                  </a:srgbClr>
                </a:solidFill>
                <a:latin typeface="Source Serif Pro"/>
                <a:ea typeface="Source Serif Pro"/>
                <a:cs typeface="Source Serif Pro"/>
              </a:rPr>
              <a:t>Reproduction and Cross-Context</a:t>
            </a:r>
          </a:p>
          <a:p xmlns:a="http://schemas.openxmlformats.org/drawingml/2006/main">
            <a:pPr marL="0" indent="0" algn="l">
              <a:lnSpc>
                <a:spcPts val="2730"/>
              </a:lnSpc>
              <a:buNone/>
            </a:pPr>
            <a:r>
              <a:rPr sz="1900" i="1">
                <a:solidFill>
                  <a:srgbClr val="FFFFFF">
                    <a:alpha val="85000"/>
                  </a:srgbClr>
                </a:solidFill>
                <a:latin typeface="Source Serif Pro"/>
                <a:ea typeface="Source Serif Pro"/>
                <a:cs typeface="Source Serif Pro"/>
              </a:rPr>
              <a:t>Evaluation on UCI and OULAD</a:t>
            </a:r>
          </a:p>
        </p:txBody>
      </p:sp>
      <p:sp>
        <p:nvSpPr>
          <p:cNvPr id="15" name="Text 8">
            <a:extLst xmlns:a="http://schemas.openxmlformats.org/drawingml/2006/main">
              <a:ext uri="{FF2B5EF4-FFF2-40B4-BE49-F238E27FC236}">
                <a16:creationId xmlns:a16="http://schemas.microsoft.com/office/drawing/2014/main" id="{0186ADE0-9B1B-44FF-AFBF-76003491975E}"/>
              </a:ext>
            </a:extLst>
          </p:cNvPr>
          <p:cNvSpPr>
            <a:spLocks xmlns:a="http://schemas.openxmlformats.org/drawingml/2006/main" noGrp="1"/>
          </p:cNvSpPr>
          <p:nvPr/>
        </p:nvSpPr>
        <p:spPr>
          <a:xfrm xmlns:a="http://schemas.openxmlformats.org/drawingml/2006/main">
            <a:off x="952805" y="85725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Group 21 · Oral Presentation</a:t>
            </a:r>
          </a:p>
        </p:txBody>
      </p:sp>
      <p:sp>
        <p:nvSpPr>
          <p:cNvPr id="16" name="Text 9">
            <a:extLst xmlns:a="http://schemas.openxmlformats.org/drawingml/2006/main">
              <a:ext uri="{FF2B5EF4-FFF2-40B4-BE49-F238E27FC236}">
                <a16:creationId xmlns:a16="http://schemas.microsoft.com/office/drawing/2014/main" id="{8A94C4EE-73D7-408B-B123-C839097DFBD9}"/>
              </a:ext>
            </a:extLst>
          </p:cNvPr>
          <p:cNvSpPr>
            <a:spLocks xmlns:a="http://schemas.openxmlformats.org/drawingml/2006/main" noGrp="1"/>
          </p:cNvSpPr>
          <p:nvPr/>
        </p:nvSpPr>
        <p:spPr>
          <a:xfrm xmlns:a="http://schemas.openxmlformats.org/drawingml/2006/main">
            <a:off x="952805" y="8820302"/>
            <a:ext cx="6096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Xinyu Wang · Wu Hanming</a:t>
            </a:r>
          </a:p>
        </p:txBody>
      </p:sp>
      <p:sp>
        <p:nvSpPr>
          <p:cNvPr id="17" name="Text 10">
            <a:extLst xmlns:a="http://schemas.openxmlformats.org/drawingml/2006/main">
              <a:ext uri="{FF2B5EF4-FFF2-40B4-BE49-F238E27FC236}">
                <a16:creationId xmlns:a16="http://schemas.microsoft.com/office/drawing/2014/main" id="{C489C127-1981-4FBB-B564-4BE26D445E46}"/>
              </a:ext>
            </a:extLst>
          </p:cNvPr>
          <p:cNvSpPr>
            <a:spLocks xmlns:a="http://schemas.openxmlformats.org/drawingml/2006/main" noGrp="1"/>
          </p:cNvSpPr>
          <p:nvPr/>
        </p:nvSpPr>
        <p:spPr>
          <a:xfrm xmlns:a="http://schemas.openxmlformats.org/drawingml/2006/main">
            <a:off x="952805" y="91440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2026-08-10 / Faculty of Business and IT</a:t>
            </a:r>
          </a:p>
        </p:txBody>
      </p:sp>
      <p:sp>
        <p:nvSpPr>
          <p:cNvPr id="18" name="Text 11">
            <a:extLst xmlns:a="http://schemas.openxmlformats.org/drawingml/2006/main">
              <a:ext uri="{FF2B5EF4-FFF2-40B4-BE49-F238E27FC236}">
                <a16:creationId xmlns:a16="http://schemas.microsoft.com/office/drawing/2014/main" id="{CB6807BE-7F91-4752-B06D-6BB1A195544D}"/>
              </a:ext>
            </a:extLst>
          </p:cNvPr>
          <p:cNvSpPr>
            <a:spLocks xmlns:a="http://schemas.openxmlformats.org/drawingml/2006/main" noGrp="1"/>
          </p:cNvSpPr>
          <p:nvPr/>
        </p:nvSpPr>
        <p:spPr>
          <a:xfrm xmlns:a="http://schemas.openxmlformats.org/drawingml/2006/main">
            <a:off x="8953805" y="2000707"/>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FINAL HELD-OUT PERFORMANCE</a:t>
            </a:r>
          </a:p>
        </p:txBody>
      </p:sp>
      <p:sp>
        <p:nvSpPr>
          <p:cNvPr id="19" name="Text 12">
            <a:extLst xmlns:a="http://schemas.openxmlformats.org/drawingml/2006/main">
              <a:ext uri="{FF2B5EF4-FFF2-40B4-BE49-F238E27FC236}">
                <a16:creationId xmlns:a16="http://schemas.microsoft.com/office/drawing/2014/main" id="{C6356918-6BCF-4DE2-98D9-DDEC42C284C7}"/>
              </a:ext>
            </a:extLst>
          </p:cNvPr>
          <p:cNvSpPr>
            <a:spLocks xmlns:a="http://schemas.openxmlformats.org/drawingml/2006/main" noGrp="1"/>
          </p:cNvSpPr>
          <p:nvPr/>
        </p:nvSpPr>
        <p:spPr>
          <a:xfrm xmlns:a="http://schemas.openxmlformats.org/drawingml/2006/main">
            <a:off x="8953805" y="2476195"/>
            <a:ext cx="38103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Logistic Regression</a:t>
            </a:r>
          </a:p>
        </p:txBody>
      </p:sp>
      <p:sp>
        <p:nvSpPr>
          <p:cNvPr id="20" name="Text 13">
            <a:extLst xmlns:a="http://schemas.openxmlformats.org/drawingml/2006/main">
              <a:ext uri="{FF2B5EF4-FFF2-40B4-BE49-F238E27FC236}">
                <a16:creationId xmlns:a16="http://schemas.microsoft.com/office/drawing/2014/main" id="{F51CF628-0245-4123-855F-F3F698AB1483}"/>
              </a:ext>
            </a:extLst>
          </p:cNvPr>
          <p:cNvSpPr>
            <a:spLocks xmlns:a="http://schemas.openxmlformats.org/drawingml/2006/main" noGrp="1"/>
          </p:cNvSpPr>
          <p:nvPr/>
        </p:nvSpPr>
        <p:spPr>
          <a:xfrm xmlns:a="http://schemas.openxmlformats.org/drawingml/2006/main">
            <a:off x="8953805"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0.911</a:t>
            </a:r>
          </a:p>
        </p:txBody>
      </p:sp>
      <p:sp>
        <p:nvSpPr>
          <p:cNvPr id="21" name="Text 14">
            <a:extLst xmlns:a="http://schemas.openxmlformats.org/drawingml/2006/main">
              <a:ext uri="{FF2B5EF4-FFF2-40B4-BE49-F238E27FC236}">
                <a16:creationId xmlns:a16="http://schemas.microsoft.com/office/drawing/2014/main" id="{DC9977EE-6471-4237-A021-E80AB2DF3CF7}"/>
              </a:ext>
            </a:extLst>
          </p:cNvPr>
          <p:cNvSpPr>
            <a:spLocks xmlns:a="http://schemas.openxmlformats.org/drawingml/2006/main" noGrp="1"/>
          </p:cNvSpPr>
          <p:nvPr/>
        </p:nvSpPr>
        <p:spPr>
          <a:xfrm xmlns:a="http://schemas.openxmlformats.org/drawingml/2006/main">
            <a:off x="11144707"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2" name="Text 15">
            <a:extLst xmlns:a="http://schemas.openxmlformats.org/drawingml/2006/main">
              <a:ext uri="{FF2B5EF4-FFF2-40B4-BE49-F238E27FC236}">
                <a16:creationId xmlns:a16="http://schemas.microsoft.com/office/drawing/2014/main" id="{91332028-442E-48AF-B0FB-B8862FBBEF54}"/>
              </a:ext>
            </a:extLst>
          </p:cNvPr>
          <p:cNvSpPr>
            <a:spLocks xmlns:a="http://schemas.openxmlformats.org/drawingml/2006/main" noGrp="1"/>
          </p:cNvSpPr>
          <p:nvPr/>
        </p:nvSpPr>
        <p:spPr>
          <a:xfrm xmlns:a="http://schemas.openxmlformats.org/drawingml/2006/main">
            <a:off x="8953805" y="3534156"/>
            <a:ext cx="3810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F1 </a:t>
            </a:r>
            <a:r>
              <a:rPr sz="1200">
                <a:solidFill>
                  <a:srgbClr val="0F1226"/>
                </a:solidFill>
                <a:latin typeface="JetBrains Mono"/>
                <a:ea typeface="JetBrains Mono"/>
                <a:cs typeface="JetBrains Mono"/>
              </a:rPr>
              <a:t>0.793</a:t>
            </a:r>
            <a:r>
              <a:rPr sz="1200">
                <a:solidFill>
                  <a:srgbClr val="2A2E4B"/>
                </a:solidFill>
                <a:latin typeface="JetBrains Mono"/>
                <a:ea typeface="JetBrains Mono"/>
                <a:cs typeface="JetBrains Mono"/>
              </a:rPr>
              <a:t> · Recall </a:t>
            </a:r>
            <a:r>
              <a:rPr sz="1200">
                <a:solidFill>
                  <a:srgbClr val="0F1226"/>
                </a:solidFill>
                <a:latin typeface="JetBrains Mono"/>
                <a:ea typeface="JetBrains Mono"/>
                <a:cs typeface="JetBrains Mono"/>
              </a:rPr>
              <a:t>0.820</a:t>
            </a:r>
          </a:p>
        </p:txBody>
      </p:sp>
      <p:sp>
        <p:nvSpPr>
          <p:cNvPr id="23" name="Text 16">
            <a:extLst xmlns:a="http://schemas.openxmlformats.org/drawingml/2006/main">
              <a:ext uri="{FF2B5EF4-FFF2-40B4-BE49-F238E27FC236}">
                <a16:creationId xmlns:a16="http://schemas.microsoft.com/office/drawing/2014/main" id="{6B27BD43-EE30-4C4B-A85B-13B834F8B9DA}"/>
              </a:ext>
            </a:extLst>
          </p:cNvPr>
          <p:cNvSpPr>
            <a:spLocks xmlns:a="http://schemas.openxmlformats.org/drawingml/2006/main" noGrp="1"/>
          </p:cNvSpPr>
          <p:nvPr/>
        </p:nvSpPr>
        <p:spPr>
          <a:xfrm xmlns:a="http://schemas.openxmlformats.org/drawingml/2006/main">
            <a:off x="13716000" y="2476195"/>
            <a:ext cx="32388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XGBoost</a:t>
            </a:r>
          </a:p>
        </p:txBody>
      </p:sp>
      <p:sp>
        <p:nvSpPr>
          <p:cNvPr id="24" name="Text 17">
            <a:extLst xmlns:a="http://schemas.openxmlformats.org/drawingml/2006/main">
              <a:ext uri="{FF2B5EF4-FFF2-40B4-BE49-F238E27FC236}">
                <a16:creationId xmlns:a16="http://schemas.microsoft.com/office/drawing/2014/main" id="{AE5EDE2D-9CE3-4178-A7F1-3C4F20AFEF92}"/>
              </a:ext>
            </a:extLst>
          </p:cNvPr>
          <p:cNvSpPr>
            <a:spLocks xmlns:a="http://schemas.openxmlformats.org/drawingml/2006/main" noGrp="1"/>
          </p:cNvSpPr>
          <p:nvPr/>
        </p:nvSpPr>
        <p:spPr>
          <a:xfrm xmlns:a="http://schemas.openxmlformats.org/drawingml/2006/main">
            <a:off x="13716000"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0.885</a:t>
            </a:r>
          </a:p>
        </p:txBody>
      </p:sp>
      <p:sp>
        <p:nvSpPr>
          <p:cNvPr id="25" name="Text 18">
            <a:extLst xmlns:a="http://schemas.openxmlformats.org/drawingml/2006/main">
              <a:ext uri="{FF2B5EF4-FFF2-40B4-BE49-F238E27FC236}">
                <a16:creationId xmlns:a16="http://schemas.microsoft.com/office/drawing/2014/main" id="{A96C6437-4C37-42DA-9809-5B65527DBA22}"/>
              </a:ext>
            </a:extLst>
          </p:cNvPr>
          <p:cNvSpPr>
            <a:spLocks xmlns:a="http://schemas.openxmlformats.org/drawingml/2006/main" noGrp="1"/>
          </p:cNvSpPr>
          <p:nvPr/>
        </p:nvSpPr>
        <p:spPr>
          <a:xfrm xmlns:a="http://schemas.openxmlformats.org/drawingml/2006/main">
            <a:off x="15906902"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6" name="Text 19">
            <a:extLst xmlns:a="http://schemas.openxmlformats.org/drawingml/2006/main">
              <a:ext uri="{FF2B5EF4-FFF2-40B4-BE49-F238E27FC236}">
                <a16:creationId xmlns:a16="http://schemas.microsoft.com/office/drawing/2014/main" id="{F84E70CD-9A5E-49A5-8248-5DD8169A0DB5}"/>
              </a:ext>
            </a:extLst>
          </p:cNvPr>
          <p:cNvSpPr>
            <a:spLocks xmlns:a="http://schemas.openxmlformats.org/drawingml/2006/main" noGrp="1"/>
          </p:cNvSpPr>
          <p:nvPr/>
        </p:nvSpPr>
        <p:spPr>
          <a:xfrm xmlns:a="http://schemas.openxmlformats.org/drawingml/2006/main">
            <a:off x="13716000" y="3534156"/>
            <a:ext cx="32388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F1 </a:t>
            </a:r>
            <a:r>
              <a:rPr sz="1200">
                <a:solidFill>
                  <a:srgbClr val="0F1226"/>
                </a:solidFill>
                <a:latin typeface="JetBrains Mono"/>
                <a:ea typeface="JetBrains Mono"/>
                <a:cs typeface="JetBrains Mono"/>
              </a:rPr>
              <a:t>0.738</a:t>
            </a:r>
            <a:r>
              <a:rPr sz="1200">
                <a:solidFill>
                  <a:srgbClr val="2A2E4B"/>
                </a:solidFill>
                <a:latin typeface="JetBrains Mono"/>
                <a:ea typeface="JetBrains Mono"/>
                <a:cs typeface="JetBrains Mono"/>
              </a:rPr>
              <a:t> · Recall </a:t>
            </a:r>
            <a:r>
              <a:rPr sz="1200">
                <a:solidFill>
                  <a:srgbClr val="0F1226"/>
                </a:solidFill>
                <a:latin typeface="JetBrains Mono"/>
                <a:ea typeface="JetBrains Mono"/>
                <a:cs typeface="JetBrains Mono"/>
              </a:rPr>
              <a:t>0.719</a:t>
            </a:r>
          </a:p>
        </p:txBody>
      </p:sp>
      <p:sp>
        <p:nvSpPr>
          <p:cNvPr id="27" name="Text 20">
            <a:extLst xmlns:a="http://schemas.openxmlformats.org/drawingml/2006/main">
              <a:ext uri="{FF2B5EF4-FFF2-40B4-BE49-F238E27FC236}">
                <a16:creationId xmlns:a16="http://schemas.microsoft.com/office/drawing/2014/main" id="{8F99F50B-4DA5-4727-9F90-9BFFB1B64280}"/>
              </a:ext>
            </a:extLst>
          </p:cNvPr>
          <p:cNvSpPr>
            <a:spLocks xmlns:a="http://schemas.openxmlformats.org/drawingml/2006/main" noGrp="1"/>
          </p:cNvSpPr>
          <p:nvPr/>
        </p:nvSpPr>
        <p:spPr>
          <a:xfrm xmlns:a="http://schemas.openxmlformats.org/drawingml/2006/main">
            <a:off x="8858707"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Per 1,000 students · UCI</a:t>
            </a:r>
          </a:p>
        </p:txBody>
      </p:sp>
      <p:sp>
        <p:nvSpPr>
          <p:cNvPr id="28" name="Text 21">
            <a:extLst xmlns:a="http://schemas.openxmlformats.org/drawingml/2006/main">
              <a:ext uri="{FF2B5EF4-FFF2-40B4-BE49-F238E27FC236}">
                <a16:creationId xmlns:a16="http://schemas.microsoft.com/office/drawing/2014/main" id="{131E24FA-5EE0-4D94-945F-234C033BCE5D}"/>
              </a:ext>
            </a:extLst>
          </p:cNvPr>
          <p:cNvSpPr>
            <a:spLocks xmlns:a="http://schemas.openxmlformats.org/drawingml/2006/main" noGrp="1"/>
          </p:cNvSpPr>
          <p:nvPr/>
        </p:nvSpPr>
        <p:spPr>
          <a:xfrm xmlns:a="http://schemas.openxmlformats.org/drawingml/2006/main">
            <a:off x="8858707"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263</a:t>
            </a:r>
          </a:p>
        </p:txBody>
      </p:sp>
      <p:sp>
        <p:nvSpPr>
          <p:cNvPr id="29" name="Text 22">
            <a:extLst xmlns:a="http://schemas.openxmlformats.org/drawingml/2006/main">
              <a:ext uri="{FF2B5EF4-FFF2-40B4-BE49-F238E27FC236}">
                <a16:creationId xmlns:a16="http://schemas.microsoft.com/office/drawing/2014/main" id="{9158B5CD-F8C5-4D12-BEFC-D1E64FD74518}"/>
              </a:ext>
            </a:extLst>
          </p:cNvPr>
          <p:cNvSpPr>
            <a:spLocks xmlns:a="http://schemas.openxmlformats.org/drawingml/2006/main" noGrp="1"/>
          </p:cNvSpPr>
          <p:nvPr/>
        </p:nvSpPr>
        <p:spPr>
          <a:xfrm xmlns:a="http://schemas.openxmlformats.org/drawingml/2006/main">
            <a:off x="8858707"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true at-risk identified</a:t>
            </a:r>
          </a:p>
        </p:txBody>
      </p:sp>
      <p:sp>
        <p:nvSpPr>
          <p:cNvPr id="30" name="Text 23">
            <a:extLst xmlns:a="http://schemas.openxmlformats.org/drawingml/2006/main">
              <a:ext uri="{FF2B5EF4-FFF2-40B4-BE49-F238E27FC236}">
                <a16:creationId xmlns:a16="http://schemas.microsoft.com/office/drawing/2014/main" id="{9F8CB18A-908B-424C-96B7-FF0FF66DB7B6}"/>
              </a:ext>
            </a:extLst>
          </p:cNvPr>
          <p:cNvSpPr>
            <a:spLocks xmlns:a="http://schemas.openxmlformats.org/drawingml/2006/main" noGrp="1"/>
          </p:cNvSpPr>
          <p:nvPr/>
        </p:nvSpPr>
        <p:spPr>
          <a:xfrm xmlns:a="http://schemas.openxmlformats.org/drawingml/2006/main">
            <a:off x="8858707"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alerts </a:t>
            </a:r>
            <a:r>
              <a:rPr sz="1000">
                <a:solidFill>
                  <a:srgbClr val="2A2E4B"/>
                </a:solidFill>
                <a:latin typeface="JetBrains Mono"/>
                <a:ea typeface="JetBrains Mono"/>
                <a:cs typeface="JetBrains Mono"/>
              </a:rPr>
              <a:t>344</a:t>
            </a:r>
            <a:r>
              <a:rPr sz="1000">
                <a:solidFill>
                  <a:srgbClr val="6A6F8C"/>
                </a:solidFill>
                <a:latin typeface="JetBrains Mono"/>
                <a:ea typeface="JetBrains Mono"/>
                <a:cs typeface="JetBrains Mono"/>
              </a:rPr>
              <a:t> · missed </a:t>
            </a:r>
            <a:r>
              <a:rPr sz="1000">
                <a:solidFill>
                  <a:srgbClr val="2A2E4B"/>
                </a:solidFill>
                <a:latin typeface="JetBrains Mono"/>
                <a:ea typeface="JetBrains Mono"/>
                <a:cs typeface="JetBrains Mono"/>
              </a:rPr>
              <a:t>58</a:t>
            </a:r>
          </a:p>
        </p:txBody>
      </p:sp>
      <p:sp>
        <p:nvSpPr>
          <p:cNvPr id="31" name="Text 24">
            <a:extLst xmlns:a="http://schemas.openxmlformats.org/drawingml/2006/main">
              <a:ext uri="{FF2B5EF4-FFF2-40B4-BE49-F238E27FC236}">
                <a16:creationId xmlns:a16="http://schemas.microsoft.com/office/drawing/2014/main" id="{FF38C41B-6D66-49D6-AFFB-73EC77B53A70}"/>
              </a:ext>
            </a:extLst>
          </p:cNvPr>
          <p:cNvSpPr>
            <a:spLocks xmlns:a="http://schemas.openxmlformats.org/drawingml/2006/main" noGrp="1"/>
          </p:cNvSpPr>
          <p:nvPr/>
        </p:nvSpPr>
        <p:spPr>
          <a:xfrm xmlns:a="http://schemas.openxmlformats.org/drawingml/2006/main">
            <a:off x="13382244"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Per 1,000 students · OULAD</a:t>
            </a:r>
          </a:p>
        </p:txBody>
      </p:sp>
      <p:sp>
        <p:nvSpPr>
          <p:cNvPr id="32" name="Text 25">
            <a:extLst xmlns:a="http://schemas.openxmlformats.org/drawingml/2006/main">
              <a:ext uri="{FF2B5EF4-FFF2-40B4-BE49-F238E27FC236}">
                <a16:creationId xmlns:a16="http://schemas.microsoft.com/office/drawing/2014/main" id="{AB8AC009-7263-44F4-92B2-D7213198E88E}"/>
              </a:ext>
            </a:extLst>
          </p:cNvPr>
          <p:cNvSpPr>
            <a:spLocks xmlns:a="http://schemas.openxmlformats.org/drawingml/2006/main" noGrp="1"/>
          </p:cNvSpPr>
          <p:nvPr/>
        </p:nvSpPr>
        <p:spPr>
          <a:xfrm xmlns:a="http://schemas.openxmlformats.org/drawingml/2006/main">
            <a:off x="13382244"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224</a:t>
            </a:r>
          </a:p>
        </p:txBody>
      </p:sp>
      <p:sp>
        <p:nvSpPr>
          <p:cNvPr id="33" name="Text 26">
            <a:extLst xmlns:a="http://schemas.openxmlformats.org/drawingml/2006/main">
              <a:ext uri="{FF2B5EF4-FFF2-40B4-BE49-F238E27FC236}">
                <a16:creationId xmlns:a16="http://schemas.microsoft.com/office/drawing/2014/main" id="{D8AA4493-746E-461B-B95B-A9E710F01840}"/>
              </a:ext>
            </a:extLst>
          </p:cNvPr>
          <p:cNvSpPr>
            <a:spLocks xmlns:a="http://schemas.openxmlformats.org/drawingml/2006/main" noGrp="1"/>
          </p:cNvSpPr>
          <p:nvPr/>
        </p:nvSpPr>
        <p:spPr>
          <a:xfrm xmlns:a="http://schemas.openxmlformats.org/drawingml/2006/main">
            <a:off x="13382244"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true at-risk identified</a:t>
            </a:r>
          </a:p>
        </p:txBody>
      </p:sp>
      <p:sp>
        <p:nvSpPr>
          <p:cNvPr id="34" name="Text 27">
            <a:extLst xmlns:a="http://schemas.openxmlformats.org/drawingml/2006/main">
              <a:ext uri="{FF2B5EF4-FFF2-40B4-BE49-F238E27FC236}">
                <a16:creationId xmlns:a16="http://schemas.microsoft.com/office/drawing/2014/main" id="{77C5139C-D4AB-4F88-9764-D675D63F0C7C}"/>
              </a:ext>
            </a:extLst>
          </p:cNvPr>
          <p:cNvSpPr>
            <a:spLocks xmlns:a="http://schemas.openxmlformats.org/drawingml/2006/main" noGrp="1"/>
          </p:cNvSpPr>
          <p:nvPr/>
        </p:nvSpPr>
        <p:spPr>
          <a:xfrm xmlns:a="http://schemas.openxmlformats.org/drawingml/2006/main">
            <a:off x="13382244"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alerts </a:t>
            </a:r>
            <a:r>
              <a:rPr sz="1000">
                <a:solidFill>
                  <a:srgbClr val="2A2E4B"/>
                </a:solidFill>
                <a:latin typeface="JetBrains Mono"/>
                <a:ea typeface="JetBrains Mono"/>
                <a:cs typeface="JetBrains Mono"/>
              </a:rPr>
              <a:t>295</a:t>
            </a:r>
            <a:r>
              <a:rPr sz="1000">
                <a:solidFill>
                  <a:srgbClr val="6A6F8C"/>
                </a:solidFill>
                <a:latin typeface="JetBrains Mono"/>
                <a:ea typeface="JetBrains Mono"/>
                <a:cs typeface="JetBrains Mono"/>
              </a:rPr>
              <a:t> · missed </a:t>
            </a:r>
            <a:r>
              <a:rPr sz="1000">
                <a:solidFill>
                  <a:srgbClr val="2A2E4B"/>
                </a:solidFill>
                <a:latin typeface="JetBrains Mono"/>
                <a:ea typeface="JetBrains Mono"/>
                <a:cs typeface="JetBrains Mono"/>
              </a:rPr>
              <a:t>88</a:t>
            </a:r>
          </a:p>
        </p:txBody>
      </p:sp>
      <p:sp>
        <p:nvSpPr>
          <p:cNvPr id="35" name="Text 28">
            <a:extLst xmlns:a="http://schemas.openxmlformats.org/drawingml/2006/main">
              <a:ext uri="{FF2B5EF4-FFF2-40B4-BE49-F238E27FC236}">
                <a16:creationId xmlns:a16="http://schemas.microsoft.com/office/drawing/2014/main" id="{968D3FAE-3EF2-4CD8-9C5B-953DE367A2C5}"/>
              </a:ext>
            </a:extLst>
          </p:cNvPr>
          <p:cNvSpPr>
            <a:spLocks xmlns:a="http://schemas.openxmlformats.org/drawingml/2006/main" noGrp="1"/>
          </p:cNvSpPr>
          <p:nvPr/>
        </p:nvSpPr>
        <p:spPr>
          <a:xfrm xmlns:a="http://schemas.openxmlformats.org/drawingml/2006/main">
            <a:off x="8953805" y="7477049"/>
            <a:ext cx="80010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RECOMMENDATION</a:t>
            </a:r>
          </a:p>
        </p:txBody>
      </p:sp>
      <p:sp>
        <p:nvSpPr>
          <p:cNvPr id="36" name="Text 29">
            <a:extLst xmlns:a="http://schemas.openxmlformats.org/drawingml/2006/main">
              <a:ext uri="{FF2B5EF4-FFF2-40B4-BE49-F238E27FC236}">
                <a16:creationId xmlns:a16="http://schemas.microsoft.com/office/drawing/2014/main" id="{C2950F5B-CC80-476D-B23A-5F8ED1D19254}"/>
              </a:ext>
            </a:extLst>
          </p:cNvPr>
          <p:cNvSpPr>
            <a:spLocks xmlns:a="http://schemas.openxmlformats.org/drawingml/2006/main" noGrp="1"/>
          </p:cNvSpPr>
          <p:nvPr/>
        </p:nvSpPr>
        <p:spPr>
          <a:xfrm xmlns:a="http://schemas.openxmlformats.org/drawingml/2006/main">
            <a:off x="8953805" y="7715707"/>
            <a:ext cx="8001000" cy="7242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a:solidFill>
                  <a:srgbClr val="0F1226"/>
                </a:solidFill>
                <a:latin typeface="Source Serif Pro"/>
                <a:ea typeface="Source Serif Pro"/>
                <a:cs typeface="Source Serif Pro"/>
              </a:rPr>
              <a:t>Evaluate the models through a </a:t>
            </a:r>
            <a:r>
              <a:rPr sz="2100">
                <a:solidFill>
                  <a:srgbClr val="E4237A"/>
                </a:solidFill>
                <a:latin typeface="Source Serif Pro"/>
                <a:ea typeface="Source Serif Pro"/>
                <a:cs typeface="Source Serif Pro"/>
              </a:rPr>
              <a:t>limited human-in-the-loop</a:t>
            </a:r>
            <a:r>
              <a:rPr sz="2100">
                <a:solidFill>
                  <a:srgbClr val="0F1226"/>
                </a:solidFill>
                <a:latin typeface="Source Serif Pro"/>
                <a:ea typeface="Source Serif Pro"/>
                <a:cs typeface="Source Serif Pro"/>
              </a:rPr>
              <a:t> advisor-support pilot.</a:t>
            </a:r>
          </a:p>
        </p:txBody>
      </p:sp>
      <p:sp>
        <p:nvSpPr>
          <p:cNvPr id="37" name="Text 30">
            <a:extLst xmlns:a="http://schemas.openxmlformats.org/drawingml/2006/main">
              <a:ext uri="{FF2B5EF4-FFF2-40B4-BE49-F238E27FC236}">
                <a16:creationId xmlns:a16="http://schemas.microsoft.com/office/drawing/2014/main" id="{D8A53AE7-E873-4590-8954-063C81A2BFED}"/>
              </a:ext>
            </a:extLst>
          </p:cNvPr>
          <p:cNvSpPr>
            <a:spLocks xmlns:a="http://schemas.openxmlformats.org/drawingml/2006/main" noGrp="1"/>
          </p:cNvSpPr>
          <p:nvPr/>
        </p:nvSpPr>
        <p:spPr>
          <a:xfrm xmlns:a="http://schemas.openxmlformats.org/drawingml/2006/main">
            <a:off x="8953805" y="8568842"/>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 Break-even ≈ 5–6 retained students per 1,000 · illustrative planning assumption only</a:t>
            </a:r>
          </a:p>
        </p:txBody>
      </p:sp>
      <p:sp>
        <p:nvSpPr>
          <p:cNvPr id="38" name="Text 31">
            <a:extLst xmlns:a="http://schemas.openxmlformats.org/drawingml/2006/main">
              <a:ext uri="{FF2B5EF4-FFF2-40B4-BE49-F238E27FC236}">
                <a16:creationId xmlns:a16="http://schemas.microsoft.com/office/drawing/2014/main" id="{C1BFE0A0-62FC-46D7-BC63-AFDEC87F6886}"/>
              </a:ext>
            </a:extLst>
          </p:cNvPr>
          <p:cNvSpPr>
            <a:spLocks xmlns:a="http://schemas.openxmlformats.org/drawingml/2006/main" noGrp="1"/>
          </p:cNvSpPr>
          <p:nvPr/>
        </p:nvSpPr>
        <p:spPr>
          <a:xfrm xmlns:a="http://schemas.openxmlformats.org/drawingml/2006/main">
            <a:off x="8572500" y="9858146"/>
            <a:ext cx="9525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01 / 20 · Cover</a:t>
            </a:r>
          </a:p>
        </p:txBody>
      </p:sp>
    </p:spTree>
    <p:extLst>
      <p:ext uri="{BB962C8B-B14F-4D97-AF65-F5344CB8AC3E}">
        <p14:creationId xmlns:p14="http://schemas.microsoft.com/office/powerpoint/2010/main" val="1162803196"/>
      </p:ext>
    </p:extLst>
  </p:cSld>
</p:sld>
</file>

<file path=ppt/slides/slide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b9c80349637f449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b9c80349637f4499"/>
          <a:srcRect xmlns:a="http://schemas.openxmlformats.org/drawingml/2006/main" l="-2083" t="0" r="-2083" b="0"/>
          <a:stretch xmlns:a="http://schemas.openxmlformats.org/drawingml/2006/main"/>
        </p:blipFill>
        <p:spPr>
          <a:xfrm xmlns:a="http://schemas.openxmlformats.org/drawingml/2006/main">
            <a:off x="761695" y="9144000"/>
            <a:ext cx="16763695" cy="9144"/>
          </a:xfrm>
          <a:prstGeom xmlns:a="http://schemas.openxmlformats.org/drawingml/2006/main" prst="rect">
            <a:avLst/>
          </a:prstGeom>
        </p:spPr>
      </p:pic>
      <p:sp>
        <p:nvSpPr>
          <p:cNvPr id="5" name="Text 0">
            <a:extLst xmlns:a="http://schemas.openxmlformats.org/drawingml/2006/main">
              <a:ext uri="{FF2B5EF4-FFF2-40B4-BE49-F238E27FC236}">
                <a16:creationId xmlns:a16="http://schemas.microsoft.com/office/drawing/2014/main" id="{8DBD2D02-2985-421D-B93C-C468929E6339}"/>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00 · Agenda</a:t>
            </a:r>
          </a:p>
        </p:txBody>
      </p:sp>
      <p:sp>
        <p:nvSpPr>
          <p:cNvPr id="6" name="Text 1">
            <a:extLst xmlns:a="http://schemas.openxmlformats.org/drawingml/2006/main">
              <a:ext uri="{FF2B5EF4-FFF2-40B4-BE49-F238E27FC236}">
                <a16:creationId xmlns:a16="http://schemas.microsoft.com/office/drawing/2014/main" id="{E2E63C8D-BED1-40A3-BEA9-1531C9BCB59F}"/>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02 / 20</a:t>
            </a:r>
          </a:p>
        </p:txBody>
      </p:sp>
      <p:sp>
        <p:nvSpPr>
          <p:cNvPr id="7" name="Text 2">
            <a:extLst xmlns:a="http://schemas.openxmlformats.org/drawingml/2006/main">
              <a:ext uri="{FF2B5EF4-FFF2-40B4-BE49-F238E27FC236}">
                <a16:creationId xmlns:a16="http://schemas.microsoft.com/office/drawing/2014/main" id="{2131F6FD-6147-460D-9F45-89C2EEF11685}"/>
              </a:ext>
            </a:extLst>
          </p:cNvPr>
          <p:cNvSpPr>
            <a:spLocks xmlns:a="http://schemas.openxmlformats.org/drawingml/2006/main" noGrp="1"/>
          </p:cNvSpPr>
          <p:nvPr/>
        </p:nvSpPr>
        <p:spPr>
          <a:xfrm xmlns:a="http://schemas.openxmlformats.org/drawingml/2006/main">
            <a:off x="761695" y="1238098"/>
            <a:ext cx="11430000" cy="6675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200" b="1">
                <a:solidFill>
                  <a:srgbClr val="0F1226"/>
                </a:solidFill>
                <a:latin typeface="Inter"/>
                <a:ea typeface="Inter"/>
                <a:cs typeface="Inter"/>
              </a:rPr>
              <a:t>What we'll cover</a:t>
            </a:r>
          </a:p>
        </p:txBody>
      </p:sp>
      <p:sp>
        <p:nvSpPr>
          <p:cNvPr id="8" name="Text 3">
            <a:extLst xmlns:a="http://schemas.openxmlformats.org/drawingml/2006/main">
              <a:ext uri="{FF2B5EF4-FFF2-40B4-BE49-F238E27FC236}">
                <a16:creationId xmlns:a16="http://schemas.microsoft.com/office/drawing/2014/main" id="{88708CE1-3117-4552-832C-B69B8F4191D5}"/>
              </a:ext>
            </a:extLst>
          </p:cNvPr>
          <p:cNvSpPr>
            <a:spLocks xmlns:a="http://schemas.openxmlformats.org/drawingml/2006/main" noGrp="1"/>
          </p:cNvSpPr>
          <p:nvPr/>
        </p:nvSpPr>
        <p:spPr>
          <a:xfrm xmlns:a="http://schemas.openxmlformats.org/drawingml/2006/main">
            <a:off x="761695" y="2057400"/>
            <a:ext cx="1143000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i="1">
                <a:solidFill>
                  <a:srgbClr val="6A6F8C"/>
                </a:solidFill>
                <a:latin typeface="Source Serif Pro"/>
                <a:ea typeface="Source Serif Pro"/>
                <a:cs typeface="Source Serif Pro"/>
              </a:rPr>
              <a:t>Ten sections · 20 minutes talk · 5 minutes Q&amp;A</a:t>
            </a:r>
          </a:p>
        </p:txBody>
      </p:sp>
      <p:sp>
        <p:nvSpPr>
          <p:cNvPr id="9" name="Text 4">
            <a:extLst xmlns:a="http://schemas.openxmlformats.org/drawingml/2006/main">
              <a:ext uri="{FF2B5EF4-FFF2-40B4-BE49-F238E27FC236}">
                <a16:creationId xmlns:a16="http://schemas.microsoft.com/office/drawing/2014/main" id="{4AA5644B-BE61-44A1-8347-5FC66E64C074}"/>
              </a:ext>
            </a:extLst>
          </p:cNvPr>
          <p:cNvSpPr>
            <a:spLocks xmlns:a="http://schemas.openxmlformats.org/drawingml/2006/main" noGrp="1"/>
          </p:cNvSpPr>
          <p:nvPr/>
        </p:nvSpPr>
        <p:spPr>
          <a:xfrm xmlns:a="http://schemas.openxmlformats.org/drawingml/2006/main">
            <a:off x="76169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01</a:t>
            </a:r>
          </a:p>
        </p:txBody>
      </p:sp>
      <p:sp>
        <p:nvSpPr>
          <p:cNvPr id="10" name="Text 5">
            <a:extLst xmlns:a="http://schemas.openxmlformats.org/drawingml/2006/main">
              <a:ext uri="{FF2B5EF4-FFF2-40B4-BE49-F238E27FC236}">
                <a16:creationId xmlns:a16="http://schemas.microsoft.com/office/drawing/2014/main" id="{EBAA946B-B1B9-4B87-AC8D-B42B34A1AF98}"/>
              </a:ext>
            </a:extLst>
          </p:cNvPr>
          <p:cNvSpPr>
            <a:spLocks xmlns:a="http://schemas.openxmlformats.org/drawingml/2006/main" noGrp="1"/>
          </p:cNvSpPr>
          <p:nvPr/>
        </p:nvSpPr>
        <p:spPr>
          <a:xfrm xmlns:a="http://schemas.openxmlformats.org/drawingml/2006/main">
            <a:off x="1714500"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Introduction</a:t>
            </a:r>
          </a:p>
        </p:txBody>
      </p:sp>
      <p:sp>
        <p:nvSpPr>
          <p:cNvPr id="11" name="Text 6">
            <a:extLst xmlns:a="http://schemas.openxmlformats.org/drawingml/2006/main">
              <a:ext uri="{FF2B5EF4-FFF2-40B4-BE49-F238E27FC236}">
                <a16:creationId xmlns:a16="http://schemas.microsoft.com/office/drawing/2014/main" id="{D3085D4C-100A-4166-AEB9-EA690465E00D}"/>
              </a:ext>
            </a:extLst>
          </p:cNvPr>
          <p:cNvSpPr>
            <a:spLocks xmlns:a="http://schemas.openxmlformats.org/drawingml/2006/main" noGrp="1"/>
          </p:cNvSpPr>
          <p:nvPr/>
        </p:nvSpPr>
        <p:spPr>
          <a:xfrm xmlns:a="http://schemas.openxmlformats.org/drawingml/2006/main">
            <a:off x="1714500"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Motivation &amp; objective</a:t>
            </a:r>
          </a:p>
        </p:txBody>
      </p:sp>
      <p:sp>
        <p:nvSpPr>
          <p:cNvPr id="12" name="Text 7">
            <a:extLst xmlns:a="http://schemas.openxmlformats.org/drawingml/2006/main">
              <a:ext uri="{FF2B5EF4-FFF2-40B4-BE49-F238E27FC236}">
                <a16:creationId xmlns:a16="http://schemas.microsoft.com/office/drawing/2014/main" id="{30E0E2B3-35B3-4F52-B1AE-B89A899BC9C0}"/>
              </a:ext>
            </a:extLst>
          </p:cNvPr>
          <p:cNvSpPr>
            <a:spLocks xmlns:a="http://schemas.openxmlformats.org/drawingml/2006/main" noGrp="1"/>
          </p:cNvSpPr>
          <p:nvPr/>
        </p:nvSpPr>
        <p:spPr>
          <a:xfrm xmlns:a="http://schemas.openxmlformats.org/drawingml/2006/main">
            <a:off x="7810805"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3" name="Text 8">
            <a:extLst xmlns:a="http://schemas.openxmlformats.org/drawingml/2006/main">
              <a:ext uri="{FF2B5EF4-FFF2-40B4-BE49-F238E27FC236}">
                <a16:creationId xmlns:a16="http://schemas.microsoft.com/office/drawing/2014/main" id="{891CC6AA-F1E8-4884-BB30-D334DB2B8E94}"/>
              </a:ext>
            </a:extLst>
          </p:cNvPr>
          <p:cNvSpPr>
            <a:spLocks xmlns:a="http://schemas.openxmlformats.org/drawingml/2006/main" noGrp="1"/>
          </p:cNvSpPr>
          <p:nvPr/>
        </p:nvSpPr>
        <p:spPr>
          <a:xfrm xmlns:a="http://schemas.openxmlformats.org/drawingml/2006/main">
            <a:off x="76169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02</a:t>
            </a:r>
          </a:p>
        </p:txBody>
      </p:sp>
      <p:sp>
        <p:nvSpPr>
          <p:cNvPr id="14" name="Text 9">
            <a:extLst xmlns:a="http://schemas.openxmlformats.org/drawingml/2006/main">
              <a:ext uri="{FF2B5EF4-FFF2-40B4-BE49-F238E27FC236}">
                <a16:creationId xmlns:a16="http://schemas.microsoft.com/office/drawing/2014/main" id="{C7D0C29D-AB08-4989-82CD-A173597A4A86}"/>
              </a:ext>
            </a:extLst>
          </p:cNvPr>
          <p:cNvSpPr>
            <a:spLocks xmlns:a="http://schemas.openxmlformats.org/drawingml/2006/main" noGrp="1"/>
          </p:cNvSpPr>
          <p:nvPr/>
        </p:nvSpPr>
        <p:spPr>
          <a:xfrm xmlns:a="http://schemas.openxmlformats.org/drawingml/2006/main">
            <a:off x="1714500"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Problem Definition</a:t>
            </a:r>
          </a:p>
        </p:txBody>
      </p:sp>
      <p:sp>
        <p:nvSpPr>
          <p:cNvPr id="15" name="Text 10">
            <a:extLst xmlns:a="http://schemas.openxmlformats.org/drawingml/2006/main">
              <a:ext uri="{FF2B5EF4-FFF2-40B4-BE49-F238E27FC236}">
                <a16:creationId xmlns:a16="http://schemas.microsoft.com/office/drawing/2014/main" id="{3CD2D62D-1932-4BC3-A819-BE31CF473E88}"/>
              </a:ext>
            </a:extLst>
          </p:cNvPr>
          <p:cNvSpPr>
            <a:spLocks xmlns:a="http://schemas.openxmlformats.org/drawingml/2006/main" noGrp="1"/>
          </p:cNvSpPr>
          <p:nvPr/>
        </p:nvSpPr>
        <p:spPr>
          <a:xfrm xmlns:a="http://schemas.openxmlformats.org/drawingml/2006/main">
            <a:off x="1714500"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Business → analytics · scope · assumptions</a:t>
            </a:r>
          </a:p>
        </p:txBody>
      </p:sp>
      <p:sp>
        <p:nvSpPr>
          <p:cNvPr id="16" name="Text 11">
            <a:extLst xmlns:a="http://schemas.openxmlformats.org/drawingml/2006/main">
              <a:ext uri="{FF2B5EF4-FFF2-40B4-BE49-F238E27FC236}">
                <a16:creationId xmlns:a16="http://schemas.microsoft.com/office/drawing/2014/main" id="{17139D00-A50E-4262-80B0-BFDCF0A6B7F3}"/>
              </a:ext>
            </a:extLst>
          </p:cNvPr>
          <p:cNvSpPr>
            <a:spLocks xmlns:a="http://schemas.openxmlformats.org/drawingml/2006/main" noGrp="1"/>
          </p:cNvSpPr>
          <p:nvPr/>
        </p:nvSpPr>
        <p:spPr>
          <a:xfrm xmlns:a="http://schemas.openxmlformats.org/drawingml/2006/main">
            <a:off x="7810805"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7" name="Text 12">
            <a:extLst xmlns:a="http://schemas.openxmlformats.org/drawingml/2006/main">
              <a:ext uri="{FF2B5EF4-FFF2-40B4-BE49-F238E27FC236}">
                <a16:creationId xmlns:a16="http://schemas.microsoft.com/office/drawing/2014/main" id="{F3C2ADC2-5976-4F82-9692-68DB2F4FA593}"/>
              </a:ext>
            </a:extLst>
          </p:cNvPr>
          <p:cNvSpPr>
            <a:spLocks xmlns:a="http://schemas.openxmlformats.org/drawingml/2006/main" noGrp="1"/>
          </p:cNvSpPr>
          <p:nvPr/>
        </p:nvSpPr>
        <p:spPr>
          <a:xfrm xmlns:a="http://schemas.openxmlformats.org/drawingml/2006/main">
            <a:off x="76169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03</a:t>
            </a:r>
          </a:p>
        </p:txBody>
      </p:sp>
      <p:sp>
        <p:nvSpPr>
          <p:cNvPr id="18" name="Text 13">
            <a:extLst xmlns:a="http://schemas.openxmlformats.org/drawingml/2006/main">
              <a:ext uri="{FF2B5EF4-FFF2-40B4-BE49-F238E27FC236}">
                <a16:creationId xmlns:a16="http://schemas.microsoft.com/office/drawing/2014/main" id="{F348EA2A-1ACE-4F3B-B4D9-2A38A3754F0A}"/>
              </a:ext>
            </a:extLst>
          </p:cNvPr>
          <p:cNvSpPr>
            <a:spLocks xmlns:a="http://schemas.openxmlformats.org/drawingml/2006/main" noGrp="1"/>
          </p:cNvSpPr>
          <p:nvPr/>
        </p:nvSpPr>
        <p:spPr>
          <a:xfrm xmlns:a="http://schemas.openxmlformats.org/drawingml/2006/main">
            <a:off x="1714500"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Data &amp; EDA</a:t>
            </a:r>
          </a:p>
        </p:txBody>
      </p:sp>
      <p:sp>
        <p:nvSpPr>
          <p:cNvPr id="19" name="Text 14">
            <a:extLst xmlns:a="http://schemas.openxmlformats.org/drawingml/2006/main">
              <a:ext uri="{FF2B5EF4-FFF2-40B4-BE49-F238E27FC236}">
                <a16:creationId xmlns:a16="http://schemas.microsoft.com/office/drawing/2014/main" id="{9FDC0E5B-5841-41D6-A1C9-8EA49FC4AF63}"/>
              </a:ext>
            </a:extLst>
          </p:cNvPr>
          <p:cNvSpPr>
            <a:spLocks xmlns:a="http://schemas.openxmlformats.org/drawingml/2006/main" noGrp="1"/>
          </p:cNvSpPr>
          <p:nvPr/>
        </p:nvSpPr>
        <p:spPr>
          <a:xfrm xmlns:a="http://schemas.openxmlformats.org/drawingml/2006/main">
            <a:off x="1714500"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Profile · UCI findings · OULAD findings</a:t>
            </a:r>
          </a:p>
        </p:txBody>
      </p:sp>
      <p:sp>
        <p:nvSpPr>
          <p:cNvPr id="20" name="Text 15">
            <a:extLst xmlns:a="http://schemas.openxmlformats.org/drawingml/2006/main">
              <a:ext uri="{FF2B5EF4-FFF2-40B4-BE49-F238E27FC236}">
                <a16:creationId xmlns:a16="http://schemas.microsoft.com/office/drawing/2014/main" id="{BFF2C30B-BAD8-4A75-86C3-5ECF73721B00}"/>
              </a:ext>
            </a:extLst>
          </p:cNvPr>
          <p:cNvSpPr>
            <a:spLocks xmlns:a="http://schemas.openxmlformats.org/drawingml/2006/main" noGrp="1"/>
          </p:cNvSpPr>
          <p:nvPr/>
        </p:nvSpPr>
        <p:spPr>
          <a:xfrm xmlns:a="http://schemas.openxmlformats.org/drawingml/2006/main">
            <a:off x="7810805"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E4237A"/>
                </a:solidFill>
                <a:latin typeface="JetBrains Mono"/>
                <a:ea typeface="JetBrains Mono"/>
                <a:cs typeface="JetBrains Mono"/>
              </a:rPr>
              <a:t>4 min</a:t>
            </a:r>
          </a:p>
        </p:txBody>
      </p:sp>
      <p:sp>
        <p:nvSpPr>
          <p:cNvPr id="21" name="Text 16">
            <a:extLst xmlns:a="http://schemas.openxmlformats.org/drawingml/2006/main">
              <a:ext uri="{FF2B5EF4-FFF2-40B4-BE49-F238E27FC236}">
                <a16:creationId xmlns:a16="http://schemas.microsoft.com/office/drawing/2014/main" id="{F62F6358-A91C-4957-9A70-EA2839388528}"/>
              </a:ext>
            </a:extLst>
          </p:cNvPr>
          <p:cNvSpPr>
            <a:spLocks xmlns:a="http://schemas.openxmlformats.org/drawingml/2006/main" noGrp="1"/>
          </p:cNvSpPr>
          <p:nvPr/>
        </p:nvSpPr>
        <p:spPr>
          <a:xfrm xmlns:a="http://schemas.openxmlformats.org/drawingml/2006/main">
            <a:off x="76169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04</a:t>
            </a:r>
          </a:p>
        </p:txBody>
      </p:sp>
      <p:sp>
        <p:nvSpPr>
          <p:cNvPr id="22" name="Text 17">
            <a:extLst xmlns:a="http://schemas.openxmlformats.org/drawingml/2006/main">
              <a:ext uri="{FF2B5EF4-FFF2-40B4-BE49-F238E27FC236}">
                <a16:creationId xmlns:a16="http://schemas.microsoft.com/office/drawing/2014/main" id="{CCEFC811-D392-4899-BFD1-38901B5A0A6D}"/>
              </a:ext>
            </a:extLst>
          </p:cNvPr>
          <p:cNvSpPr>
            <a:spLocks xmlns:a="http://schemas.openxmlformats.org/drawingml/2006/main" noGrp="1"/>
          </p:cNvSpPr>
          <p:nvPr/>
        </p:nvSpPr>
        <p:spPr>
          <a:xfrm xmlns:a="http://schemas.openxmlformats.org/drawingml/2006/main">
            <a:off x="1714500"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Methodology &amp; Optimization</a:t>
            </a:r>
          </a:p>
        </p:txBody>
      </p:sp>
      <p:sp>
        <p:nvSpPr>
          <p:cNvPr id="23" name="Text 18">
            <a:extLst xmlns:a="http://schemas.openxmlformats.org/drawingml/2006/main">
              <a:ext uri="{FF2B5EF4-FFF2-40B4-BE49-F238E27FC236}">
                <a16:creationId xmlns:a16="http://schemas.microsoft.com/office/drawing/2014/main" id="{A735B104-E01B-47CC-89F7-1BFD81A6B20D}"/>
              </a:ext>
            </a:extLst>
          </p:cNvPr>
          <p:cNvSpPr>
            <a:spLocks xmlns:a="http://schemas.openxmlformats.org/drawingml/2006/main" noGrp="1"/>
          </p:cNvSpPr>
          <p:nvPr/>
        </p:nvSpPr>
        <p:spPr>
          <a:xfrm xmlns:a="http://schemas.openxmlformats.org/drawingml/2006/main">
            <a:off x="1714500"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Pipeline · tuning · threshold</a:t>
            </a:r>
          </a:p>
        </p:txBody>
      </p:sp>
      <p:sp>
        <p:nvSpPr>
          <p:cNvPr id="24" name="Text 19">
            <a:extLst xmlns:a="http://schemas.openxmlformats.org/drawingml/2006/main">
              <a:ext uri="{FF2B5EF4-FFF2-40B4-BE49-F238E27FC236}">
                <a16:creationId xmlns:a16="http://schemas.microsoft.com/office/drawing/2014/main" id="{74BA92F5-58D0-4757-BDFC-3CA9BA44B311}"/>
              </a:ext>
            </a:extLst>
          </p:cNvPr>
          <p:cNvSpPr>
            <a:spLocks xmlns:a="http://schemas.openxmlformats.org/drawingml/2006/main" noGrp="1"/>
          </p:cNvSpPr>
          <p:nvPr/>
        </p:nvSpPr>
        <p:spPr>
          <a:xfrm xmlns:a="http://schemas.openxmlformats.org/drawingml/2006/main">
            <a:off x="7810805"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3 min</a:t>
            </a:r>
          </a:p>
        </p:txBody>
      </p:sp>
      <p:sp>
        <p:nvSpPr>
          <p:cNvPr id="25" name="Text 20">
            <a:extLst xmlns:a="http://schemas.openxmlformats.org/drawingml/2006/main">
              <a:ext uri="{FF2B5EF4-FFF2-40B4-BE49-F238E27FC236}">
                <a16:creationId xmlns:a16="http://schemas.microsoft.com/office/drawing/2014/main" id="{F3232775-796D-42E3-B755-412A4B0D4920}"/>
              </a:ext>
            </a:extLst>
          </p:cNvPr>
          <p:cNvSpPr>
            <a:spLocks xmlns:a="http://schemas.openxmlformats.org/drawingml/2006/main" noGrp="1"/>
          </p:cNvSpPr>
          <p:nvPr/>
        </p:nvSpPr>
        <p:spPr>
          <a:xfrm xmlns:a="http://schemas.openxmlformats.org/drawingml/2006/main">
            <a:off x="76169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05</a:t>
            </a:r>
          </a:p>
        </p:txBody>
      </p:sp>
      <p:sp>
        <p:nvSpPr>
          <p:cNvPr id="26" name="Text 21">
            <a:extLst xmlns:a="http://schemas.openxmlformats.org/drawingml/2006/main">
              <a:ext uri="{FF2B5EF4-FFF2-40B4-BE49-F238E27FC236}">
                <a16:creationId xmlns:a16="http://schemas.microsoft.com/office/drawing/2014/main" id="{80CDA0EF-3C94-4358-92E0-B4331668AC84}"/>
              </a:ext>
            </a:extLst>
          </p:cNvPr>
          <p:cNvSpPr>
            <a:spLocks xmlns:a="http://schemas.openxmlformats.org/drawingml/2006/main" noGrp="1"/>
          </p:cNvSpPr>
          <p:nvPr/>
        </p:nvSpPr>
        <p:spPr>
          <a:xfrm xmlns:a="http://schemas.openxmlformats.org/drawingml/2006/main">
            <a:off x="1714500"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Results &amp; Interpretation</a:t>
            </a:r>
          </a:p>
        </p:txBody>
      </p:sp>
      <p:sp>
        <p:nvSpPr>
          <p:cNvPr id="27" name="Text 22">
            <a:extLst xmlns:a="http://schemas.openxmlformats.org/drawingml/2006/main">
              <a:ext uri="{FF2B5EF4-FFF2-40B4-BE49-F238E27FC236}">
                <a16:creationId xmlns:a16="http://schemas.microsoft.com/office/drawing/2014/main" id="{63F21DA4-E1BF-4AA4-BD12-892FE4D93168}"/>
              </a:ext>
            </a:extLst>
          </p:cNvPr>
          <p:cNvSpPr>
            <a:spLocks xmlns:a="http://schemas.openxmlformats.org/drawingml/2006/main" noGrp="1"/>
          </p:cNvSpPr>
          <p:nvPr/>
        </p:nvSpPr>
        <p:spPr>
          <a:xfrm xmlns:a="http://schemas.openxmlformats.org/drawingml/2006/main">
            <a:off x="1714500"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Held-out · timing · SHAP · robustness</a:t>
            </a:r>
          </a:p>
        </p:txBody>
      </p:sp>
      <p:sp>
        <p:nvSpPr>
          <p:cNvPr id="28" name="Text 23">
            <a:extLst xmlns:a="http://schemas.openxmlformats.org/drawingml/2006/main">
              <a:ext uri="{FF2B5EF4-FFF2-40B4-BE49-F238E27FC236}">
                <a16:creationId xmlns:a16="http://schemas.microsoft.com/office/drawing/2014/main" id="{572DAAF2-850D-43AC-957F-787B07371D38}"/>
              </a:ext>
            </a:extLst>
          </p:cNvPr>
          <p:cNvSpPr>
            <a:spLocks xmlns:a="http://schemas.openxmlformats.org/drawingml/2006/main" noGrp="1"/>
          </p:cNvSpPr>
          <p:nvPr/>
        </p:nvSpPr>
        <p:spPr>
          <a:xfrm xmlns:a="http://schemas.openxmlformats.org/drawingml/2006/main">
            <a:off x="7810805"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4 min</a:t>
            </a:r>
          </a:p>
        </p:txBody>
      </p:sp>
      <p:sp>
        <p:nvSpPr>
          <p:cNvPr id="29" name="Text 24">
            <a:extLst xmlns:a="http://schemas.openxmlformats.org/drawingml/2006/main">
              <a:ext uri="{FF2B5EF4-FFF2-40B4-BE49-F238E27FC236}">
                <a16:creationId xmlns:a16="http://schemas.microsoft.com/office/drawing/2014/main" id="{5B9E5A00-68AF-4D0B-9110-F1D2D0DEC36B}"/>
              </a:ext>
            </a:extLst>
          </p:cNvPr>
          <p:cNvSpPr>
            <a:spLocks xmlns:a="http://schemas.openxmlformats.org/drawingml/2006/main" noGrp="1"/>
          </p:cNvSpPr>
          <p:nvPr/>
        </p:nvSpPr>
        <p:spPr>
          <a:xfrm xmlns:a="http://schemas.openxmlformats.org/drawingml/2006/main">
            <a:off x="952530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06</a:t>
            </a:r>
          </a:p>
        </p:txBody>
      </p:sp>
      <p:sp>
        <p:nvSpPr>
          <p:cNvPr id="30" name="Text 25">
            <a:extLst xmlns:a="http://schemas.openxmlformats.org/drawingml/2006/main">
              <a:ext uri="{FF2B5EF4-FFF2-40B4-BE49-F238E27FC236}">
                <a16:creationId xmlns:a16="http://schemas.microsoft.com/office/drawing/2014/main" id="{D331C574-F040-482A-91A4-A4CC9F1F1176}"/>
              </a:ext>
            </a:extLst>
          </p:cNvPr>
          <p:cNvSpPr>
            <a:spLocks xmlns:a="http://schemas.openxmlformats.org/drawingml/2006/main" noGrp="1"/>
          </p:cNvSpPr>
          <p:nvPr/>
        </p:nvSpPr>
        <p:spPr>
          <a:xfrm xmlns:a="http://schemas.openxmlformats.org/drawingml/2006/main">
            <a:off x="10477195"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Business Impact</a:t>
            </a:r>
          </a:p>
        </p:txBody>
      </p:sp>
      <p:sp>
        <p:nvSpPr>
          <p:cNvPr id="31" name="Text 26">
            <a:extLst xmlns:a="http://schemas.openxmlformats.org/drawingml/2006/main">
              <a:ext uri="{FF2B5EF4-FFF2-40B4-BE49-F238E27FC236}">
                <a16:creationId xmlns:a16="http://schemas.microsoft.com/office/drawing/2014/main" id="{863E7779-EF24-4CE2-810E-9E0A29E7BB8B}"/>
              </a:ext>
            </a:extLst>
          </p:cNvPr>
          <p:cNvSpPr>
            <a:spLocks xmlns:a="http://schemas.openxmlformats.org/drawingml/2006/main" noGrp="1"/>
          </p:cNvSpPr>
          <p:nvPr/>
        </p:nvSpPr>
        <p:spPr>
          <a:xfrm xmlns:a="http://schemas.openxmlformats.org/drawingml/2006/main">
            <a:off x="10477195"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Illustrative per-1,000 economics</a:t>
            </a:r>
          </a:p>
        </p:txBody>
      </p:sp>
      <p:sp>
        <p:nvSpPr>
          <p:cNvPr id="32" name="Text 27">
            <a:extLst xmlns:a="http://schemas.openxmlformats.org/drawingml/2006/main">
              <a:ext uri="{FF2B5EF4-FFF2-40B4-BE49-F238E27FC236}">
                <a16:creationId xmlns:a16="http://schemas.microsoft.com/office/drawing/2014/main" id="{6ED5776D-31D1-4CDC-A83C-4DC062327BB5}"/>
              </a:ext>
            </a:extLst>
          </p:cNvPr>
          <p:cNvSpPr>
            <a:spLocks xmlns:a="http://schemas.openxmlformats.org/drawingml/2006/main" noGrp="1"/>
          </p:cNvSpPr>
          <p:nvPr/>
        </p:nvSpPr>
        <p:spPr>
          <a:xfrm xmlns:a="http://schemas.openxmlformats.org/drawingml/2006/main">
            <a:off x="16573500"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2 min</a:t>
            </a:r>
          </a:p>
        </p:txBody>
      </p:sp>
      <p:sp>
        <p:nvSpPr>
          <p:cNvPr id="33" name="Text 28">
            <a:extLst xmlns:a="http://schemas.openxmlformats.org/drawingml/2006/main">
              <a:ext uri="{FF2B5EF4-FFF2-40B4-BE49-F238E27FC236}">
                <a16:creationId xmlns:a16="http://schemas.microsoft.com/office/drawing/2014/main" id="{874FE7DF-96A6-490D-8FF9-BEEB68FF697C}"/>
              </a:ext>
            </a:extLst>
          </p:cNvPr>
          <p:cNvSpPr>
            <a:spLocks xmlns:a="http://schemas.openxmlformats.org/drawingml/2006/main" noGrp="1"/>
          </p:cNvSpPr>
          <p:nvPr/>
        </p:nvSpPr>
        <p:spPr>
          <a:xfrm xmlns:a="http://schemas.openxmlformats.org/drawingml/2006/main">
            <a:off x="952530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07</a:t>
            </a:r>
          </a:p>
        </p:txBody>
      </p:sp>
      <p:sp>
        <p:nvSpPr>
          <p:cNvPr id="34" name="Text 29">
            <a:extLst xmlns:a="http://schemas.openxmlformats.org/drawingml/2006/main">
              <a:ext uri="{FF2B5EF4-FFF2-40B4-BE49-F238E27FC236}">
                <a16:creationId xmlns:a16="http://schemas.microsoft.com/office/drawing/2014/main" id="{41E7F215-EB0F-446D-AF45-86DCC0AF9B8B}"/>
              </a:ext>
            </a:extLst>
          </p:cNvPr>
          <p:cNvSpPr>
            <a:spLocks xmlns:a="http://schemas.openxmlformats.org/drawingml/2006/main" noGrp="1"/>
          </p:cNvSpPr>
          <p:nvPr/>
        </p:nvSpPr>
        <p:spPr>
          <a:xfrm xmlns:a="http://schemas.openxmlformats.org/drawingml/2006/main">
            <a:off x="10477195"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Limitations &amp; Ethics</a:t>
            </a:r>
          </a:p>
        </p:txBody>
      </p:sp>
      <p:sp>
        <p:nvSpPr>
          <p:cNvPr id="35" name="Text 30">
            <a:extLst xmlns:a="http://schemas.openxmlformats.org/drawingml/2006/main">
              <a:ext uri="{FF2B5EF4-FFF2-40B4-BE49-F238E27FC236}">
                <a16:creationId xmlns:a16="http://schemas.microsoft.com/office/drawing/2014/main" id="{D6BEB6CF-70E3-4FFD-9C67-DA9EB70B3EC4}"/>
              </a:ext>
            </a:extLst>
          </p:cNvPr>
          <p:cNvSpPr>
            <a:spLocks xmlns:a="http://schemas.openxmlformats.org/drawingml/2006/main" noGrp="1"/>
          </p:cNvSpPr>
          <p:nvPr/>
        </p:nvSpPr>
        <p:spPr>
          <a:xfrm xmlns:a="http://schemas.openxmlformats.org/drawingml/2006/main">
            <a:off x="10477195"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Comparability · fairness · scope</a:t>
            </a:r>
          </a:p>
        </p:txBody>
      </p:sp>
      <p:sp>
        <p:nvSpPr>
          <p:cNvPr id="36" name="Text 31">
            <a:extLst xmlns:a="http://schemas.openxmlformats.org/drawingml/2006/main">
              <a:ext uri="{FF2B5EF4-FFF2-40B4-BE49-F238E27FC236}">
                <a16:creationId xmlns:a16="http://schemas.microsoft.com/office/drawing/2014/main" id="{618B3F4D-592A-4CC6-9978-875A812094F7}"/>
              </a:ext>
            </a:extLst>
          </p:cNvPr>
          <p:cNvSpPr>
            <a:spLocks xmlns:a="http://schemas.openxmlformats.org/drawingml/2006/main" noGrp="1"/>
          </p:cNvSpPr>
          <p:nvPr/>
        </p:nvSpPr>
        <p:spPr>
          <a:xfrm xmlns:a="http://schemas.openxmlformats.org/drawingml/2006/main">
            <a:off x="16573500"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 min</a:t>
            </a:r>
          </a:p>
        </p:txBody>
      </p:sp>
      <p:sp>
        <p:nvSpPr>
          <p:cNvPr id="37" name="Text 32">
            <a:extLst xmlns:a="http://schemas.openxmlformats.org/drawingml/2006/main">
              <a:ext uri="{FF2B5EF4-FFF2-40B4-BE49-F238E27FC236}">
                <a16:creationId xmlns:a16="http://schemas.microsoft.com/office/drawing/2014/main" id="{E3B450BA-05EB-476E-9D59-BEAE7EF1A8A8}"/>
              </a:ext>
            </a:extLst>
          </p:cNvPr>
          <p:cNvSpPr>
            <a:spLocks xmlns:a="http://schemas.openxmlformats.org/drawingml/2006/main" noGrp="1"/>
          </p:cNvSpPr>
          <p:nvPr/>
        </p:nvSpPr>
        <p:spPr>
          <a:xfrm xmlns:a="http://schemas.openxmlformats.org/drawingml/2006/main">
            <a:off x="952530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08</a:t>
            </a:r>
          </a:p>
        </p:txBody>
      </p:sp>
      <p:sp>
        <p:nvSpPr>
          <p:cNvPr id="38" name="Text 33">
            <a:extLst xmlns:a="http://schemas.openxmlformats.org/drawingml/2006/main">
              <a:ext uri="{FF2B5EF4-FFF2-40B4-BE49-F238E27FC236}">
                <a16:creationId xmlns:a16="http://schemas.microsoft.com/office/drawing/2014/main" id="{1E425F29-EFEE-45E3-B915-FAF39063933D}"/>
              </a:ext>
            </a:extLst>
          </p:cNvPr>
          <p:cNvSpPr>
            <a:spLocks xmlns:a="http://schemas.openxmlformats.org/drawingml/2006/main" noGrp="1"/>
          </p:cNvSpPr>
          <p:nvPr/>
        </p:nvSpPr>
        <p:spPr>
          <a:xfrm xmlns:a="http://schemas.openxmlformats.org/drawingml/2006/main">
            <a:off x="10477195"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Deployment &amp; Future Work</a:t>
            </a:r>
          </a:p>
        </p:txBody>
      </p:sp>
      <p:sp>
        <p:nvSpPr>
          <p:cNvPr id="39" name="Text 34">
            <a:extLst xmlns:a="http://schemas.openxmlformats.org/drawingml/2006/main">
              <a:ext uri="{FF2B5EF4-FFF2-40B4-BE49-F238E27FC236}">
                <a16:creationId xmlns:a16="http://schemas.microsoft.com/office/drawing/2014/main" id="{FF5AC14F-8EFD-4250-A4BA-FE1E85F4B9F1}"/>
              </a:ext>
            </a:extLst>
          </p:cNvPr>
          <p:cNvSpPr>
            <a:spLocks xmlns:a="http://schemas.openxmlformats.org/drawingml/2006/main" noGrp="1"/>
          </p:cNvSpPr>
          <p:nvPr/>
        </p:nvSpPr>
        <p:spPr>
          <a:xfrm xmlns:a="http://schemas.openxmlformats.org/drawingml/2006/main">
            <a:off x="10477195"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Proposed pilot · monitoring · retrain</a:t>
            </a:r>
          </a:p>
        </p:txBody>
      </p:sp>
      <p:sp>
        <p:nvSpPr>
          <p:cNvPr id="40" name="Text 35">
            <a:extLst xmlns:a="http://schemas.openxmlformats.org/drawingml/2006/main">
              <a:ext uri="{FF2B5EF4-FFF2-40B4-BE49-F238E27FC236}">
                <a16:creationId xmlns:a16="http://schemas.microsoft.com/office/drawing/2014/main" id="{E6AC853A-321B-4A4D-BE41-8CCE3E695B95}"/>
              </a:ext>
            </a:extLst>
          </p:cNvPr>
          <p:cNvSpPr>
            <a:spLocks xmlns:a="http://schemas.openxmlformats.org/drawingml/2006/main" noGrp="1"/>
          </p:cNvSpPr>
          <p:nvPr/>
        </p:nvSpPr>
        <p:spPr>
          <a:xfrm xmlns:a="http://schemas.openxmlformats.org/drawingml/2006/main">
            <a:off x="16573500"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41" name="Text 36">
            <a:extLst xmlns:a="http://schemas.openxmlformats.org/drawingml/2006/main">
              <a:ext uri="{FF2B5EF4-FFF2-40B4-BE49-F238E27FC236}">
                <a16:creationId xmlns:a16="http://schemas.microsoft.com/office/drawing/2014/main" id="{19383146-2662-4F8C-B06B-AD32F49930FF}"/>
              </a:ext>
            </a:extLst>
          </p:cNvPr>
          <p:cNvSpPr>
            <a:spLocks xmlns:a="http://schemas.openxmlformats.org/drawingml/2006/main" noGrp="1"/>
          </p:cNvSpPr>
          <p:nvPr/>
        </p:nvSpPr>
        <p:spPr>
          <a:xfrm xmlns:a="http://schemas.openxmlformats.org/drawingml/2006/main">
            <a:off x="952530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09</a:t>
            </a:r>
          </a:p>
        </p:txBody>
      </p:sp>
      <p:sp>
        <p:nvSpPr>
          <p:cNvPr id="42" name="Text 37">
            <a:extLst xmlns:a="http://schemas.openxmlformats.org/drawingml/2006/main">
              <a:ext uri="{FF2B5EF4-FFF2-40B4-BE49-F238E27FC236}">
                <a16:creationId xmlns:a16="http://schemas.microsoft.com/office/drawing/2014/main" id="{8C0FEB75-1995-47B0-860E-58BF21D304F8}"/>
              </a:ext>
            </a:extLst>
          </p:cNvPr>
          <p:cNvSpPr>
            <a:spLocks xmlns:a="http://schemas.openxmlformats.org/drawingml/2006/main" noGrp="1"/>
          </p:cNvSpPr>
          <p:nvPr/>
        </p:nvSpPr>
        <p:spPr>
          <a:xfrm xmlns:a="http://schemas.openxmlformats.org/drawingml/2006/main">
            <a:off x="10477195"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Key Takeaways</a:t>
            </a:r>
          </a:p>
        </p:txBody>
      </p:sp>
      <p:sp>
        <p:nvSpPr>
          <p:cNvPr id="43" name="Text 38">
            <a:extLst xmlns:a="http://schemas.openxmlformats.org/drawingml/2006/main">
              <a:ext uri="{FF2B5EF4-FFF2-40B4-BE49-F238E27FC236}">
                <a16:creationId xmlns:a16="http://schemas.microsoft.com/office/drawing/2014/main" id="{8D3A2435-2E3A-44A9-AEF2-EC031F2DB779}"/>
              </a:ext>
            </a:extLst>
          </p:cNvPr>
          <p:cNvSpPr>
            <a:spLocks xmlns:a="http://schemas.openxmlformats.org/drawingml/2006/main" noGrp="1"/>
          </p:cNvSpPr>
          <p:nvPr/>
        </p:nvSpPr>
        <p:spPr>
          <a:xfrm xmlns:a="http://schemas.openxmlformats.org/drawingml/2006/main">
            <a:off x="10477195"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Primary message</a:t>
            </a:r>
          </a:p>
        </p:txBody>
      </p:sp>
      <p:sp>
        <p:nvSpPr>
          <p:cNvPr id="44" name="Text 39">
            <a:extLst xmlns:a="http://schemas.openxmlformats.org/drawingml/2006/main">
              <a:ext uri="{FF2B5EF4-FFF2-40B4-BE49-F238E27FC236}">
                <a16:creationId xmlns:a16="http://schemas.microsoft.com/office/drawing/2014/main" id="{AC70BE4F-7799-4CE7-BB3E-E8D6E876A651}"/>
              </a:ext>
            </a:extLst>
          </p:cNvPr>
          <p:cNvSpPr>
            <a:spLocks xmlns:a="http://schemas.openxmlformats.org/drawingml/2006/main" noGrp="1"/>
          </p:cNvSpPr>
          <p:nvPr/>
        </p:nvSpPr>
        <p:spPr>
          <a:xfrm xmlns:a="http://schemas.openxmlformats.org/drawingml/2006/main">
            <a:off x="16573500"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0.5–1 min</a:t>
            </a:r>
          </a:p>
        </p:txBody>
      </p:sp>
      <p:sp>
        <p:nvSpPr>
          <p:cNvPr id="45" name="Text 40">
            <a:extLst xmlns:a="http://schemas.openxmlformats.org/drawingml/2006/main">
              <a:ext uri="{FF2B5EF4-FFF2-40B4-BE49-F238E27FC236}">
                <a16:creationId xmlns:a16="http://schemas.microsoft.com/office/drawing/2014/main" id="{46D83D51-E9AC-45B1-B6B9-6F9481F45D5B}"/>
              </a:ext>
            </a:extLst>
          </p:cNvPr>
          <p:cNvSpPr>
            <a:spLocks xmlns:a="http://schemas.openxmlformats.org/drawingml/2006/main" noGrp="1"/>
          </p:cNvSpPr>
          <p:nvPr/>
        </p:nvSpPr>
        <p:spPr>
          <a:xfrm xmlns:a="http://schemas.openxmlformats.org/drawingml/2006/main">
            <a:off x="952530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10</a:t>
            </a:r>
          </a:p>
        </p:txBody>
      </p:sp>
      <p:sp>
        <p:nvSpPr>
          <p:cNvPr id="46" name="Text 41">
            <a:extLst xmlns:a="http://schemas.openxmlformats.org/drawingml/2006/main">
              <a:ext uri="{FF2B5EF4-FFF2-40B4-BE49-F238E27FC236}">
                <a16:creationId xmlns:a16="http://schemas.microsoft.com/office/drawing/2014/main" id="{9D9DCD3D-B548-4A18-A66D-84631135086A}"/>
              </a:ext>
            </a:extLst>
          </p:cNvPr>
          <p:cNvSpPr>
            <a:spLocks xmlns:a="http://schemas.openxmlformats.org/drawingml/2006/main" noGrp="1"/>
          </p:cNvSpPr>
          <p:nvPr/>
        </p:nvSpPr>
        <p:spPr>
          <a:xfrm xmlns:a="http://schemas.openxmlformats.org/drawingml/2006/main">
            <a:off x="10477195"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Questions &amp; Discussion</a:t>
            </a:r>
          </a:p>
        </p:txBody>
      </p:sp>
      <p:sp>
        <p:nvSpPr>
          <p:cNvPr id="47" name="Text 42">
            <a:extLst xmlns:a="http://schemas.openxmlformats.org/drawingml/2006/main">
              <a:ext uri="{FF2B5EF4-FFF2-40B4-BE49-F238E27FC236}">
                <a16:creationId xmlns:a16="http://schemas.microsoft.com/office/drawing/2014/main" id="{331222EA-20E3-4315-B3B7-5E2ADF86745D}"/>
              </a:ext>
            </a:extLst>
          </p:cNvPr>
          <p:cNvSpPr>
            <a:spLocks xmlns:a="http://schemas.openxmlformats.org/drawingml/2006/main" noGrp="1"/>
          </p:cNvSpPr>
          <p:nvPr/>
        </p:nvSpPr>
        <p:spPr>
          <a:xfrm xmlns:a="http://schemas.openxmlformats.org/drawingml/2006/main">
            <a:off x="10477195"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Open floor · appendix + references</a:t>
            </a:r>
          </a:p>
        </p:txBody>
      </p:sp>
      <p:sp>
        <p:nvSpPr>
          <p:cNvPr id="48" name="Text 43">
            <a:extLst xmlns:a="http://schemas.openxmlformats.org/drawingml/2006/main">
              <a:ext uri="{FF2B5EF4-FFF2-40B4-BE49-F238E27FC236}">
                <a16:creationId xmlns:a16="http://schemas.microsoft.com/office/drawing/2014/main" id="{5783D835-F09E-4D4A-9BA8-D8F87F66F87B}"/>
              </a:ext>
            </a:extLst>
          </p:cNvPr>
          <p:cNvSpPr>
            <a:spLocks xmlns:a="http://schemas.openxmlformats.org/drawingml/2006/main" noGrp="1"/>
          </p:cNvSpPr>
          <p:nvPr/>
        </p:nvSpPr>
        <p:spPr>
          <a:xfrm xmlns:a="http://schemas.openxmlformats.org/drawingml/2006/main">
            <a:off x="16573500"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5 min</a:t>
            </a:r>
          </a:p>
        </p:txBody>
      </p:sp>
      <p:sp>
        <p:nvSpPr>
          <p:cNvPr id="49" name="Text 44">
            <a:extLst xmlns:a="http://schemas.openxmlformats.org/drawingml/2006/main">
              <a:ext uri="{FF2B5EF4-FFF2-40B4-BE49-F238E27FC236}">
                <a16:creationId xmlns:a16="http://schemas.microsoft.com/office/drawing/2014/main" id="{D0307994-DDD5-4EE3-8716-C5108CBC2B12}"/>
              </a:ext>
            </a:extLst>
          </p:cNvPr>
          <p:cNvSpPr>
            <a:spLocks xmlns:a="http://schemas.openxmlformats.org/drawingml/2006/main" noGrp="1"/>
          </p:cNvSpPr>
          <p:nvPr/>
        </p:nvSpPr>
        <p:spPr>
          <a:xfrm xmlns:a="http://schemas.openxmlformats.org/drawingml/2006/main">
            <a:off x="761695" y="9381744"/>
            <a:ext cx="1381658"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18 spoken slides</a:t>
            </a:r>
          </a:p>
        </p:txBody>
      </p:sp>
      <p:sp>
        <p:nvSpPr>
          <p:cNvPr id="50" name="Text 45">
            <a:extLst xmlns:a="http://schemas.openxmlformats.org/drawingml/2006/main">
              <a:ext uri="{FF2B5EF4-FFF2-40B4-BE49-F238E27FC236}">
                <a16:creationId xmlns:a16="http://schemas.microsoft.com/office/drawing/2014/main" id="{EDE0DFDB-482B-46AB-9BC7-E681FE84CD88}"/>
              </a:ext>
            </a:extLst>
          </p:cNvPr>
          <p:cNvSpPr>
            <a:spLocks xmlns:a="http://schemas.openxmlformats.org/drawingml/2006/main" noGrp="1"/>
          </p:cNvSpPr>
          <p:nvPr/>
        </p:nvSpPr>
        <p:spPr>
          <a:xfrm xmlns:a="http://schemas.openxmlformats.org/drawingml/2006/main">
            <a:off x="2667305" y="9381744"/>
            <a:ext cx="25813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a:t>
            </a:r>
            <a:r>
              <a:rPr sz="1100">
                <a:solidFill>
                  <a:srgbClr val="6A6F8C"/>
                </a:solidFill>
                <a:latin typeface="JetBrains Mono"/>
                <a:ea typeface="JetBrains Mono"/>
                <a:cs typeface="JetBrains Mono"/>
              </a:rPr>
              <a:t> appendix slides (not spoken)</a:t>
            </a:r>
          </a:p>
        </p:txBody>
      </p:sp>
      <p:sp>
        <p:nvSpPr>
          <p:cNvPr id="51" name="Text 46">
            <a:extLst xmlns:a="http://schemas.openxmlformats.org/drawingml/2006/main">
              <a:ext uri="{FF2B5EF4-FFF2-40B4-BE49-F238E27FC236}">
                <a16:creationId xmlns:a16="http://schemas.microsoft.com/office/drawing/2014/main" id="{7357E6C7-E7BA-46A3-8347-5DD80E038D73}"/>
              </a:ext>
            </a:extLst>
          </p:cNvPr>
          <p:cNvSpPr>
            <a:spLocks xmlns:a="http://schemas.openxmlformats.org/drawingml/2006/main" noGrp="1"/>
          </p:cNvSpPr>
          <p:nvPr/>
        </p:nvSpPr>
        <p:spPr>
          <a:xfrm xmlns:a="http://schemas.openxmlformats.org/drawingml/2006/main">
            <a:off x="5773522" y="9381744"/>
            <a:ext cx="18955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4 min</a:t>
            </a:r>
            <a:r>
              <a:rPr sz="1100">
                <a:solidFill>
                  <a:srgbClr val="6A6F8C"/>
                </a:solidFill>
                <a:latin typeface="JetBrains Mono"/>
                <a:ea typeface="JetBrains Mono"/>
                <a:cs typeface="JetBrains Mono"/>
              </a:rPr>
              <a:t> allocated to EDA</a:t>
            </a:r>
          </a:p>
        </p:txBody>
      </p:sp>
      <p:sp>
        <p:nvSpPr>
          <p:cNvPr id="52" name="Text 47">
            <a:extLst xmlns:a="http://schemas.openxmlformats.org/drawingml/2006/main">
              <a:ext uri="{FF2B5EF4-FFF2-40B4-BE49-F238E27FC236}">
                <a16:creationId xmlns:a16="http://schemas.microsoft.com/office/drawing/2014/main" id="{9D0E84F8-818A-4137-97E1-AAAFF45ADC88}"/>
              </a:ext>
            </a:extLst>
          </p:cNvPr>
          <p:cNvSpPr>
            <a:spLocks xmlns:a="http://schemas.openxmlformats.org/drawingml/2006/main" noGrp="1"/>
          </p:cNvSpPr>
          <p:nvPr/>
        </p:nvSpPr>
        <p:spPr>
          <a:xfrm xmlns:a="http://schemas.openxmlformats.org/drawingml/2006/main">
            <a:off x="8193024" y="9381744"/>
            <a:ext cx="1981505"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20 min</a:t>
            </a:r>
            <a:r>
              <a:rPr sz="1100">
                <a:solidFill>
                  <a:srgbClr val="6A6F8C"/>
                </a:solidFill>
                <a:latin typeface="JetBrains Mono"/>
                <a:ea typeface="JetBrains Mono"/>
                <a:cs typeface="JetBrains Mono"/>
              </a:rPr>
              <a:t> talk · </a:t>
            </a:r>
            <a:r>
              <a:rPr sz="1100" b="1">
                <a:solidFill>
                  <a:srgbClr val="2A2E7A"/>
                </a:solidFill>
                <a:latin typeface="JetBrains Mono"/>
                <a:ea typeface="JetBrains Mono"/>
                <a:cs typeface="JetBrains Mono"/>
              </a:rPr>
              <a:t>5 min</a:t>
            </a:r>
            <a:r>
              <a:rPr sz="1100">
                <a:solidFill>
                  <a:srgbClr val="6A6F8C"/>
                </a:solidFill>
                <a:latin typeface="JetBrains Mono"/>
                <a:ea typeface="JetBrains Mono"/>
                <a:cs typeface="JetBrains Mono"/>
              </a:rPr>
              <a:t> Q&amp;A</a:t>
            </a:r>
          </a:p>
        </p:txBody>
      </p:sp>
    </p:spTree>
    <p:extLst>
      <p:ext uri="{BB962C8B-B14F-4D97-AF65-F5344CB8AC3E}">
        <p14:creationId xmlns:p14="http://schemas.microsoft.com/office/powerpoint/2010/main" val="1766052746"/>
      </p:ext>
    </p:extLst>
  </p:cSld>
</p:sld>
</file>

<file path=ppt/slides/slide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a19f7aff8eb04721"/>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12505B32-BF9C-4836-99F4-CDB287587699}"/>
              </a:ext>
            </a:extLst>
          </p:cNvPr>
          <p:cNvSpPr>
            <a:spLocks xmlns:a="http://schemas.openxmlformats.org/drawingml/2006/main" noGrp="1"/>
          </p:cNvSpPr>
          <p:nvPr/>
        </p:nvSpPr>
        <p:spPr>
          <a:xfrm xmlns:a="http://schemas.openxmlformats.org/drawingml/2006/main">
            <a:off x="12287707" y="1380744"/>
            <a:ext cx="5238598" cy="8238744"/>
          </a:xfrm>
          <a:prstGeom xmlns:a="http://schemas.openxmlformats.org/drawingml/2006/main" prst="roundRect">
            <a:avLst>
              <a:gd name="adj" fmla="val 367"/>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4437CF63-DCFE-4AF2-831E-4B82FEA7EAF6}"/>
              </a:ext>
            </a:extLst>
          </p:cNvPr>
          <p:cNvSpPr>
            <a:spLocks xmlns:a="http://schemas.openxmlformats.org/drawingml/2006/main" noGrp="1"/>
          </p:cNvSpPr>
          <p:nvPr/>
        </p:nvSpPr>
        <p:spPr>
          <a:xfrm xmlns:a="http://schemas.openxmlformats.org/drawingml/2006/main">
            <a:off x="761695" y="6381598"/>
            <a:ext cx="10925251" cy="3258007"/>
          </a:xfrm>
          <a:prstGeom xmlns:a="http://schemas.openxmlformats.org/drawingml/2006/main" prst="roundRect">
            <a:avLst>
              <a:gd name="adj" fmla="val 589"/>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89A933D-0746-464A-B7F0-D7DD64BD29A3}"/>
              </a:ext>
            </a:extLst>
          </p:cNvPr>
          <p:cNvSpPr>
            <a:spLocks xmlns:a="http://schemas.openxmlformats.org/drawingml/2006/main" noGrp="1"/>
          </p:cNvSpPr>
          <p:nvPr/>
        </p:nvSpPr>
        <p:spPr>
          <a:xfrm xmlns:a="http://schemas.openxmlformats.org/drawingml/2006/main">
            <a:off x="761695" y="6381598"/>
            <a:ext cx="57607" cy="3258007"/>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383ee5ba89a94465"/>
          <a:srcRect xmlns:a="http://schemas.openxmlformats.org/drawingml/2006/main" l="-2083" t="0" r="-2083" b="0"/>
          <a:stretch xmlns:a="http://schemas.openxmlformats.org/drawingml/2006/main"/>
        </p:blipFill>
        <p:spPr>
          <a:xfrm xmlns:a="http://schemas.openxmlformats.org/drawingml/2006/main">
            <a:off x="12668098" y="3905402"/>
            <a:ext cx="4476902" cy="9144"/>
          </a:xfrm>
          <a:prstGeom xmlns:a="http://schemas.openxmlformats.org/drawingml/2006/main" prst="rect">
            <a:avLst/>
          </a:prstGeom>
        </p:spPr>
      </p:pic>
      <p:pic>
        <p:nvPicPr>
          <p:cNvPr id="39" name="Image 2"/>
          <p:cNvPicPr>
            <a:picLocks xmlns:a="http://schemas.openxmlformats.org/drawingml/2006/main" noChangeAspect="1"/>
          </p:cNvPicPr>
          <p:nvPr/>
        </p:nvPicPr>
        <p:blipFill>
          <a:blip xmlns:r="http://schemas.openxmlformats.org/officeDocument/2006/relationships" xmlns:a="http://schemas.openxmlformats.org/drawingml/2006/main" r:embed="R383ee5ba89a94465"/>
          <a:srcRect xmlns:a="http://schemas.openxmlformats.org/drawingml/2006/main" l="-2083" t="0" r="-2083" b="0"/>
          <a:stretch xmlns:a="http://schemas.openxmlformats.org/drawingml/2006/main"/>
        </p:blipFill>
        <p:spPr>
          <a:xfrm xmlns:a="http://schemas.openxmlformats.org/drawingml/2006/main">
            <a:off x="12668098" y="5810098"/>
            <a:ext cx="4476902" cy="9144"/>
          </a:xfrm>
          <a:prstGeom xmlns:a="http://schemas.openxmlformats.org/drawingml/2006/main" prst="rect">
            <a:avLst/>
          </a:prstGeom>
        </p:spPr>
      </p:pic>
      <p:sp>
        <p:nvSpPr>
          <p:cNvPr id="9" name="Text 3">
            <a:extLst xmlns:a="http://schemas.openxmlformats.org/drawingml/2006/main">
              <a:ext uri="{FF2B5EF4-FFF2-40B4-BE49-F238E27FC236}">
                <a16:creationId xmlns:a16="http://schemas.microsoft.com/office/drawing/2014/main" id="{94C08DFC-82A2-458A-89E7-178940579D1A}"/>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01 · Introduction</a:t>
            </a:r>
          </a:p>
        </p:txBody>
      </p:sp>
      <p:sp>
        <p:nvSpPr>
          <p:cNvPr id="10" name="Text 4">
            <a:extLst xmlns:a="http://schemas.openxmlformats.org/drawingml/2006/main">
              <a:ext uri="{FF2B5EF4-FFF2-40B4-BE49-F238E27FC236}">
                <a16:creationId xmlns:a16="http://schemas.microsoft.com/office/drawing/2014/main" id="{526EF9C6-86B8-4B69-8C0D-B19612812624}"/>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03 / 20</a:t>
            </a:r>
          </a:p>
        </p:txBody>
      </p:sp>
      <p:sp>
        <p:nvSpPr>
          <p:cNvPr id="11" name="Text 5">
            <a:extLst xmlns:a="http://schemas.openxmlformats.org/drawingml/2006/main">
              <a:ext uri="{FF2B5EF4-FFF2-40B4-BE49-F238E27FC236}">
                <a16:creationId xmlns:a16="http://schemas.microsoft.com/office/drawing/2014/main" id="{31AF0EBB-E5B5-4238-83A8-A7A8F42FC3A8}"/>
              </a:ext>
            </a:extLst>
          </p:cNvPr>
          <p:cNvSpPr>
            <a:spLocks xmlns:a="http://schemas.openxmlformats.org/drawingml/2006/main" noGrp="1"/>
          </p:cNvSpPr>
          <p:nvPr/>
        </p:nvSpPr>
        <p:spPr>
          <a:xfrm xmlns:a="http://schemas.openxmlformats.org/drawingml/2006/main">
            <a:off x="761695" y="1380744"/>
            <a:ext cx="10858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THE CONTEXT</a:t>
            </a:r>
          </a:p>
        </p:txBody>
      </p:sp>
      <p:sp>
        <p:nvSpPr>
          <p:cNvPr id="12" name="Text 6">
            <a:extLst xmlns:a="http://schemas.openxmlformats.org/drawingml/2006/main">
              <a:ext uri="{FF2B5EF4-FFF2-40B4-BE49-F238E27FC236}">
                <a16:creationId xmlns:a16="http://schemas.microsoft.com/office/drawing/2014/main" id="{02DA261D-CCC4-4366-812A-427F60DF14C5}"/>
              </a:ext>
            </a:extLst>
          </p:cNvPr>
          <p:cNvSpPr>
            <a:spLocks xmlns:a="http://schemas.openxmlformats.org/drawingml/2006/main" noGrp="1"/>
          </p:cNvSpPr>
          <p:nvPr/>
        </p:nvSpPr>
        <p:spPr>
          <a:xfrm xmlns:a="http://schemas.openxmlformats.org/drawingml/2006/main">
            <a:off x="761695" y="1762049"/>
            <a:ext cx="10858500" cy="16386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Higher-education institutions observe students </a:t>
            </a:r>
            <a:r>
              <a:rPr sz="3900" b="1">
                <a:solidFill>
                  <a:srgbClr val="2A2E7A"/>
                </a:solidFill>
                <a:latin typeface="Inter"/>
                <a:ea typeface="Inter"/>
                <a:cs typeface="Inter"/>
              </a:rPr>
              <a:t>early</a:t>
            </a:r>
            <a:r>
              <a:rPr sz="3900" b="1">
                <a:solidFill>
                  <a:srgbClr val="0F1226"/>
                </a:solidFill>
                <a:latin typeface="Inter"/>
                <a:ea typeface="Inter"/>
                <a:cs typeface="Inter"/>
              </a:rPr>
              <a:t> — but often act on withdrawal signals </a:t>
            </a:r>
            <a:r>
              <a:rPr sz="3900" b="1">
                <a:solidFill>
                  <a:srgbClr val="E4237A"/>
                </a:solidFill>
                <a:latin typeface="Inter"/>
                <a:ea typeface="Inter"/>
                <a:cs typeface="Inter"/>
              </a:rPr>
              <a:t>late</a:t>
            </a:r>
            <a:r>
              <a:rPr sz="3900" b="1">
                <a:solidFill>
                  <a:srgbClr val="0F1226"/>
                </a:solidFill>
                <a:latin typeface="Inter"/>
                <a:ea typeface="Inter"/>
                <a:cs typeface="Inter"/>
              </a:rPr>
              <a:t>.</a:t>
            </a:r>
          </a:p>
        </p:txBody>
      </p:sp>
      <p:sp>
        <p:nvSpPr>
          <p:cNvPr id="13" name="Text 7">
            <a:extLst xmlns:a="http://schemas.openxmlformats.org/drawingml/2006/main">
              <a:ext uri="{FF2B5EF4-FFF2-40B4-BE49-F238E27FC236}">
                <a16:creationId xmlns:a16="http://schemas.microsoft.com/office/drawing/2014/main" id="{9BA98CE4-7BDE-4DC7-BC46-3E628977D6B7}"/>
              </a:ext>
            </a:extLst>
          </p:cNvPr>
          <p:cNvSpPr>
            <a:spLocks xmlns:a="http://schemas.openxmlformats.org/drawingml/2006/main" noGrp="1"/>
          </p:cNvSpPr>
          <p:nvPr/>
        </p:nvSpPr>
        <p:spPr>
          <a:xfrm xmlns:a="http://schemas.openxmlformats.org/drawingml/2006/main">
            <a:off x="761695" y="4238244"/>
            <a:ext cx="1085850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2A2E4B"/>
                </a:solidFill>
                <a:latin typeface="Source Serif Pro"/>
                <a:ea typeface="Source Serif Pro"/>
                <a:cs typeface="Source Serif Pro"/>
              </a:rPr>
              <a:t>Student withdrawal may affect student outcomes, institutional retention, advising workload, and resource planning. Two public datasets — UCI and OULAD — expose two very different views of that early-warning signal, one built from student records and one from behavioural data.</a:t>
            </a:r>
          </a:p>
        </p:txBody>
      </p:sp>
      <p:sp>
        <p:nvSpPr>
          <p:cNvPr id="14" name="Text 8">
            <a:extLst xmlns:a="http://schemas.openxmlformats.org/drawingml/2006/main">
              <a:ext uri="{FF2B5EF4-FFF2-40B4-BE49-F238E27FC236}">
                <a16:creationId xmlns:a16="http://schemas.microsoft.com/office/drawing/2014/main" id="{C3275E84-8450-4C69-A0C6-218B9AD6C644}"/>
              </a:ext>
            </a:extLst>
          </p:cNvPr>
          <p:cNvSpPr>
            <a:spLocks xmlns:a="http://schemas.openxmlformats.org/drawingml/2006/main" noGrp="1"/>
          </p:cNvSpPr>
          <p:nvPr/>
        </p:nvSpPr>
        <p:spPr>
          <a:xfrm xmlns:a="http://schemas.openxmlformats.org/drawingml/2006/main">
            <a:off x="1143000" y="6620256"/>
            <a:ext cx="102870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RESEARCH OBJECTIVE</a:t>
            </a:r>
          </a:p>
        </p:txBody>
      </p:sp>
      <p:sp>
        <p:nvSpPr>
          <p:cNvPr id="15" name="Text 9">
            <a:extLst xmlns:a="http://schemas.openxmlformats.org/drawingml/2006/main">
              <a:ext uri="{FF2B5EF4-FFF2-40B4-BE49-F238E27FC236}">
                <a16:creationId xmlns:a16="http://schemas.microsoft.com/office/drawing/2014/main" id="{86064429-373A-4F0F-AE2B-3E6DF6F759E0}"/>
              </a:ext>
            </a:extLst>
          </p:cNvPr>
          <p:cNvSpPr>
            <a:spLocks xmlns:a="http://schemas.openxmlformats.org/drawingml/2006/main" noGrp="1"/>
          </p:cNvSpPr>
          <p:nvPr/>
        </p:nvSpPr>
        <p:spPr>
          <a:xfrm xmlns:a="http://schemas.openxmlformats.org/drawingml/2006/main">
            <a:off x="1143000" y="6886346"/>
            <a:ext cx="10287000" cy="10863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b="1">
                <a:solidFill>
                  <a:srgbClr val="0F1226"/>
                </a:solidFill>
                <a:latin typeface="Inter"/>
                <a:ea typeface="Inter"/>
                <a:cs typeface="Inter"/>
              </a:rPr>
              <a:t>Reproduce the published UCI modeling approach and evaluate the same leakage-aware early-warning workflow separately in the behaviorally different OULAD setting.</a:t>
            </a:r>
          </a:p>
        </p:txBody>
      </p:sp>
      <p:sp>
        <p:nvSpPr>
          <p:cNvPr id="16" name="Text 10">
            <a:extLst xmlns:a="http://schemas.openxmlformats.org/drawingml/2006/main">
              <a:ext uri="{FF2B5EF4-FFF2-40B4-BE49-F238E27FC236}">
                <a16:creationId xmlns:a16="http://schemas.microsoft.com/office/drawing/2014/main" id="{22D30F0D-BD71-4269-9214-776C5084C918}"/>
              </a:ext>
            </a:extLst>
          </p:cNvPr>
          <p:cNvSpPr>
            <a:spLocks xmlns:a="http://schemas.openxmlformats.org/drawingml/2006/main" noGrp="1"/>
          </p:cNvSpPr>
          <p:nvPr/>
        </p:nvSpPr>
        <p:spPr>
          <a:xfrm xmlns:a="http://schemas.openxmlformats.org/drawingml/2006/main">
            <a:off x="1143000" y="8176565"/>
            <a:ext cx="10287000" cy="52395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6A6F8C"/>
                </a:solidFill>
                <a:latin typeface="JetBrains Mono"/>
                <a:ea typeface="JetBrains Mono"/>
                <a:cs typeface="JetBrains Mono"/>
              </a:rPr>
              <a:t>· Ground truth: </a:t>
            </a:r>
            <a:r>
              <a:rPr sz="1200">
                <a:solidFill>
                  <a:srgbClr val="0F1226"/>
                </a:solidFill>
                <a:latin typeface="JetBrains Mono"/>
                <a:ea typeface="JetBrains Mono"/>
                <a:cs typeface="JetBrains Mono"/>
              </a:rPr>
              <a:t>Dropout / Withdrawn</a:t>
            </a:r>
            <a:r>
              <a:rPr sz="1200">
                <a:solidFill>
                  <a:srgbClr val="6A6F8C"/>
                </a:solidFill>
                <a:latin typeface="JetBrains Mono"/>
                <a:ea typeface="JetBrains Mono"/>
                <a:cs typeface="JetBrains Mono"/>
              </a:rPr>
              <a:t> vs. rest · Two lenses: </a:t>
            </a:r>
            <a:r>
              <a:rPr sz="1200">
                <a:solidFill>
                  <a:srgbClr val="0F1226"/>
                </a:solidFill>
                <a:latin typeface="JetBrains Mono"/>
                <a:ea typeface="JetBrains Mono"/>
                <a:cs typeface="JetBrains Mono"/>
              </a:rPr>
              <a:t>records</a:t>
            </a:r>
            <a:r>
              <a:rPr sz="1200">
                <a:solidFill>
                  <a:srgbClr val="6A6F8C"/>
                </a:solidFill>
                <a:latin typeface="JetBrains Mono"/>
                <a:ea typeface="JetBrains Mono"/>
                <a:cs typeface="JetBrains Mono"/>
              </a:rPr>
              <a:t> (UCI) + </a:t>
            </a:r>
            <a:r>
              <a:rPr sz="1200">
                <a:solidFill>
                  <a:srgbClr val="0F1226"/>
                </a:solidFill>
                <a:latin typeface="JetBrains Mono"/>
                <a:ea typeface="JetBrains Mono"/>
                <a:cs typeface="JetBrains Mono"/>
              </a:rPr>
              <a:t>behaviour</a:t>
            </a:r>
            <a:r>
              <a:rPr sz="1200">
                <a:solidFill>
                  <a:srgbClr val="6A6F8C"/>
                </a:solidFill>
                <a:latin typeface="JetBrains Mono"/>
                <a:ea typeface="JetBrains Mono"/>
                <a:cs typeface="JetBrains Mono"/>
              </a:rPr>
              <a:t> (OULAD) · End state: a </a:t>
            </a:r>
            <a:r>
              <a:rPr sz="1200">
                <a:solidFill>
                  <a:srgbClr val="0F1226"/>
                </a:solidFill>
                <a:latin typeface="JetBrains Mono"/>
                <a:ea typeface="JetBrains Mono"/>
                <a:cs typeface="JetBrains Mono"/>
              </a:rPr>
              <a:t>decision-support prototype for cautious pilot evaluation</a:t>
            </a:r>
          </a:p>
        </p:txBody>
      </p:sp>
      <p:sp>
        <p:nvSpPr>
          <p:cNvPr id="17" name="Text 11">
            <a:extLst xmlns:a="http://schemas.openxmlformats.org/drawingml/2006/main">
              <a:ext uri="{FF2B5EF4-FFF2-40B4-BE49-F238E27FC236}">
                <a16:creationId xmlns:a16="http://schemas.microsoft.com/office/drawing/2014/main" id="{5D2DB68D-80A9-4EA5-B670-3F1DF6E0F931}"/>
              </a:ext>
            </a:extLst>
          </p:cNvPr>
          <p:cNvSpPr>
            <a:spLocks xmlns:a="http://schemas.openxmlformats.org/drawingml/2006/main" noGrp="1"/>
          </p:cNvSpPr>
          <p:nvPr/>
        </p:nvSpPr>
        <p:spPr>
          <a:xfrm xmlns:a="http://schemas.openxmlformats.org/drawingml/2006/main">
            <a:off x="12668098" y="1714500"/>
            <a:ext cx="4476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THE PROJECT AT A GLANCE</a:t>
            </a:r>
          </a:p>
        </p:txBody>
      </p:sp>
      <p:sp>
        <p:nvSpPr>
          <p:cNvPr id="18" name="Text 12">
            <a:extLst xmlns:a="http://schemas.openxmlformats.org/drawingml/2006/main">
              <a:ext uri="{FF2B5EF4-FFF2-40B4-BE49-F238E27FC236}">
                <a16:creationId xmlns:a16="http://schemas.microsoft.com/office/drawing/2014/main" id="{7F72215E-35C0-422E-99D7-7620B552C52E}"/>
              </a:ext>
            </a:extLst>
          </p:cNvPr>
          <p:cNvSpPr>
            <a:spLocks xmlns:a="http://schemas.openxmlformats.org/drawingml/2006/main" noGrp="1"/>
          </p:cNvSpPr>
          <p:nvPr/>
        </p:nvSpPr>
        <p:spPr>
          <a:xfrm xmlns:a="http://schemas.openxmlformats.org/drawingml/2006/main">
            <a:off x="12668098" y="2286000"/>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UCI · Portuguese higher education institution</a:t>
            </a:r>
          </a:p>
        </p:txBody>
      </p:sp>
      <p:sp>
        <p:nvSpPr>
          <p:cNvPr id="19" name="Text 13">
            <a:extLst xmlns:a="http://schemas.openxmlformats.org/drawingml/2006/main">
              <a:ext uri="{FF2B5EF4-FFF2-40B4-BE49-F238E27FC236}">
                <a16:creationId xmlns:a16="http://schemas.microsoft.com/office/drawing/2014/main" id="{B547D20A-4449-4040-8B3A-3983968133CA}"/>
              </a:ext>
            </a:extLst>
          </p:cNvPr>
          <p:cNvSpPr>
            <a:spLocks xmlns:a="http://schemas.openxmlformats.org/drawingml/2006/main" noGrp="1"/>
          </p:cNvSpPr>
          <p:nvPr/>
        </p:nvSpPr>
        <p:spPr>
          <a:xfrm xmlns:a="http://schemas.openxmlformats.org/drawingml/2006/main">
            <a:off x="12668098" y="2542946"/>
            <a:ext cx="17245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4,424</a:t>
            </a:r>
          </a:p>
        </p:txBody>
      </p:sp>
      <p:sp>
        <p:nvSpPr>
          <p:cNvPr id="20" name="Text 14">
            <a:extLst xmlns:a="http://schemas.openxmlformats.org/drawingml/2006/main">
              <a:ext uri="{FF2B5EF4-FFF2-40B4-BE49-F238E27FC236}">
                <a16:creationId xmlns:a16="http://schemas.microsoft.com/office/drawing/2014/main" id="{2E8DE730-70BE-4A65-95A5-B8894C2E2ADD}"/>
              </a:ext>
            </a:extLst>
          </p:cNvPr>
          <p:cNvSpPr>
            <a:spLocks xmlns:a="http://schemas.openxmlformats.org/drawingml/2006/main" noGrp="1"/>
          </p:cNvSpPr>
          <p:nvPr/>
        </p:nvSpPr>
        <p:spPr>
          <a:xfrm xmlns:a="http://schemas.openxmlformats.org/drawingml/2006/main">
            <a:off x="14496898" y="2866644"/>
            <a:ext cx="136062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 records</a:t>
            </a:r>
          </a:p>
        </p:txBody>
      </p:sp>
      <p:sp>
        <p:nvSpPr>
          <p:cNvPr id="21" name="Text 15">
            <a:extLst xmlns:a="http://schemas.openxmlformats.org/drawingml/2006/main">
              <a:ext uri="{FF2B5EF4-FFF2-40B4-BE49-F238E27FC236}">
                <a16:creationId xmlns:a16="http://schemas.microsoft.com/office/drawing/2014/main" id="{61BA2D6D-66F9-4DB9-AC3E-97FD833B4A8D}"/>
              </a:ext>
            </a:extLst>
          </p:cNvPr>
          <p:cNvSpPr>
            <a:spLocks xmlns:a="http://schemas.openxmlformats.org/drawingml/2006/main" noGrp="1"/>
          </p:cNvSpPr>
          <p:nvPr/>
        </p:nvSpPr>
        <p:spPr>
          <a:xfrm xmlns:a="http://schemas.openxmlformats.org/drawingml/2006/main">
            <a:off x="12668098" y="3191256"/>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3 outcomes · Dropout / Enrolled / Graduate</a:t>
            </a:r>
          </a:p>
        </p:txBody>
      </p:sp>
      <p:sp>
        <p:nvSpPr>
          <p:cNvPr id="22" name="Text 16">
            <a:extLst xmlns:a="http://schemas.openxmlformats.org/drawingml/2006/main">
              <a:ext uri="{FF2B5EF4-FFF2-40B4-BE49-F238E27FC236}">
                <a16:creationId xmlns:a16="http://schemas.microsoft.com/office/drawing/2014/main" id="{1C1F0C2A-C301-40BD-9FE8-566CE3580325}"/>
              </a:ext>
            </a:extLst>
          </p:cNvPr>
          <p:cNvSpPr>
            <a:spLocks xmlns:a="http://schemas.openxmlformats.org/drawingml/2006/main" noGrp="1"/>
          </p:cNvSpPr>
          <p:nvPr/>
        </p:nvSpPr>
        <p:spPr>
          <a:xfrm xmlns:a="http://schemas.openxmlformats.org/drawingml/2006/main">
            <a:off x="12668098" y="419069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OULAD · Open University UK</a:t>
            </a:r>
          </a:p>
        </p:txBody>
      </p:sp>
      <p:sp>
        <p:nvSpPr>
          <p:cNvPr id="23" name="Text 17">
            <a:extLst xmlns:a="http://schemas.openxmlformats.org/drawingml/2006/main">
              <a:ext uri="{FF2B5EF4-FFF2-40B4-BE49-F238E27FC236}">
                <a16:creationId xmlns:a16="http://schemas.microsoft.com/office/drawing/2014/main" id="{07C1145F-F8AF-4907-9B17-91835CA1BEB9}"/>
              </a:ext>
            </a:extLst>
          </p:cNvPr>
          <p:cNvSpPr>
            <a:spLocks xmlns:a="http://schemas.openxmlformats.org/drawingml/2006/main" noGrp="1"/>
          </p:cNvSpPr>
          <p:nvPr/>
        </p:nvSpPr>
        <p:spPr>
          <a:xfrm xmlns:a="http://schemas.openxmlformats.org/drawingml/2006/main">
            <a:off x="12668098" y="4448556"/>
            <a:ext cx="20674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32,593</a:t>
            </a:r>
          </a:p>
        </p:txBody>
      </p:sp>
      <p:sp>
        <p:nvSpPr>
          <p:cNvPr id="24" name="Text 18">
            <a:extLst xmlns:a="http://schemas.openxmlformats.org/drawingml/2006/main">
              <a:ext uri="{FF2B5EF4-FFF2-40B4-BE49-F238E27FC236}">
                <a16:creationId xmlns:a16="http://schemas.microsoft.com/office/drawing/2014/main" id="{78B76598-E083-4DDF-87B6-A1B6ACA985AC}"/>
              </a:ext>
            </a:extLst>
          </p:cNvPr>
          <p:cNvSpPr>
            <a:spLocks xmlns:a="http://schemas.openxmlformats.org/drawingml/2006/main" noGrp="1"/>
          </p:cNvSpPr>
          <p:nvPr/>
        </p:nvSpPr>
        <p:spPr>
          <a:xfrm xmlns:a="http://schemas.openxmlformats.org/drawingml/2006/main">
            <a:off x="14840712" y="4772254"/>
            <a:ext cx="1799539"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student-module rows</a:t>
            </a:r>
          </a:p>
        </p:txBody>
      </p:sp>
      <p:sp>
        <p:nvSpPr>
          <p:cNvPr id="25" name="Text 19">
            <a:extLst xmlns:a="http://schemas.openxmlformats.org/drawingml/2006/main">
              <a:ext uri="{FF2B5EF4-FFF2-40B4-BE49-F238E27FC236}">
                <a16:creationId xmlns:a16="http://schemas.microsoft.com/office/drawing/2014/main" id="{7410CD55-BB0D-4F92-9037-8E18783FC0B0}"/>
              </a:ext>
            </a:extLst>
          </p:cNvPr>
          <p:cNvSpPr>
            <a:spLocks xmlns:a="http://schemas.openxmlformats.org/drawingml/2006/main" noGrp="1"/>
          </p:cNvSpPr>
          <p:nvPr/>
        </p:nvSpPr>
        <p:spPr>
          <a:xfrm xmlns:a="http://schemas.openxmlformats.org/drawingml/2006/main">
            <a:off x="12668098" y="5095951"/>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4 outcomes · Pass / Distinction / Fail / Withdrawn</a:t>
            </a:r>
          </a:p>
        </p:txBody>
      </p:sp>
      <p:sp>
        <p:nvSpPr>
          <p:cNvPr id="26" name="Text 20">
            <a:extLst xmlns:a="http://schemas.openxmlformats.org/drawingml/2006/main">
              <a:ext uri="{FF2B5EF4-FFF2-40B4-BE49-F238E27FC236}">
                <a16:creationId xmlns:a16="http://schemas.microsoft.com/office/drawing/2014/main" id="{0E7ABA84-D30E-4DC0-9719-EEC4F4A072A4}"/>
              </a:ext>
            </a:extLst>
          </p:cNvPr>
          <p:cNvSpPr>
            <a:spLocks xmlns:a="http://schemas.openxmlformats.org/drawingml/2006/main" noGrp="1"/>
          </p:cNvSpPr>
          <p:nvPr/>
        </p:nvSpPr>
        <p:spPr>
          <a:xfrm xmlns:a="http://schemas.openxmlformats.org/drawingml/2006/main">
            <a:off x="12668098" y="609630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Prediction window</a:t>
            </a:r>
          </a:p>
        </p:txBody>
      </p:sp>
      <p:sp>
        <p:nvSpPr>
          <p:cNvPr id="27" name="Text 21">
            <a:extLst xmlns:a="http://schemas.openxmlformats.org/drawingml/2006/main">
              <a:ext uri="{FF2B5EF4-FFF2-40B4-BE49-F238E27FC236}">
                <a16:creationId xmlns:a16="http://schemas.microsoft.com/office/drawing/2014/main" id="{DED59055-B24B-42A2-8C94-FE38A8A80A07}"/>
              </a:ext>
            </a:extLst>
          </p:cNvPr>
          <p:cNvSpPr>
            <a:spLocks xmlns:a="http://schemas.openxmlformats.org/drawingml/2006/main" noGrp="1"/>
          </p:cNvSpPr>
          <p:nvPr/>
        </p:nvSpPr>
        <p:spPr>
          <a:xfrm xmlns:a="http://schemas.openxmlformats.org/drawingml/2006/main">
            <a:off x="12668098" y="6295644"/>
            <a:ext cx="4476902"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FFFFFF"/>
                </a:solidFill>
                <a:latin typeface="JetBrains Mono"/>
                <a:ea typeface="JetBrains Mono"/>
                <a:cs typeface="JetBrains Mono"/>
              </a:rPr>
              <a:t>First 75 days</a:t>
            </a:r>
            <a:r>
              <a:rPr sz="2700" b="1">
                <a:solidFill>
                  <a:srgbClr val="FF5CA0"/>
                </a:solidFill>
                <a:latin typeface="JetBrains Mono"/>
                <a:ea typeface="JetBrains Mono"/>
                <a:cs typeface="JetBrains Mono"/>
              </a:rPr>
              <a:t>*</a:t>
            </a:r>
          </a:p>
        </p:txBody>
      </p:sp>
      <p:sp>
        <p:nvSpPr>
          <p:cNvPr id="28" name="Text 22">
            <a:extLst xmlns:a="http://schemas.openxmlformats.org/drawingml/2006/main">
              <a:ext uri="{FF2B5EF4-FFF2-40B4-BE49-F238E27FC236}">
                <a16:creationId xmlns:a16="http://schemas.microsoft.com/office/drawing/2014/main" id="{8C81F6A0-0BF4-4D04-B4EB-F7D15821805B}"/>
              </a:ext>
            </a:extLst>
          </p:cNvPr>
          <p:cNvSpPr>
            <a:spLocks xmlns:a="http://schemas.openxmlformats.org/drawingml/2006/main" noGrp="1"/>
          </p:cNvSpPr>
          <p:nvPr/>
        </p:nvSpPr>
        <p:spPr>
          <a:xfrm xmlns:a="http://schemas.openxmlformats.org/drawingml/2006/main">
            <a:off x="12668098" y="6772046"/>
            <a:ext cx="4476902"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i="1">
                <a:solidFill>
                  <a:srgbClr val="FFFFFF">
                    <a:alpha val="55000"/>
                  </a:srgbClr>
                </a:solidFill>
                <a:latin typeface="Inter"/>
                <a:ea typeface="Inter"/>
                <a:cs typeface="Inter"/>
              </a:rPr>
              <a:t>*OULAD; UCI uses 1st-semester curricular units</a:t>
            </a:r>
          </a:p>
        </p:txBody>
      </p:sp>
      <p:sp>
        <p:nvSpPr>
          <p:cNvPr id="29" name="Text 23">
            <a:extLst xmlns:a="http://schemas.openxmlformats.org/drawingml/2006/main">
              <a:ext uri="{FF2B5EF4-FFF2-40B4-BE49-F238E27FC236}">
                <a16:creationId xmlns:a16="http://schemas.microsoft.com/office/drawing/2014/main" id="{0A0C2713-C293-469E-BC44-0210584F8127}"/>
              </a:ext>
            </a:extLst>
          </p:cNvPr>
          <p:cNvSpPr>
            <a:spLocks xmlns:a="http://schemas.openxmlformats.org/drawingml/2006/main" noGrp="1"/>
          </p:cNvSpPr>
          <p:nvPr/>
        </p:nvSpPr>
        <p:spPr>
          <a:xfrm xmlns:a="http://schemas.openxmlformats.org/drawingml/2006/main">
            <a:off x="12668098" y="7905902"/>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Deliverable</a:t>
            </a:r>
          </a:p>
        </p:txBody>
      </p:sp>
      <p:sp>
        <p:nvSpPr>
          <p:cNvPr id="30" name="Text 24">
            <a:extLst xmlns:a="http://schemas.openxmlformats.org/drawingml/2006/main">
              <a:ext uri="{FF2B5EF4-FFF2-40B4-BE49-F238E27FC236}">
                <a16:creationId xmlns:a16="http://schemas.microsoft.com/office/drawing/2014/main" id="{930D8B59-8CC1-4FAC-BF6E-3D4661916079}"/>
              </a:ext>
            </a:extLst>
          </p:cNvPr>
          <p:cNvSpPr>
            <a:spLocks xmlns:a="http://schemas.openxmlformats.org/drawingml/2006/main" noGrp="1"/>
          </p:cNvSpPr>
          <p:nvPr/>
        </p:nvSpPr>
        <p:spPr>
          <a:xfrm xmlns:a="http://schemas.openxmlformats.org/drawingml/2006/main">
            <a:off x="12668098" y="8143646"/>
            <a:ext cx="447690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FFFFFF"/>
                </a:solidFill>
                <a:latin typeface="Source Serif Pro"/>
                <a:ea typeface="Source Serif Pro"/>
                <a:cs typeface="Source Serif Pro"/>
              </a:rPr>
              <a:t>Two evaluated models and a proposed advisor-support pilot plan.</a:t>
            </a:r>
          </a:p>
        </p:txBody>
      </p:sp>
    </p:spTree>
    <p:extLst>
      <p:ext uri="{BB962C8B-B14F-4D97-AF65-F5344CB8AC3E}">
        <p14:creationId xmlns:p14="http://schemas.microsoft.com/office/powerpoint/2010/main" val="1287508928"/>
      </p:ext>
    </p:extLst>
  </p:cSld>
</p:sld>
</file>

<file path=ppt/slides/slide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f9715b046279423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4501A0D-C3C6-4DFD-A5F5-1B9408378017}"/>
              </a:ext>
            </a:extLst>
          </p:cNvPr>
          <p:cNvSpPr>
            <a:spLocks xmlns:a="http://schemas.openxmlformats.org/drawingml/2006/main" noGrp="1"/>
          </p:cNvSpPr>
          <p:nvPr/>
        </p:nvSpPr>
        <p:spPr>
          <a:xfrm xmlns:a="http://schemas.openxmlformats.org/drawingml/2006/main">
            <a:off x="761695" y="2381098"/>
            <a:ext cx="5352898" cy="6877202"/>
          </a:xfrm>
          <a:prstGeom xmlns:a="http://schemas.openxmlformats.org/drawingml/2006/main" prst="roundRect">
            <a:avLst>
              <a:gd name="adj" fmla="val 35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439A774-2635-4F57-86CA-0AFEB35113A7}"/>
              </a:ext>
            </a:extLst>
          </p:cNvPr>
          <p:cNvSpPr>
            <a:spLocks xmlns:a="http://schemas.openxmlformats.org/drawingml/2006/main" noGrp="1"/>
          </p:cNvSpPr>
          <p:nvPr/>
        </p:nvSpPr>
        <p:spPr>
          <a:xfrm xmlns:a="http://schemas.openxmlformats.org/drawingml/2006/main">
            <a:off x="7048195" y="2381098"/>
            <a:ext cx="10477195" cy="6858000"/>
          </a:xfrm>
          <a:prstGeom xmlns:a="http://schemas.openxmlformats.org/drawingml/2006/main" prst="roundRect">
            <a:avLst>
              <a:gd name="adj" fmla="val 28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178aa24844e04073"/>
          <a:srcRect xmlns:a="http://schemas.openxmlformats.org/drawingml/2006/main" l="-400" t="0" r="-400" b="0"/>
          <a:stretch xmlns:a="http://schemas.openxmlformats.org/drawingml/2006/main"/>
        </p:blipFill>
        <p:spPr>
          <a:xfrm xmlns:a="http://schemas.openxmlformats.org/drawingml/2006/main">
            <a:off x="761695" y="2381098"/>
            <a:ext cx="57607" cy="6858000"/>
          </a:xfrm>
          <a:prstGeom xmlns:a="http://schemas.openxmlformats.org/drawingml/2006/main" prst="rect">
            <a:avLst/>
          </a:prstGeom>
        </p:spPr>
      </p:pic>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1bdd9e0f190840bb"/>
          <a:srcRect xmlns:a="http://schemas.openxmlformats.org/drawingml/2006/main" l="0" t="-2078" r="0" b="-2078"/>
          <a:stretch xmlns:a="http://schemas.openxmlformats.org/drawingml/2006/main"/>
        </p:blipFill>
        <p:spPr>
          <a:xfrm xmlns:a="http://schemas.openxmlformats.org/drawingml/2006/main">
            <a:off x="12382805" y="4095598"/>
            <a:ext cx="9144" cy="3619195"/>
          </a:xfrm>
          <a:prstGeom xmlns:a="http://schemas.openxmlformats.org/drawingml/2006/main" prst="rect">
            <a:avLst/>
          </a:prstGeom>
        </p:spPr>
      </p:pic>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cedcf97475454531"/>
          <a:srcRect xmlns:a="http://schemas.openxmlformats.org/drawingml/2006/main" l="-2083" t="0" r="-2083" b="0"/>
          <a:stretch xmlns:a="http://schemas.openxmlformats.org/drawingml/2006/main"/>
        </p:blipFill>
        <p:spPr>
          <a:xfrm xmlns:a="http://schemas.openxmlformats.org/drawingml/2006/main">
            <a:off x="7429500" y="8143646"/>
            <a:ext cx="9715500" cy="9144"/>
          </a:xfrm>
          <a:prstGeom xmlns:a="http://schemas.openxmlformats.org/drawingml/2006/main" prst="rect">
            <a:avLst/>
          </a:prstGeom>
        </p:spPr>
      </p:pic>
      <p:sp>
        <p:nvSpPr>
          <p:cNvPr id="9" name="Text 2">
            <a:extLst xmlns:a="http://schemas.openxmlformats.org/drawingml/2006/main">
              <a:ext uri="{FF2B5EF4-FFF2-40B4-BE49-F238E27FC236}">
                <a16:creationId xmlns:a16="http://schemas.microsoft.com/office/drawing/2014/main" id="{B948EDB6-04DC-4791-9319-30EDCBE59C33}"/>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02 · Problem, scope &amp; success</a:t>
            </a:r>
          </a:p>
        </p:txBody>
      </p:sp>
      <p:sp>
        <p:nvSpPr>
          <p:cNvPr id="10" name="Text 3">
            <a:extLst xmlns:a="http://schemas.openxmlformats.org/drawingml/2006/main">
              <a:ext uri="{FF2B5EF4-FFF2-40B4-BE49-F238E27FC236}">
                <a16:creationId xmlns:a16="http://schemas.microsoft.com/office/drawing/2014/main" id="{FC5E838E-D08C-4D49-BD38-946D51FA9FEB}"/>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04 / 20</a:t>
            </a:r>
          </a:p>
        </p:txBody>
      </p:sp>
      <p:sp>
        <p:nvSpPr>
          <p:cNvPr id="11" name="Text 4">
            <a:extLst xmlns:a="http://schemas.openxmlformats.org/drawingml/2006/main">
              <a:ext uri="{FF2B5EF4-FFF2-40B4-BE49-F238E27FC236}">
                <a16:creationId xmlns:a16="http://schemas.microsoft.com/office/drawing/2014/main" id="{8CB03A6C-795F-4B47-956A-14340DC62C62}"/>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From a business worry to a labelled learning task.</a:t>
            </a:r>
          </a:p>
        </p:txBody>
      </p:sp>
      <p:sp>
        <p:nvSpPr>
          <p:cNvPr id="12" name="Text 5">
            <a:extLst xmlns:a="http://schemas.openxmlformats.org/drawingml/2006/main">
              <a:ext uri="{FF2B5EF4-FFF2-40B4-BE49-F238E27FC236}">
                <a16:creationId xmlns:a16="http://schemas.microsoft.com/office/drawing/2014/main" id="{327B59A3-7EA2-4E97-A80E-C42A938F1735}"/>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Scope, stakeholders, constraints, targets, and evidence — one slide.</a:t>
            </a:r>
          </a:p>
        </p:txBody>
      </p:sp>
      <p:sp>
        <p:nvSpPr>
          <p:cNvPr id="13" name="Text 6">
            <a:extLst xmlns:a="http://schemas.openxmlformats.org/drawingml/2006/main">
              <a:ext uri="{FF2B5EF4-FFF2-40B4-BE49-F238E27FC236}">
                <a16:creationId xmlns:a16="http://schemas.microsoft.com/office/drawing/2014/main" id="{7A45FFE9-FA45-43D6-A4D2-543BB6966D36}"/>
              </a:ext>
            </a:extLst>
          </p:cNvPr>
          <p:cNvSpPr>
            <a:spLocks xmlns:a="http://schemas.openxmlformats.org/drawingml/2006/main" noGrp="1"/>
          </p:cNvSpPr>
          <p:nvPr/>
        </p:nvSpPr>
        <p:spPr>
          <a:xfrm xmlns:a="http://schemas.openxmlformats.org/drawingml/2006/main">
            <a:off x="1143000" y="261975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Business problem</a:t>
            </a:r>
          </a:p>
        </p:txBody>
      </p:sp>
      <p:sp>
        <p:nvSpPr>
          <p:cNvPr id="14" name="Text 7">
            <a:extLst xmlns:a="http://schemas.openxmlformats.org/drawingml/2006/main">
              <a:ext uri="{FF2B5EF4-FFF2-40B4-BE49-F238E27FC236}">
                <a16:creationId xmlns:a16="http://schemas.microsoft.com/office/drawing/2014/main" id="{FCB38353-B614-4C81-8ED6-4884C21CFE75}"/>
              </a:ext>
            </a:extLst>
          </p:cNvPr>
          <p:cNvSpPr>
            <a:spLocks xmlns:a="http://schemas.openxmlformats.org/drawingml/2006/main" noGrp="1"/>
          </p:cNvSpPr>
          <p:nvPr/>
        </p:nvSpPr>
        <p:spPr>
          <a:xfrm xmlns:a="http://schemas.openxmlformats.org/drawingml/2006/main">
            <a:off x="1143000" y="2848356"/>
            <a:ext cx="4668012" cy="6007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Identify at-risk students earlier and more consistently.</a:t>
            </a:r>
          </a:p>
        </p:txBody>
      </p:sp>
      <p:sp>
        <p:nvSpPr>
          <p:cNvPr id="15" name="Text 8">
            <a:extLst xmlns:a="http://schemas.openxmlformats.org/drawingml/2006/main">
              <a:ext uri="{FF2B5EF4-FFF2-40B4-BE49-F238E27FC236}">
                <a16:creationId xmlns:a16="http://schemas.microsoft.com/office/drawing/2014/main" id="{0FE420B4-7049-47C2-ABD6-0718086A1FA6}"/>
              </a:ext>
            </a:extLst>
          </p:cNvPr>
          <p:cNvSpPr>
            <a:spLocks xmlns:a="http://schemas.openxmlformats.org/drawingml/2006/main" noGrp="1"/>
          </p:cNvSpPr>
          <p:nvPr/>
        </p:nvSpPr>
        <p:spPr>
          <a:xfrm xmlns:a="http://schemas.openxmlformats.org/drawingml/2006/main">
            <a:off x="1143000" y="3594506"/>
            <a:ext cx="5353812"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Manual review often catches risk only after problems are visible.</a:t>
            </a:r>
          </a:p>
        </p:txBody>
      </p:sp>
      <p:sp>
        <p:nvSpPr>
          <p:cNvPr id="16" name="Text 9">
            <a:extLst xmlns:a="http://schemas.openxmlformats.org/drawingml/2006/main">
              <a:ext uri="{FF2B5EF4-FFF2-40B4-BE49-F238E27FC236}">
                <a16:creationId xmlns:a16="http://schemas.microsoft.com/office/drawing/2014/main" id="{2A9FBC90-21CB-4AA9-96C0-61F893D4E3E9}"/>
              </a:ext>
            </a:extLst>
          </p:cNvPr>
          <p:cNvSpPr>
            <a:spLocks xmlns:a="http://schemas.openxmlformats.org/drawingml/2006/main" noGrp="1"/>
          </p:cNvSpPr>
          <p:nvPr/>
        </p:nvSpPr>
        <p:spPr>
          <a:xfrm xmlns:a="http://schemas.openxmlformats.org/drawingml/2006/main">
            <a:off x="1143000" y="3906317"/>
            <a:ext cx="5172761"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Consistent review of every student at scale is difficult.</a:t>
            </a:r>
          </a:p>
        </p:txBody>
      </p:sp>
      <p:sp>
        <p:nvSpPr>
          <p:cNvPr id="17" name="Text 10">
            <a:extLst xmlns:a="http://schemas.openxmlformats.org/drawingml/2006/main">
              <a:ext uri="{FF2B5EF4-FFF2-40B4-BE49-F238E27FC236}">
                <a16:creationId xmlns:a16="http://schemas.microsoft.com/office/drawing/2014/main" id="{6814BF4F-4510-4B1F-AABA-A4FE00BF9052}"/>
              </a:ext>
            </a:extLst>
          </p:cNvPr>
          <p:cNvSpPr>
            <a:spLocks xmlns:a="http://schemas.openxmlformats.org/drawingml/2006/main" noGrp="1"/>
          </p:cNvSpPr>
          <p:nvPr/>
        </p:nvSpPr>
        <p:spPr>
          <a:xfrm xmlns:a="http://schemas.openxmlformats.org/drawingml/2006/main">
            <a:off x="1143000" y="4218127"/>
            <a:ext cx="50868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Earlier estimates may help advisors prioritize outreach.</a:t>
            </a:r>
          </a:p>
        </p:txBody>
      </p:sp>
      <p:sp>
        <p:nvSpPr>
          <p:cNvPr id="18" name="Shape 11">
            <a:extLst xmlns:a="http://schemas.openxmlformats.org/drawingml/2006/main">
              <a:ext uri="{FF2B5EF4-FFF2-40B4-BE49-F238E27FC236}">
                <a16:creationId xmlns:a16="http://schemas.microsoft.com/office/drawing/2014/main" id="{82A6BA5D-24F6-480E-B486-80C45CD82898}"/>
              </a:ext>
            </a:extLst>
          </p:cNvPr>
          <p:cNvSpPr>
            <a:spLocks xmlns:a="http://schemas.openxmlformats.org/drawingml/2006/main" noGrp="1"/>
          </p:cNvSpPr>
          <p:nvPr/>
        </p:nvSpPr>
        <p:spPr>
          <a:xfrm xmlns:a="http://schemas.openxmlformats.org/drawingml/2006/main">
            <a:off x="1143000" y="466344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2">
            <a:extLst xmlns:a="http://schemas.openxmlformats.org/drawingml/2006/main">
              <a:ext uri="{FF2B5EF4-FFF2-40B4-BE49-F238E27FC236}">
                <a16:creationId xmlns:a16="http://schemas.microsoft.com/office/drawing/2014/main" id="{E3813B11-BCF6-47EA-BAF7-EDDAF7130059}"/>
              </a:ext>
            </a:extLst>
          </p:cNvPr>
          <p:cNvSpPr>
            <a:spLocks xmlns:a="http://schemas.openxmlformats.org/drawingml/2006/main" noGrp="1"/>
          </p:cNvSpPr>
          <p:nvPr/>
        </p:nvSpPr>
        <p:spPr>
          <a:xfrm xmlns:a="http://schemas.openxmlformats.org/drawingml/2006/main">
            <a:off x="1143000" y="4806086"/>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Stakeholders</a:t>
            </a:r>
          </a:p>
        </p:txBody>
      </p:sp>
      <p:sp>
        <p:nvSpPr>
          <p:cNvPr id="20" name="Text 13">
            <a:extLst xmlns:a="http://schemas.openxmlformats.org/drawingml/2006/main">
              <a:ext uri="{FF2B5EF4-FFF2-40B4-BE49-F238E27FC236}">
                <a16:creationId xmlns:a16="http://schemas.microsoft.com/office/drawing/2014/main" id="{C94C76E5-DC18-4D33-BD98-7A2397C3EF10}"/>
              </a:ext>
            </a:extLst>
          </p:cNvPr>
          <p:cNvSpPr>
            <a:spLocks xmlns:a="http://schemas.openxmlformats.org/drawingml/2006/main" noGrp="1"/>
          </p:cNvSpPr>
          <p:nvPr/>
        </p:nvSpPr>
        <p:spPr>
          <a:xfrm xmlns:a="http://schemas.openxmlformats.org/drawingml/2006/main">
            <a:off x="1143000" y="5016398"/>
            <a:ext cx="466801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Students · academic advisors · student-success offices · IT / data-governance teams</a:t>
            </a:r>
          </a:p>
        </p:txBody>
      </p:sp>
      <p:sp>
        <p:nvSpPr>
          <p:cNvPr id="21" name="Shape 14">
            <a:extLst xmlns:a="http://schemas.openxmlformats.org/drawingml/2006/main">
              <a:ext uri="{FF2B5EF4-FFF2-40B4-BE49-F238E27FC236}">
                <a16:creationId xmlns:a16="http://schemas.microsoft.com/office/drawing/2014/main" id="{BE30E96A-92DE-48DD-94CE-AE107CD1744D}"/>
              </a:ext>
            </a:extLst>
          </p:cNvPr>
          <p:cNvSpPr>
            <a:spLocks xmlns:a="http://schemas.openxmlformats.org/drawingml/2006/main" noGrp="1"/>
          </p:cNvSpPr>
          <p:nvPr/>
        </p:nvSpPr>
        <p:spPr>
          <a:xfrm xmlns:a="http://schemas.openxmlformats.org/drawingml/2006/main">
            <a:off x="1143000" y="5644591"/>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2" name="Text 15">
            <a:extLst xmlns:a="http://schemas.openxmlformats.org/drawingml/2006/main">
              <a:ext uri="{FF2B5EF4-FFF2-40B4-BE49-F238E27FC236}">
                <a16:creationId xmlns:a16="http://schemas.microsoft.com/office/drawing/2014/main" id="{3A0960ED-CA6C-4DF1-B6FC-004F0F2803A7}"/>
              </a:ext>
            </a:extLst>
          </p:cNvPr>
          <p:cNvSpPr>
            <a:spLocks xmlns:a="http://schemas.openxmlformats.org/drawingml/2006/main" noGrp="1"/>
          </p:cNvSpPr>
          <p:nvPr/>
        </p:nvSpPr>
        <p:spPr>
          <a:xfrm xmlns:a="http://schemas.openxmlformats.org/drawingml/2006/main">
            <a:off x="1143000" y="5787238"/>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Constraints</a:t>
            </a:r>
          </a:p>
        </p:txBody>
      </p:sp>
      <p:sp>
        <p:nvSpPr>
          <p:cNvPr id="23" name="Text 16">
            <a:extLst xmlns:a="http://schemas.openxmlformats.org/drawingml/2006/main">
              <a:ext uri="{FF2B5EF4-FFF2-40B4-BE49-F238E27FC236}">
                <a16:creationId xmlns:a16="http://schemas.microsoft.com/office/drawing/2014/main" id="{9150D31D-8404-4551-9909-AC1491817F9E}"/>
              </a:ext>
            </a:extLst>
          </p:cNvPr>
          <p:cNvSpPr>
            <a:spLocks xmlns:a="http://schemas.openxmlformats.org/drawingml/2006/main" noGrp="1"/>
          </p:cNvSpPr>
          <p:nvPr/>
        </p:nvSpPr>
        <p:spPr>
          <a:xfrm xmlns:a="http://schemas.openxmlformats.org/drawingml/2006/main">
            <a:off x="1143000" y="5997550"/>
            <a:ext cx="46680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Public historical datasets only · no live SIS or LMS access · limited local compute · no causal evidence that advisor interventions improve retention</a:t>
            </a:r>
          </a:p>
        </p:txBody>
      </p:sp>
      <p:sp>
        <p:nvSpPr>
          <p:cNvPr id="24" name="Shape 17">
            <a:extLst xmlns:a="http://schemas.openxmlformats.org/drawingml/2006/main">
              <a:ext uri="{FF2B5EF4-FFF2-40B4-BE49-F238E27FC236}">
                <a16:creationId xmlns:a16="http://schemas.microsoft.com/office/drawing/2014/main" id="{561BCB66-6E26-4EDF-805A-58BEEF405357}"/>
              </a:ext>
            </a:extLst>
          </p:cNvPr>
          <p:cNvSpPr>
            <a:spLocks xmlns:a="http://schemas.openxmlformats.org/drawingml/2006/main" noGrp="1"/>
          </p:cNvSpPr>
          <p:nvPr/>
        </p:nvSpPr>
        <p:spPr>
          <a:xfrm xmlns:a="http://schemas.openxmlformats.org/drawingml/2006/main">
            <a:off x="1143000" y="659556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5" name="Text 18">
            <a:extLst xmlns:a="http://schemas.openxmlformats.org/drawingml/2006/main">
              <a:ext uri="{FF2B5EF4-FFF2-40B4-BE49-F238E27FC236}">
                <a16:creationId xmlns:a16="http://schemas.microsoft.com/office/drawing/2014/main" id="{6F09BAC9-E388-4033-874E-6A98DF3D060D}"/>
              </a:ext>
            </a:extLst>
          </p:cNvPr>
          <p:cNvSpPr>
            <a:spLocks xmlns:a="http://schemas.openxmlformats.org/drawingml/2006/main" noGrp="1"/>
          </p:cNvSpPr>
          <p:nvPr/>
        </p:nvSpPr>
        <p:spPr>
          <a:xfrm xmlns:a="http://schemas.openxmlformats.org/drawingml/2006/main">
            <a:off x="1143000" y="6738214"/>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Scope</a:t>
            </a:r>
          </a:p>
        </p:txBody>
      </p:sp>
      <p:sp>
        <p:nvSpPr>
          <p:cNvPr id="26" name="Text 19">
            <a:extLst xmlns:a="http://schemas.openxmlformats.org/drawingml/2006/main">
              <a:ext uri="{FF2B5EF4-FFF2-40B4-BE49-F238E27FC236}">
                <a16:creationId xmlns:a16="http://schemas.microsoft.com/office/drawing/2014/main" id="{BF31494C-7022-4005-8F4C-34E0A28333C0}"/>
              </a:ext>
            </a:extLst>
          </p:cNvPr>
          <p:cNvSpPr>
            <a:spLocks xmlns:a="http://schemas.openxmlformats.org/drawingml/2006/main" noGrp="1"/>
          </p:cNvSpPr>
          <p:nvPr/>
        </p:nvSpPr>
        <p:spPr>
          <a:xfrm xmlns:a="http://schemas.openxmlformats.org/drawingml/2006/main">
            <a:off x="1143000" y="6921094"/>
            <a:ext cx="4668012" cy="884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800">
                <a:solidFill>
                  <a:srgbClr val="1B9E8F"/>
                </a:solidFill>
                <a:latin typeface="JetBrains Mono"/>
                <a:ea typeface="JetBrains Mono"/>
                <a:cs typeface="JetBrains Mono"/>
              </a:rPr>
              <a:t>IN</a:t>
            </a:r>
            <a:r>
              <a:rPr sz="1000">
                <a:solidFill>
                  <a:srgbClr val="2A2E4B"/>
                </a:solidFill>
                <a:latin typeface="Inter"/>
                <a:ea typeface="Inter"/>
                <a:cs typeface="Inter"/>
              </a:rPr>
              <a:t> early identification · advisor ranking · UCI reproduction · UCI/OULAD comparison</a:t>
            </a:r>
          </a:p>
          <a:p xmlns:a="http://schemas.openxmlformats.org/drawingml/2006/main">
            <a:pPr marL="0" indent="0" algn="l">
              <a:lnSpc>
                <a:spcPts val="1680"/>
              </a:lnSpc>
              <a:buNone/>
            </a:pPr>
            <a:r>
              <a:rPr sz="800">
                <a:solidFill>
                  <a:srgbClr val="C43E5A"/>
                </a:solidFill>
                <a:latin typeface="JetBrains Mono"/>
                <a:ea typeface="JetBrains Mono"/>
                <a:cs typeface="JetBrains Mono"/>
              </a:rPr>
              <a:t>OUT</a:t>
            </a:r>
            <a:r>
              <a:rPr sz="1000">
                <a:solidFill>
                  <a:srgbClr val="2A2E4B"/>
                </a:solidFill>
                <a:latin typeface="Inter"/>
                <a:ea typeface="Inter"/>
                <a:cs typeface="Inter"/>
              </a:rPr>
              <a:t> automatic disciplinary / aid decisions · real-time streaming · direct model transfer</a:t>
            </a:r>
          </a:p>
        </p:txBody>
      </p:sp>
      <p:sp>
        <p:nvSpPr>
          <p:cNvPr id="27" name="Text 20">
            <a:extLst xmlns:a="http://schemas.openxmlformats.org/drawingml/2006/main">
              <a:ext uri="{FF2B5EF4-FFF2-40B4-BE49-F238E27FC236}">
                <a16:creationId xmlns:a16="http://schemas.microsoft.com/office/drawing/2014/main" id="{CE187A55-5DD3-42F8-86D7-5C1F436E0D19}"/>
              </a:ext>
            </a:extLst>
          </p:cNvPr>
          <p:cNvSpPr>
            <a:spLocks xmlns:a="http://schemas.openxmlformats.org/drawingml/2006/main" noGrp="1"/>
          </p:cNvSpPr>
          <p:nvPr/>
        </p:nvSpPr>
        <p:spPr>
          <a:xfrm xmlns:a="http://schemas.openxmlformats.org/drawingml/2006/main">
            <a:off x="1143000" y="7895844"/>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Full assumption list → appendix (slide 19)</a:t>
            </a:r>
          </a:p>
        </p:txBody>
      </p:sp>
      <p:sp>
        <p:nvSpPr>
          <p:cNvPr id="28" name="Text 21">
            <a:extLst xmlns:a="http://schemas.openxmlformats.org/drawingml/2006/main">
              <a:ext uri="{FF2B5EF4-FFF2-40B4-BE49-F238E27FC236}">
                <a16:creationId xmlns:a16="http://schemas.microsoft.com/office/drawing/2014/main" id="{62C9C10B-637E-46BF-8B4B-F972EC2AC538}"/>
              </a:ext>
            </a:extLst>
          </p:cNvPr>
          <p:cNvSpPr>
            <a:spLocks xmlns:a="http://schemas.openxmlformats.org/drawingml/2006/main" noGrp="1"/>
          </p:cNvSpPr>
          <p:nvPr/>
        </p:nvSpPr>
        <p:spPr>
          <a:xfrm xmlns:a="http://schemas.openxmlformats.org/drawingml/2006/main">
            <a:off x="6286500" y="5619902"/>
            <a:ext cx="571500" cy="6291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a:solidFill>
                  <a:srgbClr val="2A2E7A"/>
                </a:solidFill>
                <a:latin typeface="JetBrains Mono"/>
                <a:ea typeface="JetBrains Mono"/>
                <a:cs typeface="JetBrains Mono"/>
              </a:rPr>
              <a:t>→</a:t>
            </a:r>
          </a:p>
        </p:txBody>
      </p:sp>
      <p:sp>
        <p:nvSpPr>
          <p:cNvPr id="29" name="Text 22">
            <a:extLst xmlns:a="http://schemas.openxmlformats.org/drawingml/2006/main">
              <a:ext uri="{FF2B5EF4-FFF2-40B4-BE49-F238E27FC236}">
                <a16:creationId xmlns:a16="http://schemas.microsoft.com/office/drawing/2014/main" id="{E20D4871-5F32-4228-A1A0-A3C4F3873915}"/>
              </a:ext>
            </a:extLst>
          </p:cNvPr>
          <p:cNvSpPr>
            <a:spLocks xmlns:a="http://schemas.openxmlformats.org/drawingml/2006/main" noGrp="1"/>
          </p:cNvSpPr>
          <p:nvPr/>
        </p:nvSpPr>
        <p:spPr>
          <a:xfrm xmlns:a="http://schemas.openxmlformats.org/drawingml/2006/main">
            <a:off x="7429500" y="2667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Analytics problem</a:t>
            </a:r>
          </a:p>
        </p:txBody>
      </p:sp>
      <p:sp>
        <p:nvSpPr>
          <p:cNvPr id="30" name="Text 23">
            <a:extLst xmlns:a="http://schemas.openxmlformats.org/drawingml/2006/main">
              <a:ext uri="{FF2B5EF4-FFF2-40B4-BE49-F238E27FC236}">
                <a16:creationId xmlns:a16="http://schemas.microsoft.com/office/drawing/2014/main" id="{7344ADF3-DC23-4638-9363-B89CD83727F3}"/>
              </a:ext>
            </a:extLst>
          </p:cNvPr>
          <p:cNvSpPr>
            <a:spLocks xmlns:a="http://schemas.openxmlformats.org/drawingml/2006/main" noGrp="1"/>
          </p:cNvSpPr>
          <p:nvPr/>
        </p:nvSpPr>
        <p:spPr>
          <a:xfrm xmlns:a="http://schemas.openxmlformats.org/drawingml/2006/main">
            <a:off x="7429500" y="2915107"/>
            <a:ext cx="10401300" cy="3246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Inter"/>
                <a:ea typeface="Inter"/>
                <a:cs typeface="Inter"/>
              </a:rPr>
              <a:t>Binary classification: given </a:t>
            </a:r>
            <a:r>
              <a:rPr sz="1900" b="1">
                <a:solidFill>
                  <a:srgbClr val="FF5CA0"/>
                </a:solidFill>
                <a:latin typeface="Inter"/>
                <a:ea typeface="Inter"/>
                <a:cs typeface="Inter"/>
              </a:rPr>
              <a:t>early</a:t>
            </a:r>
            <a:r>
              <a:rPr sz="1900" b="1">
                <a:solidFill>
                  <a:srgbClr val="FFFFFF"/>
                </a:solidFill>
                <a:latin typeface="Inter"/>
                <a:ea typeface="Inter"/>
                <a:cs typeface="Inter"/>
              </a:rPr>
              <a:t> signals, will this student </a:t>
            </a:r>
            <a:r>
              <a:rPr sz="1900" b="1">
                <a:solidFill>
                  <a:srgbClr val="FF5CA0"/>
                </a:solidFill>
                <a:latin typeface="Inter"/>
                <a:ea typeface="Inter"/>
                <a:cs typeface="Inter"/>
              </a:rPr>
              <a:t>not persist</a:t>
            </a:r>
            <a:r>
              <a:rPr sz="1900" b="1">
                <a:solidFill>
                  <a:srgbClr val="FFFFFF"/>
                </a:solidFill>
                <a:latin typeface="Inter"/>
                <a:ea typeface="Inter"/>
                <a:cs typeface="Inter"/>
              </a:rPr>
              <a:t>?</a:t>
            </a:r>
          </a:p>
        </p:txBody>
      </p:sp>
      <p:sp>
        <p:nvSpPr>
          <p:cNvPr id="31" name="Text 24">
            <a:extLst xmlns:a="http://schemas.openxmlformats.org/drawingml/2006/main">
              <a:ext uri="{FF2B5EF4-FFF2-40B4-BE49-F238E27FC236}">
                <a16:creationId xmlns:a16="http://schemas.microsoft.com/office/drawing/2014/main" id="{4F1563DF-F743-4F35-BB3A-1D061BB4E490}"/>
              </a:ext>
            </a:extLst>
          </p:cNvPr>
          <p:cNvSpPr>
            <a:spLocks xmlns:a="http://schemas.openxmlformats.org/drawingml/2006/main" noGrp="1"/>
          </p:cNvSpPr>
          <p:nvPr/>
        </p:nvSpPr>
        <p:spPr>
          <a:xfrm xmlns:a="http://schemas.openxmlformats.org/drawingml/2006/main">
            <a:off x="7429500"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a:t>
            </a:r>
          </a:p>
        </p:txBody>
      </p:sp>
      <p:sp>
        <p:nvSpPr>
          <p:cNvPr id="32" name="Text 25">
            <a:extLst xmlns:a="http://schemas.openxmlformats.org/drawingml/2006/main">
              <a:ext uri="{FF2B5EF4-FFF2-40B4-BE49-F238E27FC236}">
                <a16:creationId xmlns:a16="http://schemas.microsoft.com/office/drawing/2014/main" id="{93F51EB0-BBA9-427F-AD78-5974664388AA}"/>
              </a:ext>
            </a:extLst>
          </p:cNvPr>
          <p:cNvSpPr>
            <a:spLocks xmlns:a="http://schemas.openxmlformats.org/drawingml/2006/main" noGrp="1"/>
          </p:cNvSpPr>
          <p:nvPr/>
        </p:nvSpPr>
        <p:spPr>
          <a:xfrm xmlns:a="http://schemas.openxmlformats.org/drawingml/2006/main">
            <a:off x="7429500"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Target</a:t>
            </a:r>
          </a:p>
        </p:txBody>
      </p:sp>
      <p:sp>
        <p:nvSpPr>
          <p:cNvPr id="33" name="Text 26">
            <a:extLst xmlns:a="http://schemas.openxmlformats.org/drawingml/2006/main">
              <a:ext uri="{FF2B5EF4-FFF2-40B4-BE49-F238E27FC236}">
                <a16:creationId xmlns:a16="http://schemas.microsoft.com/office/drawing/2014/main" id="{8E29D64E-E4E3-4BBB-BF23-308331BF78C5}"/>
              </a:ext>
            </a:extLst>
          </p:cNvPr>
          <p:cNvSpPr>
            <a:spLocks xmlns:a="http://schemas.openxmlformats.org/drawingml/2006/main" noGrp="1"/>
          </p:cNvSpPr>
          <p:nvPr/>
        </p:nvSpPr>
        <p:spPr>
          <a:xfrm xmlns:a="http://schemas.openxmlformats.org/drawingml/2006/main">
            <a:off x="7429500"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1 if final label = </a:t>
            </a:r>
            <a:r>
              <a:rPr sz="1100">
                <a:solidFill>
                  <a:srgbClr val="FFFFFF">
                    <a:alpha val="90000"/>
                  </a:srgbClr>
                </a:solidFill>
                <a:latin typeface="JetBrains Mono"/>
                <a:ea typeface="JetBrains Mono"/>
                <a:cs typeface="JetBrains Mono"/>
              </a:rPr>
              <a:t>Dropout</a:t>
            </a:r>
          </a:p>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0 if Enrolled or Graduate</a:t>
            </a:r>
          </a:p>
        </p:txBody>
      </p:sp>
      <p:sp>
        <p:nvSpPr>
          <p:cNvPr id="34" name="Text 27">
            <a:extLst xmlns:a="http://schemas.openxmlformats.org/drawingml/2006/main">
              <a:ext uri="{FF2B5EF4-FFF2-40B4-BE49-F238E27FC236}">
                <a16:creationId xmlns:a16="http://schemas.microsoft.com/office/drawing/2014/main" id="{02B2E24B-6A19-4942-90A9-966D49D0BED2}"/>
              </a:ext>
            </a:extLst>
          </p:cNvPr>
          <p:cNvSpPr>
            <a:spLocks xmlns:a="http://schemas.openxmlformats.org/drawingml/2006/main" noGrp="1"/>
          </p:cNvSpPr>
          <p:nvPr/>
        </p:nvSpPr>
        <p:spPr>
          <a:xfrm xmlns:a="http://schemas.openxmlformats.org/drawingml/2006/main">
            <a:off x="7429500"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Features</a:t>
            </a:r>
          </a:p>
        </p:txBody>
      </p:sp>
      <p:sp>
        <p:nvSpPr>
          <p:cNvPr id="35" name="Text 28">
            <a:extLst xmlns:a="http://schemas.openxmlformats.org/drawingml/2006/main">
              <a:ext uri="{FF2B5EF4-FFF2-40B4-BE49-F238E27FC236}">
                <a16:creationId xmlns:a16="http://schemas.microsoft.com/office/drawing/2014/main" id="{92270953-B7C1-4C0D-9B45-73F047304733}"/>
              </a:ext>
            </a:extLst>
          </p:cNvPr>
          <p:cNvSpPr>
            <a:spLocks xmlns:a="http://schemas.openxmlformats.org/drawingml/2006/main" noGrp="1"/>
          </p:cNvSpPr>
          <p:nvPr/>
        </p:nvSpPr>
        <p:spPr>
          <a:xfrm xmlns:a="http://schemas.openxmlformats.org/drawingml/2006/main">
            <a:off x="7429500"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enrolment, demographics,</a:t>
            </a:r>
          </a:p>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1st-semester curricular units, tuition status</a:t>
            </a:r>
          </a:p>
        </p:txBody>
      </p:sp>
      <p:sp>
        <p:nvSpPr>
          <p:cNvPr id="36" name="Text 29">
            <a:extLst xmlns:a="http://schemas.openxmlformats.org/drawingml/2006/main">
              <a:ext uri="{FF2B5EF4-FFF2-40B4-BE49-F238E27FC236}">
                <a16:creationId xmlns:a16="http://schemas.microsoft.com/office/drawing/2014/main" id="{D6BBD10E-5815-4DC9-8417-BE1B8FB3ED36}"/>
              </a:ext>
            </a:extLst>
          </p:cNvPr>
          <p:cNvSpPr>
            <a:spLocks xmlns:a="http://schemas.openxmlformats.org/drawingml/2006/main" noGrp="1"/>
          </p:cNvSpPr>
          <p:nvPr/>
        </p:nvSpPr>
        <p:spPr>
          <a:xfrm xmlns:a="http://schemas.openxmlformats.org/drawingml/2006/main">
            <a:off x="12668098"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a:t>
            </a:r>
          </a:p>
        </p:txBody>
      </p:sp>
      <p:sp>
        <p:nvSpPr>
          <p:cNvPr id="37" name="Text 30">
            <a:extLst xmlns:a="http://schemas.openxmlformats.org/drawingml/2006/main">
              <a:ext uri="{FF2B5EF4-FFF2-40B4-BE49-F238E27FC236}">
                <a16:creationId xmlns:a16="http://schemas.microsoft.com/office/drawing/2014/main" id="{E54E07DC-D990-4693-A701-8797F71A0980}"/>
              </a:ext>
            </a:extLst>
          </p:cNvPr>
          <p:cNvSpPr>
            <a:spLocks xmlns:a="http://schemas.openxmlformats.org/drawingml/2006/main" noGrp="1"/>
          </p:cNvSpPr>
          <p:nvPr/>
        </p:nvSpPr>
        <p:spPr>
          <a:xfrm xmlns:a="http://schemas.openxmlformats.org/drawingml/2006/main">
            <a:off x="12668098"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Target</a:t>
            </a:r>
          </a:p>
        </p:txBody>
      </p:sp>
      <p:sp>
        <p:nvSpPr>
          <p:cNvPr id="38" name="Text 31">
            <a:extLst xmlns:a="http://schemas.openxmlformats.org/drawingml/2006/main">
              <a:ext uri="{FF2B5EF4-FFF2-40B4-BE49-F238E27FC236}">
                <a16:creationId xmlns:a16="http://schemas.microsoft.com/office/drawing/2014/main" id="{40E2A2B1-2269-44D0-998A-6F12AEACBB75}"/>
              </a:ext>
            </a:extLst>
          </p:cNvPr>
          <p:cNvSpPr>
            <a:spLocks xmlns:a="http://schemas.openxmlformats.org/drawingml/2006/main" noGrp="1"/>
          </p:cNvSpPr>
          <p:nvPr/>
        </p:nvSpPr>
        <p:spPr>
          <a:xfrm xmlns:a="http://schemas.openxmlformats.org/drawingml/2006/main">
            <a:off x="12668098"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1 if final_result = </a:t>
            </a:r>
            <a:r>
              <a:rPr sz="1100">
                <a:solidFill>
                  <a:srgbClr val="FFFFFF">
                    <a:alpha val="90000"/>
                  </a:srgbClr>
                </a:solidFill>
                <a:latin typeface="JetBrains Mono"/>
                <a:ea typeface="JetBrains Mono"/>
                <a:cs typeface="JetBrains Mono"/>
              </a:rPr>
              <a:t>Withdrawn</a:t>
            </a:r>
          </a:p>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0 if Pass, Distinction, or Fail</a:t>
            </a:r>
          </a:p>
        </p:txBody>
      </p:sp>
      <p:sp>
        <p:nvSpPr>
          <p:cNvPr id="39" name="Text 32">
            <a:extLst xmlns:a="http://schemas.openxmlformats.org/drawingml/2006/main">
              <a:ext uri="{FF2B5EF4-FFF2-40B4-BE49-F238E27FC236}">
                <a16:creationId xmlns:a16="http://schemas.microsoft.com/office/drawing/2014/main" id="{01291BE7-74F4-4804-A3B5-5D0D6FAE389A}"/>
              </a:ext>
            </a:extLst>
          </p:cNvPr>
          <p:cNvSpPr>
            <a:spLocks xmlns:a="http://schemas.openxmlformats.org/drawingml/2006/main" noGrp="1"/>
          </p:cNvSpPr>
          <p:nvPr/>
        </p:nvSpPr>
        <p:spPr>
          <a:xfrm xmlns:a="http://schemas.openxmlformats.org/drawingml/2006/main">
            <a:off x="12668098"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Features</a:t>
            </a:r>
          </a:p>
        </p:txBody>
      </p:sp>
      <p:sp>
        <p:nvSpPr>
          <p:cNvPr id="40" name="Text 33">
            <a:extLst xmlns:a="http://schemas.openxmlformats.org/drawingml/2006/main">
              <a:ext uri="{FF2B5EF4-FFF2-40B4-BE49-F238E27FC236}">
                <a16:creationId xmlns:a16="http://schemas.microsoft.com/office/drawing/2014/main" id="{0B76108C-6034-4B73-920A-ED07597F5AAA}"/>
              </a:ext>
            </a:extLst>
          </p:cNvPr>
          <p:cNvSpPr>
            <a:spLocks xmlns:a="http://schemas.openxmlformats.org/drawingml/2006/main" noGrp="1"/>
          </p:cNvSpPr>
          <p:nvPr/>
        </p:nvSpPr>
        <p:spPr>
          <a:xfrm xmlns:a="http://schemas.openxmlformats.org/drawingml/2006/main">
            <a:off x="12668098"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first-75-day VLE clicks &amp; assessments,</a:t>
            </a:r>
          </a:p>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module context, demographics</a:t>
            </a:r>
          </a:p>
        </p:txBody>
      </p:sp>
      <p:sp>
        <p:nvSpPr>
          <p:cNvPr id="41" name="Text 34">
            <a:extLst xmlns:a="http://schemas.openxmlformats.org/drawingml/2006/main">
              <a:ext uri="{FF2B5EF4-FFF2-40B4-BE49-F238E27FC236}">
                <a16:creationId xmlns:a16="http://schemas.microsoft.com/office/drawing/2014/main" id="{0FF7E79A-C818-47EF-8F83-766A0153A76E}"/>
              </a:ext>
            </a:extLst>
          </p:cNvPr>
          <p:cNvSpPr>
            <a:spLocks xmlns:a="http://schemas.openxmlformats.org/drawingml/2006/main" noGrp="1"/>
          </p:cNvSpPr>
          <p:nvPr/>
        </p:nvSpPr>
        <p:spPr>
          <a:xfrm xmlns:a="http://schemas.openxmlformats.org/drawingml/2006/main">
            <a:off x="7429500" y="8382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Evidence considered before recommending a pilot</a:t>
            </a:r>
          </a:p>
        </p:txBody>
      </p:sp>
      <p:sp>
        <p:nvSpPr>
          <p:cNvPr id="42" name="Text 35">
            <a:extLst xmlns:a="http://schemas.openxmlformats.org/drawingml/2006/main">
              <a:ext uri="{FF2B5EF4-FFF2-40B4-BE49-F238E27FC236}">
                <a16:creationId xmlns:a16="http://schemas.microsoft.com/office/drawing/2014/main" id="{11973963-16CE-4046-9335-7875DE3093B6}"/>
              </a:ext>
            </a:extLst>
          </p:cNvPr>
          <p:cNvSpPr>
            <a:spLocks xmlns:a="http://schemas.openxmlformats.org/drawingml/2006/main" noGrp="1"/>
          </p:cNvSpPr>
          <p:nvPr/>
        </p:nvSpPr>
        <p:spPr>
          <a:xfrm xmlns:a="http://schemas.openxmlformats.org/drawingml/2006/main">
            <a:off x="7429500" y="8610905"/>
            <a:ext cx="3363163"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Statistical · F1, recall, AUC vs. baseline</a:t>
            </a:r>
          </a:p>
        </p:txBody>
      </p:sp>
      <p:sp>
        <p:nvSpPr>
          <p:cNvPr id="43" name="Text 36">
            <a:extLst xmlns:a="http://schemas.openxmlformats.org/drawingml/2006/main">
              <a:ext uri="{FF2B5EF4-FFF2-40B4-BE49-F238E27FC236}">
                <a16:creationId xmlns:a16="http://schemas.microsoft.com/office/drawing/2014/main" id="{617A09B2-C51E-41E3-858C-189843E3034F}"/>
              </a:ext>
            </a:extLst>
          </p:cNvPr>
          <p:cNvSpPr>
            <a:spLocks xmlns:a="http://schemas.openxmlformats.org/drawingml/2006/main" noGrp="1"/>
          </p:cNvSpPr>
          <p:nvPr/>
        </p:nvSpPr>
        <p:spPr>
          <a:xfrm xmlns:a="http://schemas.openxmlformats.org/drawingml/2006/main">
            <a:off x="11095330"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4" name="Text 37">
            <a:extLst xmlns:a="http://schemas.openxmlformats.org/drawingml/2006/main">
              <a:ext uri="{FF2B5EF4-FFF2-40B4-BE49-F238E27FC236}">
                <a16:creationId xmlns:a16="http://schemas.microsoft.com/office/drawing/2014/main" id="{B0289144-677F-420E-8504-352BD616D4E2}"/>
              </a:ext>
            </a:extLst>
          </p:cNvPr>
          <p:cNvSpPr>
            <a:spLocks xmlns:a="http://schemas.openxmlformats.org/drawingml/2006/main" noGrp="1"/>
          </p:cNvSpPr>
          <p:nvPr/>
        </p:nvSpPr>
        <p:spPr>
          <a:xfrm xmlns:a="http://schemas.openxmlformats.org/drawingml/2006/main">
            <a:off x="11480292" y="86109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Operational · alerts / missed per 1,000</a:t>
            </a:r>
          </a:p>
        </p:txBody>
      </p:sp>
      <p:sp>
        <p:nvSpPr>
          <p:cNvPr id="45" name="Text 38">
            <a:extLst xmlns:a="http://schemas.openxmlformats.org/drawingml/2006/main">
              <a:ext uri="{FF2B5EF4-FFF2-40B4-BE49-F238E27FC236}">
                <a16:creationId xmlns:a16="http://schemas.microsoft.com/office/drawing/2014/main" id="{B2337E7D-089E-4C57-84E4-8699A4B99B27}"/>
              </a:ext>
            </a:extLst>
          </p:cNvPr>
          <p:cNvSpPr>
            <a:spLocks xmlns:a="http://schemas.openxmlformats.org/drawingml/2006/main" noGrp="1"/>
          </p:cNvSpPr>
          <p:nvPr/>
        </p:nvSpPr>
        <p:spPr>
          <a:xfrm xmlns:a="http://schemas.openxmlformats.org/drawingml/2006/main">
            <a:off x="14905634"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6" name="Text 39">
            <a:extLst xmlns:a="http://schemas.openxmlformats.org/drawingml/2006/main">
              <a:ext uri="{FF2B5EF4-FFF2-40B4-BE49-F238E27FC236}">
                <a16:creationId xmlns:a16="http://schemas.microsoft.com/office/drawing/2014/main" id="{893C6CE3-6ADF-43D8-8992-A514C63B877F}"/>
              </a:ext>
            </a:extLst>
          </p:cNvPr>
          <p:cNvSpPr>
            <a:spLocks xmlns:a="http://schemas.openxmlformats.org/drawingml/2006/main" noGrp="1"/>
          </p:cNvSpPr>
          <p:nvPr/>
        </p:nvSpPr>
        <p:spPr>
          <a:xfrm xmlns:a="http://schemas.openxmlformats.org/drawingml/2006/main">
            <a:off x="7429500" y="9068105"/>
            <a:ext cx="272491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Fairness · initial subgroup recall</a:t>
            </a:r>
          </a:p>
        </p:txBody>
      </p:sp>
      <p:sp>
        <p:nvSpPr>
          <p:cNvPr id="47" name="Text 40">
            <a:extLst xmlns:a="http://schemas.openxmlformats.org/drawingml/2006/main">
              <a:ext uri="{FF2B5EF4-FFF2-40B4-BE49-F238E27FC236}">
                <a16:creationId xmlns:a16="http://schemas.microsoft.com/office/drawing/2014/main" id="{2A55F6F3-D520-40CD-B051-F1545254F7D1}"/>
              </a:ext>
            </a:extLst>
          </p:cNvPr>
          <p:cNvSpPr>
            <a:spLocks xmlns:a="http://schemas.openxmlformats.org/drawingml/2006/main" noGrp="1"/>
          </p:cNvSpPr>
          <p:nvPr/>
        </p:nvSpPr>
        <p:spPr>
          <a:xfrm xmlns:a="http://schemas.openxmlformats.org/drawingml/2006/main">
            <a:off x="10455250" y="90681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8" name="Text 41">
            <a:extLst xmlns:a="http://schemas.openxmlformats.org/drawingml/2006/main">
              <a:ext uri="{FF2B5EF4-FFF2-40B4-BE49-F238E27FC236}">
                <a16:creationId xmlns:a16="http://schemas.microsoft.com/office/drawing/2014/main" id="{2BE9A3D3-AC7E-4F66-A66E-50D12E5A707A}"/>
              </a:ext>
            </a:extLst>
          </p:cNvPr>
          <p:cNvSpPr>
            <a:spLocks xmlns:a="http://schemas.openxmlformats.org/drawingml/2006/main" noGrp="1"/>
          </p:cNvSpPr>
          <p:nvPr/>
        </p:nvSpPr>
        <p:spPr>
          <a:xfrm xmlns:a="http://schemas.openxmlformats.org/drawingml/2006/main">
            <a:off x="10840212" y="90681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Robustness · splits, missingness, noise</a:t>
            </a:r>
          </a:p>
        </p:txBody>
      </p:sp>
    </p:spTree>
    <p:extLst>
      <p:ext uri="{BB962C8B-B14F-4D97-AF65-F5344CB8AC3E}">
        <p14:creationId xmlns:p14="http://schemas.microsoft.com/office/powerpoint/2010/main" val="367571808"/>
      </p:ext>
    </p:extLst>
  </p:cSld>
</p:sld>
</file>

<file path=ppt/slides/slide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6e4369d687b24fc4"/>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30B8720-43AD-4B55-AAB0-034678CF299A}"/>
              </a:ext>
            </a:extLst>
          </p:cNvPr>
          <p:cNvSpPr>
            <a:spLocks xmlns:a="http://schemas.openxmlformats.org/drawingml/2006/main" noGrp="1"/>
          </p:cNvSpPr>
          <p:nvPr/>
        </p:nvSpPr>
        <p:spPr>
          <a:xfrm xmlns:a="http://schemas.openxmlformats.org/drawingml/2006/main">
            <a:off x="761695"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A69E49CE-2115-4F85-809D-70625B084D07}"/>
              </a:ext>
            </a:extLst>
          </p:cNvPr>
          <p:cNvSpPr>
            <a:spLocks xmlns:a="http://schemas.openxmlformats.org/drawingml/2006/main" noGrp="1"/>
          </p:cNvSpPr>
          <p:nvPr/>
        </p:nvSpPr>
        <p:spPr>
          <a:xfrm xmlns:a="http://schemas.openxmlformats.org/drawingml/2006/main">
            <a:off x="9239098"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79ACD2E-46F8-4F4F-B20F-17406BE0541A}"/>
              </a:ext>
            </a:extLst>
          </p:cNvPr>
          <p:cNvSpPr>
            <a:spLocks xmlns:a="http://schemas.openxmlformats.org/drawingml/2006/main" noGrp="1"/>
          </p:cNvSpPr>
          <p:nvPr/>
        </p:nvSpPr>
        <p:spPr>
          <a:xfrm xmlns:a="http://schemas.openxmlformats.org/drawingml/2006/main">
            <a:off x="761695" y="7144207"/>
            <a:ext cx="16763695" cy="2095805"/>
          </a:xfrm>
          <a:prstGeom xmlns:a="http://schemas.openxmlformats.org/drawingml/2006/main" prst="roundRect">
            <a:avLst>
              <a:gd name="adj" fmla="val 916"/>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c9329952f01d45a8"/>
          <a:srcRect xmlns:a="http://schemas.openxmlformats.org/drawingml/2006/main" l="-9959" t="0" r="-9959" b="0"/>
          <a:stretch xmlns:a="http://schemas.openxmlformats.org/drawingml/2006/main"/>
        </p:blipFill>
        <p:spPr>
          <a:xfrm xmlns:a="http://schemas.openxmlformats.org/drawingml/2006/main">
            <a:off x="1047902" y="3095244"/>
            <a:ext cx="7715707" cy="361919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bc9abd10d79040ed"/>
          <a:srcRect xmlns:a="http://schemas.openxmlformats.org/drawingml/2006/main" l="-9959" t="0" r="-9959" b="0"/>
          <a:stretch xmlns:a="http://schemas.openxmlformats.org/drawingml/2006/main"/>
        </p:blipFill>
        <p:spPr>
          <a:xfrm xmlns:a="http://schemas.openxmlformats.org/drawingml/2006/main">
            <a:off x="9525305" y="3095244"/>
            <a:ext cx="7715707" cy="3619195"/>
          </a:xfrm>
          <a:prstGeom xmlns:a="http://schemas.openxmlformats.org/drawingml/2006/main" prst="rect">
            <a:avLst/>
          </a:prstGeom>
        </p:spPr>
      </p:pic>
      <p:pic>
        <p:nvPicPr>
          <p:cNvPr id="36" name="Image 3"/>
          <p:cNvPicPr>
            <a:picLocks xmlns:a="http://schemas.openxmlformats.org/drawingml/2006/main" noChangeAspect="1"/>
          </p:cNvPicPr>
          <p:nvPr/>
        </p:nvPicPr>
        <p:blipFill>
          <a:blip xmlns:r="http://schemas.openxmlformats.org/officeDocument/2006/relationships" xmlns:a="http://schemas.openxmlformats.org/drawingml/2006/main" r:embed="Ra4da59eba04f4a4b"/>
          <a:srcRect xmlns:a="http://schemas.openxmlformats.org/drawingml/2006/main" l="0" t="-2089" r="0" b="-2089"/>
          <a:stretch xmlns:a="http://schemas.openxmlformats.org/drawingml/2006/main"/>
        </p:blipFill>
        <p:spPr>
          <a:xfrm xmlns:a="http://schemas.openxmlformats.org/drawingml/2006/main">
            <a:off x="6476695" y="7381951"/>
            <a:ext cx="9144" cy="1619402"/>
          </a:xfrm>
          <a:prstGeom xmlns:a="http://schemas.openxmlformats.org/drawingml/2006/main" prst="rect">
            <a:avLst/>
          </a:prstGeom>
        </p:spPr>
      </p:pic>
      <p:pic>
        <p:nvPicPr>
          <p:cNvPr id="37" name="Image 4"/>
          <p:cNvPicPr>
            <a:picLocks xmlns:a="http://schemas.openxmlformats.org/drawingml/2006/main" noChangeAspect="1"/>
          </p:cNvPicPr>
          <p:nvPr/>
        </p:nvPicPr>
        <p:blipFill>
          <a:blip xmlns:r="http://schemas.openxmlformats.org/officeDocument/2006/relationships" xmlns:a="http://schemas.openxmlformats.org/drawingml/2006/main" r:embed="Ra4da59eba04f4a4b"/>
          <a:srcRect xmlns:a="http://schemas.openxmlformats.org/drawingml/2006/main" l="0" t="-2089" r="0" b="-2089"/>
          <a:stretch xmlns:a="http://schemas.openxmlformats.org/drawingml/2006/main"/>
        </p:blipFill>
        <p:spPr>
          <a:xfrm xmlns:a="http://schemas.openxmlformats.org/drawingml/2006/main">
            <a:off x="12096598" y="7381951"/>
            <a:ext cx="9144" cy="1619402"/>
          </a:xfrm>
          <a:prstGeom xmlns:a="http://schemas.openxmlformats.org/drawingml/2006/main" prst="rect">
            <a:avLst/>
          </a:prstGeom>
        </p:spPr>
      </p:pic>
      <p:sp>
        <p:nvSpPr>
          <p:cNvPr id="11" name="Text 3">
            <a:extLst xmlns:a="http://schemas.openxmlformats.org/drawingml/2006/main">
              <a:ext uri="{FF2B5EF4-FFF2-40B4-BE49-F238E27FC236}">
                <a16:creationId xmlns:a16="http://schemas.microsoft.com/office/drawing/2014/main" id="{E8055D7A-1E0A-49B0-8EF7-F6B4D22CD6D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Data profile &amp; quality · 1 of 3</a:t>
            </a:r>
          </a:p>
        </p:txBody>
      </p:sp>
      <p:sp>
        <p:nvSpPr>
          <p:cNvPr id="12" name="Text 4">
            <a:extLst xmlns:a="http://schemas.openxmlformats.org/drawingml/2006/main">
              <a:ext uri="{FF2B5EF4-FFF2-40B4-BE49-F238E27FC236}">
                <a16:creationId xmlns:a16="http://schemas.microsoft.com/office/drawing/2014/main" id="{71258237-3CAA-4E6A-A2D6-8823BB3D6176}"/>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05 / 20</a:t>
            </a:r>
          </a:p>
        </p:txBody>
      </p:sp>
      <p:sp>
        <p:nvSpPr>
          <p:cNvPr id="13" name="Text 5">
            <a:extLst xmlns:a="http://schemas.openxmlformats.org/drawingml/2006/main">
              <a:ext uri="{FF2B5EF4-FFF2-40B4-BE49-F238E27FC236}">
                <a16:creationId xmlns:a16="http://schemas.microsoft.com/office/drawing/2014/main" id="{4664A694-A4E8-441F-B8D5-E72E3D7E5F7F}"/>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Two datasets capture risk through different types of evidence.</a:t>
            </a:r>
          </a:p>
        </p:txBody>
      </p:sp>
      <p:sp>
        <p:nvSpPr>
          <p:cNvPr id="14" name="Text 6">
            <a:extLst xmlns:a="http://schemas.openxmlformats.org/drawingml/2006/main">
              <a:ext uri="{FF2B5EF4-FFF2-40B4-BE49-F238E27FC236}">
                <a16:creationId xmlns:a16="http://schemas.microsoft.com/office/drawing/2014/main" id="{97B745ED-B20F-4330-8167-A3B5C2394940}"/>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Class balance is comparable, but structure and data quality are not.</a:t>
            </a:r>
          </a:p>
        </p:txBody>
      </p:sp>
      <p:sp>
        <p:nvSpPr>
          <p:cNvPr id="15" name="Text 7">
            <a:extLst xmlns:a="http://schemas.openxmlformats.org/drawingml/2006/main">
              <a:ext uri="{FF2B5EF4-FFF2-40B4-BE49-F238E27FC236}">
                <a16:creationId xmlns:a16="http://schemas.microsoft.com/office/drawing/2014/main" id="{7B09930B-1946-45FC-89AB-EA1B5148D3B6}"/>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UCI target distribution</a:t>
            </a:r>
          </a:p>
        </p:txBody>
      </p:sp>
      <p:sp>
        <p:nvSpPr>
          <p:cNvPr id="16" name="Text 8">
            <a:extLst xmlns:a="http://schemas.openxmlformats.org/drawingml/2006/main">
              <a:ext uri="{FF2B5EF4-FFF2-40B4-BE49-F238E27FC236}">
                <a16:creationId xmlns:a16="http://schemas.microsoft.com/office/drawing/2014/main" id="{55821382-EAE8-40D0-B560-F28F320A269A}"/>
              </a:ext>
            </a:extLst>
          </p:cNvPr>
          <p:cNvSpPr>
            <a:spLocks xmlns:a="http://schemas.openxmlformats.org/drawingml/2006/main" noGrp="1"/>
          </p:cNvSpPr>
          <p:nvPr/>
        </p:nvSpPr>
        <p:spPr>
          <a:xfrm xmlns:a="http://schemas.openxmlformats.org/drawingml/2006/main">
            <a:off x="1047902"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n = 4,424 records · Dropout ≈ 32%</a:t>
            </a:r>
          </a:p>
        </p:txBody>
      </p:sp>
      <p:sp>
        <p:nvSpPr>
          <p:cNvPr id="17" name="Text 9">
            <a:extLst xmlns:a="http://schemas.openxmlformats.org/drawingml/2006/main">
              <a:ext uri="{FF2B5EF4-FFF2-40B4-BE49-F238E27FC236}">
                <a16:creationId xmlns:a16="http://schemas.microsoft.com/office/drawing/2014/main" id="{726A5E49-0147-49C7-BF7D-8F023458E6D1}"/>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 final-result distribution</a:t>
            </a:r>
          </a:p>
        </p:txBody>
      </p:sp>
      <p:sp>
        <p:nvSpPr>
          <p:cNvPr id="18" name="Text 10">
            <a:extLst xmlns:a="http://schemas.openxmlformats.org/drawingml/2006/main">
              <a:ext uri="{FF2B5EF4-FFF2-40B4-BE49-F238E27FC236}">
                <a16:creationId xmlns:a16="http://schemas.microsoft.com/office/drawing/2014/main" id="{4156F2CE-791C-41E7-90F9-5CFFCF02F27F}"/>
              </a:ext>
            </a:extLst>
          </p:cNvPr>
          <p:cNvSpPr>
            <a:spLocks xmlns:a="http://schemas.openxmlformats.org/drawingml/2006/main" noGrp="1"/>
          </p:cNvSpPr>
          <p:nvPr/>
        </p:nvSpPr>
        <p:spPr>
          <a:xfrm xmlns:a="http://schemas.openxmlformats.org/drawingml/2006/main">
            <a:off x="9525305"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n = 32,593 student-module registrations · Withdrawn ≈ 31%</a:t>
            </a:r>
          </a:p>
        </p:txBody>
      </p:sp>
      <p:sp>
        <p:nvSpPr>
          <p:cNvPr id="19" name="Text 11">
            <a:extLst xmlns:a="http://schemas.openxmlformats.org/drawingml/2006/main">
              <a:ext uri="{FF2B5EF4-FFF2-40B4-BE49-F238E27FC236}">
                <a16:creationId xmlns:a16="http://schemas.microsoft.com/office/drawing/2014/main" id="{152D3FE8-1485-4691-92C6-8F0E03611143}"/>
              </a:ext>
            </a:extLst>
          </p:cNvPr>
          <p:cNvSpPr>
            <a:spLocks xmlns:a="http://schemas.openxmlformats.org/drawingml/2006/main" noGrp="1"/>
          </p:cNvSpPr>
          <p:nvPr/>
        </p:nvSpPr>
        <p:spPr>
          <a:xfrm xmlns:a="http://schemas.openxmlformats.org/drawingml/2006/main">
            <a:off x="1143000"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 · Data quality</a:t>
            </a:r>
          </a:p>
        </p:txBody>
      </p:sp>
      <p:sp>
        <p:nvSpPr>
          <p:cNvPr id="20" name="Text 12">
            <a:extLst xmlns:a="http://schemas.openxmlformats.org/drawingml/2006/main">
              <a:ext uri="{FF2B5EF4-FFF2-40B4-BE49-F238E27FC236}">
                <a16:creationId xmlns:a16="http://schemas.microsoft.com/office/drawing/2014/main" id="{096C9ABB-8240-46B1-887D-837AC24EF7F6}"/>
              </a:ext>
            </a:extLst>
          </p:cNvPr>
          <p:cNvSpPr>
            <a:spLocks xmlns:a="http://schemas.openxmlformats.org/drawingml/2006/main" noGrp="1"/>
          </p:cNvSpPr>
          <p:nvPr/>
        </p:nvSpPr>
        <p:spPr>
          <a:xfrm xmlns:a="http://schemas.openxmlformats.org/drawingml/2006/main">
            <a:off x="1143000" y="7580376"/>
            <a:ext cx="5143500" cy="7644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20"/>
              </a:lnSpc>
              <a:buNone/>
            </a:pP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missing values · </a:t>
            </a: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duplicate rows.</a:t>
            </a:r>
          </a:p>
          <a:p xmlns:a="http://schemas.openxmlformats.org/drawingml/2006/main">
            <a:pPr marL="0" indent="0" algn="l">
              <a:lnSpc>
                <a:spcPts val="1920"/>
              </a:lnSpc>
              <a:buNone/>
            </a:pPr>
            <a:r>
              <a:rPr sz="1200">
                <a:solidFill>
                  <a:srgbClr val="FFFFFF"/>
                </a:solidFill>
                <a:latin typeface="Inter"/>
                <a:ea typeface="Inter"/>
                <a:cs typeface="Inter"/>
              </a:rPr>
              <a:t>Enrolled is a valid outcome and stays in the non-dropout class of the binary task.</a:t>
            </a:r>
          </a:p>
        </p:txBody>
      </p:sp>
      <p:sp>
        <p:nvSpPr>
          <p:cNvPr id="21" name="Text 13">
            <a:extLst xmlns:a="http://schemas.openxmlformats.org/drawingml/2006/main">
              <a:ext uri="{FF2B5EF4-FFF2-40B4-BE49-F238E27FC236}">
                <a16:creationId xmlns:a16="http://schemas.microsoft.com/office/drawing/2014/main" id="{E577AA06-8A73-4AEB-AC8E-087E27A1AE0F}"/>
              </a:ext>
            </a:extLst>
          </p:cNvPr>
          <p:cNvSpPr>
            <a:spLocks xmlns:a="http://schemas.openxmlformats.org/drawingml/2006/main" noGrp="1"/>
          </p:cNvSpPr>
          <p:nvPr/>
        </p:nvSpPr>
        <p:spPr>
          <a:xfrm xmlns:a="http://schemas.openxmlformats.org/drawingml/2006/main">
            <a:off x="6762902"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 final table · Data quality</a:t>
            </a:r>
          </a:p>
        </p:txBody>
      </p:sp>
      <p:sp>
        <p:nvSpPr>
          <p:cNvPr id="22" name="Text 14">
            <a:extLst xmlns:a="http://schemas.openxmlformats.org/drawingml/2006/main">
              <a:ext uri="{FF2B5EF4-FFF2-40B4-BE49-F238E27FC236}">
                <a16:creationId xmlns:a16="http://schemas.microsoft.com/office/drawing/2014/main" id="{BF67D099-E33C-4AE9-BED4-1276C6C997D0}"/>
              </a:ext>
            </a:extLst>
          </p:cNvPr>
          <p:cNvSpPr>
            <a:spLocks xmlns:a="http://schemas.openxmlformats.org/drawingml/2006/main" noGrp="1"/>
          </p:cNvSpPr>
          <p:nvPr/>
        </p:nvSpPr>
        <p:spPr>
          <a:xfrm xmlns:a="http://schemas.openxmlformats.org/drawingml/2006/main">
            <a:off x="6762902" y="7582205"/>
            <a:ext cx="5143500"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b="1">
                <a:solidFill>
                  <a:srgbClr val="FF5CA0"/>
                </a:solidFill>
                <a:latin typeface="JetBrains Mono"/>
                <a:ea typeface="JetBrains Mono"/>
                <a:cs typeface="JetBrains Mono"/>
              </a:rPr>
              <a:t>0</a:t>
            </a:r>
            <a:r>
              <a:rPr sz="1100">
                <a:solidFill>
                  <a:srgbClr val="FFFFFF"/>
                </a:solidFill>
                <a:latin typeface="Inter"/>
                <a:ea typeface="Inter"/>
                <a:cs typeface="Inter"/>
              </a:rPr>
              <a:t> duplicate rows.</a:t>
            </a:r>
          </a:p>
          <a:p xmlns:a="http://schemas.openxmlformats.org/drawingml/2006/main">
            <a:pPr marL="0" indent="0" algn="l">
              <a:lnSpc>
                <a:spcPts val="1800"/>
              </a:lnSpc>
              <a:buNone/>
            </a:pPr>
            <a:r>
              <a:rPr sz="1100">
                <a:solidFill>
                  <a:srgbClr val="FFFFFF"/>
                </a:solidFill>
                <a:latin typeface="JetBrains Mono"/>
                <a:ea typeface="JetBrains Mono"/>
                <a:cs typeface="JetBrains Mono"/>
              </a:rPr>
              <a:t>imd_band: 3.41%</a:t>
            </a:r>
            <a:r>
              <a:rPr sz="1100">
                <a:solidFill>
                  <a:srgbClr val="FFFFFF"/>
                </a:solidFill>
                <a:latin typeface="Inter"/>
                <a:ea typeface="Inter"/>
                <a:cs typeface="Inter"/>
              </a:rPr>
              <a:t> missing.</a:t>
            </a:r>
          </a:p>
          <a:p xmlns:a="http://schemas.openxmlformats.org/drawingml/2006/main">
            <a:pPr marL="0" indent="0" algn="l">
              <a:lnSpc>
                <a:spcPts val="1800"/>
              </a:lnSpc>
              <a:buNone/>
            </a:pPr>
            <a:r>
              <a:rPr sz="1100">
                <a:solidFill>
                  <a:srgbClr val="FFFFFF"/>
                </a:solidFill>
                <a:latin typeface="JetBrains Mono"/>
                <a:ea typeface="JetBrains Mono"/>
                <a:cs typeface="JetBrains Mono"/>
              </a:rPr>
              <a:t>date_registration &amp; registration_lead_days: 0.14%</a:t>
            </a:r>
            <a:r>
              <a:rPr sz="1100">
                <a:solidFill>
                  <a:srgbClr val="FFFFFF"/>
                </a:solidFill>
                <a:latin typeface="Inter"/>
                <a:ea typeface="Inter"/>
                <a:cs typeface="Inter"/>
              </a:rPr>
              <a:t> each.</a:t>
            </a:r>
          </a:p>
        </p:txBody>
      </p:sp>
      <p:sp>
        <p:nvSpPr>
          <p:cNvPr id="23" name="Text 15">
            <a:extLst xmlns:a="http://schemas.openxmlformats.org/drawingml/2006/main">
              <a:ext uri="{FF2B5EF4-FFF2-40B4-BE49-F238E27FC236}">
                <a16:creationId xmlns:a16="http://schemas.microsoft.com/office/drawing/2014/main" id="{8A681AD0-6B43-4CFD-929B-ADAC0E7C87E7}"/>
              </a:ext>
            </a:extLst>
          </p:cNvPr>
          <p:cNvSpPr>
            <a:spLocks xmlns:a="http://schemas.openxmlformats.org/drawingml/2006/main" noGrp="1"/>
          </p:cNvSpPr>
          <p:nvPr/>
        </p:nvSpPr>
        <p:spPr>
          <a:xfrm xmlns:a="http://schemas.openxmlformats.org/drawingml/2006/main">
            <a:off x="12382805" y="7381951"/>
            <a:ext cx="4953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How we handled it</a:t>
            </a:r>
          </a:p>
        </p:txBody>
      </p:sp>
      <p:sp>
        <p:nvSpPr>
          <p:cNvPr id="24" name="Text 16">
            <a:extLst xmlns:a="http://schemas.openxmlformats.org/drawingml/2006/main">
              <a:ext uri="{FF2B5EF4-FFF2-40B4-BE49-F238E27FC236}">
                <a16:creationId xmlns:a16="http://schemas.microsoft.com/office/drawing/2014/main" id="{513FB30D-A1CB-408B-99A9-9E3742B190DF}"/>
              </a:ext>
            </a:extLst>
          </p:cNvPr>
          <p:cNvSpPr>
            <a:spLocks xmlns:a="http://schemas.openxmlformats.org/drawingml/2006/main" noGrp="1"/>
          </p:cNvSpPr>
          <p:nvPr/>
        </p:nvSpPr>
        <p:spPr>
          <a:xfrm xmlns:a="http://schemas.openxmlformats.org/drawingml/2006/main">
            <a:off x="12382805" y="7582205"/>
            <a:ext cx="4953305"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solidFill>
                <a:latin typeface="Inter"/>
                <a:ea typeface="Inter"/>
                <a:cs typeface="Inter"/>
              </a:rPr>
              <a:t>Missing values handled </a:t>
            </a:r>
            <a:r>
              <a:rPr sz="1100">
                <a:solidFill>
                  <a:srgbClr val="FF5CA0"/>
                </a:solidFill>
                <a:latin typeface="Inter"/>
                <a:ea typeface="Inter"/>
                <a:cs typeface="Inter"/>
              </a:rPr>
              <a:t>inside the modelling pipeline</a:t>
            </a:r>
            <a:r>
              <a:rPr sz="1100">
                <a:solidFill>
                  <a:srgbClr val="FFFFFF"/>
                </a:solidFill>
                <a:latin typeface="Inter"/>
                <a:ea typeface="Inter"/>
                <a:cs typeface="Inter"/>
              </a:rPr>
              <a:t>.</a:t>
            </a:r>
          </a:p>
          <a:p xmlns:a="http://schemas.openxmlformats.org/drawingml/2006/main">
            <a:pPr marL="0" indent="0" algn="l">
              <a:lnSpc>
                <a:spcPts val="1800"/>
              </a:lnSpc>
              <a:buNone/>
            </a:pPr>
            <a:r>
              <a:rPr sz="1100">
                <a:solidFill>
                  <a:srgbClr val="FFFFFF"/>
                </a:solidFill>
                <a:latin typeface="Inter"/>
                <a:ea typeface="Inter"/>
                <a:cs typeface="Inter"/>
              </a:rPr>
              <a:t>Numeric outliers </a:t>
            </a:r>
            <a:r>
              <a:rPr sz="1100">
                <a:solidFill>
                  <a:srgbClr val="FF5CA0"/>
                </a:solidFill>
                <a:latin typeface="Inter"/>
                <a:ea typeface="Inter"/>
                <a:cs typeface="Inter"/>
              </a:rPr>
              <a:t>clipped at 1st and 99th percentiles</a:t>
            </a:r>
            <a:r>
              <a:rPr sz="1100">
                <a:solidFill>
                  <a:srgbClr val="FFFFFF"/>
                </a:solidFill>
                <a:latin typeface="Inter"/>
                <a:ea typeface="Inter"/>
                <a:cs typeface="Inter"/>
              </a:rPr>
              <a:t>, estimated from training data only.</a:t>
            </a:r>
          </a:p>
        </p:txBody>
      </p:sp>
    </p:spTree>
    <p:extLst>
      <p:ext uri="{BB962C8B-B14F-4D97-AF65-F5344CB8AC3E}">
        <p14:creationId xmlns:p14="http://schemas.microsoft.com/office/powerpoint/2010/main" val="213948843"/>
      </p:ext>
    </p:extLst>
  </p:cSld>
</p:sld>
</file>

<file path=ppt/slides/slide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6" name="Image 0"/>
          <p:cNvPicPr>
            <a:picLocks xmlns:a="http://schemas.openxmlformats.org/drawingml/2006/main" noChangeAspect="1"/>
          </p:cNvPicPr>
          <p:nvPr/>
        </p:nvPicPr>
        <p:blipFill>
          <a:blip xmlns:r="http://schemas.openxmlformats.org/officeDocument/2006/relationships" xmlns:a="http://schemas.openxmlformats.org/drawingml/2006/main" r:embed="R48762ad6bf684f87"/>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9877E1C-7625-4ADB-9BC0-6F5B6C22D7B6}"/>
              </a:ext>
            </a:extLst>
          </p:cNvPr>
          <p:cNvSpPr>
            <a:spLocks xmlns:a="http://schemas.openxmlformats.org/drawingml/2006/main" noGrp="1"/>
          </p:cNvSpPr>
          <p:nvPr/>
        </p:nvSpPr>
        <p:spPr>
          <a:xfrm xmlns:a="http://schemas.openxmlformats.org/drawingml/2006/main">
            <a:off x="761695"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9F9392A3-6D47-4DF0-96F9-2D3DF87ED7C0}"/>
              </a:ext>
            </a:extLst>
          </p:cNvPr>
          <p:cNvSpPr>
            <a:spLocks xmlns:a="http://schemas.openxmlformats.org/drawingml/2006/main" noGrp="1"/>
          </p:cNvSpPr>
          <p:nvPr/>
        </p:nvSpPr>
        <p:spPr>
          <a:xfrm xmlns:a="http://schemas.openxmlformats.org/drawingml/2006/main">
            <a:off x="9239098"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494B8528-6AE5-4491-A40F-7E6BA03E76FA}"/>
              </a:ext>
            </a:extLst>
          </p:cNvPr>
          <p:cNvSpPr>
            <a:spLocks xmlns:a="http://schemas.openxmlformats.org/drawingml/2006/main" noGrp="1"/>
          </p:cNvSpPr>
          <p:nvPr/>
        </p:nvSpPr>
        <p:spPr>
          <a:xfrm xmlns:a="http://schemas.openxmlformats.org/drawingml/2006/main">
            <a:off x="761695" y="8001000"/>
            <a:ext cx="8353044" cy="1257300"/>
          </a:xfrm>
          <a:prstGeom xmlns:a="http://schemas.openxmlformats.org/drawingml/2006/main" prst="roundRect">
            <a:avLst>
              <a:gd name="adj" fmla="val 1527"/>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C4F5812-E8DD-4B2E-BE6A-3BFF3CC3158F}"/>
              </a:ext>
            </a:extLst>
          </p:cNvPr>
          <p:cNvSpPr>
            <a:spLocks xmlns:a="http://schemas.openxmlformats.org/drawingml/2006/main" noGrp="1"/>
          </p:cNvSpPr>
          <p:nvPr/>
        </p:nvSpPr>
        <p:spPr>
          <a:xfrm xmlns:a="http://schemas.openxmlformats.org/drawingml/2006/main">
            <a:off x="761695" y="8001000"/>
            <a:ext cx="57607" cy="1257300"/>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9B33737A-C76B-45AF-BCB3-FC9DC90FEC18}"/>
              </a:ext>
            </a:extLst>
          </p:cNvPr>
          <p:cNvSpPr>
            <a:spLocks xmlns:a="http://schemas.openxmlformats.org/drawingml/2006/main" noGrp="1"/>
          </p:cNvSpPr>
          <p:nvPr/>
        </p:nvSpPr>
        <p:spPr>
          <a:xfrm xmlns:a="http://schemas.openxmlformats.org/drawingml/2006/main">
            <a:off x="9239098" y="8001000"/>
            <a:ext cx="8287207"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455f08bce1504210"/>
          <a:srcRect xmlns:a="http://schemas.openxmlformats.org/drawingml/2006/main" l="-2985" t="0" r="-2985" b="0"/>
          <a:stretch xmlns:a="http://schemas.openxmlformats.org/drawingml/2006/main"/>
        </p:blipFill>
        <p:spPr>
          <a:xfrm xmlns:a="http://schemas.openxmlformats.org/drawingml/2006/main">
            <a:off x="1047902" y="3476549"/>
            <a:ext cx="7715707" cy="4095598"/>
          </a:xfrm>
          <a:prstGeom xmlns:a="http://schemas.openxmlformats.org/drawingml/2006/main" prst="rect">
            <a:avLst/>
          </a:prstGeom>
        </p:spPr>
      </p:pic>
      <p:pic>
        <p:nvPicPr>
          <p:cNvPr id="33" name="Image 2"/>
          <p:cNvPicPr>
            <a:picLocks xmlns:a="http://schemas.openxmlformats.org/drawingml/2006/main" noChangeAspect="1"/>
          </p:cNvPicPr>
          <p:nvPr/>
        </p:nvPicPr>
        <p:blipFill>
          <a:blip xmlns:r="http://schemas.openxmlformats.org/officeDocument/2006/relationships" xmlns:a="http://schemas.openxmlformats.org/drawingml/2006/main" r:embed="Rbe381ee16c1141b0"/>
          <a:srcRect xmlns:a="http://schemas.openxmlformats.org/drawingml/2006/main" l="-21842" t="0" r="-21842" b="0"/>
          <a:stretch xmlns:a="http://schemas.openxmlformats.org/drawingml/2006/main"/>
        </p:blipFill>
        <p:spPr>
          <a:xfrm xmlns:a="http://schemas.openxmlformats.org/drawingml/2006/main">
            <a:off x="9525305" y="3476549"/>
            <a:ext cx="7715707" cy="4095598"/>
          </a:xfrm>
          <a:prstGeom xmlns:a="http://schemas.openxmlformats.org/drawingml/2006/main" prst="rect">
            <a:avLst/>
          </a:prstGeom>
        </p:spPr>
      </p:pic>
      <p:sp>
        <p:nvSpPr>
          <p:cNvPr id="11" name="Text 5">
            <a:extLst xmlns:a="http://schemas.openxmlformats.org/drawingml/2006/main">
              <a:ext uri="{FF2B5EF4-FFF2-40B4-BE49-F238E27FC236}">
                <a16:creationId xmlns:a16="http://schemas.microsoft.com/office/drawing/2014/main" id="{8DA797DE-5B26-4BD9-B5E4-1550094E05B1}"/>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UCI findings · 2 of 3</a:t>
            </a:r>
          </a:p>
        </p:txBody>
      </p:sp>
      <p:sp>
        <p:nvSpPr>
          <p:cNvPr id="12" name="Text 6">
            <a:extLst xmlns:a="http://schemas.openxmlformats.org/drawingml/2006/main">
              <a:ext uri="{FF2B5EF4-FFF2-40B4-BE49-F238E27FC236}">
                <a16:creationId xmlns:a16="http://schemas.microsoft.com/office/drawing/2014/main" id="{CD505D18-3FCA-4606-B8BA-7F6F443A22E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06 / 20</a:t>
            </a:r>
          </a:p>
        </p:txBody>
      </p:sp>
      <p:sp>
        <p:nvSpPr>
          <p:cNvPr id="13" name="Text 7">
            <a:extLst xmlns:a="http://schemas.openxmlformats.org/drawingml/2006/main">
              <a:ext uri="{FF2B5EF4-FFF2-40B4-BE49-F238E27FC236}">
                <a16:creationId xmlns:a16="http://schemas.microsoft.com/office/drawing/2014/main" id="{2ABE74C8-676F-4335-ACFD-83871FE26CCE}"/>
              </a:ext>
            </a:extLst>
          </p:cNvPr>
          <p:cNvSpPr>
            <a:spLocks xmlns:a="http://schemas.openxmlformats.org/drawingml/2006/main" noGrp="1"/>
          </p:cNvSpPr>
          <p:nvPr/>
        </p:nvSpPr>
        <p:spPr>
          <a:xfrm xmlns:a="http://schemas.openxmlformats.org/drawingml/2006/main">
            <a:off x="761695" y="1238098"/>
            <a:ext cx="16764610" cy="4956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Early academic progress separates UCI outcomes.</a:t>
            </a:r>
          </a:p>
        </p:txBody>
      </p:sp>
      <p:sp>
        <p:nvSpPr>
          <p:cNvPr id="14" name="Text 8">
            <a:extLst xmlns:a="http://schemas.openxmlformats.org/drawingml/2006/main">
              <a:ext uri="{FF2B5EF4-FFF2-40B4-BE49-F238E27FC236}">
                <a16:creationId xmlns:a16="http://schemas.microsoft.com/office/drawing/2014/main" id="{A883D82D-7433-48D2-A9D2-9EA48BB8ED93}"/>
              </a:ext>
            </a:extLst>
          </p:cNvPr>
          <p:cNvSpPr>
            <a:spLocks xmlns:a="http://schemas.openxmlformats.org/drawingml/2006/main" noGrp="1"/>
          </p:cNvSpPr>
          <p:nvPr/>
        </p:nvSpPr>
        <p:spPr>
          <a:xfrm xmlns:a="http://schemas.openxmlformats.org/drawingml/2006/main">
            <a:off x="761695" y="1826971"/>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Exploratory analysis — associations only, not causal claims.</a:t>
            </a:r>
          </a:p>
        </p:txBody>
      </p:sp>
      <p:sp>
        <p:nvSpPr>
          <p:cNvPr id="15" name="Text 9">
            <a:extLst xmlns:a="http://schemas.openxmlformats.org/drawingml/2006/main">
              <a:ext uri="{FF2B5EF4-FFF2-40B4-BE49-F238E27FC236}">
                <a16:creationId xmlns:a16="http://schemas.microsoft.com/office/drawing/2014/main" id="{A4B2FF0D-5CD1-428F-A94B-60715174865C}"/>
              </a:ext>
            </a:extLst>
          </p:cNvPr>
          <p:cNvSpPr>
            <a:spLocks xmlns:a="http://schemas.openxmlformats.org/drawingml/2006/main" noGrp="1"/>
          </p:cNvSpPr>
          <p:nvPr/>
        </p:nvSpPr>
        <p:spPr>
          <a:xfrm xmlns:a="http://schemas.openxmlformats.org/drawingml/2006/main">
            <a:off x="1047902"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1st-semester approved units by outcome</a:t>
            </a:r>
          </a:p>
        </p:txBody>
      </p:sp>
      <p:sp>
        <p:nvSpPr>
          <p:cNvPr id="16" name="Text 10">
            <a:extLst xmlns:a="http://schemas.openxmlformats.org/drawingml/2006/main">
              <a:ext uri="{FF2B5EF4-FFF2-40B4-BE49-F238E27FC236}">
                <a16:creationId xmlns:a16="http://schemas.microsoft.com/office/drawing/2014/main" id="{A91A2512-7C4F-428C-A6F4-917306068058}"/>
              </a:ext>
            </a:extLst>
          </p:cNvPr>
          <p:cNvSpPr>
            <a:spLocks xmlns:a="http://schemas.openxmlformats.org/drawingml/2006/main" noGrp="1"/>
          </p:cNvSpPr>
          <p:nvPr/>
        </p:nvSpPr>
        <p:spPr>
          <a:xfrm xmlns:a="http://schemas.openxmlformats.org/drawingml/2006/main">
            <a:off x="1047902"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students approve fewer 1st-semester units than Graduate or Enrolled.</a:t>
            </a:r>
          </a:p>
        </p:txBody>
      </p:sp>
      <p:sp>
        <p:nvSpPr>
          <p:cNvPr id="17" name="Text 11">
            <a:extLst xmlns:a="http://schemas.openxmlformats.org/drawingml/2006/main">
              <a:ext uri="{FF2B5EF4-FFF2-40B4-BE49-F238E27FC236}">
                <a16:creationId xmlns:a16="http://schemas.microsoft.com/office/drawing/2014/main" id="{7768B51F-F123-4C87-8596-1175B0758393}"/>
              </a:ext>
            </a:extLst>
          </p:cNvPr>
          <p:cNvSpPr>
            <a:spLocks xmlns:a="http://schemas.openxmlformats.org/drawingml/2006/main" noGrp="1"/>
          </p:cNvSpPr>
          <p:nvPr/>
        </p:nvSpPr>
        <p:spPr>
          <a:xfrm xmlns:a="http://schemas.openxmlformats.org/drawingml/2006/main">
            <a:off x="9525305"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Correlation heatmap · exploratory analysis</a:t>
            </a:r>
          </a:p>
        </p:txBody>
      </p:sp>
      <p:sp>
        <p:nvSpPr>
          <p:cNvPr id="18" name="Text 12">
            <a:extLst xmlns:a="http://schemas.openxmlformats.org/drawingml/2006/main">
              <a:ext uri="{FF2B5EF4-FFF2-40B4-BE49-F238E27FC236}">
                <a16:creationId xmlns:a16="http://schemas.microsoft.com/office/drawing/2014/main" id="{1B801832-FA1B-49E2-8868-0C84D2E44449}"/>
              </a:ext>
            </a:extLst>
          </p:cNvPr>
          <p:cNvSpPr>
            <a:spLocks xmlns:a="http://schemas.openxmlformats.org/drawingml/2006/main" noGrp="1"/>
          </p:cNvSpPr>
          <p:nvPr/>
        </p:nvSpPr>
        <p:spPr>
          <a:xfrm xmlns:a="http://schemas.openxmlformats.org/drawingml/2006/main">
            <a:off x="9525305"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1st- and 2nd-sem academic variables strongly correlated; macro variables weakly.</a:t>
            </a:r>
          </a:p>
        </p:txBody>
      </p:sp>
      <p:sp>
        <p:nvSpPr>
          <p:cNvPr id="19" name="Text 13">
            <a:extLst xmlns:a="http://schemas.openxmlformats.org/drawingml/2006/main">
              <a:ext uri="{FF2B5EF4-FFF2-40B4-BE49-F238E27FC236}">
                <a16:creationId xmlns:a16="http://schemas.microsoft.com/office/drawing/2014/main" id="{B5325E3F-4D91-41EF-87BF-E02A565CA449}"/>
              </a:ext>
            </a:extLst>
          </p:cNvPr>
          <p:cNvSpPr>
            <a:spLocks xmlns:a="http://schemas.openxmlformats.org/drawingml/2006/main" noGrp="1"/>
          </p:cNvSpPr>
          <p:nvPr/>
        </p:nvSpPr>
        <p:spPr>
          <a:xfrm xmlns:a="http://schemas.openxmlformats.org/drawingml/2006/main">
            <a:off x="1143000"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 · why it matters</a:t>
            </a:r>
          </a:p>
        </p:txBody>
      </p:sp>
      <p:sp>
        <p:nvSpPr>
          <p:cNvPr id="20" name="Text 14">
            <a:extLst xmlns:a="http://schemas.openxmlformats.org/drawingml/2006/main">
              <a:ext uri="{FF2B5EF4-FFF2-40B4-BE49-F238E27FC236}">
                <a16:creationId xmlns:a16="http://schemas.microsoft.com/office/drawing/2014/main" id="{8A34C203-5DAC-442D-8269-6197AF10AAB6}"/>
              </a:ext>
            </a:extLst>
          </p:cNvPr>
          <p:cNvSpPr>
            <a:spLocks xmlns:a="http://schemas.openxmlformats.org/drawingml/2006/main" noGrp="1"/>
          </p:cNvSpPr>
          <p:nvPr/>
        </p:nvSpPr>
        <p:spPr>
          <a:xfrm xmlns:a="http://schemas.openxmlformats.org/drawingml/2006/main">
            <a:off x="1143000"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 2 approved units (median); Graduate ≈ 6. Admission grade &amp; previous qualification correlate moderately (0.58). Macro variables show weak associations with academic variables.</a:t>
            </a:r>
          </a:p>
        </p:txBody>
      </p:sp>
      <p:sp>
        <p:nvSpPr>
          <p:cNvPr id="21" name="Text 15">
            <a:extLst xmlns:a="http://schemas.openxmlformats.org/drawingml/2006/main">
              <a:ext uri="{FF2B5EF4-FFF2-40B4-BE49-F238E27FC236}">
                <a16:creationId xmlns:a16="http://schemas.microsoft.com/office/drawing/2014/main" id="{3D5C2C12-905F-4542-ABF0-BF8B6ACAC804}"/>
              </a:ext>
            </a:extLst>
          </p:cNvPr>
          <p:cNvSpPr>
            <a:spLocks xmlns:a="http://schemas.openxmlformats.org/drawingml/2006/main" noGrp="1"/>
          </p:cNvSpPr>
          <p:nvPr/>
        </p:nvSpPr>
        <p:spPr>
          <a:xfrm xmlns:a="http://schemas.openxmlformats.org/drawingml/2006/main">
            <a:off x="9620402"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2" name="Text 16">
            <a:extLst xmlns:a="http://schemas.openxmlformats.org/drawingml/2006/main">
              <a:ext uri="{FF2B5EF4-FFF2-40B4-BE49-F238E27FC236}">
                <a16:creationId xmlns:a16="http://schemas.microsoft.com/office/drawing/2014/main" id="{F6C6C5E3-ACFF-45FD-A41C-137D28D6DA9B}"/>
              </a:ext>
            </a:extLst>
          </p:cNvPr>
          <p:cNvSpPr>
            <a:spLocks xmlns:a="http://schemas.openxmlformats.org/drawingml/2006/main" noGrp="1"/>
          </p:cNvSpPr>
          <p:nvPr/>
        </p:nvSpPr>
        <p:spPr>
          <a:xfrm xmlns:a="http://schemas.openxmlformats.org/drawingml/2006/main">
            <a:off x="9620402"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1st-semester variables retained for early warning. </a:t>
            </a:r>
            <a:r>
              <a:rPr sz="1100">
                <a:solidFill>
                  <a:srgbClr val="FF5CA0"/>
                </a:solidFill>
                <a:latin typeface="Inter"/>
                <a:ea typeface="Inter"/>
                <a:cs typeface="Inter"/>
              </a:rPr>
              <a:t>2nd-semester variables removed</a:t>
            </a:r>
            <a:r>
              <a:rPr sz="1100">
                <a:solidFill>
                  <a:srgbClr val="FFFFFF"/>
                </a:solidFill>
                <a:latin typeface="Inter"/>
                <a:ea typeface="Inter"/>
                <a:cs typeface="Inter"/>
              </a:rPr>
              <a:t> — they occur too late and could create leakage in an early-warning setting.</a:t>
            </a:r>
          </a:p>
        </p:txBody>
      </p:sp>
    </p:spTree>
    <p:extLst>
      <p:ext uri="{BB962C8B-B14F-4D97-AF65-F5344CB8AC3E}">
        <p14:creationId xmlns:p14="http://schemas.microsoft.com/office/powerpoint/2010/main" val="415872515"/>
      </p:ext>
    </p:extLst>
  </p:cSld>
</p:sld>
</file>

<file path=ppt/slides/slide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77c19011bc4e4f35"/>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81F4B35-8B44-4600-87BF-9AB2D7233657}"/>
              </a:ext>
            </a:extLst>
          </p:cNvPr>
          <p:cNvSpPr>
            <a:spLocks xmlns:a="http://schemas.openxmlformats.org/drawingml/2006/main" noGrp="1"/>
          </p:cNvSpPr>
          <p:nvPr/>
        </p:nvSpPr>
        <p:spPr>
          <a:xfrm xmlns:a="http://schemas.openxmlformats.org/drawingml/2006/main">
            <a:off x="761695"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5E30B67-20B7-4133-AC3E-B8FEA9F600EE}"/>
              </a:ext>
            </a:extLst>
          </p:cNvPr>
          <p:cNvSpPr>
            <a:spLocks xmlns:a="http://schemas.openxmlformats.org/drawingml/2006/main" noGrp="1"/>
          </p:cNvSpPr>
          <p:nvPr/>
        </p:nvSpPr>
        <p:spPr>
          <a:xfrm xmlns:a="http://schemas.openxmlformats.org/drawingml/2006/main">
            <a:off x="9239098"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601075A4-2AE3-4ECB-BA1A-3AB2392E7028}"/>
              </a:ext>
            </a:extLst>
          </p:cNvPr>
          <p:cNvSpPr>
            <a:spLocks xmlns:a="http://schemas.openxmlformats.org/drawingml/2006/main" noGrp="1"/>
          </p:cNvSpPr>
          <p:nvPr/>
        </p:nvSpPr>
        <p:spPr>
          <a:xfrm xmlns:a="http://schemas.openxmlformats.org/drawingml/2006/main">
            <a:off x="9239098" y="7144207"/>
            <a:ext cx="8305495"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7" name="Shape 3">
            <a:extLst xmlns:a="http://schemas.openxmlformats.org/drawingml/2006/main">
              <a:ext uri="{FF2B5EF4-FFF2-40B4-BE49-F238E27FC236}">
                <a16:creationId xmlns:a16="http://schemas.microsoft.com/office/drawing/2014/main" id="{B514ED15-2032-4756-8F26-733501D3D794}"/>
              </a:ext>
            </a:extLst>
          </p:cNvPr>
          <p:cNvSpPr>
            <a:spLocks xmlns:a="http://schemas.openxmlformats.org/drawingml/2006/main" noGrp="1"/>
          </p:cNvSpPr>
          <p:nvPr/>
        </p:nvSpPr>
        <p:spPr>
          <a:xfrm xmlns:a="http://schemas.openxmlformats.org/drawingml/2006/main">
            <a:off x="761695" y="7905902"/>
            <a:ext cx="8353044" cy="1352398"/>
          </a:xfrm>
          <a:prstGeom xmlns:a="http://schemas.openxmlformats.org/drawingml/2006/main" prst="roundRect">
            <a:avLst>
              <a:gd name="adj" fmla="val 1420"/>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04E42134-7158-4DAD-98CF-2464CCFD4815}"/>
              </a:ext>
            </a:extLst>
          </p:cNvPr>
          <p:cNvSpPr>
            <a:spLocks xmlns:a="http://schemas.openxmlformats.org/drawingml/2006/main" noGrp="1"/>
          </p:cNvSpPr>
          <p:nvPr/>
        </p:nvSpPr>
        <p:spPr>
          <a:xfrm xmlns:a="http://schemas.openxmlformats.org/drawingml/2006/main">
            <a:off x="761695" y="7905902"/>
            <a:ext cx="57607" cy="1352398"/>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9" name="Shape 5">
            <a:extLst xmlns:a="http://schemas.openxmlformats.org/drawingml/2006/main">
              <a:ext uri="{FF2B5EF4-FFF2-40B4-BE49-F238E27FC236}">
                <a16:creationId xmlns:a16="http://schemas.microsoft.com/office/drawing/2014/main" id="{1482BC94-F5B7-4786-AD10-9B3C55050333}"/>
              </a:ext>
            </a:extLst>
          </p:cNvPr>
          <p:cNvSpPr>
            <a:spLocks xmlns:a="http://schemas.openxmlformats.org/drawingml/2006/main" noGrp="1"/>
          </p:cNvSpPr>
          <p:nvPr/>
        </p:nvSpPr>
        <p:spPr>
          <a:xfrm xmlns:a="http://schemas.openxmlformats.org/drawingml/2006/main">
            <a:off x="9239098" y="7905902"/>
            <a:ext cx="8287207" cy="1333195"/>
          </a:xfrm>
          <a:prstGeom xmlns:a="http://schemas.openxmlformats.org/drawingml/2006/main" prst="roundRect">
            <a:avLst>
              <a:gd name="adj" fmla="val 144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28386150e29c47b4"/>
          <a:srcRect xmlns:a="http://schemas.openxmlformats.org/drawingml/2006/main" l="-6952" t="0" r="-6952" b="0"/>
          <a:stretch xmlns:a="http://schemas.openxmlformats.org/drawingml/2006/main"/>
        </p:blipFill>
        <p:spPr>
          <a:xfrm xmlns:a="http://schemas.openxmlformats.org/drawingml/2006/main">
            <a:off x="1047902" y="3095244"/>
            <a:ext cx="7715707" cy="381030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aed1a95eb7184b39"/>
          <a:srcRect xmlns:a="http://schemas.openxmlformats.org/drawingml/2006/main" l="-6952" t="0" r="-6952" b="0"/>
          <a:stretch xmlns:a="http://schemas.openxmlformats.org/drawingml/2006/main"/>
        </p:blipFill>
        <p:spPr>
          <a:xfrm xmlns:a="http://schemas.openxmlformats.org/drawingml/2006/main">
            <a:off x="9525305" y="3095244"/>
            <a:ext cx="7715707" cy="3810305"/>
          </a:xfrm>
          <a:prstGeom xmlns:a="http://schemas.openxmlformats.org/drawingml/2006/main" prst="rect">
            <a:avLst/>
          </a:prstGeom>
        </p:spPr>
      </p:pic>
      <p:sp>
        <p:nvSpPr>
          <p:cNvPr id="12" name="Text 6">
            <a:extLst xmlns:a="http://schemas.openxmlformats.org/drawingml/2006/main">
              <a:ext uri="{FF2B5EF4-FFF2-40B4-BE49-F238E27FC236}">
                <a16:creationId xmlns:a16="http://schemas.microsoft.com/office/drawing/2014/main" id="{9F407981-F9D3-476B-90B2-23A623B09EE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OULAD findings · 3 of 3</a:t>
            </a:r>
          </a:p>
        </p:txBody>
      </p:sp>
      <p:sp>
        <p:nvSpPr>
          <p:cNvPr id="13" name="Text 7">
            <a:extLst xmlns:a="http://schemas.openxmlformats.org/drawingml/2006/main">
              <a:ext uri="{FF2B5EF4-FFF2-40B4-BE49-F238E27FC236}">
                <a16:creationId xmlns:a16="http://schemas.microsoft.com/office/drawing/2014/main" id="{8CABD0D8-2A8E-45AC-A07C-CDB8717BDC13}"/>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07 / 20</a:t>
            </a:r>
          </a:p>
        </p:txBody>
      </p:sp>
      <p:sp>
        <p:nvSpPr>
          <p:cNvPr id="14" name="Text 8">
            <a:extLst xmlns:a="http://schemas.openxmlformats.org/drawingml/2006/main">
              <a:ext uri="{FF2B5EF4-FFF2-40B4-BE49-F238E27FC236}">
                <a16:creationId xmlns:a16="http://schemas.microsoft.com/office/drawing/2014/main" id="{47F0E758-7E26-4F80-94D5-1B0D5C72D675}"/>
              </a:ext>
            </a:extLst>
          </p:cNvPr>
          <p:cNvSpPr>
            <a:spLocks xmlns:a="http://schemas.openxmlformats.org/drawingml/2006/main" noGrp="1"/>
          </p:cNvSpPr>
          <p:nvPr/>
        </p:nvSpPr>
        <p:spPr>
          <a:xfrm xmlns:a="http://schemas.openxmlformats.org/drawingml/2006/main">
            <a:off x="761695" y="1238098"/>
            <a:ext cx="1780062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000" b="1">
                <a:solidFill>
                  <a:srgbClr val="0F1226"/>
                </a:solidFill>
                <a:latin typeface="Inter"/>
                <a:ea typeface="Inter"/>
                <a:cs typeface="Inter"/>
              </a:rPr>
              <a:t>Withdrawal is associated with weaker engagement and assessment participation.</a:t>
            </a:r>
          </a:p>
        </p:txBody>
      </p:sp>
      <p:sp>
        <p:nvSpPr>
          <p:cNvPr id="15" name="Text 9">
            <a:extLst xmlns:a="http://schemas.openxmlformats.org/drawingml/2006/main">
              <a:ext uri="{FF2B5EF4-FFF2-40B4-BE49-F238E27FC236}">
                <a16:creationId xmlns:a16="http://schemas.microsoft.com/office/drawing/2014/main" id="{EE08053B-E73C-480B-A903-598C2B32E6A3}"/>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Log VLE clicks by final result</a:t>
            </a:r>
          </a:p>
        </p:txBody>
      </p:sp>
      <p:sp>
        <p:nvSpPr>
          <p:cNvPr id="16" name="Text 10">
            <a:extLst xmlns:a="http://schemas.openxmlformats.org/drawingml/2006/main">
              <a:ext uri="{FF2B5EF4-FFF2-40B4-BE49-F238E27FC236}">
                <a16:creationId xmlns:a16="http://schemas.microsoft.com/office/drawing/2014/main" id="{89810D42-E45F-40B9-A4BB-E788975B20F3}"/>
              </a:ext>
            </a:extLst>
          </p:cNvPr>
          <p:cNvSpPr>
            <a:spLocks xmlns:a="http://schemas.openxmlformats.org/drawingml/2006/main" noGrp="1"/>
          </p:cNvSpPr>
          <p:nvPr/>
        </p:nvSpPr>
        <p:spPr>
          <a:xfrm xmlns:a="http://schemas.openxmlformats.org/drawingml/2006/main">
            <a:off x="1047902"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show lower VLE activity than successful students.</a:t>
            </a:r>
          </a:p>
        </p:txBody>
      </p:sp>
      <p:sp>
        <p:nvSpPr>
          <p:cNvPr id="17" name="Text 11">
            <a:extLst xmlns:a="http://schemas.openxmlformats.org/drawingml/2006/main">
              <a:ext uri="{FF2B5EF4-FFF2-40B4-BE49-F238E27FC236}">
                <a16:creationId xmlns:a16="http://schemas.microsoft.com/office/drawing/2014/main" id="{DE7C9503-EA2F-44A8-A883-A6F5749650CC}"/>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Mean assessment score by final result</a:t>
            </a:r>
          </a:p>
        </p:txBody>
      </p:sp>
      <p:sp>
        <p:nvSpPr>
          <p:cNvPr id="18" name="Text 12">
            <a:extLst xmlns:a="http://schemas.openxmlformats.org/drawingml/2006/main">
              <a:ext uri="{FF2B5EF4-FFF2-40B4-BE49-F238E27FC236}">
                <a16:creationId xmlns:a16="http://schemas.microsoft.com/office/drawing/2014/main" id="{A7F2209C-B167-4562-ADBA-37C5B66C6046}"/>
              </a:ext>
            </a:extLst>
          </p:cNvPr>
          <p:cNvSpPr>
            <a:spLocks xmlns:a="http://schemas.openxmlformats.org/drawingml/2006/main" noGrp="1"/>
          </p:cNvSpPr>
          <p:nvPr/>
        </p:nvSpPr>
        <p:spPr>
          <a:xfrm xmlns:a="http://schemas.openxmlformats.org/drawingml/2006/main">
            <a:off x="9525305"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Distinction students clearly separate; Withdrawn distribution is wide and low.</a:t>
            </a:r>
          </a:p>
        </p:txBody>
      </p:sp>
      <p:sp>
        <p:nvSpPr>
          <p:cNvPr id="19" name="Text 13">
            <a:extLst xmlns:a="http://schemas.openxmlformats.org/drawingml/2006/main">
              <a:ext uri="{FF2B5EF4-FFF2-40B4-BE49-F238E27FC236}">
                <a16:creationId xmlns:a16="http://schemas.microsoft.com/office/drawing/2014/main" id="{00168E7F-2EE0-4F1D-8F1B-2ED32D5D59D7}"/>
              </a:ext>
            </a:extLst>
          </p:cNvPr>
          <p:cNvSpPr>
            <a:spLocks xmlns:a="http://schemas.openxmlformats.org/drawingml/2006/main" noGrp="1"/>
          </p:cNvSpPr>
          <p:nvPr/>
        </p:nvSpPr>
        <p:spPr>
          <a:xfrm xmlns:a="http://schemas.openxmlformats.org/drawingml/2006/main">
            <a:off x="9430207" y="7258507"/>
            <a:ext cx="7905902" cy="3721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2A2E4B"/>
                </a:solidFill>
                <a:latin typeface="JetBrains Mono"/>
                <a:ea typeface="JetBrains Mono"/>
                <a:cs typeface="JetBrains Mono"/>
              </a:rPr>
              <a:t>ⓘ Students without recorded assessment activity were </a:t>
            </a:r>
            <a:r>
              <a:rPr sz="900" b="1">
                <a:solidFill>
                  <a:srgbClr val="0F1226"/>
                </a:solidFill>
                <a:latin typeface="JetBrains Mono"/>
                <a:ea typeface="JetBrains Mono"/>
                <a:cs typeface="JetBrains Mono"/>
              </a:rPr>
              <a:t>coded as zero for this descriptive EDA</a:t>
            </a:r>
            <a:r>
              <a:rPr sz="900">
                <a:solidFill>
                  <a:srgbClr val="2A2E4B"/>
                </a:solidFill>
                <a:latin typeface="JetBrains Mono"/>
                <a:ea typeface="JetBrains Mono"/>
                <a:cs typeface="JetBrains Mono"/>
              </a:rPr>
              <a:t>. The predictive model used only information available within the first 75 days.</a:t>
            </a:r>
          </a:p>
        </p:txBody>
      </p:sp>
      <p:sp>
        <p:nvSpPr>
          <p:cNvPr id="20" name="Text 14">
            <a:extLst xmlns:a="http://schemas.openxmlformats.org/drawingml/2006/main">
              <a:ext uri="{FF2B5EF4-FFF2-40B4-BE49-F238E27FC236}">
                <a16:creationId xmlns:a16="http://schemas.microsoft.com/office/drawing/2014/main" id="{3F8E92F4-8C67-4975-9683-29AFA4DC188E}"/>
              </a:ext>
            </a:extLst>
          </p:cNvPr>
          <p:cNvSpPr>
            <a:spLocks xmlns:a="http://schemas.openxmlformats.org/drawingml/2006/main" noGrp="1"/>
          </p:cNvSpPr>
          <p:nvPr/>
        </p:nvSpPr>
        <p:spPr>
          <a:xfrm xmlns:a="http://schemas.openxmlformats.org/drawingml/2006/main">
            <a:off x="1143000"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a:t>
            </a:r>
          </a:p>
        </p:txBody>
      </p:sp>
      <p:sp>
        <p:nvSpPr>
          <p:cNvPr id="21" name="Text 15">
            <a:extLst xmlns:a="http://schemas.openxmlformats.org/drawingml/2006/main">
              <a:ext uri="{FF2B5EF4-FFF2-40B4-BE49-F238E27FC236}">
                <a16:creationId xmlns:a16="http://schemas.microsoft.com/office/drawing/2014/main" id="{F7D2F5E6-7C64-4390-B03B-1FA1A41826E3}"/>
              </a:ext>
            </a:extLst>
          </p:cNvPr>
          <p:cNvSpPr>
            <a:spLocks xmlns:a="http://schemas.openxmlformats.org/drawingml/2006/main" noGrp="1"/>
          </p:cNvSpPr>
          <p:nvPr/>
        </p:nvSpPr>
        <p:spPr>
          <a:xfrm xmlns:a="http://schemas.openxmlformats.org/drawingml/2006/main">
            <a:off x="1143000"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have lower VLE activity and lower or missing assessment scores. Distinction students separate cleanly at high scores. Distributions overlap — </a:t>
            </a:r>
            <a:r>
              <a:rPr sz="1100" b="1">
                <a:solidFill>
                  <a:srgbClr val="0F1226"/>
                </a:solidFill>
                <a:latin typeface="Inter"/>
                <a:ea typeface="Inter"/>
                <a:cs typeface="Inter"/>
              </a:rPr>
              <a:t>no single measure is sufficient</a:t>
            </a:r>
            <a:r>
              <a:rPr sz="1100">
                <a:solidFill>
                  <a:srgbClr val="2A2E4B"/>
                </a:solidFill>
                <a:latin typeface="Inter"/>
                <a:ea typeface="Inter"/>
                <a:cs typeface="Inter"/>
              </a:rPr>
              <a:t> for prediction.</a:t>
            </a:r>
          </a:p>
        </p:txBody>
      </p:sp>
      <p:sp>
        <p:nvSpPr>
          <p:cNvPr id="22" name="Text 16">
            <a:extLst xmlns:a="http://schemas.openxmlformats.org/drawingml/2006/main">
              <a:ext uri="{FF2B5EF4-FFF2-40B4-BE49-F238E27FC236}">
                <a16:creationId xmlns:a16="http://schemas.microsoft.com/office/drawing/2014/main" id="{114607C9-4D1E-4DB8-8776-DB3BF03BE37B}"/>
              </a:ext>
            </a:extLst>
          </p:cNvPr>
          <p:cNvSpPr>
            <a:spLocks xmlns:a="http://schemas.openxmlformats.org/drawingml/2006/main" noGrp="1"/>
          </p:cNvSpPr>
          <p:nvPr/>
        </p:nvSpPr>
        <p:spPr>
          <a:xfrm xmlns:a="http://schemas.openxmlformats.org/drawingml/2006/main">
            <a:off x="9620402"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3" name="Text 17">
            <a:extLst xmlns:a="http://schemas.openxmlformats.org/drawingml/2006/main">
              <a:ext uri="{FF2B5EF4-FFF2-40B4-BE49-F238E27FC236}">
                <a16:creationId xmlns:a16="http://schemas.microsoft.com/office/drawing/2014/main" id="{6F5A4A7B-965A-4702-9B0B-408966A25927}"/>
              </a:ext>
            </a:extLst>
          </p:cNvPr>
          <p:cNvSpPr>
            <a:spLocks xmlns:a="http://schemas.openxmlformats.org/drawingml/2006/main" noGrp="1"/>
          </p:cNvSpPr>
          <p:nvPr/>
        </p:nvSpPr>
        <p:spPr>
          <a:xfrm xmlns:a="http://schemas.openxmlformats.org/drawingml/2006/main">
            <a:off x="9620402"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Motivated </a:t>
            </a:r>
            <a:r>
              <a:rPr sz="1100">
                <a:solidFill>
                  <a:srgbClr val="FF5CA0"/>
                </a:solidFill>
                <a:latin typeface="Inter"/>
                <a:ea typeface="Inter"/>
                <a:cs typeface="Inter"/>
              </a:rPr>
              <a:t>early assessment &amp; VLE engagement features</a:t>
            </a:r>
            <a:r>
              <a:rPr sz="1100">
                <a:solidFill>
                  <a:srgbClr val="FFFFFF"/>
                </a:solidFill>
                <a:latin typeface="Inter"/>
                <a:ea typeface="Inter"/>
                <a:cs typeface="Inter"/>
              </a:rPr>
              <a:t>. To prevent late-course leakage, the final OULAD model used </a:t>
            </a:r>
            <a:r>
              <a:rPr sz="1100">
                <a:solidFill>
                  <a:srgbClr val="FF5CA0"/>
                </a:solidFill>
                <a:latin typeface="Inter"/>
                <a:ea typeface="Inter"/>
                <a:cs typeface="Inter"/>
              </a:rPr>
              <a:t>only activity within the first 75 days</a:t>
            </a:r>
            <a:r>
              <a:rPr sz="1100">
                <a:solidFill>
                  <a:srgbClr val="FFFFFF"/>
                </a:solidFill>
                <a:latin typeface="Inter"/>
                <a:ea typeface="Inter"/>
                <a:cs typeface="Inter"/>
              </a:rPr>
              <a:t>.</a:t>
            </a:r>
          </a:p>
        </p:txBody>
      </p:sp>
    </p:spTree>
    <p:extLst>
      <p:ext uri="{BB962C8B-B14F-4D97-AF65-F5344CB8AC3E}">
        <p14:creationId xmlns:p14="http://schemas.microsoft.com/office/powerpoint/2010/main" val="356097026"/>
      </p:ext>
    </p:extLst>
  </p:cSld>
</p:sld>
</file>

<file path=ppt/slides/slide8.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8db4b8fe365c4d3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0A57E68D-037C-4E45-A589-6E7117E2BA8E}"/>
              </a:ext>
            </a:extLst>
          </p:cNvPr>
          <p:cNvSpPr>
            <a:spLocks xmlns:a="http://schemas.openxmlformats.org/drawingml/2006/main" noGrp="1"/>
          </p:cNvSpPr>
          <p:nvPr/>
        </p:nvSpPr>
        <p:spPr>
          <a:xfrm xmlns:a="http://schemas.openxmlformats.org/drawingml/2006/main">
            <a:off x="761695" y="2762402"/>
            <a:ext cx="16782898"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20FA119-92B1-4F40-8556-F4CD7A4A002D}"/>
              </a:ext>
            </a:extLst>
          </p:cNvPr>
          <p:cNvSpPr>
            <a:spLocks xmlns:a="http://schemas.openxmlformats.org/drawingml/2006/main" noGrp="1"/>
          </p:cNvSpPr>
          <p:nvPr/>
        </p:nvSpPr>
        <p:spPr>
          <a:xfrm xmlns:a="http://schemas.openxmlformats.org/drawingml/2006/main">
            <a:off x="761695" y="5952744"/>
            <a:ext cx="8305495" cy="3305556"/>
          </a:xfrm>
          <a:prstGeom xmlns:a="http://schemas.openxmlformats.org/drawingml/2006/main" prst="roundRect">
            <a:avLst>
              <a:gd name="adj" fmla="val 581"/>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52608A7A-34D5-43F7-AEAE-208D74E6B1B2}"/>
              </a:ext>
            </a:extLst>
          </p:cNvPr>
          <p:cNvSpPr>
            <a:spLocks xmlns:a="http://schemas.openxmlformats.org/drawingml/2006/main" noGrp="1"/>
          </p:cNvSpPr>
          <p:nvPr/>
        </p:nvSpPr>
        <p:spPr>
          <a:xfrm xmlns:a="http://schemas.openxmlformats.org/drawingml/2006/main">
            <a:off x="9239098" y="5952744"/>
            <a:ext cx="8287207" cy="3286354"/>
          </a:xfrm>
          <a:prstGeom xmlns:a="http://schemas.openxmlformats.org/drawingml/2006/main" prst="roundRect">
            <a:avLst>
              <a:gd name="adj" fmla="val 584"/>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7" name="Text 3">
            <a:extLst xmlns:a="http://schemas.openxmlformats.org/drawingml/2006/main">
              <a:ext uri="{FF2B5EF4-FFF2-40B4-BE49-F238E27FC236}">
                <a16:creationId xmlns:a16="http://schemas.microsoft.com/office/drawing/2014/main" id="{2198A95A-7111-4BB7-A99C-0FD44910437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Methodology framework</a:t>
            </a:r>
          </a:p>
        </p:txBody>
      </p:sp>
      <p:sp>
        <p:nvSpPr>
          <p:cNvPr id="8" name="Text 4">
            <a:extLst xmlns:a="http://schemas.openxmlformats.org/drawingml/2006/main">
              <a:ext uri="{FF2B5EF4-FFF2-40B4-BE49-F238E27FC236}">
                <a16:creationId xmlns:a16="http://schemas.microsoft.com/office/drawing/2014/main" id="{EE117189-351B-491D-966C-EB627CFF0BD1}"/>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08 / 20</a:t>
            </a:r>
          </a:p>
        </p:txBody>
      </p:sp>
      <p:sp>
        <p:nvSpPr>
          <p:cNvPr id="9" name="Text 5">
            <a:extLst xmlns:a="http://schemas.openxmlformats.org/drawingml/2006/main">
              <a:ext uri="{FF2B5EF4-FFF2-40B4-BE49-F238E27FC236}">
                <a16:creationId xmlns:a16="http://schemas.microsoft.com/office/drawing/2014/main" id="{3ACFE26E-CD3A-45E9-AC76-E4CD6C0504E2}"/>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A six-step pipeline, executed twice.</a:t>
            </a:r>
          </a:p>
        </p:txBody>
      </p:sp>
      <p:sp>
        <p:nvSpPr>
          <p:cNvPr id="10" name="Text 6">
            <a:extLst xmlns:a="http://schemas.openxmlformats.org/drawingml/2006/main">
              <a:ext uri="{FF2B5EF4-FFF2-40B4-BE49-F238E27FC236}">
                <a16:creationId xmlns:a16="http://schemas.microsoft.com/office/drawing/2014/main" id="{ED63D226-383B-4016-A662-335CFBDDC68C}"/>
              </a:ext>
            </a:extLst>
          </p:cNvPr>
          <p:cNvSpPr>
            <a:spLocks xmlns:a="http://schemas.openxmlformats.org/drawingml/2006/main" noGrp="1"/>
          </p:cNvSpPr>
          <p:nvPr/>
        </p:nvSpPr>
        <p:spPr>
          <a:xfrm xmlns:a="http://schemas.openxmlformats.org/drawingml/2006/main">
            <a:off x="761695" y="1853489"/>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Same discipline on both datasets; algorithm choice deferred to what each dataset actually rewarded.</a:t>
            </a:r>
          </a:p>
        </p:txBody>
      </p:sp>
      <p:sp>
        <p:nvSpPr>
          <p:cNvPr id="11" name="Shape 7">
            <a:extLst xmlns:a="http://schemas.openxmlformats.org/drawingml/2006/main">
              <a:ext uri="{FF2B5EF4-FFF2-40B4-BE49-F238E27FC236}">
                <a16:creationId xmlns:a16="http://schemas.microsoft.com/office/drawing/2014/main" id="{BC084B66-2303-4713-A1F5-55FECBEBC45E}"/>
              </a:ext>
            </a:extLst>
          </p:cNvPr>
          <p:cNvSpPr>
            <a:spLocks xmlns:a="http://schemas.openxmlformats.org/drawingml/2006/main" noGrp="1"/>
          </p:cNvSpPr>
          <p:nvPr/>
        </p:nvSpPr>
        <p:spPr>
          <a:xfrm xmlns:a="http://schemas.openxmlformats.org/drawingml/2006/main">
            <a:off x="1143000"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2" name="Text 8">
            <a:extLst xmlns:a="http://schemas.openxmlformats.org/drawingml/2006/main">
              <a:ext uri="{FF2B5EF4-FFF2-40B4-BE49-F238E27FC236}">
                <a16:creationId xmlns:a16="http://schemas.microsoft.com/office/drawing/2014/main" id="{38A257F8-B447-4D52-8E38-AE7ED690D8DC}"/>
              </a:ext>
            </a:extLst>
          </p:cNvPr>
          <p:cNvSpPr>
            <a:spLocks xmlns:a="http://schemas.openxmlformats.org/drawingml/2006/main" noGrp="1"/>
          </p:cNvSpPr>
          <p:nvPr/>
        </p:nvSpPr>
        <p:spPr>
          <a:xfrm xmlns:a="http://schemas.openxmlformats.org/drawingml/2006/main">
            <a:off x="1304849"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01</a:t>
            </a:r>
          </a:p>
        </p:txBody>
      </p:sp>
      <p:sp>
        <p:nvSpPr>
          <p:cNvPr id="13" name="Text 9">
            <a:extLst xmlns:a="http://schemas.openxmlformats.org/drawingml/2006/main">
              <a:ext uri="{FF2B5EF4-FFF2-40B4-BE49-F238E27FC236}">
                <a16:creationId xmlns:a16="http://schemas.microsoft.com/office/drawing/2014/main" id="{929D9ACE-6E11-4E38-9515-D48E61D83946}"/>
              </a:ext>
            </a:extLst>
          </p:cNvPr>
          <p:cNvSpPr>
            <a:spLocks xmlns:a="http://schemas.openxmlformats.org/drawingml/2006/main" noGrp="1"/>
          </p:cNvSpPr>
          <p:nvPr/>
        </p:nvSpPr>
        <p:spPr>
          <a:xfrm xmlns:a="http://schemas.openxmlformats.org/drawingml/2006/main">
            <a:off x="1304849"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Data prep</a:t>
            </a:r>
          </a:p>
        </p:txBody>
      </p:sp>
      <p:sp>
        <p:nvSpPr>
          <p:cNvPr id="14" name="Text 10">
            <a:extLst xmlns:a="http://schemas.openxmlformats.org/drawingml/2006/main">
              <a:ext uri="{FF2B5EF4-FFF2-40B4-BE49-F238E27FC236}">
                <a16:creationId xmlns:a16="http://schemas.microsoft.com/office/drawing/2014/main" id="{A96EB6CB-5E63-4AAA-A1FF-6210A7C1A90E}"/>
              </a:ext>
            </a:extLst>
          </p:cNvPr>
          <p:cNvSpPr>
            <a:spLocks xmlns:a="http://schemas.openxmlformats.org/drawingml/2006/main" noGrp="1"/>
          </p:cNvSpPr>
          <p:nvPr/>
        </p:nvSpPr>
        <p:spPr>
          <a:xfrm xmlns:a="http://schemas.openxmlformats.org/drawingml/2006/main">
            <a:off x="1304849"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Remove leakage-prone cols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Binary targets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Stratified 60/20/20 split</a:t>
            </a:r>
          </a:p>
        </p:txBody>
      </p:sp>
      <p:sp>
        <p:nvSpPr>
          <p:cNvPr id="15" name="Shape 11">
            <a:extLst xmlns:a="http://schemas.openxmlformats.org/drawingml/2006/main">
              <a:ext uri="{FF2B5EF4-FFF2-40B4-BE49-F238E27FC236}">
                <a16:creationId xmlns:a16="http://schemas.microsoft.com/office/drawing/2014/main" id="{C6BC62F3-449D-4EAA-B2CB-843F3077182E}"/>
              </a:ext>
            </a:extLst>
          </p:cNvPr>
          <p:cNvSpPr>
            <a:spLocks xmlns:a="http://schemas.openxmlformats.org/drawingml/2006/main" noGrp="1"/>
          </p:cNvSpPr>
          <p:nvPr/>
        </p:nvSpPr>
        <p:spPr>
          <a:xfrm xmlns:a="http://schemas.openxmlformats.org/drawingml/2006/main">
            <a:off x="3841394"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6" name="Text 12">
            <a:extLst xmlns:a="http://schemas.openxmlformats.org/drawingml/2006/main">
              <a:ext uri="{FF2B5EF4-FFF2-40B4-BE49-F238E27FC236}">
                <a16:creationId xmlns:a16="http://schemas.microsoft.com/office/drawing/2014/main" id="{68FBF437-6DCE-44F8-9718-B87A6362A161}"/>
              </a:ext>
            </a:extLst>
          </p:cNvPr>
          <p:cNvSpPr>
            <a:spLocks xmlns:a="http://schemas.openxmlformats.org/drawingml/2006/main" noGrp="1"/>
          </p:cNvSpPr>
          <p:nvPr/>
        </p:nvSpPr>
        <p:spPr>
          <a:xfrm xmlns:a="http://schemas.openxmlformats.org/drawingml/2006/main">
            <a:off x="4003243"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02</a:t>
            </a:r>
          </a:p>
        </p:txBody>
      </p:sp>
      <p:sp>
        <p:nvSpPr>
          <p:cNvPr id="17" name="Text 13">
            <a:extLst xmlns:a="http://schemas.openxmlformats.org/drawingml/2006/main">
              <a:ext uri="{FF2B5EF4-FFF2-40B4-BE49-F238E27FC236}">
                <a16:creationId xmlns:a16="http://schemas.microsoft.com/office/drawing/2014/main" id="{01252FD7-15DF-44A1-9160-B075839CA097}"/>
              </a:ext>
            </a:extLst>
          </p:cNvPr>
          <p:cNvSpPr>
            <a:spLocks xmlns:a="http://schemas.openxmlformats.org/drawingml/2006/main" noGrp="1"/>
          </p:cNvSpPr>
          <p:nvPr/>
        </p:nvSpPr>
        <p:spPr>
          <a:xfrm xmlns:a="http://schemas.openxmlformats.org/drawingml/2006/main">
            <a:off x="4003243"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Feature eng.</a:t>
            </a:r>
          </a:p>
        </p:txBody>
      </p:sp>
      <p:sp>
        <p:nvSpPr>
          <p:cNvPr id="18" name="Text 14">
            <a:extLst xmlns:a="http://schemas.openxmlformats.org/drawingml/2006/main">
              <a:ext uri="{FF2B5EF4-FFF2-40B4-BE49-F238E27FC236}">
                <a16:creationId xmlns:a16="http://schemas.microsoft.com/office/drawing/2014/main" id="{372F09B8-0831-4365-9CEE-D8093021969E}"/>
              </a:ext>
            </a:extLst>
          </p:cNvPr>
          <p:cNvSpPr>
            <a:spLocks xmlns:a="http://schemas.openxmlformats.org/drawingml/2006/main" noGrp="1"/>
          </p:cNvSpPr>
          <p:nvPr/>
        </p:nvSpPr>
        <p:spPr>
          <a:xfrm xmlns:a="http://schemas.openxmlformats.org/drawingml/2006/main">
            <a:off x="4003243"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One-hot categoricals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Standard scaler</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75-day window (OULAD)</a:t>
            </a:r>
          </a:p>
        </p:txBody>
      </p:sp>
      <p:sp>
        <p:nvSpPr>
          <p:cNvPr id="19" name="Shape 15">
            <a:extLst xmlns:a="http://schemas.openxmlformats.org/drawingml/2006/main">
              <a:ext uri="{FF2B5EF4-FFF2-40B4-BE49-F238E27FC236}">
                <a16:creationId xmlns:a16="http://schemas.microsoft.com/office/drawing/2014/main" id="{C878467D-1F2B-4AFF-8175-BF79942C5B7F}"/>
              </a:ext>
            </a:extLst>
          </p:cNvPr>
          <p:cNvSpPr>
            <a:spLocks xmlns:a="http://schemas.openxmlformats.org/drawingml/2006/main" noGrp="1"/>
          </p:cNvSpPr>
          <p:nvPr/>
        </p:nvSpPr>
        <p:spPr>
          <a:xfrm xmlns:a="http://schemas.openxmlformats.org/drawingml/2006/main">
            <a:off x="6540703"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0" name="Text 16">
            <a:extLst xmlns:a="http://schemas.openxmlformats.org/drawingml/2006/main">
              <a:ext uri="{FF2B5EF4-FFF2-40B4-BE49-F238E27FC236}">
                <a16:creationId xmlns:a16="http://schemas.microsoft.com/office/drawing/2014/main" id="{BC8C7743-4962-4C3E-B646-EC5B88124642}"/>
              </a:ext>
            </a:extLst>
          </p:cNvPr>
          <p:cNvSpPr>
            <a:spLocks xmlns:a="http://schemas.openxmlformats.org/drawingml/2006/main" noGrp="1"/>
          </p:cNvSpPr>
          <p:nvPr/>
        </p:nvSpPr>
        <p:spPr>
          <a:xfrm xmlns:a="http://schemas.openxmlformats.org/drawingml/2006/main">
            <a:off x="6702552"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03</a:t>
            </a:r>
          </a:p>
        </p:txBody>
      </p:sp>
      <p:sp>
        <p:nvSpPr>
          <p:cNvPr id="21" name="Text 17">
            <a:extLst xmlns:a="http://schemas.openxmlformats.org/drawingml/2006/main">
              <a:ext uri="{FF2B5EF4-FFF2-40B4-BE49-F238E27FC236}">
                <a16:creationId xmlns:a16="http://schemas.microsoft.com/office/drawing/2014/main" id="{16BAD7C0-44CD-4204-91ED-350D3A12C8B2}"/>
              </a:ext>
            </a:extLst>
          </p:cNvPr>
          <p:cNvSpPr>
            <a:spLocks xmlns:a="http://schemas.openxmlformats.org/drawingml/2006/main" noGrp="1"/>
          </p:cNvSpPr>
          <p:nvPr/>
        </p:nvSpPr>
        <p:spPr>
          <a:xfrm xmlns:a="http://schemas.openxmlformats.org/drawingml/2006/main">
            <a:off x="6702552"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Baselines</a:t>
            </a:r>
          </a:p>
        </p:txBody>
      </p:sp>
      <p:sp>
        <p:nvSpPr>
          <p:cNvPr id="22" name="Text 18">
            <a:extLst xmlns:a="http://schemas.openxmlformats.org/drawingml/2006/main">
              <a:ext uri="{FF2B5EF4-FFF2-40B4-BE49-F238E27FC236}">
                <a16:creationId xmlns:a16="http://schemas.microsoft.com/office/drawing/2014/main" id="{0011E989-003E-4743-A775-D1953CCBD5A8}"/>
              </a:ext>
            </a:extLst>
          </p:cNvPr>
          <p:cNvSpPr>
            <a:spLocks xmlns:a="http://schemas.openxmlformats.org/drawingml/2006/main" noGrp="1"/>
          </p:cNvSpPr>
          <p:nvPr/>
        </p:nvSpPr>
        <p:spPr>
          <a:xfrm xmlns:a="http://schemas.openxmlformats.org/drawingml/2006/main">
            <a:off x="6702552"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LogReg &amp; XGBoost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Decision Tree, RF</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Gradient Boosting</a:t>
            </a:r>
          </a:p>
        </p:txBody>
      </p:sp>
      <p:sp>
        <p:nvSpPr>
          <p:cNvPr id="23" name="Shape 19">
            <a:extLst xmlns:a="http://schemas.openxmlformats.org/drawingml/2006/main">
              <a:ext uri="{FF2B5EF4-FFF2-40B4-BE49-F238E27FC236}">
                <a16:creationId xmlns:a16="http://schemas.microsoft.com/office/drawing/2014/main" id="{7ADD2551-ECC7-4903-8534-EFD26FDF37F5}"/>
              </a:ext>
            </a:extLst>
          </p:cNvPr>
          <p:cNvSpPr>
            <a:spLocks xmlns:a="http://schemas.openxmlformats.org/drawingml/2006/main" noGrp="1"/>
          </p:cNvSpPr>
          <p:nvPr/>
        </p:nvSpPr>
        <p:spPr>
          <a:xfrm xmlns:a="http://schemas.openxmlformats.org/drawingml/2006/main">
            <a:off x="9239098"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4" name="Text 20">
            <a:extLst xmlns:a="http://schemas.openxmlformats.org/drawingml/2006/main">
              <a:ext uri="{FF2B5EF4-FFF2-40B4-BE49-F238E27FC236}">
                <a16:creationId xmlns:a16="http://schemas.microsoft.com/office/drawing/2014/main" id="{99A476F9-FB44-48AE-905F-243114A8B07A}"/>
              </a:ext>
            </a:extLst>
          </p:cNvPr>
          <p:cNvSpPr>
            <a:spLocks xmlns:a="http://schemas.openxmlformats.org/drawingml/2006/main" noGrp="1"/>
          </p:cNvSpPr>
          <p:nvPr/>
        </p:nvSpPr>
        <p:spPr>
          <a:xfrm xmlns:a="http://schemas.openxmlformats.org/drawingml/2006/main">
            <a:off x="9400946"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04</a:t>
            </a:r>
          </a:p>
        </p:txBody>
      </p:sp>
      <p:sp>
        <p:nvSpPr>
          <p:cNvPr id="25" name="Text 21">
            <a:extLst xmlns:a="http://schemas.openxmlformats.org/drawingml/2006/main">
              <a:ext uri="{FF2B5EF4-FFF2-40B4-BE49-F238E27FC236}">
                <a16:creationId xmlns:a16="http://schemas.microsoft.com/office/drawing/2014/main" id="{AB0AE63B-20F8-4DEE-A7C6-BD17879F56BA}"/>
              </a:ext>
            </a:extLst>
          </p:cNvPr>
          <p:cNvSpPr>
            <a:spLocks xmlns:a="http://schemas.openxmlformats.org/drawingml/2006/main" noGrp="1"/>
          </p:cNvSpPr>
          <p:nvPr/>
        </p:nvSpPr>
        <p:spPr>
          <a:xfrm xmlns:a="http://schemas.openxmlformats.org/drawingml/2006/main">
            <a:off x="9400946"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HP tuning</a:t>
            </a:r>
          </a:p>
        </p:txBody>
      </p:sp>
      <p:sp>
        <p:nvSpPr>
          <p:cNvPr id="26" name="Text 22">
            <a:extLst xmlns:a="http://schemas.openxmlformats.org/drawingml/2006/main">
              <a:ext uri="{FF2B5EF4-FFF2-40B4-BE49-F238E27FC236}">
                <a16:creationId xmlns:a16="http://schemas.microsoft.com/office/drawing/2014/main" id="{BB8450F2-1FC3-45BE-9F9E-F4EBAA27DB7E}"/>
              </a:ext>
            </a:extLst>
          </p:cNvPr>
          <p:cNvSpPr>
            <a:spLocks xmlns:a="http://schemas.openxmlformats.org/drawingml/2006/main" noGrp="1"/>
          </p:cNvSpPr>
          <p:nvPr/>
        </p:nvSpPr>
        <p:spPr>
          <a:xfrm xmlns:a="http://schemas.openxmlformats.org/drawingml/2006/main">
            <a:off x="9400946"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Focused parameter grid</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Selection on val split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F1 / macro-F1 metric</a:t>
            </a:r>
          </a:p>
        </p:txBody>
      </p:sp>
      <p:sp>
        <p:nvSpPr>
          <p:cNvPr id="27" name="Shape 23">
            <a:extLst xmlns:a="http://schemas.openxmlformats.org/drawingml/2006/main">
              <a:ext uri="{FF2B5EF4-FFF2-40B4-BE49-F238E27FC236}">
                <a16:creationId xmlns:a16="http://schemas.microsoft.com/office/drawing/2014/main" id="{F47105FE-9292-4D87-A739-33FCB5A65B4F}"/>
              </a:ext>
            </a:extLst>
          </p:cNvPr>
          <p:cNvSpPr>
            <a:spLocks xmlns:a="http://schemas.openxmlformats.org/drawingml/2006/main" noGrp="1"/>
          </p:cNvSpPr>
          <p:nvPr/>
        </p:nvSpPr>
        <p:spPr>
          <a:xfrm xmlns:a="http://schemas.openxmlformats.org/drawingml/2006/main">
            <a:off x="11938406"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8" name="Text 24">
            <a:extLst xmlns:a="http://schemas.openxmlformats.org/drawingml/2006/main">
              <a:ext uri="{FF2B5EF4-FFF2-40B4-BE49-F238E27FC236}">
                <a16:creationId xmlns:a16="http://schemas.microsoft.com/office/drawing/2014/main" id="{5BA372A7-628A-45C2-80C9-AA3EF500B29D}"/>
              </a:ext>
            </a:extLst>
          </p:cNvPr>
          <p:cNvSpPr>
            <a:spLocks xmlns:a="http://schemas.openxmlformats.org/drawingml/2006/main" noGrp="1"/>
          </p:cNvSpPr>
          <p:nvPr/>
        </p:nvSpPr>
        <p:spPr>
          <a:xfrm xmlns:a="http://schemas.openxmlformats.org/drawingml/2006/main">
            <a:off x="12100255"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05</a:t>
            </a:r>
          </a:p>
        </p:txBody>
      </p:sp>
      <p:sp>
        <p:nvSpPr>
          <p:cNvPr id="29" name="Text 25">
            <a:extLst xmlns:a="http://schemas.openxmlformats.org/drawingml/2006/main">
              <a:ext uri="{FF2B5EF4-FFF2-40B4-BE49-F238E27FC236}">
                <a16:creationId xmlns:a16="http://schemas.microsoft.com/office/drawing/2014/main" id="{5AED0A0D-170D-45AC-AF24-2FB4AF46C11A}"/>
              </a:ext>
            </a:extLst>
          </p:cNvPr>
          <p:cNvSpPr>
            <a:spLocks xmlns:a="http://schemas.openxmlformats.org/drawingml/2006/main" noGrp="1"/>
          </p:cNvSpPr>
          <p:nvPr/>
        </p:nvSpPr>
        <p:spPr>
          <a:xfrm xmlns:a="http://schemas.openxmlformats.org/drawingml/2006/main">
            <a:off x="12100255"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Threshold</a:t>
            </a:r>
          </a:p>
        </p:txBody>
      </p:sp>
      <p:sp>
        <p:nvSpPr>
          <p:cNvPr id="30" name="Text 26">
            <a:extLst xmlns:a="http://schemas.openxmlformats.org/drawingml/2006/main">
              <a:ext uri="{FF2B5EF4-FFF2-40B4-BE49-F238E27FC236}">
                <a16:creationId xmlns:a16="http://schemas.microsoft.com/office/drawing/2014/main" id="{0E1C7DF9-2F0D-43A4-87EB-13E0C6AFEE84}"/>
              </a:ext>
            </a:extLst>
          </p:cNvPr>
          <p:cNvSpPr>
            <a:spLocks xmlns:a="http://schemas.openxmlformats.org/drawingml/2006/main" noGrp="1"/>
          </p:cNvSpPr>
          <p:nvPr/>
        </p:nvSpPr>
        <p:spPr>
          <a:xfrm xmlns:a="http://schemas.openxmlformats.org/drawingml/2006/main">
            <a:off x="12100255"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Selected on val F1</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Recall &amp; balanced-acc</a:t>
            </a:r>
          </a:p>
          <a:p xmlns:a="http://schemas.openxmlformats.org/drawingml/2006/main">
            <a:pPr marL="0" indent="0" algn="l">
              <a:lnSpc>
                <a:spcPts val="1785"/>
              </a:lnSpc>
              <a:buNone/>
            </a:pPr>
            <a:r>
              <a:rPr sz="1000">
                <a:solidFill>
                  <a:srgbClr val="6A6F8C"/>
                </a:solidFill>
                <a:latin typeface="JetBrains Mono"/>
                <a:ea typeface="JetBrains Mono"/>
                <a:cs typeface="JetBrains Mono"/>
              </a:rPr>
              <a:t>used as tie-breakers</a:t>
            </a:r>
          </a:p>
        </p:txBody>
      </p:sp>
      <p:sp>
        <p:nvSpPr>
          <p:cNvPr id="31" name="Shape 27">
            <a:extLst xmlns:a="http://schemas.openxmlformats.org/drawingml/2006/main">
              <a:ext uri="{FF2B5EF4-FFF2-40B4-BE49-F238E27FC236}">
                <a16:creationId xmlns:a16="http://schemas.microsoft.com/office/drawing/2014/main" id="{E1C866C9-7DF4-4F65-868C-91212E0B643C}"/>
              </a:ext>
            </a:extLst>
          </p:cNvPr>
          <p:cNvSpPr>
            <a:spLocks xmlns:a="http://schemas.openxmlformats.org/drawingml/2006/main" noGrp="1"/>
          </p:cNvSpPr>
          <p:nvPr/>
        </p:nvSpPr>
        <p:spPr>
          <a:xfrm xmlns:a="http://schemas.openxmlformats.org/drawingml/2006/main">
            <a:off x="14636801" y="3095244"/>
            <a:ext cx="28346" cy="1238098"/>
          </a:xfrm>
          <a:prstGeom xmlns:a="http://schemas.openxmlformats.org/drawingml/2006/main" prst="rect">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32" name="Text 28">
            <a:extLst xmlns:a="http://schemas.openxmlformats.org/drawingml/2006/main">
              <a:ext uri="{FF2B5EF4-FFF2-40B4-BE49-F238E27FC236}">
                <a16:creationId xmlns:a16="http://schemas.microsoft.com/office/drawing/2014/main" id="{2F5CF2D0-BBEC-4701-8547-56C03CE117C1}"/>
              </a:ext>
            </a:extLst>
          </p:cNvPr>
          <p:cNvSpPr>
            <a:spLocks xmlns:a="http://schemas.openxmlformats.org/drawingml/2006/main" noGrp="1"/>
          </p:cNvSpPr>
          <p:nvPr/>
        </p:nvSpPr>
        <p:spPr>
          <a:xfrm xmlns:a="http://schemas.openxmlformats.org/drawingml/2006/main">
            <a:off x="14798650"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STEP 06</a:t>
            </a:r>
          </a:p>
        </p:txBody>
      </p:sp>
      <p:sp>
        <p:nvSpPr>
          <p:cNvPr id="33" name="Text 29">
            <a:extLst xmlns:a="http://schemas.openxmlformats.org/drawingml/2006/main">
              <a:ext uri="{FF2B5EF4-FFF2-40B4-BE49-F238E27FC236}">
                <a16:creationId xmlns:a16="http://schemas.microsoft.com/office/drawing/2014/main" id="{5583EFC8-8CB5-4BE8-98B0-16273A565FAC}"/>
              </a:ext>
            </a:extLst>
          </p:cNvPr>
          <p:cNvSpPr>
            <a:spLocks xmlns:a="http://schemas.openxmlformats.org/drawingml/2006/main" noGrp="1"/>
          </p:cNvSpPr>
          <p:nvPr/>
        </p:nvSpPr>
        <p:spPr>
          <a:xfrm xmlns:a="http://schemas.openxmlformats.org/drawingml/2006/main">
            <a:off x="14798650"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Validation</a:t>
            </a:r>
          </a:p>
        </p:txBody>
      </p:sp>
      <p:sp>
        <p:nvSpPr>
          <p:cNvPr id="34" name="Text 30">
            <a:extLst xmlns:a="http://schemas.openxmlformats.org/drawingml/2006/main">
              <a:ext uri="{FF2B5EF4-FFF2-40B4-BE49-F238E27FC236}">
                <a16:creationId xmlns:a16="http://schemas.microsoft.com/office/drawing/2014/main" id="{1DE3DE3F-9B27-432D-85CA-B7B034F38667}"/>
              </a:ext>
            </a:extLst>
          </p:cNvPr>
          <p:cNvSpPr>
            <a:spLocks xmlns:a="http://schemas.openxmlformats.org/drawingml/2006/main" noGrp="1"/>
          </p:cNvSpPr>
          <p:nvPr/>
        </p:nvSpPr>
        <p:spPr>
          <a:xfrm xmlns:a="http://schemas.openxmlformats.org/drawingml/2006/main">
            <a:off x="14798650"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Held-out test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SHAP</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Robustness</a:t>
            </a:r>
          </a:p>
        </p:txBody>
      </p:sp>
      <p:sp>
        <p:nvSpPr>
          <p:cNvPr id="35" name="Text 31">
            <a:extLst xmlns:a="http://schemas.openxmlformats.org/drawingml/2006/main">
              <a:ext uri="{FF2B5EF4-FFF2-40B4-BE49-F238E27FC236}">
                <a16:creationId xmlns:a16="http://schemas.microsoft.com/office/drawing/2014/main" id="{51C612A5-5079-4478-A4FC-994763C599F8}"/>
              </a:ext>
            </a:extLst>
          </p:cNvPr>
          <p:cNvSpPr>
            <a:spLocks xmlns:a="http://schemas.openxmlformats.org/drawingml/2006/main" noGrp="1"/>
          </p:cNvSpPr>
          <p:nvPr/>
        </p:nvSpPr>
        <p:spPr>
          <a:xfrm xmlns:a="http://schemas.openxmlformats.org/drawingml/2006/main">
            <a:off x="1143000"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Why these two algorithms</a:t>
            </a:r>
          </a:p>
        </p:txBody>
      </p:sp>
      <p:sp>
        <p:nvSpPr>
          <p:cNvPr id="36" name="Text 32">
            <a:extLst xmlns:a="http://schemas.openxmlformats.org/drawingml/2006/main">
              <a:ext uri="{FF2B5EF4-FFF2-40B4-BE49-F238E27FC236}">
                <a16:creationId xmlns:a16="http://schemas.microsoft.com/office/drawing/2014/main" id="{0AD3F98F-32A2-4569-8883-4E7D4151E59F}"/>
              </a:ext>
            </a:extLst>
          </p:cNvPr>
          <p:cNvSpPr>
            <a:spLocks xmlns:a="http://schemas.openxmlformats.org/drawingml/2006/main" noGrp="1"/>
          </p:cNvSpPr>
          <p:nvPr/>
        </p:nvSpPr>
        <p:spPr>
          <a:xfrm xmlns:a="http://schemas.openxmlformats.org/drawingml/2006/main">
            <a:off x="1143000"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Different datasets rewarded different families.</a:t>
            </a:r>
          </a:p>
        </p:txBody>
      </p:sp>
      <p:sp>
        <p:nvSpPr>
          <p:cNvPr id="37" name="Shape 33">
            <a:extLst xmlns:a="http://schemas.openxmlformats.org/drawingml/2006/main">
              <a:ext uri="{FF2B5EF4-FFF2-40B4-BE49-F238E27FC236}">
                <a16:creationId xmlns:a16="http://schemas.microsoft.com/office/drawing/2014/main" id="{59805BA9-4571-4931-AAF2-835EFE454561}"/>
              </a:ext>
            </a:extLst>
          </p:cNvPr>
          <p:cNvSpPr>
            <a:spLocks xmlns:a="http://schemas.openxmlformats.org/drawingml/2006/main" noGrp="1"/>
          </p:cNvSpPr>
          <p:nvPr/>
        </p:nvSpPr>
        <p:spPr>
          <a:xfrm xmlns:a="http://schemas.openxmlformats.org/drawingml/2006/main">
            <a:off x="1143000" y="6919265"/>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8" name="Text 34">
            <a:extLst xmlns:a="http://schemas.openxmlformats.org/drawingml/2006/main">
              <a:ext uri="{FF2B5EF4-FFF2-40B4-BE49-F238E27FC236}">
                <a16:creationId xmlns:a16="http://schemas.microsoft.com/office/drawing/2014/main" id="{026DC8A2-D127-489B-812F-092114CFC820}"/>
              </a:ext>
            </a:extLst>
          </p:cNvPr>
          <p:cNvSpPr>
            <a:spLocks xmlns:a="http://schemas.openxmlformats.org/drawingml/2006/main" noGrp="1"/>
          </p:cNvSpPr>
          <p:nvPr/>
        </p:nvSpPr>
        <p:spPr>
          <a:xfrm xmlns:a="http://schemas.openxmlformats.org/drawingml/2006/main">
            <a:off x="1143000" y="7081114"/>
            <a:ext cx="13341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UCI · LogReg</a:t>
            </a:r>
          </a:p>
        </p:txBody>
      </p:sp>
      <p:sp>
        <p:nvSpPr>
          <p:cNvPr id="39" name="Text 35">
            <a:extLst xmlns:a="http://schemas.openxmlformats.org/drawingml/2006/main">
              <a:ext uri="{FF2B5EF4-FFF2-40B4-BE49-F238E27FC236}">
                <a16:creationId xmlns:a16="http://schemas.microsoft.com/office/drawing/2014/main" id="{B8D99ED2-203D-49C6-B99D-33BC09BE7FDF}"/>
              </a:ext>
            </a:extLst>
          </p:cNvPr>
          <p:cNvSpPr>
            <a:spLocks xmlns:a="http://schemas.openxmlformats.org/drawingml/2006/main" noGrp="1"/>
          </p:cNvSpPr>
          <p:nvPr/>
        </p:nvSpPr>
        <p:spPr>
          <a:xfrm xmlns:a="http://schemas.openxmlformats.org/drawingml/2006/main">
            <a:off x="2667305" y="7081114"/>
            <a:ext cx="66870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Mostly linear early-signal; LogReg matched XGBoost F1 and stayed interpretable.</a:t>
            </a:r>
          </a:p>
        </p:txBody>
      </p:sp>
      <p:sp>
        <p:nvSpPr>
          <p:cNvPr id="40" name="Text 36">
            <a:extLst xmlns:a="http://schemas.openxmlformats.org/drawingml/2006/main">
              <a:ext uri="{FF2B5EF4-FFF2-40B4-BE49-F238E27FC236}">
                <a16:creationId xmlns:a16="http://schemas.microsoft.com/office/drawing/2014/main" id="{8872A302-3702-4BEB-8144-F8FD57D24DE4}"/>
              </a:ext>
            </a:extLst>
          </p:cNvPr>
          <p:cNvSpPr>
            <a:spLocks xmlns:a="http://schemas.openxmlformats.org/drawingml/2006/main" noGrp="1"/>
          </p:cNvSpPr>
          <p:nvPr/>
        </p:nvSpPr>
        <p:spPr>
          <a:xfrm xmlns:a="http://schemas.openxmlformats.org/drawingml/2006/main">
            <a:off x="1143000" y="7450531"/>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OULAD · XGBoost</a:t>
            </a:r>
          </a:p>
        </p:txBody>
      </p:sp>
      <p:sp>
        <p:nvSpPr>
          <p:cNvPr id="41" name="Text 37">
            <a:extLst xmlns:a="http://schemas.openxmlformats.org/drawingml/2006/main">
              <a:ext uri="{FF2B5EF4-FFF2-40B4-BE49-F238E27FC236}">
                <a16:creationId xmlns:a16="http://schemas.microsoft.com/office/drawing/2014/main" id="{F415149A-2F75-402A-B1B3-BE4B9C3630D8}"/>
              </a:ext>
            </a:extLst>
          </p:cNvPr>
          <p:cNvSpPr>
            <a:spLocks xmlns:a="http://schemas.openxmlformats.org/drawingml/2006/main" noGrp="1"/>
          </p:cNvSpPr>
          <p:nvPr/>
        </p:nvSpPr>
        <p:spPr>
          <a:xfrm xmlns:a="http://schemas.openxmlformats.org/drawingml/2006/main">
            <a:off x="2667305" y="7450531"/>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Non-linear interactions between clicks and submission ratios — XGBoost led on validation F1.</a:t>
            </a:r>
          </a:p>
        </p:txBody>
      </p:sp>
      <p:sp>
        <p:nvSpPr>
          <p:cNvPr id="42" name="Text 38">
            <a:extLst xmlns:a="http://schemas.openxmlformats.org/drawingml/2006/main">
              <a:ext uri="{FF2B5EF4-FFF2-40B4-BE49-F238E27FC236}">
                <a16:creationId xmlns:a16="http://schemas.microsoft.com/office/drawing/2014/main" id="{05C5AA69-BE40-41F1-B5AE-8B8023C4AA2C}"/>
              </a:ext>
            </a:extLst>
          </p:cNvPr>
          <p:cNvSpPr>
            <a:spLocks xmlns:a="http://schemas.openxmlformats.org/drawingml/2006/main" noGrp="1"/>
          </p:cNvSpPr>
          <p:nvPr/>
        </p:nvSpPr>
        <p:spPr>
          <a:xfrm xmlns:a="http://schemas.openxmlformats.org/drawingml/2006/main">
            <a:off x="1143000" y="8055864"/>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Also evaluated</a:t>
            </a:r>
          </a:p>
        </p:txBody>
      </p:sp>
      <p:sp>
        <p:nvSpPr>
          <p:cNvPr id="43" name="Text 39">
            <a:extLst xmlns:a="http://schemas.openxmlformats.org/drawingml/2006/main">
              <a:ext uri="{FF2B5EF4-FFF2-40B4-BE49-F238E27FC236}">
                <a16:creationId xmlns:a16="http://schemas.microsoft.com/office/drawing/2014/main" id="{3E52FF11-1125-473F-AE47-BEDACBBE495F}"/>
              </a:ext>
            </a:extLst>
          </p:cNvPr>
          <p:cNvSpPr>
            <a:spLocks xmlns:a="http://schemas.openxmlformats.org/drawingml/2006/main" noGrp="1"/>
          </p:cNvSpPr>
          <p:nvPr/>
        </p:nvSpPr>
        <p:spPr>
          <a:xfrm xmlns:a="http://schemas.openxmlformats.org/drawingml/2006/main">
            <a:off x="2667305" y="8055864"/>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Decision Tree, Random Forest, Gradient Boosting. Not retained for the final early-warning setting.</a:t>
            </a:r>
          </a:p>
        </p:txBody>
      </p:sp>
      <p:sp>
        <p:nvSpPr>
          <p:cNvPr id="44" name="Text 40">
            <a:extLst xmlns:a="http://schemas.openxmlformats.org/drawingml/2006/main">
              <a:ext uri="{FF2B5EF4-FFF2-40B4-BE49-F238E27FC236}">
                <a16:creationId xmlns:a16="http://schemas.microsoft.com/office/drawing/2014/main" id="{5F0145F2-AB5F-4D49-97C8-2F9EA1DF962D}"/>
              </a:ext>
            </a:extLst>
          </p:cNvPr>
          <p:cNvSpPr>
            <a:spLocks xmlns:a="http://schemas.openxmlformats.org/drawingml/2006/main" noGrp="1"/>
          </p:cNvSpPr>
          <p:nvPr/>
        </p:nvSpPr>
        <p:spPr>
          <a:xfrm xmlns:a="http://schemas.openxmlformats.org/drawingml/2006/main">
            <a:off x="9620402"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Evaluation stack</a:t>
            </a:r>
          </a:p>
        </p:txBody>
      </p:sp>
      <p:sp>
        <p:nvSpPr>
          <p:cNvPr id="45" name="Text 41">
            <a:extLst xmlns:a="http://schemas.openxmlformats.org/drawingml/2006/main">
              <a:ext uri="{FF2B5EF4-FFF2-40B4-BE49-F238E27FC236}">
                <a16:creationId xmlns:a16="http://schemas.microsoft.com/office/drawing/2014/main" id="{38B87B00-17E5-429F-908A-F6D18D9B62C2}"/>
              </a:ext>
            </a:extLst>
          </p:cNvPr>
          <p:cNvSpPr>
            <a:spLocks xmlns:a="http://schemas.openxmlformats.org/drawingml/2006/main" noGrp="1"/>
          </p:cNvSpPr>
          <p:nvPr/>
        </p:nvSpPr>
        <p:spPr>
          <a:xfrm xmlns:a="http://schemas.openxmlformats.org/drawingml/2006/main">
            <a:off x="9620402"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Metrics chosen for the decision, not just accuracy.</a:t>
            </a:r>
          </a:p>
        </p:txBody>
      </p:sp>
      <p:sp>
        <p:nvSpPr>
          <p:cNvPr id="46" name="Shape 42">
            <a:extLst xmlns:a="http://schemas.openxmlformats.org/drawingml/2006/main">
              <a:ext uri="{FF2B5EF4-FFF2-40B4-BE49-F238E27FC236}">
                <a16:creationId xmlns:a16="http://schemas.microsoft.com/office/drawing/2014/main" id="{9FA647B6-7912-451B-B30A-6AC93253F8BA}"/>
              </a:ext>
            </a:extLst>
          </p:cNvPr>
          <p:cNvSpPr>
            <a:spLocks xmlns:a="http://schemas.openxmlformats.org/drawingml/2006/main" noGrp="1"/>
          </p:cNvSpPr>
          <p:nvPr/>
        </p:nvSpPr>
        <p:spPr>
          <a:xfrm xmlns:a="http://schemas.openxmlformats.org/drawingml/2006/main">
            <a:off x="9620402" y="6919265"/>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7" name="Text 43">
            <a:extLst xmlns:a="http://schemas.openxmlformats.org/drawingml/2006/main">
              <a:ext uri="{FF2B5EF4-FFF2-40B4-BE49-F238E27FC236}">
                <a16:creationId xmlns:a16="http://schemas.microsoft.com/office/drawing/2014/main" id="{055F0F45-2861-409A-84E2-12A4593E2E50}"/>
              </a:ext>
            </a:extLst>
          </p:cNvPr>
          <p:cNvSpPr>
            <a:spLocks xmlns:a="http://schemas.openxmlformats.org/drawingml/2006/main" noGrp="1"/>
          </p:cNvSpPr>
          <p:nvPr/>
        </p:nvSpPr>
        <p:spPr>
          <a:xfrm xmlns:a="http://schemas.openxmlformats.org/drawingml/2006/main">
            <a:off x="9620402"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F1</a:t>
            </a:r>
            <a:r>
              <a:rPr sz="1200">
                <a:solidFill>
                  <a:srgbClr val="FFFFFF">
                    <a:alpha val="90000"/>
                  </a:srgbClr>
                </a:solidFill>
                <a:latin typeface="JetBrains Mono"/>
                <a:ea typeface="JetBrains Mono"/>
                <a:cs typeface="JetBrains Mono"/>
              </a:rPr>
              <a:t> · balances alerts vs. misses</a:t>
            </a:r>
          </a:p>
        </p:txBody>
      </p:sp>
      <p:sp>
        <p:nvSpPr>
          <p:cNvPr id="48" name="Text 44">
            <a:extLst xmlns:a="http://schemas.openxmlformats.org/drawingml/2006/main">
              <a:ext uri="{FF2B5EF4-FFF2-40B4-BE49-F238E27FC236}">
                <a16:creationId xmlns:a16="http://schemas.microsoft.com/office/drawing/2014/main" id="{69F02562-7657-40DC-880E-EA1DEC10AFAC}"/>
              </a:ext>
            </a:extLst>
          </p:cNvPr>
          <p:cNvSpPr>
            <a:spLocks xmlns:a="http://schemas.openxmlformats.org/drawingml/2006/main" noGrp="1"/>
          </p:cNvSpPr>
          <p:nvPr/>
        </p:nvSpPr>
        <p:spPr>
          <a:xfrm xmlns:a="http://schemas.openxmlformats.org/drawingml/2006/main">
            <a:off x="13525805"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Recall</a:t>
            </a:r>
            <a:r>
              <a:rPr sz="1200">
                <a:solidFill>
                  <a:srgbClr val="FFFFFF">
                    <a:alpha val="90000"/>
                  </a:srgbClr>
                </a:solidFill>
                <a:latin typeface="JetBrains Mono"/>
                <a:ea typeface="JetBrains Mono"/>
                <a:cs typeface="JetBrains Mono"/>
              </a:rPr>
              <a:t> · who did we miss?</a:t>
            </a:r>
          </a:p>
        </p:txBody>
      </p:sp>
      <p:sp>
        <p:nvSpPr>
          <p:cNvPr id="49" name="Text 45">
            <a:extLst xmlns:a="http://schemas.openxmlformats.org/drawingml/2006/main">
              <a:ext uri="{FF2B5EF4-FFF2-40B4-BE49-F238E27FC236}">
                <a16:creationId xmlns:a16="http://schemas.microsoft.com/office/drawing/2014/main" id="{FE8ADF8E-9155-46D6-8B72-D1270E7A4971}"/>
              </a:ext>
            </a:extLst>
          </p:cNvPr>
          <p:cNvSpPr>
            <a:spLocks xmlns:a="http://schemas.openxmlformats.org/drawingml/2006/main" noGrp="1"/>
          </p:cNvSpPr>
          <p:nvPr/>
        </p:nvSpPr>
        <p:spPr>
          <a:xfrm xmlns:a="http://schemas.openxmlformats.org/drawingml/2006/main">
            <a:off x="9620402"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ROC-AUC</a:t>
            </a:r>
            <a:r>
              <a:rPr sz="1200">
                <a:solidFill>
                  <a:srgbClr val="FFFFFF">
                    <a:alpha val="90000"/>
                  </a:srgbClr>
                </a:solidFill>
                <a:latin typeface="JetBrains Mono"/>
                <a:ea typeface="JetBrains Mono"/>
                <a:cs typeface="JetBrains Mono"/>
              </a:rPr>
              <a:t> · threshold-agnostic ranking</a:t>
            </a:r>
          </a:p>
        </p:txBody>
      </p:sp>
      <p:sp>
        <p:nvSpPr>
          <p:cNvPr id="50" name="Text 46">
            <a:extLst xmlns:a="http://schemas.openxmlformats.org/drawingml/2006/main">
              <a:ext uri="{FF2B5EF4-FFF2-40B4-BE49-F238E27FC236}">
                <a16:creationId xmlns:a16="http://schemas.microsoft.com/office/drawing/2014/main" id="{ECA77F93-FB75-4D31-BF9D-42149F4639D5}"/>
              </a:ext>
            </a:extLst>
          </p:cNvPr>
          <p:cNvSpPr>
            <a:spLocks xmlns:a="http://schemas.openxmlformats.org/drawingml/2006/main" noGrp="1"/>
          </p:cNvSpPr>
          <p:nvPr/>
        </p:nvSpPr>
        <p:spPr>
          <a:xfrm xmlns:a="http://schemas.openxmlformats.org/drawingml/2006/main">
            <a:off x="13525805"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Precision</a:t>
            </a:r>
            <a:r>
              <a:rPr sz="1200">
                <a:solidFill>
                  <a:srgbClr val="FFFFFF">
                    <a:alpha val="90000"/>
                  </a:srgbClr>
                </a:solidFill>
                <a:latin typeface="JetBrains Mono"/>
                <a:ea typeface="JetBrains Mono"/>
                <a:cs typeface="JetBrains Mono"/>
              </a:rPr>
              <a:t> · advisor workload proxy</a:t>
            </a:r>
          </a:p>
        </p:txBody>
      </p:sp>
      <p:sp>
        <p:nvSpPr>
          <p:cNvPr id="51" name="Shape 47">
            <a:extLst xmlns:a="http://schemas.openxmlformats.org/drawingml/2006/main">
              <a:ext uri="{FF2B5EF4-FFF2-40B4-BE49-F238E27FC236}">
                <a16:creationId xmlns:a16="http://schemas.microsoft.com/office/drawing/2014/main" id="{BA0B895A-7D3A-46E7-AFDF-8E1B05E9F5C2}"/>
              </a:ext>
            </a:extLst>
          </p:cNvPr>
          <p:cNvSpPr>
            <a:spLocks xmlns:a="http://schemas.openxmlformats.org/drawingml/2006/main" noGrp="1"/>
          </p:cNvSpPr>
          <p:nvPr/>
        </p:nvSpPr>
        <p:spPr>
          <a:xfrm xmlns:a="http://schemas.openxmlformats.org/drawingml/2006/main">
            <a:off x="9620402" y="7930591"/>
            <a:ext cx="7524598" cy="9144"/>
          </a:xfrm>
          <a:prstGeom xmlns:a="http://schemas.openxmlformats.org/drawingml/2006/main" prst="rect">
            <a:avLst/>
          </a:prstGeom>
          <a:solidFill xmlns:a="http://schemas.openxmlformats.org/drawingml/2006/main">
            <a:srgbClr val="FFFFFF">
              <a:alpha val="10000"/>
            </a:srgbClr>
          </a:solidFill>
          <a:ln xmlns:a="http://schemas.openxmlformats.org/drawingml/2006/main" w="12700">
            <a:solidFill>
              <a:srgbClr val="FFFFFF">
                <a:alpha val="0"/>
              </a:srgbClr>
            </a:solidFill>
            <a:prstDash val="solid"/>
          </a:ln>
        </p:spPr>
      </p:sp>
      <p:sp>
        <p:nvSpPr>
          <p:cNvPr id="52" name="Text 48">
            <a:extLst xmlns:a="http://schemas.openxmlformats.org/drawingml/2006/main">
              <a:ext uri="{FF2B5EF4-FFF2-40B4-BE49-F238E27FC236}">
                <a16:creationId xmlns:a16="http://schemas.microsoft.com/office/drawing/2014/main" id="{B92C72C3-B245-45BF-A9E3-0A4075EE65B5}"/>
              </a:ext>
            </a:extLst>
          </p:cNvPr>
          <p:cNvSpPr>
            <a:spLocks xmlns:a="http://schemas.openxmlformats.org/drawingml/2006/main" noGrp="1"/>
          </p:cNvSpPr>
          <p:nvPr/>
        </p:nvSpPr>
        <p:spPr>
          <a:xfrm xmlns:a="http://schemas.openxmlformats.org/drawingml/2006/main">
            <a:off x="9620402" y="8073238"/>
            <a:ext cx="7525512" cy="1527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1000">
                <a:solidFill>
                  <a:srgbClr val="FFFFFF">
                    <a:alpha val="60000"/>
                  </a:srgbClr>
                </a:solidFill>
                <a:latin typeface="JetBrains Mono"/>
                <a:ea typeface="JetBrains Mono"/>
                <a:cs typeface="JetBrains Mono"/>
              </a:rPr>
              <a:t>Test set kept untouched until final model was locked · no metric peeking during tuning.</a:t>
            </a:r>
          </a:p>
        </p:txBody>
      </p:sp>
    </p:spTree>
    <p:extLst>
      <p:ext uri="{BB962C8B-B14F-4D97-AF65-F5344CB8AC3E}">
        <p14:creationId xmlns:p14="http://schemas.microsoft.com/office/powerpoint/2010/main" val="1459980725"/>
      </p:ext>
    </p:extLst>
  </p:cSld>
</p:sld>
</file>

<file path=ppt/slides/slide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2b14045962ad4740"/>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3AE2EA19-72A7-4CD4-AE6C-D00AB8C22457}"/>
              </a:ext>
            </a:extLst>
          </p:cNvPr>
          <p:cNvSpPr>
            <a:spLocks xmlns:a="http://schemas.openxmlformats.org/drawingml/2006/main" noGrp="1"/>
          </p:cNvSpPr>
          <p:nvPr/>
        </p:nvSpPr>
        <p:spPr>
          <a:xfrm xmlns:a="http://schemas.openxmlformats.org/drawingml/2006/main">
            <a:off x="761695" y="2667305"/>
            <a:ext cx="10306202" cy="6590995"/>
          </a:xfrm>
          <a:prstGeom xmlns:a="http://schemas.openxmlformats.org/drawingml/2006/main" prst="roundRect">
            <a:avLst>
              <a:gd name="adj" fmla="val 291"/>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323A0A6C-CFDE-41E8-8E31-CE7C3B27557D}"/>
              </a:ext>
            </a:extLst>
          </p:cNvPr>
          <p:cNvSpPr>
            <a:spLocks xmlns:a="http://schemas.openxmlformats.org/drawingml/2006/main" noGrp="1"/>
          </p:cNvSpPr>
          <p:nvPr/>
        </p:nvSpPr>
        <p:spPr>
          <a:xfrm xmlns:a="http://schemas.openxmlformats.org/drawingml/2006/main">
            <a:off x="11334902" y="2667305"/>
            <a:ext cx="6210605" cy="6590995"/>
          </a:xfrm>
          <a:prstGeom xmlns:a="http://schemas.openxmlformats.org/drawingml/2006/main" prst="roundRect">
            <a:avLst>
              <a:gd name="adj" fmla="val 309"/>
            </a:avLst>
          </a:prstGeom>
          <a:solidFill xmlns:a="http://schemas.openxmlformats.org/drawingml/2006/main">
            <a:srgbClr val="FFFFFF"/>
          </a:solidFill>
          <a:ln xmlns:a="http://schemas.openxmlformats.org/drawingml/2006/main" w="12700">
            <a:solidFill>
              <a:srgbClr val="E4E5EF"/>
            </a:solidFill>
            <a:prstDash val="solid"/>
          </a:ln>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411cc3b156d44fe9"/>
          <a:srcRect xmlns:a="http://schemas.openxmlformats.org/drawingml/2006/main" l="0" t="-17083" r="0" b="-17083"/>
          <a:stretch xmlns:a="http://schemas.openxmlformats.org/drawingml/2006/main"/>
        </p:blipFill>
        <p:spPr>
          <a:xfrm xmlns:a="http://schemas.openxmlformats.org/drawingml/2006/main">
            <a:off x="11620195" y="3238805"/>
            <a:ext cx="5619902" cy="4476902"/>
          </a:xfrm>
          <a:prstGeom xmlns:a="http://schemas.openxmlformats.org/drawingml/2006/main" prst="rect">
            <a:avLst/>
          </a:prstGeom>
        </p:spPr>
      </p:pic>
      <p:sp>
        <p:nvSpPr>
          <p:cNvPr id="7" name="Text 2">
            <a:extLst xmlns:a="http://schemas.openxmlformats.org/drawingml/2006/main">
              <a:ext uri="{FF2B5EF4-FFF2-40B4-BE49-F238E27FC236}">
                <a16:creationId xmlns:a16="http://schemas.microsoft.com/office/drawing/2014/main" id="{FA360747-D808-459F-BC92-B3403F70540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Hyperparameter &amp; threshold tuning</a:t>
            </a:r>
          </a:p>
        </p:txBody>
      </p:sp>
      <p:sp>
        <p:nvSpPr>
          <p:cNvPr id="8" name="Text 3">
            <a:extLst xmlns:a="http://schemas.openxmlformats.org/drawingml/2006/main">
              <a:ext uri="{FF2B5EF4-FFF2-40B4-BE49-F238E27FC236}">
                <a16:creationId xmlns:a16="http://schemas.microsoft.com/office/drawing/2014/main" id="{97E007B0-0BAC-4AD1-AE9B-E7643D74B8A7}"/>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09 / 20</a:t>
            </a:r>
          </a:p>
        </p:txBody>
      </p:sp>
      <p:sp>
        <p:nvSpPr>
          <p:cNvPr id="9" name="Text 4">
            <a:extLst xmlns:a="http://schemas.openxmlformats.org/drawingml/2006/main">
              <a:ext uri="{FF2B5EF4-FFF2-40B4-BE49-F238E27FC236}">
                <a16:creationId xmlns:a16="http://schemas.microsoft.com/office/drawing/2014/main" id="{D0443E7E-5927-48B9-B0DE-BD9A69DDFB75}"/>
              </a:ext>
            </a:extLst>
          </p:cNvPr>
          <p:cNvSpPr>
            <a:spLocks xmlns:a="http://schemas.openxmlformats.org/drawingml/2006/main" noGrp="1"/>
          </p:cNvSpPr>
          <p:nvPr/>
        </p:nvSpPr>
        <p:spPr>
          <a:xfrm xmlns:a="http://schemas.openxmlformats.org/drawingml/2006/main">
            <a:off x="761695" y="1238098"/>
            <a:ext cx="13335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Focused tuning + validation-anchored thresholds.</a:t>
            </a:r>
          </a:p>
        </p:txBody>
      </p:sp>
      <p:sp>
        <p:nvSpPr>
          <p:cNvPr id="10" name="Text 5">
            <a:extLst xmlns:a="http://schemas.openxmlformats.org/drawingml/2006/main">
              <a:ext uri="{FF2B5EF4-FFF2-40B4-BE49-F238E27FC236}">
                <a16:creationId xmlns:a16="http://schemas.microsoft.com/office/drawing/2014/main" id="{8F88018C-EAEF-4EE8-B3E0-8772D0C40984}"/>
              </a:ext>
            </a:extLst>
          </p:cNvPr>
          <p:cNvSpPr>
            <a:spLocks xmlns:a="http://schemas.openxmlformats.org/drawingml/2006/main" noGrp="1"/>
          </p:cNvSpPr>
          <p:nvPr/>
        </p:nvSpPr>
        <p:spPr>
          <a:xfrm xmlns:a="http://schemas.openxmlformats.org/drawingml/2006/main">
            <a:off x="761695" y="1785823"/>
            <a:ext cx="13335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i="1">
                <a:solidFill>
                  <a:srgbClr val="6A6F8C"/>
                </a:solidFill>
                <a:latin typeface="Source Serif Pro"/>
                <a:ea typeface="Source Serif Pro"/>
                <a:cs typeface="Source Serif Pro"/>
              </a:rPr>
              <a:t>Small, mixed F1 changes — and cutoffs picked on validation only.</a:t>
            </a:r>
          </a:p>
        </p:txBody>
      </p:sp>
      <p:sp>
        <p:nvSpPr>
          <p:cNvPr id="11" name="Text 6">
            <a:extLst xmlns:a="http://schemas.openxmlformats.org/drawingml/2006/main">
              <a:ext uri="{FF2B5EF4-FFF2-40B4-BE49-F238E27FC236}">
                <a16:creationId xmlns:a16="http://schemas.microsoft.com/office/drawing/2014/main" id="{58E25159-B4B4-463D-8D90-C5A8BFDFC0D9}"/>
              </a:ext>
            </a:extLst>
          </p:cNvPr>
          <p:cNvSpPr>
            <a:spLocks xmlns:a="http://schemas.openxmlformats.org/drawingml/2006/main" noGrp="1"/>
          </p:cNvSpPr>
          <p:nvPr/>
        </p:nvSpPr>
        <p:spPr>
          <a:xfrm xmlns:a="http://schemas.openxmlformats.org/drawingml/2006/main">
            <a:off x="1143000" y="2857500"/>
            <a:ext cx="9525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Baseline vs. tuned · held-out test</a:t>
            </a:r>
          </a:p>
        </p:txBody>
      </p:sp>
      <p:sp>
        <p:nvSpPr>
          <p:cNvPr id="12" name="Text 7">
            <a:extLst xmlns:a="http://schemas.openxmlformats.org/drawingml/2006/main">
              <a:ext uri="{FF2B5EF4-FFF2-40B4-BE49-F238E27FC236}">
                <a16:creationId xmlns:a16="http://schemas.microsoft.com/office/drawing/2014/main" id="{FD5AB0AD-A0B6-46A2-A5C8-276DD4C20238}"/>
              </a:ext>
            </a:extLst>
          </p:cNvPr>
          <p:cNvSpPr>
            <a:spLocks xmlns:a="http://schemas.openxmlformats.org/drawingml/2006/main" noGrp="1"/>
          </p:cNvSpPr>
          <p:nvPr/>
        </p:nvSpPr>
        <p:spPr>
          <a:xfrm xmlns:a="http://schemas.openxmlformats.org/drawingml/2006/main">
            <a:off x="1143000" y="3047695"/>
            <a:ext cx="9525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Where tuning moved F1.</a:t>
            </a:r>
          </a:p>
        </p:txBody>
      </p:sp>
      <p:graphicFrame>
        <p:nvGraphicFramePr>
          <p:cNvPr id="45" name="Table 0"/>
          <p:cNvGraphicFramePr/>
          <p:nvPr/>
        </p:nvGraphicFramePr>
        <p:xfrm>
          <a:off xmlns:a="http://schemas.openxmlformats.org/drawingml/2006/main" x="1143000" y="3476549"/>
          <a:ext xmlns:a="http://schemas.openxmlformats.org/drawingml/2006/main" cx="9525305" cy="2210105"/>
        </p:xfrm>
        <a:graphic xmlns:a="http://schemas.openxmlformats.org/drawingml/2006/main">
          <a:graphicData uri="http://schemas.openxmlformats.org/drawingml/2006/table">
            <a:tbl>
              <a:tblPr/>
              <a:tblGrid>
                <a:gridCol w="3478378"/>
                <a:gridCol w="2188159"/>
                <a:gridCol w="983894"/>
                <a:gridCol w="1102766"/>
                <a:gridCol w="951890"/>
                <a:gridCol w="819302"/>
              </a:tblGrid>
              <a:tr h="442021">
                <a:tc>
                  <a:txBody>
                    <a:bodyPr/>
                    <a:lstStyle/>
                    <a:p>
                      <a:pPr marL="0" indent="0" algn="l">
                        <a:buNone/>
                      </a:pPr>
                      <a:r>
                        <a:rPr sz="975">
                          <a:solidFill>
                            <a:srgbClr val="6A6F8C"/>
                          </a:solidFill>
                          <a:latin typeface="JetBrains Mono"/>
                          <a:ea typeface="JetBrains Mono"/>
                          <a:cs typeface="JetBrains Mono"/>
                        </a:rPr>
                        <a:t>TASK</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l">
                        <a:buNone/>
                      </a:pPr>
                      <a:r>
                        <a:rPr sz="975">
                          <a:solidFill>
                            <a:srgbClr val="6A6F8C"/>
                          </a:solidFill>
                          <a:latin typeface="JetBrains Mono"/>
                          <a:ea typeface="JetBrains Mono"/>
                          <a:cs typeface="JetBrains Mono"/>
                        </a:rPr>
                        <a:t>MODEL</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BASE F1</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TUNED F1</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Δ</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AUC</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r h="442021">
                <a:tc>
                  <a:txBody>
                    <a:bodyPr/>
                    <a:lstStyle/>
                    <a:p>
                      <a:pPr marL="0" indent="0">
                        <a:buNone/>
                      </a:pPr>
                      <a:r>
                        <a:rPr sz="1275">
                          <a:solidFill>
                            <a:srgbClr val="0F1226"/>
                          </a:solidFill>
                          <a:latin typeface="JetBrains Mono"/>
                          <a:ea typeface="JetBrains Mono"/>
                          <a:cs typeface="JetBrains Mono"/>
                        </a:rPr>
                        <a:t>UCI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buNone/>
                      </a:pPr>
                      <a:r>
                        <a:rPr sz="1275" b="1">
                          <a:solidFill>
                            <a:srgbClr val="2A2E7A"/>
                          </a:solidFill>
                          <a:latin typeface="JetBrains Mono"/>
                          <a:ea typeface="JetBrains Mono"/>
                          <a:cs typeface="JetBrains Mono"/>
                        </a:rPr>
                        <a:t>LogReg </a:t>
                      </a:r>
                      <a:r>
                        <a:rPr sz="825" b="1">
                          <a:solidFill>
                            <a:srgbClr val="E4237A"/>
                          </a:solidFill>
                          <a:latin typeface="Inter"/>
                          <a:ea typeface="Inter"/>
                          <a:cs typeface="Inter"/>
                        </a:rPr>
                        <a:t>SELECTED</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6A6F8C"/>
                          </a:solidFill>
                          <a:latin typeface="JetBrains Mono"/>
                          <a:ea typeface="JetBrains Mono"/>
                          <a:cs typeface="JetBrains Mono"/>
                        </a:rPr>
                        <a:t>0.783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0F1226"/>
                          </a:solidFill>
                          <a:latin typeface="JetBrains Mono"/>
                          <a:ea typeface="JetBrains Mono"/>
                          <a:cs typeface="JetBrains Mono"/>
                        </a:rPr>
                        <a:t>0.793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1B9E8F"/>
                          </a:solidFill>
                          <a:latin typeface="JetBrains Mono"/>
                          <a:ea typeface="JetBrains Mono"/>
                          <a:cs typeface="JetBrains Mono"/>
                        </a:rPr>
                        <a:t>+0.010</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0F1226"/>
                          </a:solidFill>
                          <a:latin typeface="JetBrains Mono"/>
                          <a:ea typeface="JetBrains Mono"/>
                          <a:cs typeface="JetBrains Mono"/>
                        </a:rPr>
                        <a:t>0.911</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r>
              <a:tr h="442021">
                <a:tc>
                  <a:txBody>
                    <a:bodyPr/>
                    <a:lstStyle/>
                    <a:p>
                      <a:pPr marL="0" indent="0">
                        <a:buNone/>
                      </a:pPr>
                      <a:r>
                        <a:rPr sz="1275">
                          <a:solidFill>
                            <a:srgbClr val="0F1226"/>
                          </a:solidFill>
                          <a:latin typeface="JetBrains Mono"/>
                          <a:ea typeface="JetBrains Mono"/>
                          <a:cs typeface="JetBrains Mono"/>
                        </a:rPr>
                        <a:t>UCI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buNone/>
                      </a:pPr>
                      <a:r>
                        <a:rPr sz="1275">
                          <a:solidFill>
                            <a:srgbClr val="6A6F8C"/>
                          </a:solidFill>
                          <a:latin typeface="JetBrains Mono"/>
                          <a:ea typeface="JetBrains Mono"/>
                          <a:cs typeface="JetBrains Mono"/>
                        </a:rPr>
                        <a:t>XGBoost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0.783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0.767</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C43E5A"/>
                          </a:solidFill>
                          <a:latin typeface="JetBrains Mono"/>
                          <a:ea typeface="JetBrains Mono"/>
                          <a:cs typeface="JetBrains Mono"/>
                        </a:rPr>
                        <a:t>−0.016</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0.909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r h="442021">
                <a:tc>
                  <a:txBody>
                    <a:bodyPr/>
                    <a:lstStyle/>
                    <a:p>
                      <a:pPr marL="0" indent="0">
                        <a:buNone/>
                      </a:pPr>
                      <a:r>
                        <a:rPr sz="1275">
                          <a:solidFill>
                            <a:srgbClr val="0F1226"/>
                          </a:solidFill>
                          <a:latin typeface="JetBrains Mono"/>
                          <a:ea typeface="JetBrains Mono"/>
                          <a:cs typeface="JetBrains Mono"/>
                        </a:rPr>
                        <a:t>OULAD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buNone/>
                      </a:pPr>
                      <a:r>
                        <a:rPr sz="1275" b="1">
                          <a:solidFill>
                            <a:srgbClr val="2A2E7A"/>
                          </a:solidFill>
                          <a:latin typeface="JetBrains Mono"/>
                          <a:ea typeface="JetBrains Mono"/>
                          <a:cs typeface="JetBrains Mono"/>
                        </a:rPr>
                        <a:t>XGBoost </a:t>
                      </a:r>
                      <a:r>
                        <a:rPr sz="825" b="1">
                          <a:solidFill>
                            <a:srgbClr val="E4237A"/>
                          </a:solidFill>
                          <a:latin typeface="Inter"/>
                          <a:ea typeface="Inter"/>
                          <a:cs typeface="Inter"/>
                        </a:rPr>
                        <a:t>SELECTED</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6A6F8C"/>
                          </a:solidFill>
                          <a:latin typeface="JetBrains Mono"/>
                          <a:ea typeface="JetBrains Mono"/>
                          <a:cs typeface="JetBrains Mono"/>
                        </a:rPr>
                        <a:t>0.729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0F1226"/>
                          </a:solidFill>
                          <a:latin typeface="JetBrains Mono"/>
                          <a:ea typeface="JetBrains Mono"/>
                          <a:cs typeface="JetBrains Mono"/>
                        </a:rPr>
                        <a:t>0.738</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1B9E8F"/>
                          </a:solidFill>
                          <a:latin typeface="JetBrains Mono"/>
                          <a:ea typeface="JetBrains Mono"/>
                          <a:cs typeface="JetBrains Mono"/>
                        </a:rPr>
                        <a:t>+0.009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0F1226"/>
                          </a:solidFill>
                          <a:latin typeface="JetBrains Mono"/>
                          <a:ea typeface="JetBrains Mono"/>
                          <a:cs typeface="JetBrains Mono"/>
                        </a:rPr>
                        <a:t>0.885</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r>
              <a:tr h="442021">
                <a:tc>
                  <a:txBody>
                    <a:bodyPr/>
                    <a:lstStyle/>
                    <a:p>
                      <a:pPr marL="0" indent="0">
                        <a:buNone/>
                      </a:pPr>
                      <a:r>
                        <a:rPr sz="1275">
                          <a:solidFill>
                            <a:srgbClr val="0F1226"/>
                          </a:solidFill>
                          <a:latin typeface="JetBrains Mono"/>
                          <a:ea typeface="JetBrains Mono"/>
                          <a:cs typeface="JetBrains Mono"/>
                        </a:rPr>
                        <a:t>UCI multiclass</a:t>
                      </a:r>
                      <a:r>
                        <a:rPr sz="900">
                          <a:solidFill>
                            <a:srgbClr val="6A6F8C"/>
                          </a:solidFill>
                          <a:latin typeface="Inter"/>
                          <a:ea typeface="Inter"/>
                          <a:cs typeface="Inter"/>
                        </a:rPr>
                        <a:t>(reproduction only)</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buNone/>
                      </a:pPr>
                      <a:r>
                        <a:rPr sz="1275">
                          <a:solidFill>
                            <a:srgbClr val="6A6F8C"/>
                          </a:solidFill>
                          <a:latin typeface="JetBrains Mono"/>
                          <a:ea typeface="JetBrains Mono"/>
                          <a:cs typeface="JetBrains Mono"/>
                        </a:rPr>
                        <a:t>XGBoost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0.704</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0.696</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C43E5A"/>
                          </a:solidFill>
                          <a:latin typeface="JetBrains Mono"/>
                          <a:ea typeface="JetBrains Mono"/>
                          <a:cs typeface="JetBrains Mono"/>
                        </a:rPr>
                        <a:t>−0.008</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bl>
          </a:graphicData>
        </a:graphic>
      </p:graphicFrame>
      <p:sp>
        <p:nvSpPr>
          <p:cNvPr id="14" name="Shape 8">
            <a:extLst xmlns:a="http://schemas.openxmlformats.org/drawingml/2006/main">
              <a:ext uri="{FF2B5EF4-FFF2-40B4-BE49-F238E27FC236}">
                <a16:creationId xmlns:a16="http://schemas.microsoft.com/office/drawing/2014/main" id="{9FC74871-D3E5-4C42-B026-353B3A8CD06C}"/>
              </a:ext>
            </a:extLst>
          </p:cNvPr>
          <p:cNvSpPr>
            <a:spLocks xmlns:a="http://schemas.openxmlformats.org/drawingml/2006/main" noGrp="1"/>
          </p:cNvSpPr>
          <p:nvPr/>
        </p:nvSpPr>
        <p:spPr>
          <a:xfrm xmlns:a="http://schemas.openxmlformats.org/drawingml/2006/main">
            <a:off x="1143000" y="6286500"/>
            <a:ext cx="9525305"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5" name="Text 9">
            <a:extLst xmlns:a="http://schemas.openxmlformats.org/drawingml/2006/main">
              <a:ext uri="{FF2B5EF4-FFF2-40B4-BE49-F238E27FC236}">
                <a16:creationId xmlns:a16="http://schemas.microsoft.com/office/drawing/2014/main" id="{C955C9CB-AC4B-42B3-A67F-C80762053C9A}"/>
              </a:ext>
            </a:extLst>
          </p:cNvPr>
          <p:cNvSpPr>
            <a:spLocks xmlns:a="http://schemas.openxmlformats.org/drawingml/2006/main" noGrp="1"/>
          </p:cNvSpPr>
          <p:nvPr/>
        </p:nvSpPr>
        <p:spPr>
          <a:xfrm xmlns:a="http://schemas.openxmlformats.org/drawingml/2006/main">
            <a:off x="1143000" y="6429146"/>
            <a:ext cx="9525305" cy="448056"/>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39700" tIns="0" rIns="139700" bIns="13970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53 configurations across 4 tuned runs — 16 UCI multiclass XGBoost, 5 UCI LogReg, 16 UCI binary XGBoost, 16 OULAD XGBoost. Candidates selected on validation split; 5-fold CV computed afterwards as stability evidence.</a:t>
            </a:r>
          </a:p>
        </p:txBody>
      </p:sp>
      <p:sp>
        <p:nvSpPr>
          <p:cNvPr id="16" name="Text 10">
            <a:extLst xmlns:a="http://schemas.openxmlformats.org/drawingml/2006/main">
              <a:ext uri="{FF2B5EF4-FFF2-40B4-BE49-F238E27FC236}">
                <a16:creationId xmlns:a16="http://schemas.microsoft.com/office/drawing/2014/main" id="{F3A0C96F-66A3-4DF5-9C4A-41EA7976C727}"/>
              </a:ext>
            </a:extLst>
          </p:cNvPr>
          <p:cNvSpPr>
            <a:spLocks xmlns:a="http://schemas.openxmlformats.org/drawingml/2006/main" noGrp="1"/>
          </p:cNvSpPr>
          <p:nvPr/>
        </p:nvSpPr>
        <p:spPr>
          <a:xfrm xmlns:a="http://schemas.openxmlformats.org/drawingml/2006/main">
            <a:off x="1143000" y="6964985"/>
            <a:ext cx="9525305"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8A93A"/>
                </a:solidFill>
                <a:latin typeface="JetBrains Mono"/>
                <a:ea typeface="JetBrains Mono"/>
                <a:cs typeface="JetBrains Mono"/>
              </a:rPr>
              <a:t>⚠ Observed changes have not been shown to be statistically significant.</a:t>
            </a:r>
          </a:p>
        </p:txBody>
      </p:sp>
      <p:sp>
        <p:nvSpPr>
          <p:cNvPr id="17" name="Shape 11">
            <a:extLst xmlns:a="http://schemas.openxmlformats.org/drawingml/2006/main">
              <a:ext uri="{FF2B5EF4-FFF2-40B4-BE49-F238E27FC236}">
                <a16:creationId xmlns:a16="http://schemas.microsoft.com/office/drawing/2014/main" id="{B882E1C9-1746-4FCA-B739-25F0A3668E96}"/>
              </a:ext>
            </a:extLst>
          </p:cNvPr>
          <p:cNvSpPr>
            <a:spLocks xmlns:a="http://schemas.openxmlformats.org/drawingml/2006/main" noGrp="1"/>
          </p:cNvSpPr>
          <p:nvPr/>
        </p:nvSpPr>
        <p:spPr>
          <a:xfrm xmlns:a="http://schemas.openxmlformats.org/drawingml/2006/main">
            <a:off x="1143000" y="7524598"/>
            <a:ext cx="9525305"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8" name="Text 12">
            <a:extLst xmlns:a="http://schemas.openxmlformats.org/drawingml/2006/main">
              <a:ext uri="{FF2B5EF4-FFF2-40B4-BE49-F238E27FC236}">
                <a16:creationId xmlns:a16="http://schemas.microsoft.com/office/drawing/2014/main" id="{1420FA19-1CED-4764-AC57-F586A78E5E11}"/>
              </a:ext>
            </a:extLst>
          </p:cNvPr>
          <p:cNvSpPr>
            <a:spLocks xmlns:a="http://schemas.openxmlformats.org/drawingml/2006/main" noGrp="1"/>
          </p:cNvSpPr>
          <p:nvPr/>
        </p:nvSpPr>
        <p:spPr>
          <a:xfrm xmlns:a="http://schemas.openxmlformats.org/drawingml/2006/main">
            <a:off x="1143000" y="7686446"/>
            <a:ext cx="9525305" cy="133502"/>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52400" tIns="0" rIns="152400" bIns="15240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Threshold selection — validation set</a:t>
            </a:r>
          </a:p>
        </p:txBody>
      </p:sp>
      <p:sp>
        <p:nvSpPr>
          <p:cNvPr id="19" name="Text 13">
            <a:extLst xmlns:a="http://schemas.openxmlformats.org/drawingml/2006/main">
              <a:ext uri="{FF2B5EF4-FFF2-40B4-BE49-F238E27FC236}">
                <a16:creationId xmlns:a16="http://schemas.microsoft.com/office/drawing/2014/main" id="{DA8F08B7-1FBF-4030-A62E-EF962E6F5967}"/>
              </a:ext>
            </a:extLst>
          </p:cNvPr>
          <p:cNvSpPr>
            <a:spLocks xmlns:a="http://schemas.openxmlformats.org/drawingml/2006/main" noGrp="1"/>
          </p:cNvSpPr>
          <p:nvPr/>
        </p:nvSpPr>
        <p:spPr>
          <a:xfrm xmlns:a="http://schemas.openxmlformats.org/drawingml/2006/main">
            <a:off x="1143000"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LOGREG</a:t>
            </a:r>
          </a:p>
        </p:txBody>
      </p:sp>
      <p:sp>
        <p:nvSpPr>
          <p:cNvPr id="20" name="Text 14">
            <a:extLst xmlns:a="http://schemas.openxmlformats.org/drawingml/2006/main">
              <a:ext uri="{FF2B5EF4-FFF2-40B4-BE49-F238E27FC236}">
                <a16:creationId xmlns:a16="http://schemas.microsoft.com/office/drawing/2014/main" id="{6192DDB2-1440-48BF-A209-2805C9C6A469}"/>
              </a:ext>
            </a:extLst>
          </p:cNvPr>
          <p:cNvSpPr>
            <a:spLocks xmlns:a="http://schemas.openxmlformats.org/drawingml/2006/main" noGrp="1"/>
          </p:cNvSpPr>
          <p:nvPr/>
        </p:nvSpPr>
        <p:spPr>
          <a:xfrm xmlns:a="http://schemas.openxmlformats.org/drawingml/2006/main">
            <a:off x="1143000"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0.50</a:t>
            </a:r>
          </a:p>
        </p:txBody>
      </p:sp>
      <p:sp>
        <p:nvSpPr>
          <p:cNvPr id="21" name="Text 15">
            <a:extLst xmlns:a="http://schemas.openxmlformats.org/drawingml/2006/main">
              <a:ext uri="{FF2B5EF4-FFF2-40B4-BE49-F238E27FC236}">
                <a16:creationId xmlns:a16="http://schemas.microsoft.com/office/drawing/2014/main" id="{12BADC02-C2EA-4240-8E76-E7C3B6FAB1E1}"/>
              </a:ext>
            </a:extLst>
          </p:cNvPr>
          <p:cNvSpPr>
            <a:spLocks xmlns:a="http://schemas.openxmlformats.org/drawingml/2006/main" noGrp="1"/>
          </p:cNvSpPr>
          <p:nvPr/>
        </p:nvSpPr>
        <p:spPr>
          <a:xfrm xmlns:a="http://schemas.openxmlformats.org/drawingml/2006/main">
            <a:off x="1143000" y="8505749"/>
            <a:ext cx="30769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a:t>
            </a:r>
          </a:p>
        </p:txBody>
      </p:sp>
      <p:sp>
        <p:nvSpPr>
          <p:cNvPr id="22" name="Text 16">
            <a:extLst xmlns:a="http://schemas.openxmlformats.org/drawingml/2006/main">
              <a:ext uri="{FF2B5EF4-FFF2-40B4-BE49-F238E27FC236}">
                <a16:creationId xmlns:a16="http://schemas.microsoft.com/office/drawing/2014/main" id="{621755E3-DD15-43D3-95CD-B9AC2E85FE52}"/>
              </a:ext>
            </a:extLst>
          </p:cNvPr>
          <p:cNvSpPr>
            <a:spLocks xmlns:a="http://schemas.openxmlformats.org/drawingml/2006/main" noGrp="1"/>
          </p:cNvSpPr>
          <p:nvPr/>
        </p:nvSpPr>
        <p:spPr>
          <a:xfrm xmlns:a="http://schemas.openxmlformats.org/drawingml/2006/main">
            <a:off x="4369003"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XGB</a:t>
            </a:r>
          </a:p>
        </p:txBody>
      </p:sp>
      <p:sp>
        <p:nvSpPr>
          <p:cNvPr id="23" name="Text 17">
            <a:extLst xmlns:a="http://schemas.openxmlformats.org/drawingml/2006/main">
              <a:ext uri="{FF2B5EF4-FFF2-40B4-BE49-F238E27FC236}">
                <a16:creationId xmlns:a16="http://schemas.microsoft.com/office/drawing/2014/main" id="{8E09C54C-4F68-41EC-ADC2-D643EB6DA7B3}"/>
              </a:ext>
            </a:extLst>
          </p:cNvPr>
          <p:cNvSpPr>
            <a:spLocks xmlns:a="http://schemas.openxmlformats.org/drawingml/2006/main" noGrp="1"/>
          </p:cNvSpPr>
          <p:nvPr/>
        </p:nvSpPr>
        <p:spPr>
          <a:xfrm xmlns:a="http://schemas.openxmlformats.org/drawingml/2006/main">
            <a:off x="4369003"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0.46</a:t>
            </a:r>
          </a:p>
        </p:txBody>
      </p:sp>
      <p:sp>
        <p:nvSpPr>
          <p:cNvPr id="24" name="Text 18">
            <a:extLst xmlns:a="http://schemas.openxmlformats.org/drawingml/2006/main">
              <a:ext uri="{FF2B5EF4-FFF2-40B4-BE49-F238E27FC236}">
                <a16:creationId xmlns:a16="http://schemas.microsoft.com/office/drawing/2014/main" id="{CB60D4BF-99D1-445F-8D8A-691437D5D003}"/>
              </a:ext>
            </a:extLst>
          </p:cNvPr>
          <p:cNvSpPr>
            <a:spLocks xmlns:a="http://schemas.openxmlformats.org/drawingml/2006/main" noGrp="1"/>
          </p:cNvSpPr>
          <p:nvPr/>
        </p:nvSpPr>
        <p:spPr>
          <a:xfrm xmlns:a="http://schemas.openxmlformats.org/drawingml/2006/main">
            <a:off x="4369003" y="8505749"/>
            <a:ext cx="30769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a:t>
            </a:r>
          </a:p>
        </p:txBody>
      </p:sp>
      <p:sp>
        <p:nvSpPr>
          <p:cNvPr id="25" name="Text 19">
            <a:extLst xmlns:a="http://schemas.openxmlformats.org/drawingml/2006/main">
              <a:ext uri="{FF2B5EF4-FFF2-40B4-BE49-F238E27FC236}">
                <a16:creationId xmlns:a16="http://schemas.microsoft.com/office/drawing/2014/main" id="{635709EC-407F-4AAF-BC05-842801FA8F18}"/>
              </a:ext>
            </a:extLst>
          </p:cNvPr>
          <p:cNvSpPr>
            <a:spLocks xmlns:a="http://schemas.openxmlformats.org/drawingml/2006/main" noGrp="1"/>
          </p:cNvSpPr>
          <p:nvPr/>
        </p:nvSpPr>
        <p:spPr>
          <a:xfrm xmlns:a="http://schemas.openxmlformats.org/drawingml/2006/main">
            <a:off x="7595006"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a:t>
            </a:r>
          </a:p>
        </p:txBody>
      </p:sp>
      <p:sp>
        <p:nvSpPr>
          <p:cNvPr id="26" name="Text 20">
            <a:extLst xmlns:a="http://schemas.openxmlformats.org/drawingml/2006/main">
              <a:ext uri="{FF2B5EF4-FFF2-40B4-BE49-F238E27FC236}">
                <a16:creationId xmlns:a16="http://schemas.microsoft.com/office/drawing/2014/main" id="{1F0FF0D9-F850-4E9D-B690-9E4E52F12236}"/>
              </a:ext>
            </a:extLst>
          </p:cNvPr>
          <p:cNvSpPr>
            <a:spLocks xmlns:a="http://schemas.openxmlformats.org/drawingml/2006/main" noGrp="1"/>
          </p:cNvSpPr>
          <p:nvPr/>
        </p:nvSpPr>
        <p:spPr>
          <a:xfrm xmlns:a="http://schemas.openxmlformats.org/drawingml/2006/main">
            <a:off x="7595006"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0.60</a:t>
            </a:r>
          </a:p>
        </p:txBody>
      </p:sp>
      <p:sp>
        <p:nvSpPr>
          <p:cNvPr id="27" name="Text 21">
            <a:extLst xmlns:a="http://schemas.openxmlformats.org/drawingml/2006/main">
              <a:ext uri="{FF2B5EF4-FFF2-40B4-BE49-F238E27FC236}">
                <a16:creationId xmlns:a16="http://schemas.microsoft.com/office/drawing/2014/main" id="{2FC161B0-F3EC-4E8F-B360-C2DA106C6686}"/>
              </a:ext>
            </a:extLst>
          </p:cNvPr>
          <p:cNvSpPr>
            <a:spLocks xmlns:a="http://schemas.openxmlformats.org/drawingml/2006/main" noGrp="1"/>
          </p:cNvSpPr>
          <p:nvPr/>
        </p:nvSpPr>
        <p:spPr>
          <a:xfrm xmlns:a="http://schemas.openxmlformats.org/drawingml/2006/main">
            <a:off x="7595006" y="8505749"/>
            <a:ext cx="3076956"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 — shown →</a:t>
            </a:r>
          </a:p>
        </p:txBody>
      </p:sp>
      <p:sp>
        <p:nvSpPr>
          <p:cNvPr id="28" name="Text 22">
            <a:extLst xmlns:a="http://schemas.openxmlformats.org/drawingml/2006/main">
              <a:ext uri="{FF2B5EF4-FFF2-40B4-BE49-F238E27FC236}">
                <a16:creationId xmlns:a16="http://schemas.microsoft.com/office/drawing/2014/main" id="{867A910C-E954-4750-859D-7D93EB34EEC8}"/>
              </a:ext>
            </a:extLst>
          </p:cNvPr>
          <p:cNvSpPr>
            <a:spLocks xmlns:a="http://schemas.openxmlformats.org/drawingml/2006/main" noGrp="1"/>
          </p:cNvSpPr>
          <p:nvPr/>
        </p:nvSpPr>
        <p:spPr>
          <a:xfrm xmlns:a="http://schemas.openxmlformats.org/drawingml/2006/main">
            <a:off x="11620195" y="2857500"/>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 threshold sweep · validation set</a:t>
            </a:r>
          </a:p>
        </p:txBody>
      </p:sp>
      <p:sp>
        <p:nvSpPr>
          <p:cNvPr id="29" name="Shape 23">
            <a:extLst xmlns:a="http://schemas.openxmlformats.org/drawingml/2006/main">
              <a:ext uri="{FF2B5EF4-FFF2-40B4-BE49-F238E27FC236}">
                <a16:creationId xmlns:a16="http://schemas.microsoft.com/office/drawing/2014/main" id="{6A4AB959-A871-4912-AADE-112BC54DF48B}"/>
              </a:ext>
            </a:extLst>
          </p:cNvPr>
          <p:cNvSpPr>
            <a:spLocks xmlns:a="http://schemas.openxmlformats.org/drawingml/2006/main" noGrp="1"/>
          </p:cNvSpPr>
          <p:nvPr/>
        </p:nvSpPr>
        <p:spPr>
          <a:xfrm xmlns:a="http://schemas.openxmlformats.org/drawingml/2006/main">
            <a:off x="11620195" y="7905902"/>
            <a:ext cx="5619902"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4">
            <a:extLst xmlns:a="http://schemas.openxmlformats.org/drawingml/2006/main">
              <a:ext uri="{FF2B5EF4-FFF2-40B4-BE49-F238E27FC236}">
                <a16:creationId xmlns:a16="http://schemas.microsoft.com/office/drawing/2014/main" id="{937882E1-EC62-40AA-8235-3FB1E2A332A1}"/>
              </a:ext>
            </a:extLst>
          </p:cNvPr>
          <p:cNvSpPr>
            <a:spLocks xmlns:a="http://schemas.openxmlformats.org/drawingml/2006/main" noGrp="1"/>
          </p:cNvSpPr>
          <p:nvPr/>
        </p:nvSpPr>
        <p:spPr>
          <a:xfrm xmlns:a="http://schemas.openxmlformats.org/drawingml/2006/main">
            <a:off x="11620195" y="8048549"/>
            <a:ext cx="561990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Best settings — narrow grids</a:t>
            </a:r>
          </a:p>
        </p:txBody>
      </p:sp>
      <p:sp>
        <p:nvSpPr>
          <p:cNvPr id="31" name="Text 25">
            <a:extLst xmlns:a="http://schemas.openxmlformats.org/drawingml/2006/main">
              <a:ext uri="{FF2B5EF4-FFF2-40B4-BE49-F238E27FC236}">
                <a16:creationId xmlns:a16="http://schemas.microsoft.com/office/drawing/2014/main" id="{3315FA8D-F4B4-4837-AD2D-C647B03BB8E8}"/>
              </a:ext>
            </a:extLst>
          </p:cNvPr>
          <p:cNvSpPr>
            <a:spLocks xmlns:a="http://schemas.openxmlformats.org/drawingml/2006/main" noGrp="1"/>
          </p:cNvSpPr>
          <p:nvPr/>
        </p:nvSpPr>
        <p:spPr>
          <a:xfrm xmlns:a="http://schemas.openxmlformats.org/drawingml/2006/main">
            <a:off x="11620195" y="8234172"/>
            <a:ext cx="5619902"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25"/>
              </a:lnSpc>
              <a:buNone/>
            </a:pPr>
            <a:r>
              <a:rPr sz="1100">
                <a:solidFill>
                  <a:srgbClr val="0F1226"/>
                </a:solidFill>
                <a:latin typeface="JetBrains Mono"/>
                <a:ea typeface="JetBrains Mono"/>
                <a:cs typeface="JetBrains Mono"/>
              </a:rPr>
              <a:t>UCI LogReg C = 0.05 · balanced · val F1 </a:t>
            </a:r>
            <a:r>
              <a:rPr sz="1100">
                <a:solidFill>
                  <a:srgbClr val="E4237A"/>
                </a:solidFill>
                <a:latin typeface="JetBrains Mono"/>
                <a:ea typeface="JetBrains Mono"/>
                <a:cs typeface="JetBrains Mono"/>
              </a:rPr>
              <a:t>0.776</a:t>
            </a:r>
          </a:p>
          <a:p xmlns:a="http://schemas.openxmlformats.org/drawingml/2006/main">
            <a:pPr marL="0" indent="0" algn="l">
              <a:lnSpc>
                <a:spcPts val="2025"/>
              </a:lnSpc>
              <a:buNone/>
            </a:pPr>
            <a:r>
              <a:rPr sz="1100">
                <a:solidFill>
                  <a:srgbClr val="0F1226"/>
                </a:solidFill>
                <a:latin typeface="JetBrains Mono"/>
                <a:ea typeface="JetBrains Mono"/>
                <a:cs typeface="JetBrains Mono"/>
              </a:rPr>
              <a:t>OULAD XGB trees = 320 · depth = 5 · lr = 0.03 · val F1 </a:t>
            </a:r>
            <a:r>
              <a:rPr sz="1100">
                <a:solidFill>
                  <a:srgbClr val="E4237A"/>
                </a:solidFill>
                <a:latin typeface="JetBrains Mono"/>
                <a:ea typeface="JetBrains Mono"/>
                <a:cs typeface="JetBrains Mono"/>
              </a:rPr>
              <a:t>0.744</a:t>
            </a:r>
          </a:p>
        </p:txBody>
      </p:sp>
    </p:spTree>
    <p:extLst>
      <p:ext uri="{BB962C8B-B14F-4D97-AF65-F5344CB8AC3E}">
        <p14:creationId xmlns:p14="http://schemas.microsoft.com/office/powerpoint/2010/main" val="2113312382"/>
      </p:ext>
    </p:extLst>
  </p:cSld>
</p:sld>
</file>

<file path=ppt/slides/slide1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d4e0d316da97414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F59946A-772B-4AAA-9054-D8AFD859E80E}"/>
              </a:ext>
            </a:extLst>
          </p:cNvPr>
          <p:cNvSpPr>
            <a:spLocks xmlns:a="http://schemas.openxmlformats.org/drawingml/2006/main" noGrp="1"/>
          </p:cNvSpPr>
          <p:nvPr/>
        </p:nvSpPr>
        <p:spPr>
          <a:xfrm xmlns:a="http://schemas.openxmlformats.org/drawingml/2006/main">
            <a:off x="761695" y="2952598"/>
            <a:ext cx="11259007" cy="6305702"/>
          </a:xfrm>
          <a:prstGeom xmlns:a="http://schemas.openxmlformats.org/drawingml/2006/main" prst="roundRect">
            <a:avLst>
              <a:gd name="adj" fmla="val 305"/>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7F6EAF2C-2373-4BEA-BBE5-46ABC7788DA4}"/>
              </a:ext>
            </a:extLst>
          </p:cNvPr>
          <p:cNvSpPr>
            <a:spLocks xmlns:a="http://schemas.openxmlformats.org/drawingml/2006/main" noGrp="1"/>
          </p:cNvSpPr>
          <p:nvPr/>
        </p:nvSpPr>
        <p:spPr>
          <a:xfrm xmlns:a="http://schemas.openxmlformats.org/drawingml/2006/main">
            <a:off x="12287707" y="2952598"/>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3073815-84DA-4A17-A8CE-08D10E6972BE}"/>
              </a:ext>
            </a:extLst>
          </p:cNvPr>
          <p:cNvSpPr>
            <a:spLocks xmlns:a="http://schemas.openxmlformats.org/drawingml/2006/main" noGrp="1"/>
          </p:cNvSpPr>
          <p:nvPr/>
        </p:nvSpPr>
        <p:spPr>
          <a:xfrm xmlns:a="http://schemas.openxmlformats.org/drawingml/2006/main">
            <a:off x="12287707" y="2952598"/>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7" name="Shape 3">
            <a:extLst xmlns:a="http://schemas.openxmlformats.org/drawingml/2006/main">
              <a:ext uri="{FF2B5EF4-FFF2-40B4-BE49-F238E27FC236}">
                <a16:creationId xmlns:a16="http://schemas.microsoft.com/office/drawing/2014/main" id="{C9367B53-BF0B-4A6B-B1B3-4CB0EA6D17AB}"/>
              </a:ext>
            </a:extLst>
          </p:cNvPr>
          <p:cNvSpPr>
            <a:spLocks xmlns:a="http://schemas.openxmlformats.org/drawingml/2006/main" noGrp="1"/>
          </p:cNvSpPr>
          <p:nvPr/>
        </p:nvSpPr>
        <p:spPr>
          <a:xfrm xmlns:a="http://schemas.openxmlformats.org/drawingml/2006/main">
            <a:off x="12287707" y="6238951"/>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26E744E4-838B-43E6-B9CC-18B0BFF895E7}"/>
              </a:ext>
            </a:extLst>
          </p:cNvPr>
          <p:cNvSpPr>
            <a:spLocks xmlns:a="http://schemas.openxmlformats.org/drawingml/2006/main" noGrp="1"/>
          </p:cNvSpPr>
          <p:nvPr/>
        </p:nvSpPr>
        <p:spPr>
          <a:xfrm xmlns:a="http://schemas.openxmlformats.org/drawingml/2006/main">
            <a:off x="12287707" y="6238951"/>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12ba2ad2fff84ec3"/>
          <a:srcRect xmlns:a="http://schemas.openxmlformats.org/drawingml/2006/main" l="-2614" t="0" r="-2614" b="0"/>
          <a:stretch xmlns:a="http://schemas.openxmlformats.org/drawingml/2006/main"/>
        </p:blipFill>
        <p:spPr>
          <a:xfrm xmlns:a="http://schemas.openxmlformats.org/drawingml/2006/main">
            <a:off x="1047902" y="3524098"/>
            <a:ext cx="10477195" cy="5524805"/>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9A5E3F77-9522-4080-A0A3-5CB8F8EFF5B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held-out test set</a:t>
            </a:r>
          </a:p>
        </p:txBody>
      </p:sp>
      <p:sp>
        <p:nvSpPr>
          <p:cNvPr id="11" name="Text 6">
            <a:extLst xmlns:a="http://schemas.openxmlformats.org/drawingml/2006/main">
              <a:ext uri="{FF2B5EF4-FFF2-40B4-BE49-F238E27FC236}">
                <a16:creationId xmlns:a16="http://schemas.microsoft.com/office/drawing/2014/main" id="{77EA530C-42EB-4CE9-B633-46ED534900E0}"/>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10 / 20</a:t>
            </a:r>
          </a:p>
        </p:txBody>
      </p:sp>
      <p:sp>
        <p:nvSpPr>
          <p:cNvPr id="12" name="Text 7">
            <a:extLst xmlns:a="http://schemas.openxmlformats.org/drawingml/2006/main">
              <a:ext uri="{FF2B5EF4-FFF2-40B4-BE49-F238E27FC236}">
                <a16:creationId xmlns:a16="http://schemas.microsoft.com/office/drawing/2014/main" id="{57160BED-40BE-4198-BA7F-2A213DB06DC1}"/>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Held-out results support cautious pilot evaluation.</a:t>
            </a:r>
          </a:p>
        </p:txBody>
      </p:sp>
      <p:sp>
        <p:nvSpPr>
          <p:cNvPr id="13" name="Text 8">
            <a:extLst xmlns:a="http://schemas.openxmlformats.org/drawingml/2006/main">
              <a:ext uri="{FF2B5EF4-FFF2-40B4-BE49-F238E27FC236}">
                <a16:creationId xmlns:a16="http://schemas.microsoft.com/office/drawing/2014/main" id="{1B68779F-9640-46A6-91F1-FF82251B42B9}"/>
              </a:ext>
            </a:extLst>
          </p:cNvPr>
          <p:cNvSpPr>
            <a:spLocks xmlns:a="http://schemas.openxmlformats.org/drawingml/2006/main" noGrp="1"/>
          </p:cNvSpPr>
          <p:nvPr/>
        </p:nvSpPr>
        <p:spPr>
          <a:xfrm xmlns:a="http://schemas.openxmlformats.org/drawingml/2006/main">
            <a:off x="761695" y="1813255"/>
            <a:ext cx="140214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Both final models retained useful discrimination on held-out data, but their errors and operational constraints still require human review.</a:t>
            </a:r>
          </a:p>
        </p:txBody>
      </p:sp>
      <p:sp>
        <p:nvSpPr>
          <p:cNvPr id="14" name="Text 9">
            <a:extLst xmlns:a="http://schemas.openxmlformats.org/drawingml/2006/main">
              <a:ext uri="{FF2B5EF4-FFF2-40B4-BE49-F238E27FC236}">
                <a16:creationId xmlns:a16="http://schemas.microsoft.com/office/drawing/2014/main" id="{7363D352-F9A2-42D5-90C4-D8324D297BBD}"/>
              </a:ext>
            </a:extLst>
          </p:cNvPr>
          <p:cNvSpPr>
            <a:spLocks xmlns:a="http://schemas.openxmlformats.org/drawingml/2006/main" noGrp="1"/>
          </p:cNvSpPr>
          <p:nvPr/>
        </p:nvSpPr>
        <p:spPr>
          <a:xfrm xmlns:a="http://schemas.openxmlformats.org/drawingml/2006/main">
            <a:off x="1047902" y="3095244"/>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Final held-out test metrics</a:t>
            </a:r>
          </a:p>
        </p:txBody>
      </p:sp>
      <p:sp>
        <p:nvSpPr>
          <p:cNvPr id="15" name="Text 10">
            <a:extLst xmlns:a="http://schemas.openxmlformats.org/drawingml/2006/main">
              <a:ext uri="{FF2B5EF4-FFF2-40B4-BE49-F238E27FC236}">
                <a16:creationId xmlns:a16="http://schemas.microsoft.com/office/drawing/2014/main" id="{35E0CD41-CCD2-4146-9001-94DD278B4282}"/>
              </a:ext>
            </a:extLst>
          </p:cNvPr>
          <p:cNvSpPr>
            <a:spLocks xmlns:a="http://schemas.openxmlformats.org/drawingml/2006/main" noGrp="1"/>
          </p:cNvSpPr>
          <p:nvPr/>
        </p:nvSpPr>
        <p:spPr>
          <a:xfrm xmlns:a="http://schemas.openxmlformats.org/drawingml/2006/main">
            <a:off x="1047902" y="3267151"/>
            <a:ext cx="1047811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UCI Logistic Regression · OULAD XGBoost · test set held out from all tuning</a:t>
            </a:r>
          </a:p>
        </p:txBody>
      </p:sp>
      <p:sp>
        <p:nvSpPr>
          <p:cNvPr id="16" name="Text 11">
            <a:extLst xmlns:a="http://schemas.openxmlformats.org/drawingml/2006/main">
              <a:ext uri="{FF2B5EF4-FFF2-40B4-BE49-F238E27FC236}">
                <a16:creationId xmlns:a16="http://schemas.microsoft.com/office/drawing/2014/main" id="{FB4A6CCA-B866-4CDD-9FC7-24D294873D26}"/>
              </a:ext>
            </a:extLst>
          </p:cNvPr>
          <p:cNvSpPr>
            <a:spLocks xmlns:a="http://schemas.openxmlformats.org/drawingml/2006/main" noGrp="1"/>
          </p:cNvSpPr>
          <p:nvPr/>
        </p:nvSpPr>
        <p:spPr>
          <a:xfrm xmlns:a="http://schemas.openxmlformats.org/drawingml/2006/main">
            <a:off x="12573000" y="3191256"/>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UCI · Logistic Regression</a:t>
            </a:r>
          </a:p>
        </p:txBody>
      </p:sp>
      <p:sp>
        <p:nvSpPr>
          <p:cNvPr id="17" name="Text 12">
            <a:extLst xmlns:a="http://schemas.openxmlformats.org/drawingml/2006/main">
              <a:ext uri="{FF2B5EF4-FFF2-40B4-BE49-F238E27FC236}">
                <a16:creationId xmlns:a16="http://schemas.microsoft.com/office/drawing/2014/main" id="{F4DE829A-58E6-4B91-9009-224A2EC0EB46}"/>
              </a:ext>
            </a:extLst>
          </p:cNvPr>
          <p:cNvSpPr>
            <a:spLocks xmlns:a="http://schemas.openxmlformats.org/drawingml/2006/main" noGrp="1"/>
          </p:cNvSpPr>
          <p:nvPr/>
        </p:nvSpPr>
        <p:spPr>
          <a:xfrm xmlns:a="http://schemas.openxmlformats.org/drawingml/2006/main">
            <a:off x="12573000" y="3448202"/>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0.911</a:t>
            </a:r>
          </a:p>
        </p:txBody>
      </p:sp>
      <p:sp>
        <p:nvSpPr>
          <p:cNvPr id="18" name="Text 13">
            <a:extLst xmlns:a="http://schemas.openxmlformats.org/drawingml/2006/main">
              <a:ext uri="{FF2B5EF4-FFF2-40B4-BE49-F238E27FC236}">
                <a16:creationId xmlns:a16="http://schemas.microsoft.com/office/drawing/2014/main" id="{A422FED8-33C2-451B-8646-0004664054F1}"/>
              </a:ext>
            </a:extLst>
          </p:cNvPr>
          <p:cNvSpPr>
            <a:spLocks xmlns:a="http://schemas.openxmlformats.org/drawingml/2006/main" noGrp="1"/>
          </p:cNvSpPr>
          <p:nvPr/>
        </p:nvSpPr>
        <p:spPr>
          <a:xfrm xmlns:a="http://schemas.openxmlformats.org/drawingml/2006/main">
            <a:off x="14878202" y="3905402"/>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19" name="Shape 14">
            <a:extLst xmlns:a="http://schemas.openxmlformats.org/drawingml/2006/main">
              <a:ext uri="{FF2B5EF4-FFF2-40B4-BE49-F238E27FC236}">
                <a16:creationId xmlns:a16="http://schemas.microsoft.com/office/drawing/2014/main" id="{0A755368-51FF-4412-AD99-794B210FCC1A}"/>
              </a:ext>
            </a:extLst>
          </p:cNvPr>
          <p:cNvSpPr>
            <a:spLocks xmlns:a="http://schemas.openxmlformats.org/drawingml/2006/main" noGrp="1"/>
          </p:cNvSpPr>
          <p:nvPr/>
        </p:nvSpPr>
        <p:spPr>
          <a:xfrm xmlns:a="http://schemas.openxmlformats.org/drawingml/2006/main">
            <a:off x="12573000" y="440100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5">
            <a:extLst xmlns:a="http://schemas.openxmlformats.org/drawingml/2006/main">
              <a:ext uri="{FF2B5EF4-FFF2-40B4-BE49-F238E27FC236}">
                <a16:creationId xmlns:a16="http://schemas.microsoft.com/office/drawing/2014/main" id="{D3D3E596-D53E-4194-B717-B0E022FE04DC}"/>
              </a:ext>
            </a:extLst>
          </p:cNvPr>
          <p:cNvSpPr>
            <a:spLocks xmlns:a="http://schemas.openxmlformats.org/drawingml/2006/main" noGrp="1"/>
          </p:cNvSpPr>
          <p:nvPr/>
        </p:nvSpPr>
        <p:spPr>
          <a:xfrm xmlns:a="http://schemas.openxmlformats.org/drawingml/2006/main">
            <a:off x="12573000"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Precision</a:t>
            </a:r>
          </a:p>
        </p:txBody>
      </p:sp>
      <p:sp>
        <p:nvSpPr>
          <p:cNvPr id="21" name="Text 16">
            <a:extLst xmlns:a="http://schemas.openxmlformats.org/drawingml/2006/main">
              <a:ext uri="{FF2B5EF4-FFF2-40B4-BE49-F238E27FC236}">
                <a16:creationId xmlns:a16="http://schemas.microsoft.com/office/drawing/2014/main" id="{870B0D13-E570-47F6-B52F-2C3FC16EBB58}"/>
              </a:ext>
            </a:extLst>
          </p:cNvPr>
          <p:cNvSpPr>
            <a:spLocks xmlns:a="http://schemas.openxmlformats.org/drawingml/2006/main" noGrp="1"/>
          </p:cNvSpPr>
          <p:nvPr/>
        </p:nvSpPr>
        <p:spPr>
          <a:xfrm xmlns:a="http://schemas.openxmlformats.org/drawingml/2006/main">
            <a:off x="12573000"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0.766</a:t>
            </a:r>
          </a:p>
        </p:txBody>
      </p:sp>
      <p:sp>
        <p:nvSpPr>
          <p:cNvPr id="22" name="Text 17">
            <a:extLst xmlns:a="http://schemas.openxmlformats.org/drawingml/2006/main">
              <a:ext uri="{FF2B5EF4-FFF2-40B4-BE49-F238E27FC236}">
                <a16:creationId xmlns:a16="http://schemas.microsoft.com/office/drawing/2014/main" id="{F32361F9-6C0C-4589-95CC-107F89DDAEB5}"/>
              </a:ext>
            </a:extLst>
          </p:cNvPr>
          <p:cNvSpPr>
            <a:spLocks xmlns:a="http://schemas.openxmlformats.org/drawingml/2006/main" noGrp="1"/>
          </p:cNvSpPr>
          <p:nvPr/>
        </p:nvSpPr>
        <p:spPr>
          <a:xfrm xmlns:a="http://schemas.openxmlformats.org/drawingml/2006/main">
            <a:off x="14153998"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Recall</a:t>
            </a:r>
          </a:p>
        </p:txBody>
      </p:sp>
      <p:sp>
        <p:nvSpPr>
          <p:cNvPr id="23" name="Text 18">
            <a:extLst xmlns:a="http://schemas.openxmlformats.org/drawingml/2006/main">
              <a:ext uri="{FF2B5EF4-FFF2-40B4-BE49-F238E27FC236}">
                <a16:creationId xmlns:a16="http://schemas.microsoft.com/office/drawing/2014/main" id="{CD515C73-A760-4AEC-A541-2C822770B445}"/>
              </a:ext>
            </a:extLst>
          </p:cNvPr>
          <p:cNvSpPr>
            <a:spLocks xmlns:a="http://schemas.openxmlformats.org/drawingml/2006/main" noGrp="1"/>
          </p:cNvSpPr>
          <p:nvPr/>
        </p:nvSpPr>
        <p:spPr>
          <a:xfrm xmlns:a="http://schemas.openxmlformats.org/drawingml/2006/main">
            <a:off x="14153998"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0.820</a:t>
            </a:r>
          </a:p>
        </p:txBody>
      </p:sp>
      <p:sp>
        <p:nvSpPr>
          <p:cNvPr id="24" name="Text 19">
            <a:extLst xmlns:a="http://schemas.openxmlformats.org/drawingml/2006/main">
              <a:ext uri="{FF2B5EF4-FFF2-40B4-BE49-F238E27FC236}">
                <a16:creationId xmlns:a16="http://schemas.microsoft.com/office/drawing/2014/main" id="{E5AE6D6B-F389-4820-8815-DED6F776A238}"/>
              </a:ext>
            </a:extLst>
          </p:cNvPr>
          <p:cNvSpPr>
            <a:spLocks xmlns:a="http://schemas.openxmlformats.org/drawingml/2006/main" noGrp="1"/>
          </p:cNvSpPr>
          <p:nvPr/>
        </p:nvSpPr>
        <p:spPr>
          <a:xfrm xmlns:a="http://schemas.openxmlformats.org/drawingml/2006/main">
            <a:off x="15734995"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F1</a:t>
            </a:r>
          </a:p>
        </p:txBody>
      </p:sp>
      <p:sp>
        <p:nvSpPr>
          <p:cNvPr id="25" name="Text 20">
            <a:extLst xmlns:a="http://schemas.openxmlformats.org/drawingml/2006/main">
              <a:ext uri="{FF2B5EF4-FFF2-40B4-BE49-F238E27FC236}">
                <a16:creationId xmlns:a16="http://schemas.microsoft.com/office/drawing/2014/main" id="{9CF51676-29D3-4B2B-A7A2-44D241AC0BDE}"/>
              </a:ext>
            </a:extLst>
          </p:cNvPr>
          <p:cNvSpPr>
            <a:spLocks xmlns:a="http://schemas.openxmlformats.org/drawingml/2006/main" noGrp="1"/>
          </p:cNvSpPr>
          <p:nvPr/>
        </p:nvSpPr>
        <p:spPr>
          <a:xfrm xmlns:a="http://schemas.openxmlformats.org/drawingml/2006/main">
            <a:off x="15734995"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0.793</a:t>
            </a:r>
          </a:p>
        </p:txBody>
      </p:sp>
      <p:sp>
        <p:nvSpPr>
          <p:cNvPr id="26" name="Text 21">
            <a:extLst xmlns:a="http://schemas.openxmlformats.org/drawingml/2006/main">
              <a:ext uri="{FF2B5EF4-FFF2-40B4-BE49-F238E27FC236}">
                <a16:creationId xmlns:a16="http://schemas.microsoft.com/office/drawing/2014/main" id="{3532D546-F24F-42F5-8A33-4991D4B125DD}"/>
              </a:ext>
            </a:extLst>
          </p:cNvPr>
          <p:cNvSpPr>
            <a:spLocks xmlns:a="http://schemas.openxmlformats.org/drawingml/2006/main" noGrp="1"/>
          </p:cNvSpPr>
          <p:nvPr/>
        </p:nvSpPr>
        <p:spPr>
          <a:xfrm xmlns:a="http://schemas.openxmlformats.org/drawingml/2006/main">
            <a:off x="12573000" y="6476695"/>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OULAD · XGBoost</a:t>
            </a:r>
          </a:p>
        </p:txBody>
      </p:sp>
      <p:sp>
        <p:nvSpPr>
          <p:cNvPr id="27" name="Text 22">
            <a:extLst xmlns:a="http://schemas.openxmlformats.org/drawingml/2006/main">
              <a:ext uri="{FF2B5EF4-FFF2-40B4-BE49-F238E27FC236}">
                <a16:creationId xmlns:a16="http://schemas.microsoft.com/office/drawing/2014/main" id="{C01741FB-2E6A-465B-97A7-485FD95CB427}"/>
              </a:ext>
            </a:extLst>
          </p:cNvPr>
          <p:cNvSpPr>
            <a:spLocks xmlns:a="http://schemas.openxmlformats.org/drawingml/2006/main" noGrp="1"/>
          </p:cNvSpPr>
          <p:nvPr/>
        </p:nvSpPr>
        <p:spPr>
          <a:xfrm xmlns:a="http://schemas.openxmlformats.org/drawingml/2006/main">
            <a:off x="12573000" y="6734556"/>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0.885</a:t>
            </a:r>
          </a:p>
        </p:txBody>
      </p:sp>
      <p:sp>
        <p:nvSpPr>
          <p:cNvPr id="28" name="Text 23">
            <a:extLst xmlns:a="http://schemas.openxmlformats.org/drawingml/2006/main">
              <a:ext uri="{FF2B5EF4-FFF2-40B4-BE49-F238E27FC236}">
                <a16:creationId xmlns:a16="http://schemas.microsoft.com/office/drawing/2014/main" id="{901CF2D3-A12F-4FDF-9504-22F32687BC0B}"/>
              </a:ext>
            </a:extLst>
          </p:cNvPr>
          <p:cNvSpPr>
            <a:spLocks xmlns:a="http://schemas.openxmlformats.org/drawingml/2006/main" noGrp="1"/>
          </p:cNvSpPr>
          <p:nvPr/>
        </p:nvSpPr>
        <p:spPr>
          <a:xfrm xmlns:a="http://schemas.openxmlformats.org/drawingml/2006/main">
            <a:off x="14878202" y="7191756"/>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9" name="Shape 24">
            <a:extLst xmlns:a="http://schemas.openxmlformats.org/drawingml/2006/main">
              <a:ext uri="{FF2B5EF4-FFF2-40B4-BE49-F238E27FC236}">
                <a16:creationId xmlns:a16="http://schemas.microsoft.com/office/drawing/2014/main" id="{66B5B2CA-B85B-40CB-B11B-F4AB05F0B0D4}"/>
              </a:ext>
            </a:extLst>
          </p:cNvPr>
          <p:cNvSpPr>
            <a:spLocks xmlns:a="http://schemas.openxmlformats.org/drawingml/2006/main" noGrp="1"/>
          </p:cNvSpPr>
          <p:nvPr/>
        </p:nvSpPr>
        <p:spPr>
          <a:xfrm xmlns:a="http://schemas.openxmlformats.org/drawingml/2006/main">
            <a:off x="12573000" y="7686446"/>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5">
            <a:extLst xmlns:a="http://schemas.openxmlformats.org/drawingml/2006/main">
              <a:ext uri="{FF2B5EF4-FFF2-40B4-BE49-F238E27FC236}">
                <a16:creationId xmlns:a16="http://schemas.microsoft.com/office/drawing/2014/main" id="{FCB98BDC-742B-4662-B704-7089D68D8FD3}"/>
              </a:ext>
            </a:extLst>
          </p:cNvPr>
          <p:cNvSpPr>
            <a:spLocks xmlns:a="http://schemas.openxmlformats.org/drawingml/2006/main" noGrp="1"/>
          </p:cNvSpPr>
          <p:nvPr/>
        </p:nvSpPr>
        <p:spPr>
          <a:xfrm xmlns:a="http://schemas.openxmlformats.org/drawingml/2006/main">
            <a:off x="12573000"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Precision</a:t>
            </a:r>
          </a:p>
        </p:txBody>
      </p:sp>
      <p:sp>
        <p:nvSpPr>
          <p:cNvPr id="31" name="Text 26">
            <a:extLst xmlns:a="http://schemas.openxmlformats.org/drawingml/2006/main">
              <a:ext uri="{FF2B5EF4-FFF2-40B4-BE49-F238E27FC236}">
                <a16:creationId xmlns:a16="http://schemas.microsoft.com/office/drawing/2014/main" id="{E4726789-15E5-4D92-BA5F-CE82593EBE25}"/>
              </a:ext>
            </a:extLst>
          </p:cNvPr>
          <p:cNvSpPr>
            <a:spLocks xmlns:a="http://schemas.openxmlformats.org/drawingml/2006/main" noGrp="1"/>
          </p:cNvSpPr>
          <p:nvPr/>
        </p:nvSpPr>
        <p:spPr>
          <a:xfrm xmlns:a="http://schemas.openxmlformats.org/drawingml/2006/main">
            <a:off x="12573000"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0.758</a:t>
            </a:r>
          </a:p>
        </p:txBody>
      </p:sp>
      <p:sp>
        <p:nvSpPr>
          <p:cNvPr id="32" name="Text 27">
            <a:extLst xmlns:a="http://schemas.openxmlformats.org/drawingml/2006/main">
              <a:ext uri="{FF2B5EF4-FFF2-40B4-BE49-F238E27FC236}">
                <a16:creationId xmlns:a16="http://schemas.microsoft.com/office/drawing/2014/main" id="{DFB7B22E-1445-410E-B7CA-4ABCCF07B7CB}"/>
              </a:ext>
            </a:extLst>
          </p:cNvPr>
          <p:cNvSpPr>
            <a:spLocks xmlns:a="http://schemas.openxmlformats.org/drawingml/2006/main" noGrp="1"/>
          </p:cNvSpPr>
          <p:nvPr/>
        </p:nvSpPr>
        <p:spPr>
          <a:xfrm xmlns:a="http://schemas.openxmlformats.org/drawingml/2006/main">
            <a:off x="14153998"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Recall</a:t>
            </a:r>
          </a:p>
        </p:txBody>
      </p:sp>
      <p:sp>
        <p:nvSpPr>
          <p:cNvPr id="33" name="Text 28">
            <a:extLst xmlns:a="http://schemas.openxmlformats.org/drawingml/2006/main">
              <a:ext uri="{FF2B5EF4-FFF2-40B4-BE49-F238E27FC236}">
                <a16:creationId xmlns:a16="http://schemas.microsoft.com/office/drawing/2014/main" id="{939CB05E-9C6E-496D-BD81-1FA727A296F8}"/>
              </a:ext>
            </a:extLst>
          </p:cNvPr>
          <p:cNvSpPr>
            <a:spLocks xmlns:a="http://schemas.openxmlformats.org/drawingml/2006/main" noGrp="1"/>
          </p:cNvSpPr>
          <p:nvPr/>
        </p:nvSpPr>
        <p:spPr>
          <a:xfrm xmlns:a="http://schemas.openxmlformats.org/drawingml/2006/main">
            <a:off x="14153998"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0.719</a:t>
            </a:r>
          </a:p>
        </p:txBody>
      </p:sp>
      <p:sp>
        <p:nvSpPr>
          <p:cNvPr id="34" name="Text 29">
            <a:extLst xmlns:a="http://schemas.openxmlformats.org/drawingml/2006/main">
              <a:ext uri="{FF2B5EF4-FFF2-40B4-BE49-F238E27FC236}">
                <a16:creationId xmlns:a16="http://schemas.microsoft.com/office/drawing/2014/main" id="{5442B2EE-39EA-4486-8169-16E5B82403A0}"/>
              </a:ext>
            </a:extLst>
          </p:cNvPr>
          <p:cNvSpPr>
            <a:spLocks xmlns:a="http://schemas.openxmlformats.org/drawingml/2006/main" noGrp="1"/>
          </p:cNvSpPr>
          <p:nvPr/>
        </p:nvSpPr>
        <p:spPr>
          <a:xfrm xmlns:a="http://schemas.openxmlformats.org/drawingml/2006/main">
            <a:off x="15734995"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F1</a:t>
            </a:r>
          </a:p>
        </p:txBody>
      </p:sp>
      <p:sp>
        <p:nvSpPr>
          <p:cNvPr id="35" name="Text 30">
            <a:extLst xmlns:a="http://schemas.openxmlformats.org/drawingml/2006/main">
              <a:ext uri="{FF2B5EF4-FFF2-40B4-BE49-F238E27FC236}">
                <a16:creationId xmlns:a16="http://schemas.microsoft.com/office/drawing/2014/main" id="{ED69F559-2CB4-432C-85D7-BDC42C49D8CF}"/>
              </a:ext>
            </a:extLst>
          </p:cNvPr>
          <p:cNvSpPr>
            <a:spLocks xmlns:a="http://schemas.openxmlformats.org/drawingml/2006/main" noGrp="1"/>
          </p:cNvSpPr>
          <p:nvPr/>
        </p:nvSpPr>
        <p:spPr>
          <a:xfrm xmlns:a="http://schemas.openxmlformats.org/drawingml/2006/main">
            <a:off x="15734995"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0.738</a:t>
            </a:r>
          </a:p>
        </p:txBody>
      </p:sp>
    </p:spTree>
    <p:extLst>
      <p:ext uri="{BB962C8B-B14F-4D97-AF65-F5344CB8AC3E}">
        <p14:creationId xmlns:p14="http://schemas.microsoft.com/office/powerpoint/2010/main" val="1325143239"/>
      </p:ext>
    </p:extLst>
  </p:cSld>
</p:sld>
</file>

<file path=ppt/slides/slide1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ac644918f36f44fd"/>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2d2b42f369bf4b8c"/>
          <a:srcRect xmlns:a="http://schemas.openxmlformats.org/drawingml/2006/main" l="-3900" t="0" r="-3900" b="0"/>
          <a:stretch xmlns:a="http://schemas.openxmlformats.org/drawingml/2006/main"/>
        </p:blipFill>
        <p:spPr>
          <a:xfrm xmlns:a="http://schemas.openxmlformats.org/drawingml/2006/main" flipH="0" flipV="0">
            <a:off x="1047902" y="3381451"/>
            <a:ext cx="9715500" cy="5000854"/>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timing trade-off</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11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More history improves F1, but delays intervention.</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OULAD cumulative windows — same students, split, XGBoost settings, and fixed 0.60 threshold.</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OULAD test performance by observation window</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Only the available assessment and virtual learning environment history changes.</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 Day 35 is earlier but less accurate; day 75 performs best but gives advisors less lead time.</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TEST F1 · FIXED THRESHOLD</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0.682 → 0.716 → 0.738</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35 · earliest warning</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60 · middle window</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75 · strongest performance</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Gain from day 35 to 75: +0.056 F1</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WHAT THIS ADDS</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 measurable timing trade-off.</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Same 32,593 records and held-out split</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Same tuned XGBoost settings</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Paired bootstrap differences above zero</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Operational choice: lead time vs. accuracy</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 earlier outreach · lower F1  |  later outreach · higher F1</a:t>
            </a:r>
          </a:p>
        </p:txBody>
      </p:sp>
    </p:spTree>
    <p:extLst>
      <p:ext uri="{BB962C8B-B14F-4D97-AF65-F5344CB8AC3E}">
        <p14:creationId xmlns:p14="http://schemas.microsoft.com/office/powerpoint/2010/main" val="329534785"/>
      </p:ext>
    </p:extLst>
  </p:cSld>
</p:sld>
</file>

<file path=ppt/slides/slide1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842d04fdceab471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3d719e238e714fa9"/>
          <a:srcRect xmlns:a="http://schemas.openxmlformats.org/drawingml/2006/main" l="-3900" t="0" r="-3900" b="0"/>
          <a:stretch xmlns:a="http://schemas.openxmlformats.org/drawingml/2006/main"/>
        </p:blipFill>
        <p:spPr>
          <a:xfrm xmlns:a="http://schemas.openxmlformats.org/drawingml/2006/main">
            <a:off x="1047902" y="3381451"/>
            <a:ext cx="9715500" cy="5000854"/>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What each model is looking at</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12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Two datasets, two very different signals.</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SHAP feature-family attribution — share of total mean absolute SHAP per family.</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SHAP feature-family comparison</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UCI early XGBoost vs. OULAD early XGBoost — all families shown</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 SHAP compares XGBoost on both datasets to examine feature-family shifts. It does not explain the selected UCI Logistic Regression model or imply causality.</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UCI early · Top signals</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Academic progress + financial status.</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1. Curricular units 1st sem approved</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2. Tuition fees not up to date</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3. Age at enrollment</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4. Curricular units 1st sem grade</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OULAD early · Top signals</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Assessment progress, engagement, program context.</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1. Early assessment submission ratio</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2. Highest early assessment score</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3. Early weighted-score ratio</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4. Early weighted-score sum</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 advising · tutoring · financial-support referral · engagement outreach</a:t>
            </a:r>
          </a:p>
        </p:txBody>
      </p:sp>
    </p:spTree>
    <p:extLst>
      <p:ext uri="{BB962C8B-B14F-4D97-AF65-F5344CB8AC3E}">
        <p14:creationId xmlns:p14="http://schemas.microsoft.com/office/powerpoint/2010/main" val="329534785"/>
      </p:ext>
    </p:extLst>
  </p:cSld>
</p:sld>
</file>

<file path=ppt/slides/slide1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49a3ef6ee2e34c2e"/>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E765BF6A-8E7F-422C-8671-67E607229149}"/>
              </a:ext>
            </a:extLst>
          </p:cNvPr>
          <p:cNvSpPr>
            <a:spLocks xmlns:a="http://schemas.openxmlformats.org/drawingml/2006/main" noGrp="1"/>
          </p:cNvSpPr>
          <p:nvPr/>
        </p:nvSpPr>
        <p:spPr>
          <a:xfrm xmlns:a="http://schemas.openxmlformats.org/drawingml/2006/main">
            <a:off x="761695" y="2667305"/>
            <a:ext cx="8781898"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305FF49-5467-4B3C-9801-F4FDD786EC53}"/>
              </a:ext>
            </a:extLst>
          </p:cNvPr>
          <p:cNvSpPr>
            <a:spLocks xmlns:a="http://schemas.openxmlformats.org/drawingml/2006/main" noGrp="1"/>
          </p:cNvSpPr>
          <p:nvPr/>
        </p:nvSpPr>
        <p:spPr>
          <a:xfrm xmlns:a="http://schemas.openxmlformats.org/drawingml/2006/main">
            <a:off x="761695" y="7524598"/>
            <a:ext cx="8781898" cy="1733702"/>
          </a:xfrm>
          <a:prstGeom xmlns:a="http://schemas.openxmlformats.org/drawingml/2006/main" prst="roundRect">
            <a:avLst>
              <a:gd name="adj" fmla="val 1108"/>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F735488-142D-4BA0-A318-534E777F391C}"/>
              </a:ext>
            </a:extLst>
          </p:cNvPr>
          <p:cNvSpPr>
            <a:spLocks xmlns:a="http://schemas.openxmlformats.org/drawingml/2006/main" noGrp="1"/>
          </p:cNvSpPr>
          <p:nvPr/>
        </p:nvSpPr>
        <p:spPr>
          <a:xfrm xmlns:a="http://schemas.openxmlformats.org/drawingml/2006/main">
            <a:off x="9715500" y="2667305"/>
            <a:ext cx="7830007"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772B700-7A05-42DD-A2EF-B408F299DCA0}"/>
              </a:ext>
            </a:extLst>
          </p:cNvPr>
          <p:cNvSpPr>
            <a:spLocks xmlns:a="http://schemas.openxmlformats.org/drawingml/2006/main" noGrp="1"/>
          </p:cNvSpPr>
          <p:nvPr/>
        </p:nvSpPr>
        <p:spPr>
          <a:xfrm xmlns:a="http://schemas.openxmlformats.org/drawingml/2006/main">
            <a:off x="9715500" y="7524598"/>
            <a:ext cx="7810805" cy="1714500"/>
          </a:xfrm>
          <a:prstGeom xmlns:a="http://schemas.openxmlformats.org/drawingml/2006/main" prst="roundRect">
            <a:avLst>
              <a:gd name="adj" fmla="val 112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0" name="Image 1"/>
          <p:cNvPicPr>
            <a:picLocks xmlns:a="http://schemas.openxmlformats.org/drawingml/2006/main" noChangeAspect="1"/>
          </p:cNvPicPr>
          <p:nvPr/>
        </p:nvPicPr>
        <p:blipFill>
          <a:blip xmlns:r="http://schemas.openxmlformats.org/officeDocument/2006/relationships" xmlns:a="http://schemas.openxmlformats.org/drawingml/2006/main" r:embed="R4a29ef20958d410a"/>
          <a:srcRect xmlns:a="http://schemas.openxmlformats.org/drawingml/2006/main" l="-12267" t="0" r="-12267" b="0"/>
          <a:stretch xmlns:a="http://schemas.openxmlformats.org/drawingml/2006/main"/>
        </p:blipFill>
        <p:spPr>
          <a:xfrm xmlns:a="http://schemas.openxmlformats.org/drawingml/2006/main">
            <a:off x="1047902" y="3286354"/>
            <a:ext cx="8191195" cy="3905402"/>
          </a:xfrm>
          <a:prstGeom xmlns:a="http://schemas.openxmlformats.org/drawingml/2006/main" prst="rect">
            <a:avLst/>
          </a:prstGeom>
        </p:spPr>
      </p:pic>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a1e81ddaad05458a"/>
          <a:srcRect xmlns:a="http://schemas.openxmlformats.org/drawingml/2006/main" l="-1491" t="0" r="-1491" b="0"/>
          <a:stretch xmlns:a="http://schemas.openxmlformats.org/drawingml/2006/main"/>
        </p:blipFill>
        <p:spPr>
          <a:xfrm xmlns:a="http://schemas.openxmlformats.org/drawingml/2006/main">
            <a:off x="10001707" y="3286354"/>
            <a:ext cx="7239305" cy="3905402"/>
          </a:xfrm>
          <a:prstGeom xmlns:a="http://schemas.openxmlformats.org/drawingml/2006/main" prst="rect">
            <a:avLst/>
          </a:prstGeom>
        </p:spPr>
      </p:pic>
      <p:sp>
        <p:nvSpPr>
          <p:cNvPr id="10" name="Text 4">
            <a:extLst xmlns:a="http://schemas.openxmlformats.org/drawingml/2006/main">
              <a:ext uri="{FF2B5EF4-FFF2-40B4-BE49-F238E27FC236}">
                <a16:creationId xmlns:a16="http://schemas.microsoft.com/office/drawing/2014/main" id="{3CD5C839-E47F-4AC7-9D77-8BA3C946709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Robustness &amp; error analysis</a:t>
            </a:r>
          </a:p>
        </p:txBody>
      </p:sp>
      <p:sp>
        <p:nvSpPr>
          <p:cNvPr id="11" name="Text 5">
            <a:extLst xmlns:a="http://schemas.openxmlformats.org/drawingml/2006/main">
              <a:ext uri="{FF2B5EF4-FFF2-40B4-BE49-F238E27FC236}">
                <a16:creationId xmlns:a16="http://schemas.microsoft.com/office/drawing/2014/main" id="{C4C41204-DEE5-4C43-A98E-C7C9D9FD0B1C}"/>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13 / 20</a:t>
            </a:r>
          </a:p>
        </p:txBody>
      </p:sp>
      <p:sp>
        <p:nvSpPr>
          <p:cNvPr id="12" name="Text 6">
            <a:extLst xmlns:a="http://schemas.openxmlformats.org/drawingml/2006/main">
              <a:ext uri="{FF2B5EF4-FFF2-40B4-BE49-F238E27FC236}">
                <a16:creationId xmlns:a16="http://schemas.microsoft.com/office/drawing/2014/main" id="{939D5F38-59EE-4C8B-9F0D-F8B4E4CADC33}"/>
              </a:ext>
            </a:extLst>
          </p:cNvPr>
          <p:cNvSpPr>
            <a:spLocks xmlns:a="http://schemas.openxmlformats.org/drawingml/2006/main" noGrp="1"/>
          </p:cNvSpPr>
          <p:nvPr/>
        </p:nvSpPr>
        <p:spPr>
          <a:xfrm xmlns:a="http://schemas.openxmlformats.org/drawingml/2006/main">
            <a:off x="761695" y="1238098"/>
            <a:ext cx="19050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Missingness hurts more than noise; missed cases resemble lower-risk students.</a:t>
            </a:r>
          </a:p>
        </p:txBody>
      </p:sp>
      <p:sp>
        <p:nvSpPr>
          <p:cNvPr id="13" name="Text 7">
            <a:extLst xmlns:a="http://schemas.openxmlformats.org/drawingml/2006/main">
              <a:ext uri="{FF2B5EF4-FFF2-40B4-BE49-F238E27FC236}">
                <a16:creationId xmlns:a16="http://schemas.microsoft.com/office/drawing/2014/main" id="{1CCDCCF3-A5C3-43AD-924A-459966E04628}"/>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i="1">
                <a:solidFill>
                  <a:srgbClr val="6A6F8C"/>
                </a:solidFill>
                <a:latin typeface="Source Serif Pro"/>
                <a:ea typeface="Source Serif Pro"/>
                <a:cs typeface="Source Serif Pro"/>
              </a:rPr>
              <a:t>Both models degrade gracefully — but the false-negative profile matters for advisors.</a:t>
            </a:r>
          </a:p>
        </p:txBody>
      </p:sp>
      <p:sp>
        <p:nvSpPr>
          <p:cNvPr id="14" name="Text 8">
            <a:extLst xmlns:a="http://schemas.openxmlformats.org/drawingml/2006/main">
              <a:ext uri="{FF2B5EF4-FFF2-40B4-BE49-F238E27FC236}">
                <a16:creationId xmlns:a16="http://schemas.microsoft.com/office/drawing/2014/main" id="{95981198-8A1E-4AFB-BF71-63A40DA3E635}"/>
              </a:ext>
            </a:extLst>
          </p:cNvPr>
          <p:cNvSpPr>
            <a:spLocks xmlns:a="http://schemas.openxmlformats.org/drawingml/2006/main" noGrp="1"/>
          </p:cNvSpPr>
          <p:nvPr/>
        </p:nvSpPr>
        <p:spPr>
          <a:xfrm xmlns:a="http://schemas.openxmlformats.org/drawingml/2006/main">
            <a:off x="1047902" y="2857500"/>
            <a:ext cx="8192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F1 under missingness &amp; numeric noise</a:t>
            </a:r>
          </a:p>
        </p:txBody>
      </p:sp>
      <p:sp>
        <p:nvSpPr>
          <p:cNvPr id="15" name="Shape 9">
            <a:extLst xmlns:a="http://schemas.openxmlformats.org/drawingml/2006/main">
              <a:ext uri="{FF2B5EF4-FFF2-40B4-BE49-F238E27FC236}">
                <a16:creationId xmlns:a16="http://schemas.microsoft.com/office/drawing/2014/main" id="{56031ED3-829A-41FC-B40D-ECC1AB73465C}"/>
              </a:ext>
            </a:extLst>
          </p:cNvPr>
          <p:cNvSpPr>
            <a:spLocks xmlns:a="http://schemas.openxmlformats.org/drawingml/2006/main" noGrp="1"/>
          </p:cNvSpPr>
          <p:nvPr/>
        </p:nvSpPr>
        <p:spPr>
          <a:xfrm xmlns:a="http://schemas.openxmlformats.org/drawingml/2006/main">
            <a:off x="3706063"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6" name="Text 10">
            <a:extLst xmlns:a="http://schemas.openxmlformats.org/drawingml/2006/main">
              <a:ext uri="{FF2B5EF4-FFF2-40B4-BE49-F238E27FC236}">
                <a16:creationId xmlns:a16="http://schemas.microsoft.com/office/drawing/2014/main" id="{E80910D7-ED3B-4B58-B61C-E16D23F61C5C}"/>
              </a:ext>
            </a:extLst>
          </p:cNvPr>
          <p:cNvSpPr>
            <a:spLocks xmlns:a="http://schemas.openxmlformats.org/drawingml/2006/main" noGrp="1"/>
          </p:cNvSpPr>
          <p:nvPr/>
        </p:nvSpPr>
        <p:spPr>
          <a:xfrm xmlns:a="http://schemas.openxmlformats.org/drawingml/2006/main">
            <a:off x="1143000"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5% NOISE</a:t>
            </a:r>
          </a:p>
        </p:txBody>
      </p:sp>
      <p:sp>
        <p:nvSpPr>
          <p:cNvPr id="17" name="Text 11">
            <a:extLst xmlns:a="http://schemas.openxmlformats.org/drawingml/2006/main">
              <a:ext uri="{FF2B5EF4-FFF2-40B4-BE49-F238E27FC236}">
                <a16:creationId xmlns:a16="http://schemas.microsoft.com/office/drawing/2014/main" id="{EA788A92-85D5-48ED-B4B2-D3E554FB4013}"/>
              </a:ext>
            </a:extLst>
          </p:cNvPr>
          <p:cNvSpPr>
            <a:spLocks xmlns:a="http://schemas.openxmlformats.org/drawingml/2006/main" noGrp="1"/>
          </p:cNvSpPr>
          <p:nvPr/>
        </p:nvSpPr>
        <p:spPr>
          <a:xfrm xmlns:a="http://schemas.openxmlformats.org/drawingml/2006/main">
            <a:off x="1143000"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Barely moves needle.</a:t>
            </a:r>
          </a:p>
        </p:txBody>
      </p:sp>
      <p:sp>
        <p:nvSpPr>
          <p:cNvPr id="18" name="Text 12">
            <a:extLst xmlns:a="http://schemas.openxmlformats.org/drawingml/2006/main">
              <a:ext uri="{FF2B5EF4-FFF2-40B4-BE49-F238E27FC236}">
                <a16:creationId xmlns:a16="http://schemas.microsoft.com/office/drawing/2014/main" id="{9EFA55F9-2A71-49DC-B9C4-8D86B176820A}"/>
              </a:ext>
            </a:extLst>
          </p:cNvPr>
          <p:cNvSpPr>
            <a:spLocks xmlns:a="http://schemas.openxmlformats.org/drawingml/2006/main" noGrp="1"/>
          </p:cNvSpPr>
          <p:nvPr/>
        </p:nvSpPr>
        <p:spPr>
          <a:xfrm xmlns:a="http://schemas.openxmlformats.org/drawingml/2006/main">
            <a:off x="1143000"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0.793 → 0.788</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0.734</a:t>
            </a:r>
          </a:p>
        </p:txBody>
      </p:sp>
      <p:sp>
        <p:nvSpPr>
          <p:cNvPr id="19" name="Shape 13">
            <a:extLst xmlns:a="http://schemas.openxmlformats.org/drawingml/2006/main">
              <a:ext uri="{FF2B5EF4-FFF2-40B4-BE49-F238E27FC236}">
                <a16:creationId xmlns:a16="http://schemas.microsoft.com/office/drawing/2014/main" id="{1F450A5D-2041-4A00-AF7D-CF6C1350C3DC}"/>
              </a:ext>
            </a:extLst>
          </p:cNvPr>
          <p:cNvSpPr>
            <a:spLocks xmlns:a="http://schemas.openxmlformats.org/drawingml/2006/main" noGrp="1"/>
          </p:cNvSpPr>
          <p:nvPr/>
        </p:nvSpPr>
        <p:spPr>
          <a:xfrm xmlns:a="http://schemas.openxmlformats.org/drawingml/2006/main">
            <a:off x="6423660"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4">
            <a:extLst xmlns:a="http://schemas.openxmlformats.org/drawingml/2006/main">
              <a:ext uri="{FF2B5EF4-FFF2-40B4-BE49-F238E27FC236}">
                <a16:creationId xmlns:a16="http://schemas.microsoft.com/office/drawing/2014/main" id="{9B8464B5-F5D5-44AF-822A-73874B7CD6E6}"/>
              </a:ext>
            </a:extLst>
          </p:cNvPr>
          <p:cNvSpPr>
            <a:spLocks xmlns:a="http://schemas.openxmlformats.org/drawingml/2006/main" noGrp="1"/>
          </p:cNvSpPr>
          <p:nvPr/>
        </p:nvSpPr>
        <p:spPr>
          <a:xfrm xmlns:a="http://schemas.openxmlformats.org/drawingml/2006/main">
            <a:off x="3860597"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10% MISSING</a:t>
            </a:r>
          </a:p>
        </p:txBody>
      </p:sp>
      <p:sp>
        <p:nvSpPr>
          <p:cNvPr id="21" name="Text 15">
            <a:extLst xmlns:a="http://schemas.openxmlformats.org/drawingml/2006/main">
              <a:ext uri="{FF2B5EF4-FFF2-40B4-BE49-F238E27FC236}">
                <a16:creationId xmlns:a16="http://schemas.microsoft.com/office/drawing/2014/main" id="{3D6F12CE-172F-4A2B-ABBF-C2085638F9E2}"/>
              </a:ext>
            </a:extLst>
          </p:cNvPr>
          <p:cNvSpPr>
            <a:spLocks xmlns:a="http://schemas.openxmlformats.org/drawingml/2006/main" noGrp="1"/>
          </p:cNvSpPr>
          <p:nvPr/>
        </p:nvSpPr>
        <p:spPr>
          <a:xfrm xmlns:a="http://schemas.openxmlformats.org/drawingml/2006/main">
            <a:off x="3860597"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UCI more sensitive.</a:t>
            </a:r>
          </a:p>
        </p:txBody>
      </p:sp>
      <p:sp>
        <p:nvSpPr>
          <p:cNvPr id="22" name="Text 16">
            <a:extLst xmlns:a="http://schemas.openxmlformats.org/drawingml/2006/main">
              <a:ext uri="{FF2B5EF4-FFF2-40B4-BE49-F238E27FC236}">
                <a16:creationId xmlns:a16="http://schemas.microsoft.com/office/drawing/2014/main" id="{D639E010-8C3B-4EA4-8C07-DBE29C7E1CCF}"/>
              </a:ext>
            </a:extLst>
          </p:cNvPr>
          <p:cNvSpPr>
            <a:spLocks xmlns:a="http://schemas.openxmlformats.org/drawingml/2006/main" noGrp="1"/>
          </p:cNvSpPr>
          <p:nvPr/>
        </p:nvSpPr>
        <p:spPr>
          <a:xfrm xmlns:a="http://schemas.openxmlformats.org/drawingml/2006/main">
            <a:off x="3860597"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0.793 → 0.753 </a:t>
            </a:r>
            <a:r>
              <a:rPr sz="1100">
                <a:solidFill>
                  <a:srgbClr val="C43E5A"/>
                </a:solidFill>
                <a:latin typeface="JetBrains Mono"/>
                <a:ea typeface="JetBrains Mono"/>
                <a:cs typeface="JetBrains Mono"/>
              </a:rPr>
              <a:t>−5.3%</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0.718 </a:t>
            </a:r>
            <a:r>
              <a:rPr sz="1100">
                <a:solidFill>
                  <a:srgbClr val="C43E5A"/>
                </a:solidFill>
                <a:latin typeface="JetBrains Mono"/>
                <a:ea typeface="JetBrains Mono"/>
                <a:cs typeface="JetBrains Mono"/>
              </a:rPr>
              <a:t>−3.4%</a:t>
            </a:r>
          </a:p>
        </p:txBody>
      </p:sp>
      <p:sp>
        <p:nvSpPr>
          <p:cNvPr id="23" name="Text 17">
            <a:extLst xmlns:a="http://schemas.openxmlformats.org/drawingml/2006/main">
              <a:ext uri="{FF2B5EF4-FFF2-40B4-BE49-F238E27FC236}">
                <a16:creationId xmlns:a16="http://schemas.microsoft.com/office/drawing/2014/main" id="{9B58D98B-B810-41BC-AFE4-179550A66F11}"/>
              </a:ext>
            </a:extLst>
          </p:cNvPr>
          <p:cNvSpPr>
            <a:spLocks xmlns:a="http://schemas.openxmlformats.org/drawingml/2006/main" noGrp="1"/>
          </p:cNvSpPr>
          <p:nvPr/>
        </p:nvSpPr>
        <p:spPr>
          <a:xfrm xmlns:a="http://schemas.openxmlformats.org/drawingml/2006/main">
            <a:off x="6578194" y="7715707"/>
            <a:ext cx="25722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REPEATED SPLITS</a:t>
            </a:r>
          </a:p>
        </p:txBody>
      </p:sp>
      <p:sp>
        <p:nvSpPr>
          <p:cNvPr id="24" name="Text 18">
            <a:extLst xmlns:a="http://schemas.openxmlformats.org/drawingml/2006/main">
              <a:ext uri="{FF2B5EF4-FFF2-40B4-BE49-F238E27FC236}">
                <a16:creationId xmlns:a16="http://schemas.microsoft.com/office/drawing/2014/main" id="{8C811022-8825-4EC6-9053-B6FCF3A19E66}"/>
              </a:ext>
            </a:extLst>
          </p:cNvPr>
          <p:cNvSpPr>
            <a:spLocks xmlns:a="http://schemas.openxmlformats.org/drawingml/2006/main" noGrp="1"/>
          </p:cNvSpPr>
          <p:nvPr/>
        </p:nvSpPr>
        <p:spPr>
          <a:xfrm xmlns:a="http://schemas.openxmlformats.org/drawingml/2006/main">
            <a:off x="6578194" y="7905902"/>
            <a:ext cx="2572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OULAD stable.</a:t>
            </a:r>
          </a:p>
        </p:txBody>
      </p:sp>
      <p:sp>
        <p:nvSpPr>
          <p:cNvPr id="25" name="Text 19">
            <a:extLst xmlns:a="http://schemas.openxmlformats.org/drawingml/2006/main">
              <a:ext uri="{FF2B5EF4-FFF2-40B4-BE49-F238E27FC236}">
                <a16:creationId xmlns:a16="http://schemas.microsoft.com/office/drawing/2014/main" id="{C2E14732-A733-4D65-B31B-581295605C4A}"/>
              </a:ext>
            </a:extLst>
          </p:cNvPr>
          <p:cNvSpPr>
            <a:spLocks xmlns:a="http://schemas.openxmlformats.org/drawingml/2006/main" noGrp="1"/>
          </p:cNvSpPr>
          <p:nvPr/>
        </p:nvSpPr>
        <p:spPr>
          <a:xfrm xmlns:a="http://schemas.openxmlformats.org/drawingml/2006/main">
            <a:off x="6578194" y="8125358"/>
            <a:ext cx="2572207"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0.776 ± 0.023</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0.005</a:t>
            </a:r>
          </a:p>
        </p:txBody>
      </p:sp>
      <p:sp>
        <p:nvSpPr>
          <p:cNvPr id="26" name="Text 20">
            <a:extLst xmlns:a="http://schemas.openxmlformats.org/drawingml/2006/main">
              <a:ext uri="{FF2B5EF4-FFF2-40B4-BE49-F238E27FC236}">
                <a16:creationId xmlns:a16="http://schemas.microsoft.com/office/drawing/2014/main" id="{A9A78E08-7140-4601-82B0-51E36DFCDF85}"/>
              </a:ext>
            </a:extLst>
          </p:cNvPr>
          <p:cNvSpPr>
            <a:spLocks xmlns:a="http://schemas.openxmlformats.org/drawingml/2006/main" noGrp="1"/>
          </p:cNvSpPr>
          <p:nvPr/>
        </p:nvSpPr>
        <p:spPr>
          <a:xfrm xmlns:a="http://schemas.openxmlformats.org/drawingml/2006/main">
            <a:off x="10001707" y="2857500"/>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Held-out test outcomes · normalized per 1,000</a:t>
            </a:r>
          </a:p>
        </p:txBody>
      </p:sp>
      <p:sp>
        <p:nvSpPr>
          <p:cNvPr id="27" name="Text 21">
            <a:extLst xmlns:a="http://schemas.openxmlformats.org/drawingml/2006/main">
              <a:ext uri="{FF2B5EF4-FFF2-40B4-BE49-F238E27FC236}">
                <a16:creationId xmlns:a16="http://schemas.microsoft.com/office/drawing/2014/main" id="{A4C6895D-93BD-4D11-BF7C-BCEBD790E436}"/>
              </a:ext>
            </a:extLst>
          </p:cNvPr>
          <p:cNvSpPr>
            <a:spLocks xmlns:a="http://schemas.openxmlformats.org/drawingml/2006/main" noGrp="1"/>
          </p:cNvSpPr>
          <p:nvPr/>
        </p:nvSpPr>
        <p:spPr>
          <a:xfrm xmlns:a="http://schemas.openxmlformats.org/drawingml/2006/main">
            <a:off x="10001707" y="3029407"/>
            <a:ext cx="7239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Same denominator for like-for-like comparison</a:t>
            </a:r>
          </a:p>
        </p:txBody>
      </p:sp>
      <p:sp>
        <p:nvSpPr>
          <p:cNvPr id="28" name="Text 22">
            <a:extLst xmlns:a="http://schemas.openxmlformats.org/drawingml/2006/main">
              <a:ext uri="{FF2B5EF4-FFF2-40B4-BE49-F238E27FC236}">
                <a16:creationId xmlns:a16="http://schemas.microsoft.com/office/drawing/2014/main" id="{E8C235E1-DA0C-456A-8A26-5A72A45CA682}"/>
              </a:ext>
            </a:extLst>
          </p:cNvPr>
          <p:cNvSpPr>
            <a:spLocks xmlns:a="http://schemas.openxmlformats.org/drawingml/2006/main" noGrp="1"/>
          </p:cNvSpPr>
          <p:nvPr/>
        </p:nvSpPr>
        <p:spPr>
          <a:xfrm xmlns:a="http://schemas.openxmlformats.org/drawingml/2006/main">
            <a:off x="10001707" y="7715707"/>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False-negative profile</a:t>
            </a:r>
          </a:p>
        </p:txBody>
      </p:sp>
      <p:sp>
        <p:nvSpPr>
          <p:cNvPr id="29" name="Text 23">
            <a:extLst xmlns:a="http://schemas.openxmlformats.org/drawingml/2006/main">
              <a:ext uri="{FF2B5EF4-FFF2-40B4-BE49-F238E27FC236}">
                <a16:creationId xmlns:a16="http://schemas.microsoft.com/office/drawing/2014/main" id="{17837CBD-C5F1-4840-80A9-FDAC656D4C37}"/>
              </a:ext>
            </a:extLst>
          </p:cNvPr>
          <p:cNvSpPr>
            <a:spLocks xmlns:a="http://schemas.openxmlformats.org/drawingml/2006/main" noGrp="1"/>
          </p:cNvSpPr>
          <p:nvPr/>
        </p:nvSpPr>
        <p:spPr>
          <a:xfrm xmlns:a="http://schemas.openxmlformats.org/drawingml/2006/main">
            <a:off x="10001707" y="7925105"/>
            <a:ext cx="7239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Missed cases resembled </a:t>
            </a:r>
            <a:r>
              <a:rPr sz="1200">
                <a:solidFill>
                  <a:srgbClr val="FF5CA0"/>
                </a:solidFill>
                <a:latin typeface="Inter"/>
                <a:ea typeface="Inter"/>
                <a:cs typeface="Inter"/>
              </a:rPr>
              <a:t>lower-risk</a:t>
            </a:r>
            <a:r>
              <a:rPr sz="1200">
                <a:solidFill>
                  <a:srgbClr val="FFFFFF"/>
                </a:solidFill>
                <a:latin typeface="Inter"/>
                <a:ea typeface="Inter"/>
                <a:cs typeface="Inter"/>
              </a:rPr>
              <a:t> students on the observed features.</a:t>
            </a:r>
          </a:p>
        </p:txBody>
      </p:sp>
      <p:sp>
        <p:nvSpPr>
          <p:cNvPr id="30" name="Text 24">
            <a:extLst xmlns:a="http://schemas.openxmlformats.org/drawingml/2006/main">
              <a:ext uri="{FF2B5EF4-FFF2-40B4-BE49-F238E27FC236}">
                <a16:creationId xmlns:a16="http://schemas.microsoft.com/office/drawing/2014/main" id="{66E149F4-2759-48AD-9D7F-EB1F78266D49}"/>
              </a:ext>
            </a:extLst>
          </p:cNvPr>
          <p:cNvSpPr>
            <a:spLocks xmlns:a="http://schemas.openxmlformats.org/drawingml/2006/main" noGrp="1"/>
          </p:cNvSpPr>
          <p:nvPr/>
        </p:nvSpPr>
        <p:spPr>
          <a:xfrm xmlns:a="http://schemas.openxmlformats.org/drawingml/2006/main">
            <a:off x="10001707"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UCI approved units (mean):</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FN </a:t>
            </a:r>
            <a:r>
              <a:rPr sz="1000">
                <a:solidFill>
                  <a:srgbClr val="FF5CA0">
                    <a:alpha val="92000"/>
                  </a:srgbClr>
                </a:solidFill>
                <a:latin typeface="JetBrains Mono"/>
                <a:ea typeface="JetBrains Mono"/>
                <a:cs typeface="JetBrains Mono"/>
              </a:rPr>
              <a:t>6.08</a:t>
            </a:r>
            <a:r>
              <a:rPr sz="1000">
                <a:solidFill>
                  <a:srgbClr val="FFFFFF">
                    <a:alpha val="92000"/>
                  </a:srgbClr>
                </a:solidFill>
                <a:latin typeface="JetBrains Mono"/>
                <a:ea typeface="JetBrains Mono"/>
                <a:cs typeface="JetBrains Mono"/>
              </a:rPr>
              <a:t> vs. TP </a:t>
            </a:r>
            <a:r>
              <a:rPr sz="1000">
                <a:solidFill>
                  <a:srgbClr val="FFFFFF">
                    <a:alpha val="92000"/>
                  </a:srgbClr>
                </a:solidFill>
                <a:latin typeface="JetBrains Mono"/>
                <a:ea typeface="JetBrains Mono"/>
                <a:cs typeface="JetBrains Mono"/>
              </a:rPr>
              <a:t>1.87</a:t>
            </a:r>
          </a:p>
        </p:txBody>
      </p:sp>
      <p:sp>
        <p:nvSpPr>
          <p:cNvPr id="31" name="Text 25">
            <a:extLst xmlns:a="http://schemas.openxmlformats.org/drawingml/2006/main">
              <a:ext uri="{FF2B5EF4-FFF2-40B4-BE49-F238E27FC236}">
                <a16:creationId xmlns:a16="http://schemas.microsoft.com/office/drawing/2014/main" id="{F51068F1-E2A5-40ED-A02C-8C1C9C641BF0}"/>
              </a:ext>
            </a:extLst>
          </p:cNvPr>
          <p:cNvSpPr>
            <a:spLocks xmlns:a="http://schemas.openxmlformats.org/drawingml/2006/main" noGrp="1"/>
          </p:cNvSpPr>
          <p:nvPr/>
        </p:nvSpPr>
        <p:spPr>
          <a:xfrm xmlns:a="http://schemas.openxmlformats.org/drawingml/2006/main">
            <a:off x="13716000"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OULAD submission ratio:</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FN </a:t>
            </a:r>
            <a:r>
              <a:rPr sz="1000">
                <a:solidFill>
                  <a:srgbClr val="FF5CA0">
                    <a:alpha val="92000"/>
                  </a:srgbClr>
                </a:solidFill>
                <a:latin typeface="JetBrains Mono"/>
                <a:ea typeface="JetBrains Mono"/>
                <a:cs typeface="JetBrains Mono"/>
              </a:rPr>
              <a:t>0.885</a:t>
            </a:r>
            <a:r>
              <a:rPr sz="1000">
                <a:solidFill>
                  <a:srgbClr val="FFFFFF">
                    <a:alpha val="92000"/>
                  </a:srgbClr>
                </a:solidFill>
                <a:latin typeface="JetBrains Mono"/>
                <a:ea typeface="JetBrains Mono"/>
                <a:cs typeface="JetBrains Mono"/>
              </a:rPr>
              <a:t> vs. TP </a:t>
            </a:r>
            <a:r>
              <a:rPr sz="1000">
                <a:solidFill>
                  <a:srgbClr val="FFFFFF">
                    <a:alpha val="92000"/>
                  </a:srgbClr>
                </a:solidFill>
                <a:latin typeface="JetBrains Mono"/>
                <a:ea typeface="JetBrains Mono"/>
                <a:cs typeface="JetBrains Mono"/>
              </a:rPr>
              <a:t>0.131</a:t>
            </a:r>
          </a:p>
        </p:txBody>
      </p:sp>
    </p:spTree>
    <p:extLst>
      <p:ext uri="{BB962C8B-B14F-4D97-AF65-F5344CB8AC3E}">
        <p14:creationId xmlns:p14="http://schemas.microsoft.com/office/powerpoint/2010/main" val="704192232"/>
      </p:ext>
    </p:extLst>
  </p:cSld>
</p:sld>
</file>

<file path=ppt/slides/slide1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eca7134df5f1456f"/>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C20E7D21-4D70-49D9-ABCC-0F29B092EE15}"/>
              </a:ext>
            </a:extLst>
          </p:cNvPr>
          <p:cNvSpPr>
            <a:spLocks xmlns:a="http://schemas.openxmlformats.org/drawingml/2006/main" noGrp="1"/>
          </p:cNvSpPr>
          <p:nvPr/>
        </p:nvSpPr>
        <p:spPr>
          <a:xfrm xmlns:a="http://schemas.openxmlformats.org/drawingml/2006/main">
            <a:off x="761695" y="2762402"/>
            <a:ext cx="11259007" cy="5639105"/>
          </a:xfrm>
          <a:prstGeom xmlns:a="http://schemas.openxmlformats.org/drawingml/2006/main" prst="roundRect">
            <a:avLst>
              <a:gd name="adj" fmla="val 341"/>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EB4ADBDC-8300-4DE4-B2C4-2EDE3D87628F}"/>
              </a:ext>
            </a:extLst>
          </p:cNvPr>
          <p:cNvSpPr>
            <a:spLocks xmlns:a="http://schemas.openxmlformats.org/drawingml/2006/main" noGrp="1"/>
          </p:cNvSpPr>
          <p:nvPr/>
        </p:nvSpPr>
        <p:spPr>
          <a:xfrm xmlns:a="http://schemas.openxmlformats.org/drawingml/2006/main">
            <a:off x="761695" y="8524951"/>
            <a:ext cx="11259007" cy="733349"/>
          </a:xfrm>
          <a:prstGeom xmlns:a="http://schemas.openxmlformats.org/drawingml/2006/main" prst="roundRect">
            <a:avLst>
              <a:gd name="adj" fmla="val 2618"/>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F30C0D7B-EBA9-4965-A2B1-6683297CC1A8}"/>
              </a:ext>
            </a:extLst>
          </p:cNvPr>
          <p:cNvSpPr>
            <a:spLocks xmlns:a="http://schemas.openxmlformats.org/drawingml/2006/main" noGrp="1"/>
          </p:cNvSpPr>
          <p:nvPr/>
        </p:nvSpPr>
        <p:spPr>
          <a:xfrm xmlns:a="http://schemas.openxmlformats.org/drawingml/2006/main">
            <a:off x="12287707" y="2762402"/>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42A556CE-C8A6-441D-9AEB-840B5A4DB1F6}"/>
              </a:ext>
            </a:extLst>
          </p:cNvPr>
          <p:cNvSpPr>
            <a:spLocks xmlns:a="http://schemas.openxmlformats.org/drawingml/2006/main" noGrp="1"/>
          </p:cNvSpPr>
          <p:nvPr/>
        </p:nvSpPr>
        <p:spPr>
          <a:xfrm xmlns:a="http://schemas.openxmlformats.org/drawingml/2006/main">
            <a:off x="12287707" y="6096305"/>
            <a:ext cx="5238598" cy="3143707"/>
          </a:xfrm>
          <a:prstGeom xmlns:a="http://schemas.openxmlformats.org/drawingml/2006/main" prst="roundRect">
            <a:avLst>
              <a:gd name="adj" fmla="val 61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8" name="Shape 4">
            <a:extLst xmlns:a="http://schemas.openxmlformats.org/drawingml/2006/main">
              <a:ext uri="{FF2B5EF4-FFF2-40B4-BE49-F238E27FC236}">
                <a16:creationId xmlns:a16="http://schemas.microsoft.com/office/drawing/2014/main" id="{B0D10C63-DD19-4A61-B70E-E973D1D220E8}"/>
              </a:ext>
            </a:extLst>
          </p:cNvPr>
          <p:cNvSpPr>
            <a:spLocks xmlns:a="http://schemas.openxmlformats.org/drawingml/2006/main" noGrp="1"/>
          </p:cNvSpPr>
          <p:nvPr/>
        </p:nvSpPr>
        <p:spPr>
          <a:xfrm xmlns:a="http://schemas.openxmlformats.org/drawingml/2006/main">
            <a:off x="14287500" y="1380744"/>
            <a:ext cx="3258007" cy="437998"/>
          </a:xfrm>
          <a:prstGeom xmlns:a="http://schemas.openxmlformats.org/drawingml/2006/main" prst="roundRect">
            <a:avLst>
              <a:gd name="adj" fmla="val 47808"/>
            </a:avLst>
          </a:prstGeom>
          <a:solidFill xmlns:a="http://schemas.openxmlformats.org/drawingml/2006/main">
            <a:srgbClr val="FFF3E9"/>
          </a:solidFill>
          <a:ln xmlns:a="http://schemas.openxmlformats.org/drawingml/2006/main" w="12700">
            <a:solidFill>
              <a:srgbClr val="E8A93A"/>
            </a:solidFill>
            <a:prstDash val="solid"/>
          </a:ln>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20b8e008c4a44b7f"/>
          <a:srcRect xmlns:a="http://schemas.openxmlformats.org/drawingml/2006/main" l="-14024" t="0" r="-14024" b="0"/>
          <a:stretch xmlns:a="http://schemas.openxmlformats.org/drawingml/2006/main"/>
        </p:blipFill>
        <p:spPr>
          <a:xfrm xmlns:a="http://schemas.openxmlformats.org/drawingml/2006/main">
            <a:off x="1047902" y="3381451"/>
            <a:ext cx="10477195" cy="4858207"/>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4944F4F6-0A42-49A6-BF0B-68BEA1C040F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06 · Business impact</a:t>
            </a:r>
          </a:p>
        </p:txBody>
      </p:sp>
      <p:sp>
        <p:nvSpPr>
          <p:cNvPr id="11" name="Text 6">
            <a:extLst xmlns:a="http://schemas.openxmlformats.org/drawingml/2006/main">
              <a:ext uri="{FF2B5EF4-FFF2-40B4-BE49-F238E27FC236}">
                <a16:creationId xmlns:a16="http://schemas.microsoft.com/office/drawing/2014/main" id="{D6EA34C2-9088-461E-A828-03C72551115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14 / 20</a:t>
            </a:r>
          </a:p>
        </p:txBody>
      </p:sp>
      <p:sp>
        <p:nvSpPr>
          <p:cNvPr id="12" name="Text 7">
            <a:extLst xmlns:a="http://schemas.openxmlformats.org/drawingml/2006/main">
              <a:ext uri="{FF2B5EF4-FFF2-40B4-BE49-F238E27FC236}">
                <a16:creationId xmlns:a16="http://schemas.microsoft.com/office/drawing/2014/main" id="{58716892-7804-418E-A722-4788BEE1BA77}"/>
              </a:ext>
            </a:extLst>
          </p:cNvPr>
          <p:cNvSpPr>
            <a:spLocks xmlns:a="http://schemas.openxmlformats.org/drawingml/2006/main" noGrp="1"/>
          </p:cNvSpPr>
          <p:nvPr/>
        </p:nvSpPr>
        <p:spPr>
          <a:xfrm xmlns:a="http://schemas.openxmlformats.org/drawingml/2006/main">
            <a:off x="761695" y="1238098"/>
            <a:ext cx="13335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Per 1,000 students — what advisors would see.</a:t>
            </a:r>
          </a:p>
        </p:txBody>
      </p:sp>
      <p:sp>
        <p:nvSpPr>
          <p:cNvPr id="13" name="Text 8">
            <a:extLst xmlns:a="http://schemas.openxmlformats.org/drawingml/2006/main">
              <a:ext uri="{FF2B5EF4-FFF2-40B4-BE49-F238E27FC236}">
                <a16:creationId xmlns:a16="http://schemas.microsoft.com/office/drawing/2014/main" id="{8124A9A9-FDEF-4956-A126-03E8A55DD558}"/>
              </a:ext>
            </a:extLst>
          </p:cNvPr>
          <p:cNvSpPr>
            <a:spLocks xmlns:a="http://schemas.openxmlformats.org/drawingml/2006/main" noGrp="1"/>
          </p:cNvSpPr>
          <p:nvPr/>
        </p:nvSpPr>
        <p:spPr>
          <a:xfrm xmlns:a="http://schemas.openxmlformats.org/drawingml/2006/main">
            <a:off x="761695" y="1813255"/>
            <a:ext cx="13335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Potential operational value under illustrative planning assumptions.</a:t>
            </a:r>
          </a:p>
        </p:txBody>
      </p:sp>
      <p:sp>
        <p:nvSpPr>
          <p:cNvPr id="14" name="Text 9">
            <a:extLst xmlns:a="http://schemas.openxmlformats.org/drawingml/2006/main">
              <a:ext uri="{FF2B5EF4-FFF2-40B4-BE49-F238E27FC236}">
                <a16:creationId xmlns:a16="http://schemas.microsoft.com/office/drawing/2014/main" id="{6C9AB244-2FF9-4949-9243-CBDDD1FEDB72}"/>
              </a:ext>
            </a:extLst>
          </p:cNvPr>
          <p:cNvSpPr>
            <a:spLocks xmlns:a="http://schemas.openxmlformats.org/drawingml/2006/main" noGrp="1"/>
          </p:cNvSpPr>
          <p:nvPr/>
        </p:nvSpPr>
        <p:spPr>
          <a:xfrm xmlns:a="http://schemas.openxmlformats.org/drawingml/2006/main">
            <a:off x="14287500" y="1380744"/>
            <a:ext cx="323880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ctr">
              <a:buNone/>
            </a:pPr>
            <a:r>
              <a:rPr sz="900">
                <a:solidFill>
                  <a:srgbClr val="E8A93A"/>
                </a:solidFill>
                <a:latin typeface="JetBrains Mono"/>
                <a:ea typeface="JetBrains Mono"/>
                <a:cs typeface="JetBrains Mono"/>
              </a:rPr>
              <a:t>⚠ FINANCIALS = PLANNING ASSUMPTIONS</a:t>
            </a:r>
          </a:p>
        </p:txBody>
      </p:sp>
      <p:sp>
        <p:nvSpPr>
          <p:cNvPr id="15" name="Text 10">
            <a:extLst xmlns:a="http://schemas.openxmlformats.org/drawingml/2006/main">
              <a:ext uri="{FF2B5EF4-FFF2-40B4-BE49-F238E27FC236}">
                <a16:creationId xmlns:a16="http://schemas.microsoft.com/office/drawing/2014/main" id="{4E07767F-739B-4AB6-B278-F5201D4CE535}"/>
              </a:ext>
            </a:extLst>
          </p:cNvPr>
          <p:cNvSpPr>
            <a:spLocks xmlns:a="http://schemas.openxmlformats.org/drawingml/2006/main" noGrp="1"/>
          </p:cNvSpPr>
          <p:nvPr/>
        </p:nvSpPr>
        <p:spPr>
          <a:xfrm xmlns:a="http://schemas.openxmlformats.org/drawingml/2006/main">
            <a:off x="1047902" y="2952598"/>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Operational impact per 1,000 students</a:t>
            </a:r>
          </a:p>
        </p:txBody>
      </p:sp>
      <p:sp>
        <p:nvSpPr>
          <p:cNvPr id="16" name="Text 11">
            <a:extLst xmlns:a="http://schemas.openxmlformats.org/drawingml/2006/main">
              <a:ext uri="{FF2B5EF4-FFF2-40B4-BE49-F238E27FC236}">
                <a16:creationId xmlns:a16="http://schemas.microsoft.com/office/drawing/2014/main" id="{6A414565-94B9-4FE5-BCF8-EECF2FA6BECA}"/>
              </a:ext>
            </a:extLst>
          </p:cNvPr>
          <p:cNvSpPr>
            <a:spLocks xmlns:a="http://schemas.openxmlformats.org/drawingml/2006/main" noGrp="1"/>
          </p:cNvSpPr>
          <p:nvPr/>
        </p:nvSpPr>
        <p:spPr>
          <a:xfrm xmlns:a="http://schemas.openxmlformats.org/drawingml/2006/main">
            <a:off x="1047902" y="8667598"/>
            <a:ext cx="10668305" cy="41971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Advisor-week estimates assume capacity of </a:t>
            </a:r>
            <a:r>
              <a:rPr sz="1000" b="1">
                <a:solidFill>
                  <a:srgbClr val="2A2E4B"/>
                </a:solidFill>
                <a:latin typeface="JetBrains Mono"/>
                <a:ea typeface="JetBrains Mono"/>
                <a:cs typeface="JetBrains Mono"/>
              </a:rPr>
              <a:t>25 alerts per advisor per week</a:t>
            </a:r>
            <a:r>
              <a:rPr sz="1000">
                <a:solidFill>
                  <a:srgbClr val="2A2E4B"/>
                </a:solidFill>
                <a:latin typeface="JetBrains Mono"/>
                <a:ea typeface="JetBrains Mono"/>
                <a:cs typeface="JetBrains Mono"/>
              </a:rPr>
              <a:t>. Outreach cost, retained-student value, and retention effect are illustrative assumptions, not observed institutional outcomes.</a:t>
            </a:r>
          </a:p>
        </p:txBody>
      </p:sp>
      <p:sp>
        <p:nvSpPr>
          <p:cNvPr id="17" name="Text 12">
            <a:extLst xmlns:a="http://schemas.openxmlformats.org/drawingml/2006/main">
              <a:ext uri="{FF2B5EF4-FFF2-40B4-BE49-F238E27FC236}">
                <a16:creationId xmlns:a16="http://schemas.microsoft.com/office/drawing/2014/main" id="{A1CCC7A4-D6F9-4067-8CB7-155B5BDD44A8}"/>
              </a:ext>
            </a:extLst>
          </p:cNvPr>
          <p:cNvSpPr>
            <a:spLocks xmlns:a="http://schemas.openxmlformats.org/drawingml/2006/main" noGrp="1"/>
          </p:cNvSpPr>
          <p:nvPr/>
        </p:nvSpPr>
        <p:spPr>
          <a:xfrm xmlns:a="http://schemas.openxmlformats.org/drawingml/2006/main">
            <a:off x="12573000" y="300014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Alert economics · per 1,000</a:t>
            </a:r>
          </a:p>
        </p:txBody>
      </p:sp>
      <p:sp>
        <p:nvSpPr>
          <p:cNvPr id="18" name="Shape 13">
            <a:extLst xmlns:a="http://schemas.openxmlformats.org/drawingml/2006/main">
              <a:ext uri="{FF2B5EF4-FFF2-40B4-BE49-F238E27FC236}">
                <a16:creationId xmlns:a16="http://schemas.microsoft.com/office/drawing/2014/main" id="{36368597-1FE2-4C24-869E-D2C18015A93A}"/>
              </a:ext>
            </a:extLst>
          </p:cNvPr>
          <p:cNvSpPr>
            <a:spLocks xmlns:a="http://schemas.openxmlformats.org/drawingml/2006/main" noGrp="1"/>
          </p:cNvSpPr>
          <p:nvPr/>
        </p:nvSpPr>
        <p:spPr>
          <a:xfrm xmlns:a="http://schemas.openxmlformats.org/drawingml/2006/main">
            <a:off x="14830654" y="3305556"/>
            <a:ext cx="9144" cy="752551"/>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4">
            <a:extLst xmlns:a="http://schemas.openxmlformats.org/drawingml/2006/main">
              <a:ext uri="{FF2B5EF4-FFF2-40B4-BE49-F238E27FC236}">
                <a16:creationId xmlns:a16="http://schemas.microsoft.com/office/drawing/2014/main" id="{D912F792-3693-4D68-834F-1D57D1D54400}"/>
              </a:ext>
            </a:extLst>
          </p:cNvPr>
          <p:cNvSpPr>
            <a:spLocks xmlns:a="http://schemas.openxmlformats.org/drawingml/2006/main" noGrp="1"/>
          </p:cNvSpPr>
          <p:nvPr/>
        </p:nvSpPr>
        <p:spPr>
          <a:xfrm xmlns:a="http://schemas.openxmlformats.org/drawingml/2006/main">
            <a:off x="12573000" y="3305556"/>
            <a:ext cx="21241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LogReg</a:t>
            </a:r>
          </a:p>
        </p:txBody>
      </p:sp>
      <p:sp>
        <p:nvSpPr>
          <p:cNvPr id="20" name="Text 15">
            <a:extLst xmlns:a="http://schemas.openxmlformats.org/drawingml/2006/main">
              <a:ext uri="{FF2B5EF4-FFF2-40B4-BE49-F238E27FC236}">
                <a16:creationId xmlns:a16="http://schemas.microsoft.com/office/drawing/2014/main" id="{A3252D90-344E-4852-B0CE-9147B4D70AD6}"/>
              </a:ext>
            </a:extLst>
          </p:cNvPr>
          <p:cNvSpPr>
            <a:spLocks xmlns:a="http://schemas.openxmlformats.org/drawingml/2006/main" noGrp="1"/>
          </p:cNvSpPr>
          <p:nvPr/>
        </p:nvSpPr>
        <p:spPr>
          <a:xfrm xmlns:a="http://schemas.openxmlformats.org/drawingml/2006/main">
            <a:off x="12573000" y="3495751"/>
            <a:ext cx="2124151"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263</a:t>
            </a:r>
          </a:p>
        </p:txBody>
      </p:sp>
      <p:sp>
        <p:nvSpPr>
          <p:cNvPr id="21" name="Text 16">
            <a:extLst xmlns:a="http://schemas.openxmlformats.org/drawingml/2006/main">
              <a:ext uri="{FF2B5EF4-FFF2-40B4-BE49-F238E27FC236}">
                <a16:creationId xmlns:a16="http://schemas.microsoft.com/office/drawing/2014/main" id="{5FA7F80C-D6DD-41A8-A5BE-A8BE558BEB6B}"/>
              </a:ext>
            </a:extLst>
          </p:cNvPr>
          <p:cNvSpPr>
            <a:spLocks xmlns:a="http://schemas.openxmlformats.org/drawingml/2006/main" noGrp="1"/>
          </p:cNvSpPr>
          <p:nvPr/>
        </p:nvSpPr>
        <p:spPr>
          <a:xfrm xmlns:a="http://schemas.openxmlformats.org/drawingml/2006/main">
            <a:off x="12573000" y="3895344"/>
            <a:ext cx="2124151"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true at-risk found</a:t>
            </a:r>
          </a:p>
        </p:txBody>
      </p:sp>
      <p:sp>
        <p:nvSpPr>
          <p:cNvPr id="22" name="Text 17">
            <a:extLst xmlns:a="http://schemas.openxmlformats.org/drawingml/2006/main">
              <a:ext uri="{FF2B5EF4-FFF2-40B4-BE49-F238E27FC236}">
                <a16:creationId xmlns:a16="http://schemas.microsoft.com/office/drawing/2014/main" id="{27683651-B785-4276-AD6B-9F0B0C0421DD}"/>
              </a:ext>
            </a:extLst>
          </p:cNvPr>
          <p:cNvSpPr>
            <a:spLocks xmlns:a="http://schemas.openxmlformats.org/drawingml/2006/main" noGrp="1"/>
          </p:cNvSpPr>
          <p:nvPr/>
        </p:nvSpPr>
        <p:spPr>
          <a:xfrm xmlns:a="http://schemas.openxmlformats.org/drawingml/2006/main">
            <a:off x="14973300" y="3305556"/>
            <a:ext cx="22677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a:t>
            </a:r>
          </a:p>
        </p:txBody>
      </p:sp>
      <p:sp>
        <p:nvSpPr>
          <p:cNvPr id="23" name="Text 18">
            <a:extLst xmlns:a="http://schemas.openxmlformats.org/drawingml/2006/main">
              <a:ext uri="{FF2B5EF4-FFF2-40B4-BE49-F238E27FC236}">
                <a16:creationId xmlns:a16="http://schemas.microsoft.com/office/drawing/2014/main" id="{A99E789C-0553-4ABB-9F60-B3E01AFE3534}"/>
              </a:ext>
            </a:extLst>
          </p:cNvPr>
          <p:cNvSpPr>
            <a:spLocks xmlns:a="http://schemas.openxmlformats.org/drawingml/2006/main" noGrp="1"/>
          </p:cNvSpPr>
          <p:nvPr/>
        </p:nvSpPr>
        <p:spPr>
          <a:xfrm xmlns:a="http://schemas.openxmlformats.org/drawingml/2006/main">
            <a:off x="14973300" y="3495751"/>
            <a:ext cx="226771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224</a:t>
            </a:r>
          </a:p>
        </p:txBody>
      </p:sp>
      <p:sp>
        <p:nvSpPr>
          <p:cNvPr id="24" name="Text 19">
            <a:extLst xmlns:a="http://schemas.openxmlformats.org/drawingml/2006/main">
              <a:ext uri="{FF2B5EF4-FFF2-40B4-BE49-F238E27FC236}">
                <a16:creationId xmlns:a16="http://schemas.microsoft.com/office/drawing/2014/main" id="{E1D6DAEE-6EAF-4FA4-9677-CB3B452DA3B8}"/>
              </a:ext>
            </a:extLst>
          </p:cNvPr>
          <p:cNvSpPr>
            <a:spLocks xmlns:a="http://schemas.openxmlformats.org/drawingml/2006/main" noGrp="1"/>
          </p:cNvSpPr>
          <p:nvPr/>
        </p:nvSpPr>
        <p:spPr>
          <a:xfrm xmlns:a="http://schemas.openxmlformats.org/drawingml/2006/main">
            <a:off x="14973300" y="3895344"/>
            <a:ext cx="2267712"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true at-risk found</a:t>
            </a:r>
          </a:p>
        </p:txBody>
      </p:sp>
      <p:sp>
        <p:nvSpPr>
          <p:cNvPr id="25" name="Shape 20">
            <a:extLst xmlns:a="http://schemas.openxmlformats.org/drawingml/2006/main">
              <a:ext uri="{FF2B5EF4-FFF2-40B4-BE49-F238E27FC236}">
                <a16:creationId xmlns:a16="http://schemas.microsoft.com/office/drawing/2014/main" id="{C593C498-4340-4359-855F-2E9BF7353129}"/>
              </a:ext>
            </a:extLst>
          </p:cNvPr>
          <p:cNvSpPr>
            <a:spLocks xmlns:a="http://schemas.openxmlformats.org/drawingml/2006/main" noGrp="1"/>
          </p:cNvSpPr>
          <p:nvPr/>
        </p:nvSpPr>
        <p:spPr>
          <a:xfrm xmlns:a="http://schemas.openxmlformats.org/drawingml/2006/main">
            <a:off x="12573000" y="422910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6" name="Text 21">
            <a:extLst xmlns:a="http://schemas.openxmlformats.org/drawingml/2006/main">
              <a:ext uri="{FF2B5EF4-FFF2-40B4-BE49-F238E27FC236}">
                <a16:creationId xmlns:a16="http://schemas.microsoft.com/office/drawing/2014/main" id="{48F51D5C-2204-4E85-B216-F8586B1DA59E}"/>
              </a:ext>
            </a:extLst>
          </p:cNvPr>
          <p:cNvSpPr>
            <a:spLocks xmlns:a="http://schemas.openxmlformats.org/drawingml/2006/main" noGrp="1"/>
          </p:cNvSpPr>
          <p:nvPr/>
        </p:nvSpPr>
        <p:spPr>
          <a:xfrm xmlns:a="http://schemas.openxmlformats.org/drawingml/2006/main">
            <a:off x="12573000"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ALERTS</a:t>
            </a:r>
          </a:p>
        </p:txBody>
      </p:sp>
      <p:sp>
        <p:nvSpPr>
          <p:cNvPr id="27" name="Text 22">
            <a:extLst xmlns:a="http://schemas.openxmlformats.org/drawingml/2006/main">
              <a:ext uri="{FF2B5EF4-FFF2-40B4-BE49-F238E27FC236}">
                <a16:creationId xmlns:a16="http://schemas.microsoft.com/office/drawing/2014/main" id="{1EC04B28-D506-4B73-BAE9-7AD0C6DFCEE8}"/>
              </a:ext>
            </a:extLst>
          </p:cNvPr>
          <p:cNvSpPr>
            <a:spLocks xmlns:a="http://schemas.openxmlformats.org/drawingml/2006/main" noGrp="1"/>
          </p:cNvSpPr>
          <p:nvPr/>
        </p:nvSpPr>
        <p:spPr>
          <a:xfrm xmlns:a="http://schemas.openxmlformats.org/drawingml/2006/main">
            <a:off x="12573000"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344</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295</a:t>
            </a:r>
          </a:p>
        </p:txBody>
      </p:sp>
      <p:sp>
        <p:nvSpPr>
          <p:cNvPr id="28" name="Text 23">
            <a:extLst xmlns:a="http://schemas.openxmlformats.org/drawingml/2006/main">
              <a:ext uri="{FF2B5EF4-FFF2-40B4-BE49-F238E27FC236}">
                <a16:creationId xmlns:a16="http://schemas.microsoft.com/office/drawing/2014/main" id="{0E2FA28C-2997-45CA-8C2F-3FFA7DC70B3B}"/>
              </a:ext>
            </a:extLst>
          </p:cNvPr>
          <p:cNvSpPr>
            <a:spLocks xmlns:a="http://schemas.openxmlformats.org/drawingml/2006/main" noGrp="1"/>
          </p:cNvSpPr>
          <p:nvPr/>
        </p:nvSpPr>
        <p:spPr>
          <a:xfrm xmlns:a="http://schemas.openxmlformats.org/drawingml/2006/main">
            <a:off x="14166799"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FALSE</a:t>
            </a:r>
          </a:p>
        </p:txBody>
      </p:sp>
      <p:sp>
        <p:nvSpPr>
          <p:cNvPr id="29" name="Text 24">
            <a:extLst xmlns:a="http://schemas.openxmlformats.org/drawingml/2006/main">
              <a:ext uri="{FF2B5EF4-FFF2-40B4-BE49-F238E27FC236}">
                <a16:creationId xmlns:a16="http://schemas.microsoft.com/office/drawing/2014/main" id="{6DD486D4-DFCB-41F7-90E7-76E3600A7CBF}"/>
              </a:ext>
            </a:extLst>
          </p:cNvPr>
          <p:cNvSpPr>
            <a:spLocks xmlns:a="http://schemas.openxmlformats.org/drawingml/2006/main" noGrp="1"/>
          </p:cNvSpPr>
          <p:nvPr/>
        </p:nvSpPr>
        <p:spPr>
          <a:xfrm xmlns:a="http://schemas.openxmlformats.org/drawingml/2006/main">
            <a:off x="14166799"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80</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72</a:t>
            </a:r>
          </a:p>
        </p:txBody>
      </p:sp>
      <p:sp>
        <p:nvSpPr>
          <p:cNvPr id="30" name="Text 25">
            <a:extLst xmlns:a="http://schemas.openxmlformats.org/drawingml/2006/main">
              <a:ext uri="{FF2B5EF4-FFF2-40B4-BE49-F238E27FC236}">
                <a16:creationId xmlns:a16="http://schemas.microsoft.com/office/drawing/2014/main" id="{B429133B-C3B6-47DA-A43D-57BB2F3EA178}"/>
              </a:ext>
            </a:extLst>
          </p:cNvPr>
          <p:cNvSpPr>
            <a:spLocks xmlns:a="http://schemas.openxmlformats.org/drawingml/2006/main" noGrp="1"/>
          </p:cNvSpPr>
          <p:nvPr/>
        </p:nvSpPr>
        <p:spPr>
          <a:xfrm xmlns:a="http://schemas.openxmlformats.org/drawingml/2006/main">
            <a:off x="15760598"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MISSED</a:t>
            </a:r>
          </a:p>
        </p:txBody>
      </p:sp>
      <p:sp>
        <p:nvSpPr>
          <p:cNvPr id="31" name="Text 26">
            <a:extLst xmlns:a="http://schemas.openxmlformats.org/drawingml/2006/main">
              <a:ext uri="{FF2B5EF4-FFF2-40B4-BE49-F238E27FC236}">
                <a16:creationId xmlns:a16="http://schemas.microsoft.com/office/drawing/2014/main" id="{BF0A000D-6F34-45AD-B1F0-DC123275129D}"/>
              </a:ext>
            </a:extLst>
          </p:cNvPr>
          <p:cNvSpPr>
            <a:spLocks xmlns:a="http://schemas.openxmlformats.org/drawingml/2006/main" noGrp="1"/>
          </p:cNvSpPr>
          <p:nvPr/>
        </p:nvSpPr>
        <p:spPr>
          <a:xfrm xmlns:a="http://schemas.openxmlformats.org/drawingml/2006/main">
            <a:off x="15760598"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58</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88</a:t>
            </a:r>
          </a:p>
        </p:txBody>
      </p:sp>
      <p:sp>
        <p:nvSpPr>
          <p:cNvPr id="32" name="Shape 27">
            <a:extLst xmlns:a="http://schemas.openxmlformats.org/drawingml/2006/main">
              <a:ext uri="{FF2B5EF4-FFF2-40B4-BE49-F238E27FC236}">
                <a16:creationId xmlns:a16="http://schemas.microsoft.com/office/drawing/2014/main" id="{D81CBF38-686F-4270-8D0A-8EC064494A57}"/>
              </a:ext>
            </a:extLst>
          </p:cNvPr>
          <p:cNvSpPr>
            <a:spLocks xmlns:a="http://schemas.openxmlformats.org/drawingml/2006/main" noGrp="1"/>
          </p:cNvSpPr>
          <p:nvPr/>
        </p:nvSpPr>
        <p:spPr>
          <a:xfrm xmlns:a="http://schemas.openxmlformats.org/drawingml/2006/main">
            <a:off x="12573000" y="516361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3" name="Text 28">
            <a:extLst xmlns:a="http://schemas.openxmlformats.org/drawingml/2006/main">
              <a:ext uri="{FF2B5EF4-FFF2-40B4-BE49-F238E27FC236}">
                <a16:creationId xmlns:a16="http://schemas.microsoft.com/office/drawing/2014/main" id="{74ECD2FF-C276-4F02-AFBF-374852E86C4B}"/>
              </a:ext>
            </a:extLst>
          </p:cNvPr>
          <p:cNvSpPr>
            <a:spLocks xmlns:a="http://schemas.openxmlformats.org/drawingml/2006/main" noGrp="1"/>
          </p:cNvSpPr>
          <p:nvPr/>
        </p:nvSpPr>
        <p:spPr>
          <a:xfrm xmlns:a="http://schemas.openxmlformats.org/drawingml/2006/main">
            <a:off x="12573000" y="5287061"/>
            <a:ext cx="4668012" cy="305410"/>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14300" tIns="0" rIns="114300" bIns="11430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Advisor capacity ≈ </a:t>
            </a:r>
            <a:r>
              <a:rPr sz="1000">
                <a:solidFill>
                  <a:srgbClr val="2A2E4B"/>
                </a:solidFill>
                <a:latin typeface="JetBrains Mono"/>
                <a:ea typeface="JetBrains Mono"/>
                <a:cs typeface="JetBrains Mono"/>
              </a:rPr>
              <a:t>UCI 13.7</a:t>
            </a:r>
            <a:r>
              <a:rPr sz="1000">
                <a:solidFill>
                  <a:srgbClr val="6A6F8C"/>
                </a:solidFill>
                <a:latin typeface="JetBrains Mono"/>
                <a:ea typeface="JetBrains Mono"/>
                <a:cs typeface="JetBrains Mono"/>
              </a:rPr>
              <a:t> / </a:t>
            </a:r>
            <a:r>
              <a:rPr sz="1000">
                <a:solidFill>
                  <a:srgbClr val="2A2E4B"/>
                </a:solidFill>
                <a:latin typeface="JetBrains Mono"/>
                <a:ea typeface="JetBrains Mono"/>
                <a:cs typeface="JetBrains Mono"/>
              </a:rPr>
              <a:t>OULAD 11.8</a:t>
            </a:r>
            <a:r>
              <a:rPr sz="1000">
                <a:solidFill>
                  <a:srgbClr val="6A6F8C"/>
                </a:solidFill>
                <a:latin typeface="JetBrains Mono"/>
                <a:ea typeface="JetBrains Mono"/>
                <a:cs typeface="JetBrains Mono"/>
              </a:rPr>
              <a:t> advisor-weeks per 1,000 students</a:t>
            </a:r>
          </a:p>
        </p:txBody>
      </p:sp>
      <p:sp>
        <p:nvSpPr>
          <p:cNvPr id="34" name="Text 29">
            <a:extLst xmlns:a="http://schemas.openxmlformats.org/drawingml/2006/main">
              <a:ext uri="{FF2B5EF4-FFF2-40B4-BE49-F238E27FC236}">
                <a16:creationId xmlns:a16="http://schemas.microsoft.com/office/drawing/2014/main" id="{AB26ED77-015E-49E0-884E-7EE5A0F79F2A}"/>
              </a:ext>
            </a:extLst>
          </p:cNvPr>
          <p:cNvSpPr>
            <a:spLocks xmlns:a="http://schemas.openxmlformats.org/drawingml/2006/main" noGrp="1"/>
          </p:cNvSpPr>
          <p:nvPr/>
        </p:nvSpPr>
        <p:spPr>
          <a:xfrm xmlns:a="http://schemas.openxmlformats.org/drawingml/2006/main">
            <a:off x="12573000" y="6334049"/>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Illustrative break-even</a:t>
            </a:r>
          </a:p>
        </p:txBody>
      </p:sp>
      <p:sp>
        <p:nvSpPr>
          <p:cNvPr id="35" name="Text 30">
            <a:extLst xmlns:a="http://schemas.openxmlformats.org/drawingml/2006/main">
              <a:ext uri="{FF2B5EF4-FFF2-40B4-BE49-F238E27FC236}">
                <a16:creationId xmlns:a16="http://schemas.microsoft.com/office/drawing/2014/main" id="{1DF25C79-518B-45CF-AB24-6FBAD9604E8C}"/>
              </a:ext>
            </a:extLst>
          </p:cNvPr>
          <p:cNvSpPr>
            <a:spLocks xmlns:a="http://schemas.openxmlformats.org/drawingml/2006/main" noGrp="1"/>
          </p:cNvSpPr>
          <p:nvPr/>
        </p:nvSpPr>
        <p:spPr>
          <a:xfrm xmlns:a="http://schemas.openxmlformats.org/drawingml/2006/main">
            <a:off x="12573000" y="6638544"/>
            <a:ext cx="1133856"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Outreach cost</a:t>
            </a:r>
          </a:p>
        </p:txBody>
      </p:sp>
      <p:sp>
        <p:nvSpPr>
          <p:cNvPr id="36" name="Text 31">
            <a:extLst xmlns:a="http://schemas.openxmlformats.org/drawingml/2006/main">
              <a:ext uri="{FF2B5EF4-FFF2-40B4-BE49-F238E27FC236}">
                <a16:creationId xmlns:a16="http://schemas.microsoft.com/office/drawing/2014/main" id="{571144E8-024C-45C5-BEA3-3792D650F31F}"/>
              </a:ext>
            </a:extLst>
          </p:cNvPr>
          <p:cNvSpPr>
            <a:spLocks xmlns:a="http://schemas.openxmlformats.org/drawingml/2006/main" noGrp="1"/>
          </p:cNvSpPr>
          <p:nvPr/>
        </p:nvSpPr>
        <p:spPr>
          <a:xfrm xmlns:a="http://schemas.openxmlformats.org/drawingml/2006/main">
            <a:off x="12573000" y="6819595"/>
            <a:ext cx="1133856"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$100</a:t>
            </a:r>
          </a:p>
        </p:txBody>
      </p:sp>
      <p:sp>
        <p:nvSpPr>
          <p:cNvPr id="37" name="Text 32">
            <a:extLst xmlns:a="http://schemas.openxmlformats.org/drawingml/2006/main">
              <a:ext uri="{FF2B5EF4-FFF2-40B4-BE49-F238E27FC236}">
                <a16:creationId xmlns:a16="http://schemas.microsoft.com/office/drawing/2014/main" id="{1AF134BC-04AB-470A-AA66-EFBB5DAF4772}"/>
              </a:ext>
            </a:extLst>
          </p:cNvPr>
          <p:cNvSpPr>
            <a:spLocks xmlns:a="http://schemas.openxmlformats.org/drawingml/2006/main" noGrp="1"/>
          </p:cNvSpPr>
          <p:nvPr/>
        </p:nvSpPr>
        <p:spPr>
          <a:xfrm xmlns:a="http://schemas.openxmlformats.org/drawingml/2006/main">
            <a:off x="12573000" y="7105802"/>
            <a:ext cx="11338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per alert</a:t>
            </a:r>
          </a:p>
        </p:txBody>
      </p:sp>
      <p:sp>
        <p:nvSpPr>
          <p:cNvPr id="38" name="Text 33">
            <a:extLst xmlns:a="http://schemas.openxmlformats.org/drawingml/2006/main">
              <a:ext uri="{FF2B5EF4-FFF2-40B4-BE49-F238E27FC236}">
                <a16:creationId xmlns:a16="http://schemas.microsoft.com/office/drawing/2014/main" id="{6E0F9627-858C-4671-ACE2-088B3D473BB8}"/>
              </a:ext>
            </a:extLst>
          </p:cNvPr>
          <p:cNvSpPr>
            <a:spLocks xmlns:a="http://schemas.openxmlformats.org/drawingml/2006/main" noGrp="1"/>
          </p:cNvSpPr>
          <p:nvPr/>
        </p:nvSpPr>
        <p:spPr>
          <a:xfrm xmlns:a="http://schemas.openxmlformats.org/drawingml/2006/main">
            <a:off x="13929055" y="6638544"/>
            <a:ext cx="1219810"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Retained value</a:t>
            </a:r>
          </a:p>
        </p:txBody>
      </p:sp>
      <p:sp>
        <p:nvSpPr>
          <p:cNvPr id="39" name="Text 34">
            <a:extLst xmlns:a="http://schemas.openxmlformats.org/drawingml/2006/main">
              <a:ext uri="{FF2B5EF4-FFF2-40B4-BE49-F238E27FC236}">
                <a16:creationId xmlns:a16="http://schemas.microsoft.com/office/drawing/2014/main" id="{4EBAD39F-B094-40D6-BAA2-5377E3415ABD}"/>
              </a:ext>
            </a:extLst>
          </p:cNvPr>
          <p:cNvSpPr>
            <a:spLocks xmlns:a="http://schemas.openxmlformats.org/drawingml/2006/main" noGrp="1"/>
          </p:cNvSpPr>
          <p:nvPr/>
        </p:nvSpPr>
        <p:spPr>
          <a:xfrm xmlns:a="http://schemas.openxmlformats.org/drawingml/2006/main">
            <a:off x="13929055" y="6819595"/>
            <a:ext cx="1219810"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$6,000</a:t>
            </a:r>
          </a:p>
        </p:txBody>
      </p:sp>
      <p:sp>
        <p:nvSpPr>
          <p:cNvPr id="40" name="Text 35">
            <a:extLst xmlns:a="http://schemas.openxmlformats.org/drawingml/2006/main">
              <a:ext uri="{FF2B5EF4-FFF2-40B4-BE49-F238E27FC236}">
                <a16:creationId xmlns:a16="http://schemas.microsoft.com/office/drawing/2014/main" id="{0A205306-6F3C-4FE1-B0D8-10DD45DD483B}"/>
              </a:ext>
            </a:extLst>
          </p:cNvPr>
          <p:cNvSpPr>
            <a:spLocks xmlns:a="http://schemas.openxmlformats.org/drawingml/2006/main" noGrp="1"/>
          </p:cNvSpPr>
          <p:nvPr/>
        </p:nvSpPr>
        <p:spPr>
          <a:xfrm xmlns:a="http://schemas.openxmlformats.org/drawingml/2006/main">
            <a:off x="13929055" y="7105802"/>
            <a:ext cx="1219810"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per student</a:t>
            </a:r>
          </a:p>
        </p:txBody>
      </p:sp>
      <p:sp>
        <p:nvSpPr>
          <p:cNvPr id="41" name="Shape 36">
            <a:extLst xmlns:a="http://schemas.openxmlformats.org/drawingml/2006/main">
              <a:ext uri="{FF2B5EF4-FFF2-40B4-BE49-F238E27FC236}">
                <a16:creationId xmlns:a16="http://schemas.microsoft.com/office/drawing/2014/main" id="{802F7C1C-92D1-4155-9AEC-4EA60FF43218}"/>
              </a:ext>
            </a:extLst>
          </p:cNvPr>
          <p:cNvSpPr>
            <a:spLocks xmlns:a="http://schemas.openxmlformats.org/drawingml/2006/main" noGrp="1"/>
          </p:cNvSpPr>
          <p:nvPr/>
        </p:nvSpPr>
        <p:spPr>
          <a:xfrm xmlns:a="http://schemas.openxmlformats.org/drawingml/2006/main">
            <a:off x="12573000" y="7477049"/>
            <a:ext cx="46670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2" name="Text 37">
            <a:extLst xmlns:a="http://schemas.openxmlformats.org/drawingml/2006/main">
              <a:ext uri="{FF2B5EF4-FFF2-40B4-BE49-F238E27FC236}">
                <a16:creationId xmlns:a16="http://schemas.microsoft.com/office/drawing/2014/main" id="{5F0E9ADD-59E3-498E-B72F-7B26E0D99575}"/>
              </a:ext>
            </a:extLst>
          </p:cNvPr>
          <p:cNvSpPr>
            <a:spLocks xmlns:a="http://schemas.openxmlformats.org/drawingml/2006/main" noGrp="1"/>
          </p:cNvSpPr>
          <p:nvPr/>
        </p:nvSpPr>
        <p:spPr>
          <a:xfrm xmlns:a="http://schemas.openxmlformats.org/drawingml/2006/main">
            <a:off x="12573000" y="7658100"/>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Illustrative break-even</a:t>
            </a:r>
          </a:p>
        </p:txBody>
      </p:sp>
      <p:sp>
        <p:nvSpPr>
          <p:cNvPr id="43" name="Text 38">
            <a:extLst xmlns:a="http://schemas.openxmlformats.org/drawingml/2006/main">
              <a:ext uri="{FF2B5EF4-FFF2-40B4-BE49-F238E27FC236}">
                <a16:creationId xmlns:a16="http://schemas.microsoft.com/office/drawing/2014/main" id="{281FDC00-755E-4027-A7A7-0605C44DB36E}"/>
              </a:ext>
            </a:extLst>
          </p:cNvPr>
          <p:cNvSpPr>
            <a:spLocks xmlns:a="http://schemas.openxmlformats.org/drawingml/2006/main" noGrp="1"/>
          </p:cNvSpPr>
          <p:nvPr/>
        </p:nvSpPr>
        <p:spPr>
          <a:xfrm xmlns:a="http://schemas.openxmlformats.org/drawingml/2006/main">
            <a:off x="12573000" y="7867498"/>
            <a:ext cx="466801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FF5CA0"/>
                </a:solidFill>
                <a:latin typeface="Inter"/>
                <a:ea typeface="Inter"/>
                <a:cs typeface="Inter"/>
              </a:rPr>
              <a:t>5–6</a:t>
            </a:r>
            <a:r>
              <a:rPr sz="1600" b="1">
                <a:solidFill>
                  <a:srgbClr val="FFFFFF"/>
                </a:solidFill>
                <a:latin typeface="Inter"/>
                <a:ea typeface="Inter"/>
                <a:cs typeface="Inter"/>
              </a:rPr>
              <a:t> additional retentions per </a:t>
            </a:r>
            <a:r>
              <a:rPr sz="1600" b="1">
                <a:solidFill>
                  <a:srgbClr val="FF5CA0"/>
                </a:solidFill>
                <a:latin typeface="Inter"/>
                <a:ea typeface="Inter"/>
                <a:cs typeface="Inter"/>
              </a:rPr>
              <a:t>1,000</a:t>
            </a:r>
            <a:r>
              <a:rPr sz="1600" b="1">
                <a:solidFill>
                  <a:srgbClr val="FFFFFF"/>
                </a:solidFill>
                <a:latin typeface="Inter"/>
                <a:ea typeface="Inter"/>
                <a:cs typeface="Inter"/>
              </a:rPr>
              <a:t> would offset alert cost.</a:t>
            </a:r>
          </a:p>
        </p:txBody>
      </p:sp>
      <p:sp>
        <p:nvSpPr>
          <p:cNvPr id="44" name="Text 39">
            <a:extLst xmlns:a="http://schemas.openxmlformats.org/drawingml/2006/main">
              <a:ext uri="{FF2B5EF4-FFF2-40B4-BE49-F238E27FC236}">
                <a16:creationId xmlns:a16="http://schemas.microsoft.com/office/drawing/2014/main" id="{32C63D70-5D68-426A-A910-9D159A57A3F2}"/>
              </a:ext>
            </a:extLst>
          </p:cNvPr>
          <p:cNvSpPr>
            <a:spLocks xmlns:a="http://schemas.openxmlformats.org/drawingml/2006/main" noGrp="1"/>
          </p:cNvSpPr>
          <p:nvPr/>
        </p:nvSpPr>
        <p:spPr>
          <a:xfrm xmlns:a="http://schemas.openxmlformats.org/drawingml/2006/main">
            <a:off x="12573000" y="8549640"/>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Not a guaranteed ROI — depends on intervention effectiveness.</a:t>
            </a:r>
          </a:p>
        </p:txBody>
      </p:sp>
    </p:spTree>
    <p:extLst>
      <p:ext uri="{BB962C8B-B14F-4D97-AF65-F5344CB8AC3E}">
        <p14:creationId xmlns:p14="http://schemas.microsoft.com/office/powerpoint/2010/main" val="1579045319"/>
      </p:ext>
    </p:extLst>
  </p:cSld>
</p:sld>
</file>

<file path=ppt/slides/slide1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5882b1072469473a"/>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6AD2C79D-7E18-4C48-A861-825DC6E7F08F}"/>
              </a:ext>
            </a:extLst>
          </p:cNvPr>
          <p:cNvSpPr>
            <a:spLocks xmlns:a="http://schemas.openxmlformats.org/drawingml/2006/main" noGrp="1"/>
          </p:cNvSpPr>
          <p:nvPr/>
        </p:nvSpPr>
        <p:spPr>
          <a:xfrm xmlns:a="http://schemas.openxmlformats.org/drawingml/2006/main">
            <a:off x="761695"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56A2DAA-94B4-4146-A093-CEC7C56866D4}"/>
              </a:ext>
            </a:extLst>
          </p:cNvPr>
          <p:cNvSpPr>
            <a:spLocks xmlns:a="http://schemas.openxmlformats.org/drawingml/2006/main" noGrp="1"/>
          </p:cNvSpPr>
          <p:nvPr/>
        </p:nvSpPr>
        <p:spPr>
          <a:xfrm xmlns:a="http://schemas.openxmlformats.org/drawingml/2006/main">
            <a:off x="761695" y="2476195"/>
            <a:ext cx="8305495" cy="38405"/>
          </a:xfrm>
          <a:prstGeom xmlns:a="http://schemas.openxmlformats.org/drawingml/2006/main" prst="roundRect">
            <a:avLst>
              <a:gd name="adj" fmla="val 50000"/>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6" name="Shape 2">
            <a:extLst xmlns:a="http://schemas.openxmlformats.org/drawingml/2006/main">
              <a:ext uri="{FF2B5EF4-FFF2-40B4-BE49-F238E27FC236}">
                <a16:creationId xmlns:a16="http://schemas.microsoft.com/office/drawing/2014/main" id="{08A5ED76-F7C5-46E7-A7C5-EBEA95624A46}"/>
              </a:ext>
            </a:extLst>
          </p:cNvPr>
          <p:cNvSpPr>
            <a:spLocks xmlns:a="http://schemas.openxmlformats.org/drawingml/2006/main" noGrp="1"/>
          </p:cNvSpPr>
          <p:nvPr/>
        </p:nvSpPr>
        <p:spPr>
          <a:xfrm xmlns:a="http://schemas.openxmlformats.org/drawingml/2006/main">
            <a:off x="9239098"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2054AB1-AB9A-40AC-8B2A-70B6254E27C1}"/>
              </a:ext>
            </a:extLst>
          </p:cNvPr>
          <p:cNvSpPr>
            <a:spLocks xmlns:a="http://schemas.openxmlformats.org/drawingml/2006/main" noGrp="1"/>
          </p:cNvSpPr>
          <p:nvPr/>
        </p:nvSpPr>
        <p:spPr>
          <a:xfrm xmlns:a="http://schemas.openxmlformats.org/drawingml/2006/main">
            <a:off x="9239098" y="2476195"/>
            <a:ext cx="8305495" cy="38405"/>
          </a:xfrm>
          <a:prstGeom xmlns:a="http://schemas.openxmlformats.org/drawingml/2006/main" prst="roundRect">
            <a:avLst>
              <a:gd name="adj" fmla="val 50000"/>
            </a:avLst>
          </a:prstGeom>
          <a:solidFill xmlns:a="http://schemas.openxmlformats.org/drawingml/2006/main">
            <a:srgbClr val="E8A93A"/>
          </a:solidFill>
          <a:ln xmlns:a="http://schemas.openxmlformats.org/drawingml/2006/main" w="12700">
            <a:solidFill>
              <a:srgbClr val="E8A93A">
                <a:alpha val="0"/>
              </a:srgbClr>
            </a:solidFill>
            <a:prstDash val="solid"/>
          </a:ln>
        </p:spPr>
      </p:sp>
      <p:sp>
        <p:nvSpPr>
          <p:cNvPr id="8" name="Shape 4">
            <a:extLst xmlns:a="http://schemas.openxmlformats.org/drawingml/2006/main">
              <a:ext uri="{FF2B5EF4-FFF2-40B4-BE49-F238E27FC236}">
                <a16:creationId xmlns:a16="http://schemas.microsoft.com/office/drawing/2014/main" id="{49ED4AD8-5BD7-456F-B7A2-A359B061B6AD}"/>
              </a:ext>
            </a:extLst>
          </p:cNvPr>
          <p:cNvSpPr>
            <a:spLocks xmlns:a="http://schemas.openxmlformats.org/drawingml/2006/main" noGrp="1"/>
          </p:cNvSpPr>
          <p:nvPr/>
        </p:nvSpPr>
        <p:spPr>
          <a:xfrm xmlns:a="http://schemas.openxmlformats.org/drawingml/2006/main">
            <a:off x="761695"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656F918D-3BE7-4F1C-BCCD-F260A5FAD869}"/>
              </a:ext>
            </a:extLst>
          </p:cNvPr>
          <p:cNvSpPr>
            <a:spLocks xmlns:a="http://schemas.openxmlformats.org/drawingml/2006/main" noGrp="1"/>
          </p:cNvSpPr>
          <p:nvPr/>
        </p:nvSpPr>
        <p:spPr>
          <a:xfrm xmlns:a="http://schemas.openxmlformats.org/drawingml/2006/main">
            <a:off x="761695" y="6048756"/>
            <a:ext cx="8305495" cy="38405"/>
          </a:xfrm>
          <a:prstGeom xmlns:a="http://schemas.openxmlformats.org/drawingml/2006/main" prst="roundRect">
            <a:avLst>
              <a:gd name="adj" fmla="val 50000"/>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10" name="Shape 6">
            <a:extLst xmlns:a="http://schemas.openxmlformats.org/drawingml/2006/main">
              <a:ext uri="{FF2B5EF4-FFF2-40B4-BE49-F238E27FC236}">
                <a16:creationId xmlns:a16="http://schemas.microsoft.com/office/drawing/2014/main" id="{FDF02A82-552C-406A-BCDF-5E73D526A4AD}"/>
              </a:ext>
            </a:extLst>
          </p:cNvPr>
          <p:cNvSpPr>
            <a:spLocks xmlns:a="http://schemas.openxmlformats.org/drawingml/2006/main" noGrp="1"/>
          </p:cNvSpPr>
          <p:nvPr/>
        </p:nvSpPr>
        <p:spPr>
          <a:xfrm xmlns:a="http://schemas.openxmlformats.org/drawingml/2006/main">
            <a:off x="9239098"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11" name="Shape 7">
            <a:extLst xmlns:a="http://schemas.openxmlformats.org/drawingml/2006/main">
              <a:ext uri="{FF2B5EF4-FFF2-40B4-BE49-F238E27FC236}">
                <a16:creationId xmlns:a16="http://schemas.microsoft.com/office/drawing/2014/main" id="{D3F8E897-13ED-4251-A244-F2B78C27B8EC}"/>
              </a:ext>
            </a:extLst>
          </p:cNvPr>
          <p:cNvSpPr>
            <a:spLocks xmlns:a="http://schemas.openxmlformats.org/drawingml/2006/main" noGrp="1"/>
          </p:cNvSpPr>
          <p:nvPr/>
        </p:nvSpPr>
        <p:spPr>
          <a:xfrm xmlns:a="http://schemas.openxmlformats.org/drawingml/2006/main">
            <a:off x="9239098" y="6048756"/>
            <a:ext cx="8305495" cy="38405"/>
          </a:xfrm>
          <a:prstGeom xmlns:a="http://schemas.openxmlformats.org/drawingml/2006/main" prst="roundRect">
            <a:avLst>
              <a:gd name="adj" fmla="val 50000"/>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12" name="Text 8">
            <a:extLst xmlns:a="http://schemas.openxmlformats.org/drawingml/2006/main">
              <a:ext uri="{FF2B5EF4-FFF2-40B4-BE49-F238E27FC236}">
                <a16:creationId xmlns:a16="http://schemas.microsoft.com/office/drawing/2014/main" id="{425753AB-B233-4059-85CB-37D4A1278D4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07 · Challenges &amp; limitations</a:t>
            </a:r>
          </a:p>
        </p:txBody>
      </p:sp>
      <p:sp>
        <p:nvSpPr>
          <p:cNvPr id="13" name="Text 9">
            <a:extLst xmlns:a="http://schemas.openxmlformats.org/drawingml/2006/main">
              <a:ext uri="{FF2B5EF4-FFF2-40B4-BE49-F238E27FC236}">
                <a16:creationId xmlns:a16="http://schemas.microsoft.com/office/drawing/2014/main" id="{42BD94A9-EDFD-4217-932C-326EFA78F607}"/>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 20</a:t>
            </a:r>
          </a:p>
        </p:txBody>
      </p:sp>
      <p:sp>
        <p:nvSpPr>
          <p:cNvPr id="14" name="Text 10">
            <a:extLst xmlns:a="http://schemas.openxmlformats.org/drawingml/2006/main">
              <a:ext uri="{FF2B5EF4-FFF2-40B4-BE49-F238E27FC236}">
                <a16:creationId xmlns:a16="http://schemas.microsoft.com/office/drawing/2014/main" id="{07729B98-68DF-4073-975C-848A6ADDD93E}"/>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Four caveats to state before any pilot.</a:t>
            </a:r>
          </a:p>
        </p:txBody>
      </p:sp>
      <p:sp>
        <p:nvSpPr>
          <p:cNvPr id="15" name="Text 11">
            <a:extLst xmlns:a="http://schemas.openxmlformats.org/drawingml/2006/main">
              <a:ext uri="{FF2B5EF4-FFF2-40B4-BE49-F238E27FC236}">
                <a16:creationId xmlns:a16="http://schemas.microsoft.com/office/drawing/2014/main" id="{768A074E-2E8D-4EEA-A19E-2D4A7EEA619B}"/>
              </a:ext>
            </a:extLst>
          </p:cNvPr>
          <p:cNvSpPr>
            <a:spLocks xmlns:a="http://schemas.openxmlformats.org/drawingml/2006/main" noGrp="1"/>
          </p:cNvSpPr>
          <p:nvPr/>
        </p:nvSpPr>
        <p:spPr>
          <a:xfrm xmlns:a="http://schemas.openxmlformats.org/drawingml/2006/main">
            <a:off x="1143000"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01</a:t>
            </a:r>
          </a:p>
        </p:txBody>
      </p:sp>
      <p:sp>
        <p:nvSpPr>
          <p:cNvPr id="16" name="Text 12">
            <a:extLst xmlns:a="http://schemas.openxmlformats.org/drawingml/2006/main">
              <a:ext uri="{FF2B5EF4-FFF2-40B4-BE49-F238E27FC236}">
                <a16:creationId xmlns:a16="http://schemas.microsoft.com/office/drawing/2014/main" id="{8725D395-9B4C-47F1-AC1B-003A1B414309}"/>
              </a:ext>
            </a:extLst>
          </p:cNvPr>
          <p:cNvSpPr>
            <a:spLocks xmlns:a="http://schemas.openxmlformats.org/drawingml/2006/main" noGrp="1"/>
          </p:cNvSpPr>
          <p:nvPr/>
        </p:nvSpPr>
        <p:spPr>
          <a:xfrm xmlns:a="http://schemas.openxmlformats.org/drawingml/2006/main">
            <a:off x="1687982" y="2924251"/>
            <a:ext cx="20674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External comparability</a:t>
            </a:r>
          </a:p>
        </p:txBody>
      </p:sp>
      <p:sp>
        <p:nvSpPr>
          <p:cNvPr id="17" name="Text 13">
            <a:extLst xmlns:a="http://schemas.openxmlformats.org/drawingml/2006/main">
              <a:ext uri="{FF2B5EF4-FFF2-40B4-BE49-F238E27FC236}">
                <a16:creationId xmlns:a16="http://schemas.microsoft.com/office/drawing/2014/main" id="{A6424C08-3A3F-482A-A94F-2595C6EB3DB6}"/>
              </a:ext>
            </a:extLst>
          </p:cNvPr>
          <p:cNvSpPr>
            <a:spLocks xmlns:a="http://schemas.openxmlformats.org/drawingml/2006/main" noGrp="1"/>
          </p:cNvSpPr>
          <p:nvPr/>
        </p:nvSpPr>
        <p:spPr>
          <a:xfrm xmlns:a="http://schemas.openxmlformats.org/drawingml/2006/main">
            <a:off x="1143000" y="3247949"/>
            <a:ext cx="7525512"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Our OULAD numbers are not directly comparable to public GitHub baselines.</a:t>
            </a:r>
          </a:p>
        </p:txBody>
      </p:sp>
      <p:sp>
        <p:nvSpPr>
          <p:cNvPr id="18" name="Text 14">
            <a:extLst xmlns:a="http://schemas.openxmlformats.org/drawingml/2006/main">
              <a:ext uri="{FF2B5EF4-FFF2-40B4-BE49-F238E27FC236}">
                <a16:creationId xmlns:a16="http://schemas.microsoft.com/office/drawing/2014/main" id="{6AFE5CBD-909F-455D-8AA7-60CDA5F01139}"/>
              </a:ext>
            </a:extLst>
          </p:cNvPr>
          <p:cNvSpPr>
            <a:spLocks xmlns:a="http://schemas.openxmlformats.org/drawingml/2006/main" noGrp="1"/>
          </p:cNvSpPr>
          <p:nvPr/>
        </p:nvSpPr>
        <p:spPr>
          <a:xfrm xmlns:a="http://schemas.openxmlformats.org/drawingml/2006/main">
            <a:off x="1143000" y="3946550"/>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Our OULAD model predicts </a:t>
            </a:r>
            <a:r>
              <a:rPr sz="1200">
                <a:solidFill>
                  <a:srgbClr val="0F1226"/>
                </a:solidFill>
                <a:latin typeface="Inter"/>
                <a:ea typeface="Inter"/>
                <a:cs typeface="Inter"/>
              </a:rPr>
              <a:t>Withdrawn</a:t>
            </a:r>
            <a:r>
              <a:rPr sz="1200">
                <a:solidFill>
                  <a:srgbClr val="2A2E4B"/>
                </a:solidFill>
                <a:latin typeface="Inter"/>
                <a:ea typeface="Inter"/>
                <a:cs typeface="Inter"/>
              </a:rPr>
              <a:t> vs. all other outcomes on the </a:t>
            </a:r>
            <a:r>
              <a:rPr sz="1200">
                <a:solidFill>
                  <a:srgbClr val="0F1226"/>
                </a:solidFill>
                <a:latin typeface="Inter"/>
                <a:ea typeface="Inter"/>
                <a:cs typeface="Inter"/>
              </a:rPr>
              <a:t>first 75 days</a:t>
            </a:r>
            <a:r>
              <a:rPr sz="1200">
                <a:solidFill>
                  <a:srgbClr val="2A2E4B"/>
                </a:solidFill>
                <a:latin typeface="Inter"/>
                <a:ea typeface="Inter"/>
                <a:cs typeface="Inter"/>
              </a:rPr>
              <a:t>. The referenced GitHub project uses ≈ </a:t>
            </a:r>
            <a:r>
              <a:rPr sz="1200">
                <a:solidFill>
                  <a:srgbClr val="0F1226"/>
                </a:solidFill>
                <a:latin typeface="Inter"/>
                <a:ea typeface="Inter"/>
                <a:cs typeface="Inter"/>
              </a:rPr>
              <a:t>first 14 days</a:t>
            </a:r>
            <a:r>
              <a:rPr sz="1200">
                <a:solidFill>
                  <a:srgbClr val="2A2E4B"/>
                </a:solidFill>
                <a:latin typeface="Inter"/>
                <a:ea typeface="Inter"/>
                <a:cs typeface="Inter"/>
              </a:rPr>
              <a:t>, excludes Withdrawn from its modelling data, and effectively predicts </a:t>
            </a:r>
            <a:r>
              <a:rPr sz="1200">
                <a:solidFill>
                  <a:srgbClr val="0F1226"/>
                </a:solidFill>
                <a:latin typeface="Inter"/>
                <a:ea typeface="Inter"/>
                <a:cs typeface="Inter"/>
              </a:rPr>
              <a:t>Fail</a:t>
            </a:r>
            <a:r>
              <a:rPr sz="1200">
                <a:solidFill>
                  <a:srgbClr val="2A2E4B"/>
                </a:solidFill>
                <a:latin typeface="Inter"/>
                <a:ea typeface="Inter"/>
                <a:cs typeface="Inter"/>
              </a:rPr>
              <a:t> vs. </a:t>
            </a:r>
            <a:r>
              <a:rPr sz="1200">
                <a:solidFill>
                  <a:srgbClr val="0F1226"/>
                </a:solidFill>
                <a:latin typeface="Inter"/>
                <a:ea typeface="Inter"/>
                <a:cs typeface="Inter"/>
              </a:rPr>
              <a:t>Pass/Distinction</a:t>
            </a:r>
            <a:r>
              <a:rPr sz="1200">
                <a:solidFill>
                  <a:srgbClr val="2A2E4B"/>
                </a:solidFill>
                <a:latin typeface="Inter"/>
                <a:ea typeface="Inter"/>
                <a:cs typeface="Inter"/>
              </a:rPr>
              <a:t>. Metrics are not directly comparable. See references [7]–[8] in the appendix.</a:t>
            </a:r>
          </a:p>
        </p:txBody>
      </p:sp>
      <p:sp>
        <p:nvSpPr>
          <p:cNvPr id="19" name="Text 15">
            <a:extLst xmlns:a="http://schemas.openxmlformats.org/drawingml/2006/main">
              <a:ext uri="{FF2B5EF4-FFF2-40B4-BE49-F238E27FC236}">
                <a16:creationId xmlns:a16="http://schemas.microsoft.com/office/drawing/2014/main" id="{252767BC-C64B-4C9E-964A-2E2028C42C34}"/>
              </a:ext>
            </a:extLst>
          </p:cNvPr>
          <p:cNvSpPr>
            <a:spLocks xmlns:a="http://schemas.openxmlformats.org/drawingml/2006/main" noGrp="1"/>
          </p:cNvSpPr>
          <p:nvPr/>
        </p:nvSpPr>
        <p:spPr>
          <a:xfrm xmlns:a="http://schemas.openxmlformats.org/drawingml/2006/main">
            <a:off x="9620402"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8A93A"/>
                </a:solidFill>
                <a:latin typeface="JetBrains Mono"/>
                <a:ea typeface="JetBrains Mono"/>
                <a:cs typeface="JetBrains Mono"/>
              </a:rPr>
              <a:t>02</a:t>
            </a:r>
          </a:p>
        </p:txBody>
      </p:sp>
      <p:sp>
        <p:nvSpPr>
          <p:cNvPr id="20" name="Text 16">
            <a:extLst xmlns:a="http://schemas.openxmlformats.org/drawingml/2006/main">
              <a:ext uri="{FF2B5EF4-FFF2-40B4-BE49-F238E27FC236}">
                <a16:creationId xmlns:a16="http://schemas.microsoft.com/office/drawing/2014/main" id="{0E2FB221-93E7-4BF8-BDCB-26B1C4CE13F5}"/>
              </a:ext>
            </a:extLst>
          </p:cNvPr>
          <p:cNvSpPr>
            <a:spLocks xmlns:a="http://schemas.openxmlformats.org/drawingml/2006/main" noGrp="1"/>
          </p:cNvSpPr>
          <p:nvPr/>
        </p:nvSpPr>
        <p:spPr>
          <a:xfrm xmlns:a="http://schemas.openxmlformats.org/drawingml/2006/main">
            <a:off x="10165385" y="2924251"/>
            <a:ext cx="25338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Data availability &amp; quality</a:t>
            </a:r>
          </a:p>
        </p:txBody>
      </p:sp>
      <p:sp>
        <p:nvSpPr>
          <p:cNvPr id="21" name="Text 17">
            <a:extLst xmlns:a="http://schemas.openxmlformats.org/drawingml/2006/main">
              <a:ext uri="{FF2B5EF4-FFF2-40B4-BE49-F238E27FC236}">
                <a16:creationId xmlns:a16="http://schemas.microsoft.com/office/drawing/2014/main" id="{6820B339-9699-4EB2-B93D-9866ED5DFB81}"/>
              </a:ext>
            </a:extLst>
          </p:cNvPr>
          <p:cNvSpPr>
            <a:spLocks xmlns:a="http://schemas.openxmlformats.org/drawingml/2006/main" noGrp="1"/>
          </p:cNvSpPr>
          <p:nvPr/>
        </p:nvSpPr>
        <p:spPr>
          <a:xfrm xmlns:a="http://schemas.openxmlformats.org/drawingml/2006/main">
            <a:off x="9620402" y="3247949"/>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Real deployment will rarely be as clean as UCI.</a:t>
            </a:r>
          </a:p>
        </p:txBody>
      </p:sp>
      <p:sp>
        <p:nvSpPr>
          <p:cNvPr id="22" name="Text 18">
            <a:extLst xmlns:a="http://schemas.openxmlformats.org/drawingml/2006/main">
              <a:ext uri="{FF2B5EF4-FFF2-40B4-BE49-F238E27FC236}">
                <a16:creationId xmlns:a16="http://schemas.microsoft.com/office/drawing/2014/main" id="{357826EE-2B55-4AE4-AB59-1AF824266B57}"/>
              </a:ext>
            </a:extLst>
          </p:cNvPr>
          <p:cNvSpPr>
            <a:spLocks xmlns:a="http://schemas.openxmlformats.org/drawingml/2006/main" noGrp="1"/>
          </p:cNvSpPr>
          <p:nvPr/>
        </p:nvSpPr>
        <p:spPr>
          <a:xfrm xmlns:a="http://schemas.openxmlformats.org/drawingml/2006/main">
            <a:off x="9620402" y="3664001"/>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The UCI dataset has no missing values, and </a:t>
            </a:r>
            <a:r>
              <a:rPr sz="1200">
                <a:solidFill>
                  <a:srgbClr val="0F1226"/>
                </a:solidFill>
                <a:latin typeface="Inter"/>
                <a:ea typeface="Inter"/>
                <a:cs typeface="Inter"/>
              </a:rPr>
              <a:t>Enrolled records remain in the binary task</a:t>
            </a:r>
            <a:r>
              <a:rPr sz="1200">
                <a:solidFill>
                  <a:srgbClr val="2A2E4B"/>
                </a:solidFill>
                <a:latin typeface="Inter"/>
                <a:ea typeface="Inter"/>
                <a:cs typeface="Inter"/>
              </a:rPr>
              <a:t> as part of the non-dropout class. Our 10% MCAR simulation, however, shows how real institutional data quality could reduce performance — UCI F1 dropped by 0.040 under that stress test.</a:t>
            </a:r>
          </a:p>
        </p:txBody>
      </p:sp>
      <p:sp>
        <p:nvSpPr>
          <p:cNvPr id="23" name="Text 19">
            <a:extLst xmlns:a="http://schemas.openxmlformats.org/drawingml/2006/main">
              <a:ext uri="{FF2B5EF4-FFF2-40B4-BE49-F238E27FC236}">
                <a16:creationId xmlns:a16="http://schemas.microsoft.com/office/drawing/2014/main" id="{CF305B24-76AF-4ADA-BAC3-EC30E325BC79}"/>
              </a:ext>
            </a:extLst>
          </p:cNvPr>
          <p:cNvSpPr>
            <a:spLocks xmlns:a="http://schemas.openxmlformats.org/drawingml/2006/main" noGrp="1"/>
          </p:cNvSpPr>
          <p:nvPr/>
        </p:nvSpPr>
        <p:spPr>
          <a:xfrm xmlns:a="http://schemas.openxmlformats.org/drawingml/2006/main">
            <a:off x="1143000"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03</a:t>
            </a:r>
          </a:p>
        </p:txBody>
      </p:sp>
      <p:sp>
        <p:nvSpPr>
          <p:cNvPr id="24" name="Text 20">
            <a:extLst xmlns:a="http://schemas.openxmlformats.org/drawingml/2006/main">
              <a:ext uri="{FF2B5EF4-FFF2-40B4-BE49-F238E27FC236}">
                <a16:creationId xmlns:a16="http://schemas.microsoft.com/office/drawing/2014/main" id="{2296A459-CD16-4707-B244-6378283711C0}"/>
              </a:ext>
            </a:extLst>
          </p:cNvPr>
          <p:cNvSpPr>
            <a:spLocks xmlns:a="http://schemas.openxmlformats.org/drawingml/2006/main" noGrp="1"/>
          </p:cNvSpPr>
          <p:nvPr/>
        </p:nvSpPr>
        <p:spPr>
          <a:xfrm xmlns:a="http://schemas.openxmlformats.org/drawingml/2006/main">
            <a:off x="1687982" y="6495898"/>
            <a:ext cx="16002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Fairness &amp; ethics</a:t>
            </a:r>
          </a:p>
        </p:txBody>
      </p:sp>
      <p:sp>
        <p:nvSpPr>
          <p:cNvPr id="25" name="Text 21">
            <a:extLst xmlns:a="http://schemas.openxmlformats.org/drawingml/2006/main">
              <a:ext uri="{FF2B5EF4-FFF2-40B4-BE49-F238E27FC236}">
                <a16:creationId xmlns:a16="http://schemas.microsoft.com/office/drawing/2014/main" id="{30C4A0F6-BE23-4711-9D7B-BBFF4CA7F03E}"/>
              </a:ext>
            </a:extLst>
          </p:cNvPr>
          <p:cNvSpPr>
            <a:spLocks xmlns:a="http://schemas.openxmlformats.org/drawingml/2006/main" noGrp="1"/>
          </p:cNvSpPr>
          <p:nvPr/>
        </p:nvSpPr>
        <p:spPr>
          <a:xfrm xmlns:a="http://schemas.openxmlformats.org/drawingml/2006/main">
            <a:off x="1143000"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A risk score is a probability, not a verdict.</a:t>
            </a:r>
          </a:p>
        </p:txBody>
      </p:sp>
      <p:sp>
        <p:nvSpPr>
          <p:cNvPr id="26" name="Text 22">
            <a:extLst xmlns:a="http://schemas.openxmlformats.org/drawingml/2006/main">
              <a:ext uri="{FF2B5EF4-FFF2-40B4-BE49-F238E27FC236}">
                <a16:creationId xmlns:a16="http://schemas.microsoft.com/office/drawing/2014/main" id="{8615B885-7DB1-41D0-AE74-CF08265E8DB5}"/>
              </a:ext>
            </a:extLst>
          </p:cNvPr>
          <p:cNvSpPr>
            <a:spLocks xmlns:a="http://schemas.openxmlformats.org/drawingml/2006/main" noGrp="1"/>
          </p:cNvSpPr>
          <p:nvPr/>
        </p:nvSpPr>
        <p:spPr>
          <a:xfrm xmlns:a="http://schemas.openxmlformats.org/drawingml/2006/main">
            <a:off x="1143000"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 Monitor recall across gender, disability, scholarship, tuition status.</a:t>
            </a:r>
          </a:p>
          <a:p xmlns:a="http://schemas.openxmlformats.org/drawingml/2006/main">
            <a:pPr marL="0" indent="0" algn="l">
              <a:lnSpc>
                <a:spcPts val="2040"/>
              </a:lnSpc>
              <a:buNone/>
            </a:pPr>
            <a:r>
              <a:rPr sz="1200">
                <a:solidFill>
                  <a:srgbClr val="2A2E4B"/>
                </a:solidFill>
                <a:latin typeface="Inter"/>
                <a:ea typeface="Inter"/>
                <a:cs typeface="Inter"/>
              </a:rPr>
              <a:t>· Restrict access to risk outputs; do not expose raw sensitive fields.</a:t>
            </a:r>
          </a:p>
          <a:p xmlns:a="http://schemas.openxmlformats.org/drawingml/2006/main">
            <a:pPr marL="0" indent="0" algn="l">
              <a:lnSpc>
                <a:spcPts val="2040"/>
              </a:lnSpc>
              <a:buNone/>
            </a:pPr>
            <a:r>
              <a:rPr sz="1200">
                <a:solidFill>
                  <a:srgbClr val="2A2E4B"/>
                </a:solidFill>
                <a:latin typeface="Inter"/>
                <a:ea typeface="Inter"/>
                <a:cs typeface="Inter"/>
              </a:rPr>
              <a:t>· Alerts must trigger support, never sanctions.</a:t>
            </a:r>
          </a:p>
        </p:txBody>
      </p:sp>
      <p:sp>
        <p:nvSpPr>
          <p:cNvPr id="27" name="Text 23">
            <a:extLst xmlns:a="http://schemas.openxmlformats.org/drawingml/2006/main">
              <a:ext uri="{FF2B5EF4-FFF2-40B4-BE49-F238E27FC236}">
                <a16:creationId xmlns:a16="http://schemas.microsoft.com/office/drawing/2014/main" id="{83A96EA2-E606-4126-9767-16EC6F08A8B3}"/>
              </a:ext>
            </a:extLst>
          </p:cNvPr>
          <p:cNvSpPr>
            <a:spLocks xmlns:a="http://schemas.openxmlformats.org/drawingml/2006/main" noGrp="1"/>
          </p:cNvSpPr>
          <p:nvPr/>
        </p:nvSpPr>
        <p:spPr>
          <a:xfrm xmlns:a="http://schemas.openxmlformats.org/drawingml/2006/main">
            <a:off x="9620402"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1B9E8F"/>
                </a:solidFill>
                <a:latin typeface="JetBrains Mono"/>
                <a:ea typeface="JetBrains Mono"/>
                <a:cs typeface="JetBrains Mono"/>
              </a:rPr>
              <a:t>04</a:t>
            </a:r>
          </a:p>
        </p:txBody>
      </p:sp>
      <p:sp>
        <p:nvSpPr>
          <p:cNvPr id="28" name="Text 24">
            <a:extLst xmlns:a="http://schemas.openxmlformats.org/drawingml/2006/main">
              <a:ext uri="{FF2B5EF4-FFF2-40B4-BE49-F238E27FC236}">
                <a16:creationId xmlns:a16="http://schemas.microsoft.com/office/drawing/2014/main" id="{A6D7DD5F-6E36-4E79-B451-1E2B20C3058D}"/>
              </a:ext>
            </a:extLst>
          </p:cNvPr>
          <p:cNvSpPr>
            <a:spLocks xmlns:a="http://schemas.openxmlformats.org/drawingml/2006/main" noGrp="1"/>
          </p:cNvSpPr>
          <p:nvPr/>
        </p:nvSpPr>
        <p:spPr>
          <a:xfrm xmlns:a="http://schemas.openxmlformats.org/drawingml/2006/main">
            <a:off x="10165385" y="6495898"/>
            <a:ext cx="17812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Scalability &amp; scope</a:t>
            </a:r>
          </a:p>
        </p:txBody>
      </p:sp>
      <p:sp>
        <p:nvSpPr>
          <p:cNvPr id="29" name="Text 25">
            <a:extLst xmlns:a="http://schemas.openxmlformats.org/drawingml/2006/main">
              <a:ext uri="{FF2B5EF4-FFF2-40B4-BE49-F238E27FC236}">
                <a16:creationId xmlns:a16="http://schemas.microsoft.com/office/drawing/2014/main" id="{71239952-3978-49F7-87FF-1B6B0B4CBFBB}"/>
              </a:ext>
            </a:extLst>
          </p:cNvPr>
          <p:cNvSpPr>
            <a:spLocks xmlns:a="http://schemas.openxmlformats.org/drawingml/2006/main" noGrp="1"/>
          </p:cNvSpPr>
          <p:nvPr/>
        </p:nvSpPr>
        <p:spPr>
          <a:xfrm xmlns:a="http://schemas.openxmlformats.org/drawingml/2006/main">
            <a:off x="9620402"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Two public datasets ≠ every institution.</a:t>
            </a:r>
          </a:p>
        </p:txBody>
      </p:sp>
      <p:sp>
        <p:nvSpPr>
          <p:cNvPr id="30" name="Text 26">
            <a:extLst xmlns:a="http://schemas.openxmlformats.org/drawingml/2006/main">
              <a:ext uri="{FF2B5EF4-FFF2-40B4-BE49-F238E27FC236}">
                <a16:creationId xmlns:a16="http://schemas.microsoft.com/office/drawing/2014/main" id="{E40A78D9-EF07-4059-9848-4FE997C4AA10}"/>
              </a:ext>
            </a:extLst>
          </p:cNvPr>
          <p:cNvSpPr>
            <a:spLocks xmlns:a="http://schemas.openxmlformats.org/drawingml/2006/main" noGrp="1"/>
          </p:cNvSpPr>
          <p:nvPr/>
        </p:nvSpPr>
        <p:spPr>
          <a:xfrm xmlns:a="http://schemas.openxmlformats.org/drawingml/2006/main">
            <a:off x="9620402"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 UCI is one Portuguese institution; OULAD is one UK distance-learning provider.</a:t>
            </a:r>
          </a:p>
          <a:p xmlns:a="http://schemas.openxmlformats.org/drawingml/2006/main">
            <a:pPr marL="0" indent="0" algn="l">
              <a:lnSpc>
                <a:spcPts val="2040"/>
              </a:lnSpc>
              <a:buNone/>
            </a:pPr>
            <a:r>
              <a:rPr sz="1200">
                <a:solidFill>
                  <a:srgbClr val="2A2E4B"/>
                </a:solidFill>
                <a:latin typeface="Inter"/>
                <a:ea typeface="Inter"/>
                <a:cs typeface="Inter"/>
              </a:rPr>
              <a:t>· Feature semantics do not translate 1-to-1 elsewhere.</a:t>
            </a:r>
          </a:p>
          <a:p xmlns:a="http://schemas.openxmlformats.org/drawingml/2006/main">
            <a:pPr marL="0" indent="0" algn="l">
              <a:lnSpc>
                <a:spcPts val="2040"/>
              </a:lnSpc>
              <a:buNone/>
            </a:pPr>
            <a:r>
              <a:rPr sz="1200">
                <a:solidFill>
                  <a:srgbClr val="2A2E4B"/>
                </a:solidFill>
                <a:latin typeface="Inter"/>
                <a:ea typeface="Inter"/>
                <a:cs typeface="Inter"/>
              </a:rPr>
              <a:t>· Any new institution should re-train and re-calibrate — not re-use these weights.</a:t>
            </a:r>
          </a:p>
        </p:txBody>
      </p:sp>
    </p:spTree>
    <p:extLst>
      <p:ext uri="{BB962C8B-B14F-4D97-AF65-F5344CB8AC3E}">
        <p14:creationId xmlns:p14="http://schemas.microsoft.com/office/powerpoint/2010/main" val="1895381261"/>
      </p:ext>
    </p:extLst>
  </p:cSld>
</p:sld>
</file>

<file path=ppt/slides/slide1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ed44b79b8e3d4246"/>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71E3EDC6-1EC2-4281-9603-EABF22F2E8E5}"/>
              </a:ext>
            </a:extLst>
          </p:cNvPr>
          <p:cNvSpPr>
            <a:spLocks xmlns:a="http://schemas.openxmlformats.org/drawingml/2006/main" noGrp="1"/>
          </p:cNvSpPr>
          <p:nvPr/>
        </p:nvSpPr>
        <p:spPr>
          <a:xfrm xmlns:a="http://schemas.openxmlformats.org/drawingml/2006/main">
            <a:off x="761695" y="2762402"/>
            <a:ext cx="16782898" cy="2638044"/>
          </a:xfrm>
          <a:prstGeom xmlns:a="http://schemas.openxmlformats.org/drawingml/2006/main" prst="roundRect">
            <a:avLst>
              <a:gd name="adj" fmla="val 72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85ED1C3F-814A-4172-A884-53118002F5AE}"/>
              </a:ext>
            </a:extLst>
          </p:cNvPr>
          <p:cNvSpPr>
            <a:spLocks xmlns:a="http://schemas.openxmlformats.org/drawingml/2006/main" noGrp="1"/>
          </p:cNvSpPr>
          <p:nvPr/>
        </p:nvSpPr>
        <p:spPr>
          <a:xfrm xmlns:a="http://schemas.openxmlformats.org/drawingml/2006/main">
            <a:off x="761695"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F2E5D3C-5E28-4A84-91E6-9ED486027B28}"/>
              </a:ext>
            </a:extLst>
          </p:cNvPr>
          <p:cNvSpPr>
            <a:spLocks xmlns:a="http://schemas.openxmlformats.org/drawingml/2006/main" noGrp="1"/>
          </p:cNvSpPr>
          <p:nvPr/>
        </p:nvSpPr>
        <p:spPr>
          <a:xfrm xmlns:a="http://schemas.openxmlformats.org/drawingml/2006/main">
            <a:off x="6400800"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8DDE09C-0C4B-49FE-8EC2-F4D1EB8BD33F}"/>
              </a:ext>
            </a:extLst>
          </p:cNvPr>
          <p:cNvSpPr>
            <a:spLocks xmlns:a="http://schemas.openxmlformats.org/drawingml/2006/main" noGrp="1"/>
          </p:cNvSpPr>
          <p:nvPr/>
        </p:nvSpPr>
        <p:spPr>
          <a:xfrm xmlns:a="http://schemas.openxmlformats.org/drawingml/2006/main">
            <a:off x="12039905" y="5524805"/>
            <a:ext cx="5486400" cy="3715207"/>
          </a:xfrm>
          <a:prstGeom xmlns:a="http://schemas.openxmlformats.org/drawingml/2006/main" prst="roundRect">
            <a:avLst>
              <a:gd name="adj" fmla="val 517"/>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526e0a1953ae4cdb"/>
          <a:srcRect xmlns:a="http://schemas.openxmlformats.org/drawingml/2006/main" l="0" t="-400" r="0" b="-400"/>
          <a:stretch xmlns:a="http://schemas.openxmlformats.org/drawingml/2006/main"/>
        </p:blipFill>
        <p:spPr>
          <a:xfrm xmlns:a="http://schemas.openxmlformats.org/drawingml/2006/main">
            <a:off x="1714500" y="3429000"/>
            <a:ext cx="14859000" cy="19202"/>
          </a:xfrm>
          <a:prstGeom xmlns:a="http://schemas.openxmlformats.org/drawingml/2006/main" prst="rect">
            <a:avLst/>
          </a:prstGeom>
        </p:spPr>
      </p:pic>
      <p:sp>
        <p:nvSpPr>
          <p:cNvPr id="9" name="Shape 4">
            <a:extLst xmlns:a="http://schemas.openxmlformats.org/drawingml/2006/main">
              <a:ext uri="{FF2B5EF4-FFF2-40B4-BE49-F238E27FC236}">
                <a16:creationId xmlns:a16="http://schemas.microsoft.com/office/drawing/2014/main" id="{9DE7DD95-5CB8-434C-A3CC-1532ED8A3360}"/>
              </a:ext>
            </a:extLst>
          </p:cNvPr>
          <p:cNvSpPr>
            <a:spLocks xmlns:a="http://schemas.openxmlformats.org/drawingml/2006/main" noGrp="1"/>
          </p:cNvSpPr>
          <p:nvPr/>
        </p:nvSpPr>
        <p:spPr>
          <a:xfrm xmlns:a="http://schemas.openxmlformats.org/drawingml/2006/main">
            <a:off x="16194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0" name="Shape 5">
            <a:extLst xmlns:a="http://schemas.openxmlformats.org/drawingml/2006/main">
              <a:ext uri="{FF2B5EF4-FFF2-40B4-BE49-F238E27FC236}">
                <a16:creationId xmlns:a16="http://schemas.microsoft.com/office/drawing/2014/main" id="{07177008-9DE7-43F4-89D4-7EF7A5562DA7}"/>
              </a:ext>
            </a:extLst>
          </p:cNvPr>
          <p:cNvSpPr>
            <a:spLocks xmlns:a="http://schemas.openxmlformats.org/drawingml/2006/main" noGrp="1"/>
          </p:cNvSpPr>
          <p:nvPr/>
        </p:nvSpPr>
        <p:spPr>
          <a:xfrm xmlns:a="http://schemas.openxmlformats.org/drawingml/2006/main">
            <a:off x="56199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1" name="Shape 6">
            <a:extLst xmlns:a="http://schemas.openxmlformats.org/drawingml/2006/main">
              <a:ext uri="{FF2B5EF4-FFF2-40B4-BE49-F238E27FC236}">
                <a16:creationId xmlns:a16="http://schemas.microsoft.com/office/drawing/2014/main" id="{B1343CD4-8BA5-44E1-A80D-4B6D7A01D8AB}"/>
              </a:ext>
            </a:extLst>
          </p:cNvPr>
          <p:cNvSpPr>
            <a:spLocks xmlns:a="http://schemas.openxmlformats.org/drawingml/2006/main" noGrp="1"/>
          </p:cNvSpPr>
          <p:nvPr/>
        </p:nvSpPr>
        <p:spPr>
          <a:xfrm xmlns:a="http://schemas.openxmlformats.org/drawingml/2006/main">
            <a:off x="9620402" y="3362249"/>
            <a:ext cx="152705" cy="152705"/>
          </a:xfrm>
          <a:prstGeom xmlns:a="http://schemas.openxmlformats.org/drawingml/2006/main" prst="ellipse">
            <a:avLst/>
          </a:prstGeom>
          <a:solidFill xmlns:a="http://schemas.openxmlformats.org/drawingml/2006/main">
            <a:srgbClr val="2A2E7A"/>
          </a:solidFill>
          <a:ln xmlns:a="http://schemas.openxmlformats.org/drawingml/2006/main" w="12700">
            <a:solidFill>
              <a:srgbClr val="FFFFFF">
                <a:alpha val="0"/>
              </a:srgbClr>
            </a:solidFill>
            <a:prstDash val="solid"/>
          </a:ln>
        </p:spPr>
      </p:sp>
      <p:sp>
        <p:nvSpPr>
          <p:cNvPr id="12" name="Shape 7">
            <a:extLst xmlns:a="http://schemas.openxmlformats.org/drawingml/2006/main">
              <a:ext uri="{FF2B5EF4-FFF2-40B4-BE49-F238E27FC236}">
                <a16:creationId xmlns:a16="http://schemas.microsoft.com/office/drawing/2014/main" id="{C752BDE2-99B5-4418-9440-BE578AA6B002}"/>
              </a:ext>
            </a:extLst>
          </p:cNvPr>
          <p:cNvSpPr>
            <a:spLocks xmlns:a="http://schemas.openxmlformats.org/drawingml/2006/main" noGrp="1"/>
          </p:cNvSpPr>
          <p:nvPr/>
        </p:nvSpPr>
        <p:spPr>
          <a:xfrm xmlns:a="http://schemas.openxmlformats.org/drawingml/2006/main">
            <a:off x="13620902" y="3362249"/>
            <a:ext cx="152705" cy="152705"/>
          </a:xfrm>
          <a:prstGeom xmlns:a="http://schemas.openxmlformats.org/drawingml/2006/main" prst="ellipse">
            <a:avLst/>
          </a:prstGeom>
          <a:solidFill xmlns:a="http://schemas.openxmlformats.org/drawingml/2006/main">
            <a:srgbClr val="1B9E8F"/>
          </a:solidFill>
          <a:ln xmlns:a="http://schemas.openxmlformats.org/drawingml/2006/main" w="12700">
            <a:solidFill>
              <a:srgbClr val="FFFFFF">
                <a:alpha val="0"/>
              </a:srgbClr>
            </a:solidFill>
            <a:prstDash val="solid"/>
          </a:ln>
        </p:spPr>
      </p:sp>
      <p:sp>
        <p:nvSpPr>
          <p:cNvPr id="13" name="Text 8">
            <a:extLst xmlns:a="http://schemas.openxmlformats.org/drawingml/2006/main">
              <a:ext uri="{FF2B5EF4-FFF2-40B4-BE49-F238E27FC236}">
                <a16:creationId xmlns:a16="http://schemas.microsoft.com/office/drawing/2014/main" id="{A969B94D-3F76-4905-9C52-725985B15626}"/>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08 · Deployment &amp; future work</a:t>
            </a:r>
          </a:p>
        </p:txBody>
      </p:sp>
      <p:sp>
        <p:nvSpPr>
          <p:cNvPr id="14" name="Text 9">
            <a:extLst xmlns:a="http://schemas.openxmlformats.org/drawingml/2006/main">
              <a:ext uri="{FF2B5EF4-FFF2-40B4-BE49-F238E27FC236}">
                <a16:creationId xmlns:a16="http://schemas.microsoft.com/office/drawing/2014/main" id="{4D38D3F1-AA19-48AD-83B5-4F6385163878}"/>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16 / 20</a:t>
            </a:r>
          </a:p>
        </p:txBody>
      </p:sp>
      <p:sp>
        <p:nvSpPr>
          <p:cNvPr id="15" name="Text 10">
            <a:extLst xmlns:a="http://schemas.openxmlformats.org/drawingml/2006/main">
              <a:ext uri="{FF2B5EF4-FFF2-40B4-BE49-F238E27FC236}">
                <a16:creationId xmlns:a16="http://schemas.microsoft.com/office/drawing/2014/main" id="{32A17B0D-0F09-46AE-8538-6B3BE5609E74}"/>
              </a:ext>
            </a:extLst>
          </p:cNvPr>
          <p:cNvSpPr>
            <a:spLocks xmlns:a="http://schemas.openxmlformats.org/drawingml/2006/main" noGrp="1"/>
          </p:cNvSpPr>
          <p:nvPr/>
        </p:nvSpPr>
        <p:spPr>
          <a:xfrm xmlns:a="http://schemas.openxmlformats.org/drawingml/2006/main">
            <a:off x="761695" y="1238098"/>
            <a:ext cx="17208094"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Pilot as advisor decision support, never as autonomous action.</a:t>
            </a:r>
          </a:p>
        </p:txBody>
      </p:sp>
      <p:sp>
        <p:nvSpPr>
          <p:cNvPr id="16" name="Text 11">
            <a:extLst xmlns:a="http://schemas.openxmlformats.org/drawingml/2006/main">
              <a:ext uri="{FF2B5EF4-FFF2-40B4-BE49-F238E27FC236}">
                <a16:creationId xmlns:a16="http://schemas.microsoft.com/office/drawing/2014/main" id="{CE728E11-05B3-4D5F-AF15-817FDEE99A49}"/>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A proposed implementation plan — not an existing institutional deployment.</a:t>
            </a:r>
          </a:p>
        </p:txBody>
      </p:sp>
      <p:sp>
        <p:nvSpPr>
          <p:cNvPr id="17" name="Text 12">
            <a:extLst xmlns:a="http://schemas.openxmlformats.org/drawingml/2006/main">
              <a:ext uri="{FF2B5EF4-FFF2-40B4-BE49-F238E27FC236}">
                <a16:creationId xmlns:a16="http://schemas.microsoft.com/office/drawing/2014/main" id="{E6BE0C39-ED52-468A-9E36-4075E008A0CA}"/>
              </a:ext>
            </a:extLst>
          </p:cNvPr>
          <p:cNvSpPr>
            <a:spLocks xmlns:a="http://schemas.openxmlformats.org/drawingml/2006/main" noGrp="1"/>
          </p:cNvSpPr>
          <p:nvPr/>
        </p:nvSpPr>
        <p:spPr>
          <a:xfrm xmlns:a="http://schemas.openxmlformats.org/drawingml/2006/main">
            <a:off x="1047902" y="2905049"/>
            <a:ext cx="1619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Proposed pilot timeline — not currently deployed</a:t>
            </a:r>
          </a:p>
        </p:txBody>
      </p:sp>
      <p:sp>
        <p:nvSpPr>
          <p:cNvPr id="18" name="Text 13">
            <a:extLst xmlns:a="http://schemas.openxmlformats.org/drawingml/2006/main">
              <a:ext uri="{FF2B5EF4-FFF2-40B4-BE49-F238E27FC236}">
                <a16:creationId xmlns:a16="http://schemas.microsoft.com/office/drawing/2014/main" id="{B3FFC9AA-1A2D-4F5D-8BA8-D48DDE4E6B6E}"/>
              </a:ext>
            </a:extLst>
          </p:cNvPr>
          <p:cNvSpPr>
            <a:spLocks xmlns:a="http://schemas.openxmlformats.org/drawingml/2006/main" noGrp="1"/>
          </p:cNvSpPr>
          <p:nvPr/>
        </p:nvSpPr>
        <p:spPr>
          <a:xfrm xmlns:a="http://schemas.openxmlformats.org/drawingml/2006/main">
            <a:off x="1143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Term 0 · Prep</a:t>
            </a:r>
          </a:p>
        </p:txBody>
      </p:sp>
      <p:sp>
        <p:nvSpPr>
          <p:cNvPr id="19" name="Text 14">
            <a:extLst xmlns:a="http://schemas.openxmlformats.org/drawingml/2006/main">
              <a:ext uri="{FF2B5EF4-FFF2-40B4-BE49-F238E27FC236}">
                <a16:creationId xmlns:a16="http://schemas.microsoft.com/office/drawing/2014/main" id="{23202FC3-1364-4FFE-91CB-A2C3F2E3FFF0}"/>
              </a:ext>
            </a:extLst>
          </p:cNvPr>
          <p:cNvSpPr>
            <a:spLocks xmlns:a="http://schemas.openxmlformats.org/drawingml/2006/main" noGrp="1"/>
          </p:cNvSpPr>
          <p:nvPr/>
        </p:nvSpPr>
        <p:spPr>
          <a:xfrm xmlns:a="http://schemas.openxmlformats.org/drawingml/2006/main">
            <a:off x="1143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Data pipeline &amp; access</a:t>
            </a:r>
          </a:p>
        </p:txBody>
      </p:sp>
      <p:sp>
        <p:nvSpPr>
          <p:cNvPr id="20" name="Text 15">
            <a:extLst xmlns:a="http://schemas.openxmlformats.org/drawingml/2006/main">
              <a:ext uri="{FF2B5EF4-FFF2-40B4-BE49-F238E27FC236}">
                <a16:creationId xmlns:a16="http://schemas.microsoft.com/office/drawing/2014/main" id="{1CE63455-210D-40CD-BC53-6D0DE9E4F31B}"/>
              </a:ext>
            </a:extLst>
          </p:cNvPr>
          <p:cNvSpPr>
            <a:spLocks xmlns:a="http://schemas.openxmlformats.org/drawingml/2006/main" noGrp="1"/>
          </p:cNvSpPr>
          <p:nvPr/>
        </p:nvSpPr>
        <p:spPr>
          <a:xfrm xmlns:a="http://schemas.openxmlformats.org/drawingml/2006/main">
            <a:off x="1143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SIS extractor · anonymised export · advisor accounts scoped</a:t>
            </a:r>
          </a:p>
        </p:txBody>
      </p:sp>
      <p:sp>
        <p:nvSpPr>
          <p:cNvPr id="21" name="Text 16">
            <a:extLst xmlns:a="http://schemas.openxmlformats.org/drawingml/2006/main">
              <a:ext uri="{FF2B5EF4-FFF2-40B4-BE49-F238E27FC236}">
                <a16:creationId xmlns:a16="http://schemas.microsoft.com/office/drawing/2014/main" id="{4C3F1C71-FF46-4383-9216-3640874685C8}"/>
              </a:ext>
            </a:extLst>
          </p:cNvPr>
          <p:cNvSpPr>
            <a:spLocks xmlns:a="http://schemas.openxmlformats.org/drawingml/2006/main" noGrp="1"/>
          </p:cNvSpPr>
          <p:nvPr/>
        </p:nvSpPr>
        <p:spPr>
          <a:xfrm xmlns:a="http://schemas.openxmlformats.org/drawingml/2006/main">
            <a:off x="5143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Term 1 · Shadow</a:t>
            </a:r>
          </a:p>
        </p:txBody>
      </p:sp>
      <p:sp>
        <p:nvSpPr>
          <p:cNvPr id="22" name="Text 17">
            <a:extLst xmlns:a="http://schemas.openxmlformats.org/drawingml/2006/main">
              <a:ext uri="{FF2B5EF4-FFF2-40B4-BE49-F238E27FC236}">
                <a16:creationId xmlns:a16="http://schemas.microsoft.com/office/drawing/2014/main" id="{0649AD25-FA0B-45EE-9374-DE31E56668F7}"/>
              </a:ext>
            </a:extLst>
          </p:cNvPr>
          <p:cNvSpPr>
            <a:spLocks xmlns:a="http://schemas.openxmlformats.org/drawingml/2006/main" noGrp="1"/>
          </p:cNvSpPr>
          <p:nvPr/>
        </p:nvSpPr>
        <p:spPr>
          <a:xfrm xmlns:a="http://schemas.openxmlformats.org/drawingml/2006/main">
            <a:off x="5143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Silent scoring only</a:t>
            </a:r>
          </a:p>
        </p:txBody>
      </p:sp>
      <p:sp>
        <p:nvSpPr>
          <p:cNvPr id="23" name="Text 18">
            <a:extLst xmlns:a="http://schemas.openxmlformats.org/drawingml/2006/main">
              <a:ext uri="{FF2B5EF4-FFF2-40B4-BE49-F238E27FC236}">
                <a16:creationId xmlns:a16="http://schemas.microsoft.com/office/drawing/2014/main" id="{302AA7A0-C074-4DF4-82B0-A24C44AAF8B3}"/>
              </a:ext>
            </a:extLst>
          </p:cNvPr>
          <p:cNvSpPr>
            <a:spLocks xmlns:a="http://schemas.openxmlformats.org/drawingml/2006/main" noGrp="1"/>
          </p:cNvSpPr>
          <p:nvPr/>
        </p:nvSpPr>
        <p:spPr>
          <a:xfrm xmlns:a="http://schemas.openxmlformats.org/drawingml/2006/main">
            <a:off x="5143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Log alerts internally · compare vs. advisor triage · no student contact</a:t>
            </a:r>
          </a:p>
        </p:txBody>
      </p:sp>
      <p:sp>
        <p:nvSpPr>
          <p:cNvPr id="24" name="Text 19">
            <a:extLst xmlns:a="http://schemas.openxmlformats.org/drawingml/2006/main">
              <a:ext uri="{FF2B5EF4-FFF2-40B4-BE49-F238E27FC236}">
                <a16:creationId xmlns:a16="http://schemas.microsoft.com/office/drawing/2014/main" id="{90ABBA02-E867-4D35-B195-08B7C557BBC3}"/>
              </a:ext>
            </a:extLst>
          </p:cNvPr>
          <p:cNvSpPr>
            <a:spLocks xmlns:a="http://schemas.openxmlformats.org/drawingml/2006/main" noGrp="1"/>
          </p:cNvSpPr>
          <p:nvPr/>
        </p:nvSpPr>
        <p:spPr>
          <a:xfrm xmlns:a="http://schemas.openxmlformats.org/drawingml/2006/main">
            <a:off x="9144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Term 2 · Pilot</a:t>
            </a:r>
          </a:p>
        </p:txBody>
      </p:sp>
      <p:sp>
        <p:nvSpPr>
          <p:cNvPr id="25" name="Text 20">
            <a:extLst xmlns:a="http://schemas.openxmlformats.org/drawingml/2006/main">
              <a:ext uri="{FF2B5EF4-FFF2-40B4-BE49-F238E27FC236}">
                <a16:creationId xmlns:a16="http://schemas.microsoft.com/office/drawing/2014/main" id="{4DCC660C-88E2-4ED6-A01F-B88222952B1F}"/>
              </a:ext>
            </a:extLst>
          </p:cNvPr>
          <p:cNvSpPr>
            <a:spLocks xmlns:a="http://schemas.openxmlformats.org/drawingml/2006/main" noGrp="1"/>
          </p:cNvSpPr>
          <p:nvPr/>
        </p:nvSpPr>
        <p:spPr>
          <a:xfrm xmlns:a="http://schemas.openxmlformats.org/drawingml/2006/main">
            <a:off x="9144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Weekly advisor list</a:t>
            </a:r>
          </a:p>
        </p:txBody>
      </p:sp>
      <p:sp>
        <p:nvSpPr>
          <p:cNvPr id="26" name="Text 21">
            <a:extLst xmlns:a="http://schemas.openxmlformats.org/drawingml/2006/main">
              <a:ext uri="{FF2B5EF4-FFF2-40B4-BE49-F238E27FC236}">
                <a16:creationId xmlns:a16="http://schemas.microsoft.com/office/drawing/2014/main" id="{49AAD647-A4FA-4574-A459-06E88EDC015C}"/>
              </a:ext>
            </a:extLst>
          </p:cNvPr>
          <p:cNvSpPr>
            <a:spLocks xmlns:a="http://schemas.openxmlformats.org/drawingml/2006/main" noGrp="1"/>
          </p:cNvSpPr>
          <p:nvPr/>
        </p:nvSpPr>
        <p:spPr>
          <a:xfrm xmlns:a="http://schemas.openxmlformats.org/drawingml/2006/main">
            <a:off x="9144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1-2 pilot modules · dashboard with top-reason categories</a:t>
            </a:r>
          </a:p>
        </p:txBody>
      </p:sp>
      <p:sp>
        <p:nvSpPr>
          <p:cNvPr id="27" name="Text 22">
            <a:extLst xmlns:a="http://schemas.openxmlformats.org/drawingml/2006/main">
              <a:ext uri="{FF2B5EF4-FFF2-40B4-BE49-F238E27FC236}">
                <a16:creationId xmlns:a16="http://schemas.microsoft.com/office/drawing/2014/main" id="{863B83F8-2F76-4EA0-B6DE-0EB37C6DAEEB}"/>
              </a:ext>
            </a:extLst>
          </p:cNvPr>
          <p:cNvSpPr>
            <a:spLocks xmlns:a="http://schemas.openxmlformats.org/drawingml/2006/main" noGrp="1"/>
          </p:cNvSpPr>
          <p:nvPr/>
        </p:nvSpPr>
        <p:spPr>
          <a:xfrm xmlns:a="http://schemas.openxmlformats.org/drawingml/2006/main">
            <a:off x="13144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Term 3 · Review</a:t>
            </a:r>
          </a:p>
        </p:txBody>
      </p:sp>
      <p:sp>
        <p:nvSpPr>
          <p:cNvPr id="28" name="Text 23">
            <a:extLst xmlns:a="http://schemas.openxmlformats.org/drawingml/2006/main">
              <a:ext uri="{FF2B5EF4-FFF2-40B4-BE49-F238E27FC236}">
                <a16:creationId xmlns:a16="http://schemas.microsoft.com/office/drawing/2014/main" id="{48D56C1D-51C3-40C3-9465-E09D5FB0EA03}"/>
              </a:ext>
            </a:extLst>
          </p:cNvPr>
          <p:cNvSpPr>
            <a:spLocks xmlns:a="http://schemas.openxmlformats.org/drawingml/2006/main" noGrp="1"/>
          </p:cNvSpPr>
          <p:nvPr/>
        </p:nvSpPr>
        <p:spPr>
          <a:xfrm xmlns:a="http://schemas.openxmlformats.org/drawingml/2006/main">
            <a:off x="13144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Retrain &amp; recalibrate</a:t>
            </a:r>
          </a:p>
        </p:txBody>
      </p:sp>
      <p:sp>
        <p:nvSpPr>
          <p:cNvPr id="29" name="Text 24">
            <a:extLst xmlns:a="http://schemas.openxmlformats.org/drawingml/2006/main">
              <a:ext uri="{FF2B5EF4-FFF2-40B4-BE49-F238E27FC236}">
                <a16:creationId xmlns:a16="http://schemas.microsoft.com/office/drawing/2014/main" id="{9993A22A-BA9B-4BF8-A7CF-1323C4F7FE12}"/>
              </a:ext>
            </a:extLst>
          </p:cNvPr>
          <p:cNvSpPr>
            <a:spLocks xmlns:a="http://schemas.openxmlformats.org/drawingml/2006/main" noGrp="1"/>
          </p:cNvSpPr>
          <p:nvPr/>
        </p:nvSpPr>
        <p:spPr>
          <a:xfrm xmlns:a="http://schemas.openxmlformats.org/drawingml/2006/main">
            <a:off x="13144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Per-term retrain · subgroup recall report · scope decision</a:t>
            </a:r>
          </a:p>
        </p:txBody>
      </p:sp>
      <p:sp>
        <p:nvSpPr>
          <p:cNvPr id="30" name="Text 25">
            <a:extLst xmlns:a="http://schemas.openxmlformats.org/drawingml/2006/main">
              <a:ext uri="{FF2B5EF4-FFF2-40B4-BE49-F238E27FC236}">
                <a16:creationId xmlns:a16="http://schemas.microsoft.com/office/drawing/2014/main" id="{620719D6-7E52-4CE3-B8F4-9B20F2D32789}"/>
              </a:ext>
            </a:extLst>
          </p:cNvPr>
          <p:cNvSpPr>
            <a:spLocks xmlns:a="http://schemas.openxmlformats.org/drawingml/2006/main" noGrp="1"/>
          </p:cNvSpPr>
          <p:nvPr/>
        </p:nvSpPr>
        <p:spPr>
          <a:xfrm xmlns:a="http://schemas.openxmlformats.org/drawingml/2006/main">
            <a:off x="1143000"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Monitoring stack</a:t>
            </a:r>
          </a:p>
        </p:txBody>
      </p:sp>
      <p:sp>
        <p:nvSpPr>
          <p:cNvPr id="31" name="Text 26">
            <a:extLst xmlns:a="http://schemas.openxmlformats.org/drawingml/2006/main">
              <a:ext uri="{FF2B5EF4-FFF2-40B4-BE49-F238E27FC236}">
                <a16:creationId xmlns:a16="http://schemas.microsoft.com/office/drawing/2014/main" id="{089F0D7A-3D86-4BDD-9EE8-56223C983E5D}"/>
              </a:ext>
            </a:extLst>
          </p:cNvPr>
          <p:cNvSpPr>
            <a:spLocks xmlns:a="http://schemas.openxmlformats.org/drawingml/2006/main" noGrp="1"/>
          </p:cNvSpPr>
          <p:nvPr/>
        </p:nvSpPr>
        <p:spPr>
          <a:xfrm xmlns:a="http://schemas.openxmlformats.org/drawingml/2006/main">
            <a:off x="1143000"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we watch, weekly.</a:t>
            </a:r>
          </a:p>
        </p:txBody>
      </p:sp>
      <p:sp>
        <p:nvSpPr>
          <p:cNvPr id="32" name="Text 27">
            <a:extLst xmlns:a="http://schemas.openxmlformats.org/drawingml/2006/main">
              <a:ext uri="{FF2B5EF4-FFF2-40B4-BE49-F238E27FC236}">
                <a16:creationId xmlns:a16="http://schemas.microsoft.com/office/drawing/2014/main" id="{CC490E0B-8D14-4F3C-9278-D96E3AF922C9}"/>
              </a:ext>
            </a:extLst>
          </p:cNvPr>
          <p:cNvSpPr>
            <a:spLocks xmlns:a="http://schemas.openxmlformats.org/drawingml/2006/main" noGrp="1"/>
          </p:cNvSpPr>
          <p:nvPr/>
        </p:nvSpPr>
        <p:spPr>
          <a:xfrm xmlns:a="http://schemas.openxmlformats.org/drawingml/2006/main">
            <a:off x="1143000"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Alert volume &amp; advisor workload</a:t>
            </a:r>
          </a:p>
          <a:p xmlns:a="http://schemas.openxmlformats.org/drawingml/2006/main">
            <a:pPr marL="0" indent="0" algn="l">
              <a:lnSpc>
                <a:spcPts val="2160"/>
              </a:lnSpc>
              <a:buNone/>
            </a:pPr>
            <a:r>
              <a:rPr sz="1200">
                <a:solidFill>
                  <a:srgbClr val="2A2E4B"/>
                </a:solidFill>
                <a:latin typeface="Inter"/>
                <a:ea typeface="Inter"/>
                <a:cs typeface="Inter"/>
              </a:rPr>
              <a:t>· Precision / recall drift (rolling 4-week)</a:t>
            </a:r>
          </a:p>
          <a:p xmlns:a="http://schemas.openxmlformats.org/drawingml/2006/main">
            <a:pPr marL="0" indent="0" algn="l">
              <a:lnSpc>
                <a:spcPts val="2160"/>
              </a:lnSpc>
              <a:buNone/>
            </a:pPr>
            <a:r>
              <a:rPr sz="1200">
                <a:solidFill>
                  <a:srgbClr val="2A2E4B"/>
                </a:solidFill>
                <a:latin typeface="Inter"/>
                <a:ea typeface="Inter"/>
                <a:cs typeface="Inter"/>
              </a:rPr>
              <a:t>· Subgroup recall across sensitive groups</a:t>
            </a:r>
          </a:p>
          <a:p xmlns:a="http://schemas.openxmlformats.org/drawingml/2006/main">
            <a:pPr marL="0" indent="0" algn="l">
              <a:lnSpc>
                <a:spcPts val="2160"/>
              </a:lnSpc>
              <a:buNone/>
            </a:pPr>
            <a:r>
              <a:rPr sz="1200">
                <a:solidFill>
                  <a:srgbClr val="2A2E4B"/>
                </a:solidFill>
                <a:latin typeface="Inter"/>
                <a:ea typeface="Inter"/>
                <a:cs typeface="Inter"/>
              </a:rPr>
              <a:t>· Score-distribution shift on new cohorts</a:t>
            </a:r>
          </a:p>
          <a:p xmlns:a="http://schemas.openxmlformats.org/drawingml/2006/main">
            <a:pPr marL="0" indent="0" algn="l">
              <a:lnSpc>
                <a:spcPts val="2160"/>
              </a:lnSpc>
              <a:buNone/>
            </a:pPr>
            <a:r>
              <a:rPr sz="1200">
                <a:solidFill>
                  <a:srgbClr val="2A2E4B"/>
                </a:solidFill>
                <a:latin typeface="Inter"/>
                <a:ea typeface="Inter"/>
                <a:cs typeface="Inter"/>
              </a:rPr>
              <a:t>· Advisor overrides (accepted / rejected)</a:t>
            </a:r>
          </a:p>
        </p:txBody>
      </p:sp>
      <p:sp>
        <p:nvSpPr>
          <p:cNvPr id="33" name="Text 28">
            <a:extLst xmlns:a="http://schemas.openxmlformats.org/drawingml/2006/main">
              <a:ext uri="{FF2B5EF4-FFF2-40B4-BE49-F238E27FC236}">
                <a16:creationId xmlns:a16="http://schemas.microsoft.com/office/drawing/2014/main" id="{049FF67C-6802-4972-A05C-C6FCD5EDB5E0}"/>
              </a:ext>
            </a:extLst>
          </p:cNvPr>
          <p:cNvSpPr>
            <a:spLocks xmlns:a="http://schemas.openxmlformats.org/drawingml/2006/main" noGrp="1"/>
          </p:cNvSpPr>
          <p:nvPr/>
        </p:nvSpPr>
        <p:spPr>
          <a:xfrm xmlns:a="http://schemas.openxmlformats.org/drawingml/2006/main">
            <a:off x="678210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2A2E7A"/>
                </a:solidFill>
                <a:latin typeface="JetBrains Mono"/>
                <a:ea typeface="JetBrains Mono"/>
                <a:cs typeface="JetBrains Mono"/>
              </a:rPr>
              <a:t>Retrain cadence</a:t>
            </a:r>
          </a:p>
        </p:txBody>
      </p:sp>
      <p:sp>
        <p:nvSpPr>
          <p:cNvPr id="34" name="Text 29">
            <a:extLst xmlns:a="http://schemas.openxmlformats.org/drawingml/2006/main">
              <a:ext uri="{FF2B5EF4-FFF2-40B4-BE49-F238E27FC236}">
                <a16:creationId xmlns:a16="http://schemas.microsoft.com/office/drawing/2014/main" id="{F4E8BF00-78AD-4774-9B25-EEF196782FE2}"/>
              </a:ext>
            </a:extLst>
          </p:cNvPr>
          <p:cNvSpPr>
            <a:spLocks xmlns:a="http://schemas.openxmlformats.org/drawingml/2006/main" noGrp="1"/>
          </p:cNvSpPr>
          <p:nvPr/>
        </p:nvSpPr>
        <p:spPr>
          <a:xfrm xmlns:a="http://schemas.openxmlformats.org/drawingml/2006/main">
            <a:off x="6782105"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Term-scoped, not real-time.</a:t>
            </a:r>
          </a:p>
        </p:txBody>
      </p:sp>
      <p:sp>
        <p:nvSpPr>
          <p:cNvPr id="35" name="Text 30">
            <a:extLst xmlns:a="http://schemas.openxmlformats.org/drawingml/2006/main">
              <a:ext uri="{FF2B5EF4-FFF2-40B4-BE49-F238E27FC236}">
                <a16:creationId xmlns:a16="http://schemas.microsoft.com/office/drawing/2014/main" id="{04EB5A80-8F3B-426E-B750-DA7F987AEF79}"/>
              </a:ext>
            </a:extLst>
          </p:cNvPr>
          <p:cNvSpPr>
            <a:spLocks xmlns:a="http://schemas.openxmlformats.org/drawingml/2006/main" noGrp="1"/>
          </p:cNvSpPr>
          <p:nvPr/>
        </p:nvSpPr>
        <p:spPr>
          <a:xfrm xmlns:a="http://schemas.openxmlformats.org/drawingml/2006/main">
            <a:off x="678210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Full retrain end-of-term</a:t>
            </a:r>
          </a:p>
          <a:p xmlns:a="http://schemas.openxmlformats.org/drawingml/2006/main">
            <a:pPr marL="0" indent="0" algn="l">
              <a:lnSpc>
                <a:spcPts val="2160"/>
              </a:lnSpc>
              <a:buNone/>
            </a:pPr>
            <a:r>
              <a:rPr sz="1200">
                <a:solidFill>
                  <a:srgbClr val="2A2E4B"/>
                </a:solidFill>
                <a:latin typeface="Inter"/>
                <a:ea typeface="Inter"/>
                <a:cs typeface="Inter"/>
              </a:rPr>
              <a:t>· Threshold recalibration on new-cohort validation</a:t>
            </a:r>
          </a:p>
          <a:p xmlns:a="http://schemas.openxmlformats.org/drawingml/2006/main">
            <a:pPr marL="0" indent="0" algn="l">
              <a:lnSpc>
                <a:spcPts val="2160"/>
              </a:lnSpc>
              <a:buNone/>
            </a:pPr>
            <a:r>
              <a:rPr sz="1200">
                <a:solidFill>
                  <a:srgbClr val="2A2E4B"/>
                </a:solidFill>
                <a:latin typeface="Inter"/>
                <a:ea typeface="Inter"/>
                <a:cs typeface="Inter"/>
              </a:rPr>
              <a:t>· Version-controlled model + data snapshot</a:t>
            </a:r>
          </a:p>
          <a:p xmlns:a="http://schemas.openxmlformats.org/drawingml/2006/main">
            <a:pPr marL="0" indent="0" algn="l">
              <a:lnSpc>
                <a:spcPts val="2160"/>
              </a:lnSpc>
              <a:buNone/>
            </a:pPr>
            <a:r>
              <a:rPr sz="1200">
                <a:solidFill>
                  <a:srgbClr val="2A2E4B"/>
                </a:solidFill>
                <a:latin typeface="Inter"/>
                <a:ea typeface="Inter"/>
                <a:cs typeface="Inter"/>
              </a:rPr>
              <a:t>· Roll back if metrics regress</a:t>
            </a:r>
          </a:p>
          <a:p xmlns:a="http://schemas.openxmlformats.org/drawingml/2006/main">
            <a:pPr marL="0" indent="0" algn="l">
              <a:lnSpc>
                <a:spcPts val="2160"/>
              </a:lnSpc>
              <a:buNone/>
            </a:pPr>
            <a:r>
              <a:rPr sz="1200">
                <a:solidFill>
                  <a:srgbClr val="2A2E4B"/>
                </a:solidFill>
                <a:latin typeface="Inter"/>
                <a:ea typeface="Inter"/>
                <a:cs typeface="Inter"/>
              </a:rPr>
              <a:t>· Documented data lineage for audit</a:t>
            </a:r>
          </a:p>
        </p:txBody>
      </p:sp>
      <p:sp>
        <p:nvSpPr>
          <p:cNvPr id="36" name="Text 31">
            <a:extLst xmlns:a="http://schemas.openxmlformats.org/drawingml/2006/main">
              <a:ext uri="{FF2B5EF4-FFF2-40B4-BE49-F238E27FC236}">
                <a16:creationId xmlns:a16="http://schemas.microsoft.com/office/drawing/2014/main" id="{5AEE0D95-4CFF-4A47-BF6C-3D0A24C5991D}"/>
              </a:ext>
            </a:extLst>
          </p:cNvPr>
          <p:cNvSpPr>
            <a:spLocks xmlns:a="http://schemas.openxmlformats.org/drawingml/2006/main" noGrp="1"/>
          </p:cNvSpPr>
          <p:nvPr/>
        </p:nvSpPr>
        <p:spPr>
          <a:xfrm xmlns:a="http://schemas.openxmlformats.org/drawingml/2006/main">
            <a:off x="1242029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Future work</a:t>
            </a:r>
          </a:p>
        </p:txBody>
      </p:sp>
      <p:sp>
        <p:nvSpPr>
          <p:cNvPr id="37" name="Text 32">
            <a:extLst xmlns:a="http://schemas.openxmlformats.org/drawingml/2006/main">
              <a:ext uri="{FF2B5EF4-FFF2-40B4-BE49-F238E27FC236}">
                <a16:creationId xmlns:a16="http://schemas.microsoft.com/office/drawing/2014/main" id="{9B1F2362-EDCF-4DC2-AA1A-E650A98EEA00}"/>
              </a:ext>
            </a:extLst>
          </p:cNvPr>
          <p:cNvSpPr>
            <a:spLocks xmlns:a="http://schemas.openxmlformats.org/drawingml/2006/main" noGrp="1"/>
          </p:cNvSpPr>
          <p:nvPr/>
        </p:nvSpPr>
        <p:spPr>
          <a:xfrm xmlns:a="http://schemas.openxmlformats.org/drawingml/2006/main">
            <a:off x="12420295" y="5982005"/>
            <a:ext cx="521665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Where the project could go next.</a:t>
            </a:r>
          </a:p>
        </p:txBody>
      </p:sp>
      <p:sp>
        <p:nvSpPr>
          <p:cNvPr id="38" name="Text 33">
            <a:extLst xmlns:a="http://schemas.openxmlformats.org/drawingml/2006/main">
              <a:ext uri="{FF2B5EF4-FFF2-40B4-BE49-F238E27FC236}">
                <a16:creationId xmlns:a16="http://schemas.microsoft.com/office/drawing/2014/main" id="{BBA70B4B-773B-494E-B02E-9AA8595CCD14}"/>
              </a:ext>
            </a:extLst>
          </p:cNvPr>
          <p:cNvSpPr>
            <a:spLocks xmlns:a="http://schemas.openxmlformats.org/drawingml/2006/main" noGrp="1"/>
          </p:cNvSpPr>
          <p:nvPr/>
        </p:nvSpPr>
        <p:spPr>
          <a:xfrm xmlns:a="http://schemas.openxmlformats.org/drawingml/2006/main">
            <a:off x="1242029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FFFFFF">
                    <a:alpha val="85000"/>
                  </a:srgbClr>
                </a:solidFill>
                <a:latin typeface="Inter"/>
                <a:ea typeface="Inter"/>
                <a:cs typeface="Inter"/>
              </a:rPr>
              <a:t>· Add non-academic signals (aid holds, contacts)</a:t>
            </a:r>
          </a:p>
          <a:p xmlns:a="http://schemas.openxmlformats.org/drawingml/2006/main">
            <a:pPr marL="0" indent="0" algn="l">
              <a:lnSpc>
                <a:spcPts val="2160"/>
              </a:lnSpc>
              <a:buNone/>
            </a:pPr>
            <a:r>
              <a:rPr sz="1200">
                <a:solidFill>
                  <a:srgbClr val="FFFFFF">
                    <a:alpha val="85000"/>
                  </a:srgbClr>
                </a:solidFill>
                <a:latin typeface="Inter"/>
                <a:ea typeface="Inter"/>
                <a:cs typeface="Inter"/>
              </a:rPr>
              <a:t>· Sequence models over the click timeline</a:t>
            </a:r>
          </a:p>
          <a:p xmlns:a="http://schemas.openxmlformats.org/drawingml/2006/main">
            <a:pPr marL="0" indent="0" algn="l">
              <a:lnSpc>
                <a:spcPts val="2160"/>
              </a:lnSpc>
              <a:buNone/>
            </a:pPr>
            <a:r>
              <a:rPr sz="1200">
                <a:solidFill>
                  <a:srgbClr val="FFFFFF">
                    <a:alpha val="85000"/>
                  </a:srgbClr>
                </a:solidFill>
                <a:latin typeface="Inter"/>
                <a:ea typeface="Inter"/>
                <a:cs typeface="Inter"/>
              </a:rPr>
              <a:t>· Cross-institution transfer with domain adaptation</a:t>
            </a:r>
          </a:p>
          <a:p xmlns:a="http://schemas.openxmlformats.org/drawingml/2006/main">
            <a:pPr marL="0" indent="0" algn="l">
              <a:lnSpc>
                <a:spcPts val="2160"/>
              </a:lnSpc>
              <a:buNone/>
            </a:pPr>
            <a:r>
              <a:rPr sz="1200">
                <a:solidFill>
                  <a:srgbClr val="FFFFFF">
                    <a:alpha val="85000"/>
                  </a:srgbClr>
                </a:solidFill>
                <a:latin typeface="Inter"/>
                <a:ea typeface="Inter"/>
                <a:cs typeface="Inter"/>
              </a:rPr>
              <a:t>· Calibrated risk bands vs. binary flag</a:t>
            </a:r>
          </a:p>
          <a:p xmlns:a="http://schemas.openxmlformats.org/drawingml/2006/main">
            <a:pPr marL="0" indent="0" algn="l">
              <a:lnSpc>
                <a:spcPts val="2160"/>
              </a:lnSpc>
              <a:buNone/>
            </a:pPr>
            <a:r>
              <a:rPr sz="1200">
                <a:solidFill>
                  <a:srgbClr val="FFFFFF">
                    <a:alpha val="85000"/>
                  </a:srgbClr>
                </a:solidFill>
                <a:latin typeface="Inter"/>
                <a:ea typeface="Inter"/>
                <a:cs typeface="Inter"/>
              </a:rPr>
              <a:t>· A/B evaluate </a:t>
            </a:r>
            <a:r>
              <a:rPr sz="1200" i="1">
                <a:solidFill>
                  <a:srgbClr val="FFFFFF">
                    <a:alpha val="85000"/>
                  </a:srgbClr>
                </a:solidFill>
                <a:latin typeface="Inter"/>
                <a:ea typeface="Inter"/>
                <a:cs typeface="Inter"/>
              </a:rPr>
              <a:t>intervention</a:t>
            </a:r>
            <a:r>
              <a:rPr sz="1200">
                <a:solidFill>
                  <a:srgbClr val="FFFFFF">
                    <a:alpha val="85000"/>
                  </a:srgbClr>
                </a:solidFill>
                <a:latin typeface="Inter"/>
                <a:ea typeface="Inter"/>
                <a:cs typeface="Inter"/>
              </a:rPr>
              <a:t>, not just prediction</a:t>
            </a:r>
          </a:p>
        </p:txBody>
      </p:sp>
    </p:spTree>
    <p:extLst>
      <p:ext uri="{BB962C8B-B14F-4D97-AF65-F5344CB8AC3E}">
        <p14:creationId xmlns:p14="http://schemas.microsoft.com/office/powerpoint/2010/main" val="171712585"/>
      </p:ext>
    </p:extLst>
  </p:cSld>
</p:sld>
</file>

<file path=ppt/slides/slide1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43a7d537bd104c3f"/>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038A1CC-A9B0-4426-B733-1A07C6D07986}"/>
              </a:ext>
            </a:extLst>
          </p:cNvPr>
          <p:cNvSpPr>
            <a:spLocks xmlns:a="http://schemas.openxmlformats.org/drawingml/2006/main" noGrp="1"/>
          </p:cNvSpPr>
          <p:nvPr/>
        </p:nvSpPr>
        <p:spPr>
          <a:xfrm xmlns:a="http://schemas.openxmlformats.org/drawingml/2006/main">
            <a:off x="761695" y="4190695"/>
            <a:ext cx="16763695"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C714848E-3BDC-46D9-A568-D56B55485334}"/>
              </a:ext>
            </a:extLst>
          </p:cNvPr>
          <p:cNvSpPr>
            <a:spLocks xmlns:a="http://schemas.openxmlformats.org/drawingml/2006/main" noGrp="1"/>
          </p:cNvSpPr>
          <p:nvPr/>
        </p:nvSpPr>
        <p:spPr>
          <a:xfrm xmlns:a="http://schemas.openxmlformats.org/drawingml/2006/main">
            <a:off x="76169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8223D0A-30E6-422C-BA55-541B775573F0}"/>
              </a:ext>
            </a:extLst>
          </p:cNvPr>
          <p:cNvSpPr>
            <a:spLocks xmlns:a="http://schemas.openxmlformats.org/drawingml/2006/main" noGrp="1"/>
          </p:cNvSpPr>
          <p:nvPr/>
        </p:nvSpPr>
        <p:spPr>
          <a:xfrm xmlns:a="http://schemas.openxmlformats.org/drawingml/2006/main">
            <a:off x="6400800"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A024FB3E-8F0E-491F-A4AD-8402687B301D}"/>
              </a:ext>
            </a:extLst>
          </p:cNvPr>
          <p:cNvSpPr>
            <a:spLocks xmlns:a="http://schemas.openxmlformats.org/drawingml/2006/main" noGrp="1"/>
          </p:cNvSpPr>
          <p:nvPr/>
        </p:nvSpPr>
        <p:spPr>
          <a:xfrm xmlns:a="http://schemas.openxmlformats.org/drawingml/2006/main">
            <a:off x="1203990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9f22110c01f74cd5"/>
          <a:srcRect xmlns:a="http://schemas.openxmlformats.org/drawingml/2006/main" l="0" t="-195" r="0" b="-195"/>
          <a:stretch xmlns:a="http://schemas.openxmlformats.org/drawingml/2006/main"/>
        </p:blipFill>
        <p:spPr>
          <a:xfrm xmlns:a="http://schemas.openxmlformats.org/drawingml/2006/main">
            <a:off x="761695" y="4190695"/>
            <a:ext cx="75895" cy="1238098"/>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3D60F995-474F-4301-A372-C26FA93466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09 · Key takeaways</a:t>
            </a:r>
          </a:p>
        </p:txBody>
      </p:sp>
      <p:sp>
        <p:nvSpPr>
          <p:cNvPr id="10" name="Text 5">
            <a:extLst xmlns:a="http://schemas.openxmlformats.org/drawingml/2006/main">
              <a:ext uri="{FF2B5EF4-FFF2-40B4-BE49-F238E27FC236}">
                <a16:creationId xmlns:a16="http://schemas.microsoft.com/office/drawing/2014/main" id="{07865E82-5148-4B87-8EB8-9176933561F2}"/>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17 / 20</a:t>
            </a:r>
          </a:p>
        </p:txBody>
      </p:sp>
      <p:sp>
        <p:nvSpPr>
          <p:cNvPr id="11" name="Text 6">
            <a:extLst xmlns:a="http://schemas.openxmlformats.org/drawingml/2006/main">
              <a:ext uri="{FF2B5EF4-FFF2-40B4-BE49-F238E27FC236}">
                <a16:creationId xmlns:a16="http://schemas.microsoft.com/office/drawing/2014/main" id="{A7DAD5B9-04F9-47FE-89B0-507B81B67DEE}"/>
              </a:ext>
            </a:extLst>
          </p:cNvPr>
          <p:cNvSpPr>
            <a:spLocks xmlns:a="http://schemas.openxmlformats.org/drawingml/2006/main" noGrp="1"/>
          </p:cNvSpPr>
          <p:nvPr/>
        </p:nvSpPr>
        <p:spPr>
          <a:xfrm xmlns:a="http://schemas.openxmlformats.org/drawingml/2006/main">
            <a:off x="761695" y="1238098"/>
            <a:ext cx="1676461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Primary message</a:t>
            </a:r>
          </a:p>
        </p:txBody>
      </p:sp>
      <p:sp>
        <p:nvSpPr>
          <p:cNvPr id="12" name="Text 7">
            <a:extLst xmlns:a="http://schemas.openxmlformats.org/drawingml/2006/main">
              <a:ext uri="{FF2B5EF4-FFF2-40B4-BE49-F238E27FC236}">
                <a16:creationId xmlns:a16="http://schemas.microsoft.com/office/drawing/2014/main" id="{339A8976-DA1C-4191-A690-F1D5C29EC252}"/>
              </a:ext>
            </a:extLst>
          </p:cNvPr>
          <p:cNvSpPr>
            <a:spLocks xmlns:a="http://schemas.openxmlformats.org/drawingml/2006/main" noGrp="1"/>
          </p:cNvSpPr>
          <p:nvPr/>
        </p:nvSpPr>
        <p:spPr>
          <a:xfrm xmlns:a="http://schemas.openxmlformats.org/drawingml/2006/main">
            <a:off x="761695" y="1505102"/>
            <a:ext cx="18031968" cy="5532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Two datasets, two models, one </a:t>
            </a:r>
            <a:r>
              <a:rPr sz="3900" b="1">
                <a:solidFill>
                  <a:srgbClr val="E4237A"/>
                </a:solidFill>
                <a:latin typeface="Inter"/>
                <a:ea typeface="Inter"/>
                <a:cs typeface="Inter"/>
              </a:rPr>
              <a:t>cautious</a:t>
            </a:r>
            <a:r>
              <a:rPr sz="3900" b="1">
                <a:solidFill>
                  <a:srgbClr val="0F1226"/>
                </a:solidFill>
                <a:latin typeface="Inter"/>
                <a:ea typeface="Inter"/>
                <a:cs typeface="Inter"/>
              </a:rPr>
              <a:t> pilot recommendation.</a:t>
            </a:r>
          </a:p>
        </p:txBody>
      </p:sp>
      <p:sp>
        <p:nvSpPr>
          <p:cNvPr id="13" name="Text 8">
            <a:extLst xmlns:a="http://schemas.openxmlformats.org/drawingml/2006/main">
              <a:ext uri="{FF2B5EF4-FFF2-40B4-BE49-F238E27FC236}">
                <a16:creationId xmlns:a16="http://schemas.microsoft.com/office/drawing/2014/main" id="{335BFEC0-1EF1-41F6-98CD-8DCF48C468D0}"/>
              </a:ext>
            </a:extLst>
          </p:cNvPr>
          <p:cNvSpPr>
            <a:spLocks xmlns:a="http://schemas.openxmlformats.org/drawingml/2006/main" noGrp="1"/>
          </p:cNvSpPr>
          <p:nvPr/>
        </p:nvSpPr>
        <p:spPr>
          <a:xfrm xmlns:a="http://schemas.openxmlformats.org/drawingml/2006/main">
            <a:off x="761695" y="2183587"/>
            <a:ext cx="1333561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500" i="1">
                <a:solidFill>
                  <a:srgbClr val="2A2E4B"/>
                </a:solidFill>
                <a:latin typeface="Source Serif Pro"/>
                <a:ea typeface="Source Serif Pro"/>
                <a:cs typeface="Source Serif Pro"/>
              </a:rPr>
              <a:t>The UCI Logistic Regression and OULAD XGBoost models provide useful early-warning evidence in their own settings. Results support cautious pilot evaluation as advisor decision support, not autonomous action.</a:t>
            </a:r>
          </a:p>
        </p:txBody>
      </p:sp>
      <p:sp>
        <p:nvSpPr>
          <p:cNvPr id="14" name="Text 9">
            <a:extLst xmlns:a="http://schemas.openxmlformats.org/drawingml/2006/main">
              <a:ext uri="{FF2B5EF4-FFF2-40B4-BE49-F238E27FC236}">
                <a16:creationId xmlns:a16="http://schemas.microsoft.com/office/drawing/2014/main" id="{43B0D023-3E7D-466E-83E1-08A19602DCB5}"/>
              </a:ext>
            </a:extLst>
          </p:cNvPr>
          <p:cNvSpPr>
            <a:spLocks xmlns:a="http://schemas.openxmlformats.org/drawingml/2006/main" noGrp="1"/>
          </p:cNvSpPr>
          <p:nvPr/>
        </p:nvSpPr>
        <p:spPr>
          <a:xfrm xmlns:a="http://schemas.openxmlformats.org/drawingml/2006/main">
            <a:off x="1143000" y="4401007"/>
            <a:ext cx="16193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Project contribution</a:t>
            </a:r>
          </a:p>
        </p:txBody>
      </p:sp>
      <p:sp>
        <p:nvSpPr>
          <p:cNvPr id="15" name="Text 10">
            <a:extLst xmlns:a="http://schemas.openxmlformats.org/drawingml/2006/main">
              <a:ext uri="{FF2B5EF4-FFF2-40B4-BE49-F238E27FC236}">
                <a16:creationId xmlns:a16="http://schemas.microsoft.com/office/drawing/2014/main" id="{EDE08E87-EB4E-4F49-BDD0-9CE47449AB52}"/>
              </a:ext>
            </a:extLst>
          </p:cNvPr>
          <p:cNvSpPr>
            <a:spLocks xmlns:a="http://schemas.openxmlformats.org/drawingml/2006/main" noGrp="1"/>
          </p:cNvSpPr>
          <p:nvPr/>
        </p:nvSpPr>
        <p:spPr>
          <a:xfrm xmlns:a="http://schemas.openxmlformats.org/drawingml/2006/main">
            <a:off x="1143000" y="4629607"/>
            <a:ext cx="16193110" cy="6099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A common leakage-aware evaluation framework that compares early-warning timing, feature-family shifts, robustness, and advisor workload across a record-based dataset (UCI) and a behavioural learning dataset (OULAD) — a comparative applied contribution, not a new algorithm.</a:t>
            </a:r>
          </a:p>
        </p:txBody>
      </p:sp>
      <p:sp>
        <p:nvSpPr>
          <p:cNvPr id="16" name="Text 11">
            <a:extLst xmlns:a="http://schemas.openxmlformats.org/drawingml/2006/main">
              <a:ext uri="{FF2B5EF4-FFF2-40B4-BE49-F238E27FC236}">
                <a16:creationId xmlns:a16="http://schemas.microsoft.com/office/drawing/2014/main" id="{30977E7B-E1D7-4C7F-868B-151885AC4D5B}"/>
              </a:ext>
            </a:extLst>
          </p:cNvPr>
          <p:cNvSpPr>
            <a:spLocks xmlns:a="http://schemas.openxmlformats.org/drawingml/2006/main" noGrp="1"/>
          </p:cNvSpPr>
          <p:nvPr/>
        </p:nvSpPr>
        <p:spPr>
          <a:xfrm xmlns:a="http://schemas.openxmlformats.org/drawingml/2006/main">
            <a:off x="1143000"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01</a:t>
            </a:r>
          </a:p>
        </p:txBody>
      </p:sp>
      <p:sp>
        <p:nvSpPr>
          <p:cNvPr id="17" name="Text 12">
            <a:extLst xmlns:a="http://schemas.openxmlformats.org/drawingml/2006/main">
              <a:ext uri="{FF2B5EF4-FFF2-40B4-BE49-F238E27FC236}">
                <a16:creationId xmlns:a16="http://schemas.microsoft.com/office/drawing/2014/main" id="{41D8E78A-FDE1-4881-BF52-1FF5D44B85D7}"/>
              </a:ext>
            </a:extLst>
          </p:cNvPr>
          <p:cNvSpPr>
            <a:spLocks xmlns:a="http://schemas.openxmlformats.org/drawingml/2006/main" noGrp="1"/>
          </p:cNvSpPr>
          <p:nvPr/>
        </p:nvSpPr>
        <p:spPr>
          <a:xfrm xmlns:a="http://schemas.openxmlformats.org/drawingml/2006/main">
            <a:off x="1143000" y="6439205"/>
            <a:ext cx="54489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Signals shift across educational contexts.</a:t>
            </a:r>
          </a:p>
        </p:txBody>
      </p:sp>
      <p:sp>
        <p:nvSpPr>
          <p:cNvPr id="18" name="Text 13">
            <a:extLst xmlns:a="http://schemas.openxmlformats.org/drawingml/2006/main">
              <a:ext uri="{FF2B5EF4-FFF2-40B4-BE49-F238E27FC236}">
                <a16:creationId xmlns:a16="http://schemas.microsoft.com/office/drawing/2014/main" id="{D3602F1F-D777-477A-AA58-02FA8370E98E}"/>
              </a:ext>
            </a:extLst>
          </p:cNvPr>
          <p:cNvSpPr>
            <a:spLocks xmlns:a="http://schemas.openxmlformats.org/drawingml/2006/main" noGrp="1"/>
          </p:cNvSpPr>
          <p:nvPr/>
        </p:nvSpPr>
        <p:spPr>
          <a:xfrm xmlns:a="http://schemas.openxmlformats.org/drawingml/2006/main">
            <a:off x="1143000" y="6844284"/>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UCI emphasizes academic and financial records; OULAD emphasizes assessment progress, engagement, and program context. We compared the contexts but did not directly test cross-dataset model transfer.</a:t>
            </a:r>
          </a:p>
        </p:txBody>
      </p:sp>
      <p:sp>
        <p:nvSpPr>
          <p:cNvPr id="19" name="Text 14">
            <a:extLst xmlns:a="http://schemas.openxmlformats.org/drawingml/2006/main">
              <a:ext uri="{FF2B5EF4-FFF2-40B4-BE49-F238E27FC236}">
                <a16:creationId xmlns:a16="http://schemas.microsoft.com/office/drawing/2014/main" id="{A33BD362-8F92-49BC-8981-43639A2CB2D5}"/>
              </a:ext>
            </a:extLst>
          </p:cNvPr>
          <p:cNvSpPr>
            <a:spLocks xmlns:a="http://schemas.openxmlformats.org/drawingml/2006/main" noGrp="1"/>
          </p:cNvSpPr>
          <p:nvPr/>
        </p:nvSpPr>
        <p:spPr>
          <a:xfrm xmlns:a="http://schemas.openxmlformats.org/drawingml/2006/main">
            <a:off x="678210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02</a:t>
            </a:r>
          </a:p>
        </p:txBody>
      </p:sp>
      <p:sp>
        <p:nvSpPr>
          <p:cNvPr id="20" name="Text 15">
            <a:extLst xmlns:a="http://schemas.openxmlformats.org/drawingml/2006/main">
              <a:ext uri="{FF2B5EF4-FFF2-40B4-BE49-F238E27FC236}">
                <a16:creationId xmlns:a16="http://schemas.microsoft.com/office/drawing/2014/main" id="{8A2FC5D1-E657-4BF3-81D3-C0D0F3D75623}"/>
              </a:ext>
            </a:extLst>
          </p:cNvPr>
          <p:cNvSpPr>
            <a:spLocks xmlns:a="http://schemas.openxmlformats.org/drawingml/2006/main" noGrp="1"/>
          </p:cNvSpPr>
          <p:nvPr/>
        </p:nvSpPr>
        <p:spPr>
          <a:xfrm xmlns:a="http://schemas.openxmlformats.org/drawingml/2006/main">
            <a:off x="6782105" y="6439205"/>
            <a:ext cx="4763110" cy="5532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Timing matters more than small tuning gains.</a:t>
            </a:r>
          </a:p>
        </p:txBody>
      </p:sp>
      <p:sp>
        <p:nvSpPr>
          <p:cNvPr id="21" name="Text 16">
            <a:extLst xmlns:a="http://schemas.openxmlformats.org/drawingml/2006/main">
              <a:ext uri="{FF2B5EF4-FFF2-40B4-BE49-F238E27FC236}">
                <a16:creationId xmlns:a16="http://schemas.microsoft.com/office/drawing/2014/main" id="{85A89FEE-EF3B-4105-AFF1-E8F554B36BBB}"/>
              </a:ext>
            </a:extLst>
          </p:cNvPr>
          <p:cNvSpPr>
            <a:spLocks xmlns:a="http://schemas.openxmlformats.org/drawingml/2006/main" noGrp="1"/>
          </p:cNvSpPr>
          <p:nvPr/>
        </p:nvSpPr>
        <p:spPr>
          <a:xfrm xmlns:a="http://schemas.openxmlformats.org/drawingml/2006/main">
            <a:off x="6782105" y="7116775"/>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OULAD F1 increased from 0.682 at day 35 to 0.738 at day 75. Earlier warnings leave more time to intervene, while later windows provide more evidence.</a:t>
            </a:r>
          </a:p>
        </p:txBody>
      </p:sp>
      <p:sp>
        <p:nvSpPr>
          <p:cNvPr id="22" name="Text 17">
            <a:extLst xmlns:a="http://schemas.openxmlformats.org/drawingml/2006/main">
              <a:ext uri="{FF2B5EF4-FFF2-40B4-BE49-F238E27FC236}">
                <a16:creationId xmlns:a16="http://schemas.microsoft.com/office/drawing/2014/main" id="{94E81009-3475-4D60-A01C-6F8ADB3B4C2B}"/>
              </a:ext>
            </a:extLst>
          </p:cNvPr>
          <p:cNvSpPr>
            <a:spLocks xmlns:a="http://schemas.openxmlformats.org/drawingml/2006/main" noGrp="1"/>
          </p:cNvSpPr>
          <p:nvPr/>
        </p:nvSpPr>
        <p:spPr>
          <a:xfrm xmlns:a="http://schemas.openxmlformats.org/drawingml/2006/main">
            <a:off x="1242029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03</a:t>
            </a:r>
          </a:p>
        </p:txBody>
      </p:sp>
      <p:sp>
        <p:nvSpPr>
          <p:cNvPr id="23" name="Text 18">
            <a:extLst xmlns:a="http://schemas.openxmlformats.org/drawingml/2006/main">
              <a:ext uri="{FF2B5EF4-FFF2-40B4-BE49-F238E27FC236}">
                <a16:creationId xmlns:a16="http://schemas.microsoft.com/office/drawing/2014/main" id="{2220A44E-B750-45DC-96BF-6C9E817256EA}"/>
              </a:ext>
            </a:extLst>
          </p:cNvPr>
          <p:cNvSpPr>
            <a:spLocks xmlns:a="http://schemas.openxmlformats.org/drawingml/2006/main" noGrp="1"/>
          </p:cNvSpPr>
          <p:nvPr/>
        </p:nvSpPr>
        <p:spPr>
          <a:xfrm xmlns:a="http://schemas.openxmlformats.org/drawingml/2006/main">
            <a:off x="12420295" y="6439205"/>
            <a:ext cx="47631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The model is only step one.</a:t>
            </a:r>
          </a:p>
        </p:txBody>
      </p:sp>
      <p:sp>
        <p:nvSpPr>
          <p:cNvPr id="24" name="Text 19">
            <a:extLst xmlns:a="http://schemas.openxmlformats.org/drawingml/2006/main">
              <a:ext uri="{FF2B5EF4-FFF2-40B4-BE49-F238E27FC236}">
                <a16:creationId xmlns:a16="http://schemas.microsoft.com/office/drawing/2014/main" id="{2BCCD961-F48B-487C-84C8-E84F1CBAF336}"/>
              </a:ext>
            </a:extLst>
          </p:cNvPr>
          <p:cNvSpPr>
            <a:spLocks xmlns:a="http://schemas.openxmlformats.org/drawingml/2006/main" noGrp="1"/>
          </p:cNvSpPr>
          <p:nvPr/>
        </p:nvSpPr>
        <p:spPr>
          <a:xfrm xmlns:a="http://schemas.openxmlformats.org/drawingml/2006/main">
            <a:off x="12420295" y="6844284"/>
            <a:ext cx="47631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Value comes from the intervention, not the prediction. Intervention effectiveness still needs prospective evaluation and cannot be inferred from these historical datasets.</a:t>
            </a:r>
          </a:p>
        </p:txBody>
      </p:sp>
    </p:spTree>
    <p:extLst>
      <p:ext uri="{BB962C8B-B14F-4D97-AF65-F5344CB8AC3E}">
        <p14:creationId xmlns:p14="http://schemas.microsoft.com/office/powerpoint/2010/main" val="482715771"/>
      </p:ext>
    </p:extLst>
  </p:cSld>
</p:sld>
</file>

<file path=ppt/slides/slide18.xml><?xml version="1.0" encoding="utf-8"?>
<p:sld xmlns:p="http://schemas.openxmlformats.org/presentationml/2006/main">
  <p:cSld>
    <p:bg>
      <p:bgPr>
        <a:solidFill xmlns:a="http://schemas.openxmlformats.org/drawingml/2006/main">
          <a:srgbClr val="0F1226"/>
        </a:solidFill>
      </p:bgPr>
    </p:bg>
    <p:spTree>
      <p:nvGrpSpPr>
        <p:cNvPr id="1" name=""/>
        <p:cNvGrpSpPr/>
        <p:nvPr/>
      </p:nvGrpSpPr>
      <p:grpSpPr>
        <a:xfrm xmlns:a="http://schemas.openxmlformats.org/drawingml/2006/main"/>
      </p:grpSpPr>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ee7bbd78bf6b4265"/>
          <a:srcRect xmlns:a="http://schemas.openxmlformats.org/drawingml/2006/main" l="0" t="0" r="0" b="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pic>
        <p:nvPicPr>
          <p:cNvPr id="24" name="Image 1"/>
          <p:cNvPicPr>
            <a:picLocks xmlns:a="http://schemas.openxmlformats.org/drawingml/2006/main" noChangeAspect="1"/>
          </p:cNvPicPr>
          <p:nvPr/>
        </p:nvPicPr>
        <p:blipFill>
          <a:blip xmlns:r="http://schemas.openxmlformats.org/officeDocument/2006/relationships" xmlns:a="http://schemas.openxmlformats.org/drawingml/2006/main" r:embed="R1b738889cc9f4c78"/>
          <a:srcRect xmlns:a="http://schemas.openxmlformats.org/drawingml/2006/main" l="0" t="-207" r="0" b="-207"/>
          <a:stretch xmlns:a="http://schemas.openxmlformats.org/drawingml/2006/main"/>
        </p:blipFill>
        <p:spPr>
          <a:xfrm xmlns:a="http://schemas.openxmlformats.org/drawingml/2006/main">
            <a:off x="0" y="0"/>
            <a:ext cx="75895" cy="2667305"/>
          </a:xfrm>
          <a:prstGeom xmlns:a="http://schemas.openxmlformats.org/drawingml/2006/main" prst="rect">
            <a:avLst/>
          </a:prstGeom>
        </p:spPr>
      </p:pic>
      <p:pic>
        <p:nvPicPr>
          <p:cNvPr id="25" name="Image 2"/>
          <p:cNvPicPr>
            <a:picLocks xmlns:a="http://schemas.openxmlformats.org/drawingml/2006/main" noChangeAspect="1"/>
          </p:cNvPicPr>
          <p:nvPr/>
        </p:nvPicPr>
        <p:blipFill>
          <a:blip xmlns:r="http://schemas.openxmlformats.org/officeDocument/2006/relationships" xmlns:a="http://schemas.openxmlformats.org/drawingml/2006/main" r:embed="R4b5a02082e924999"/>
          <a:srcRect xmlns:a="http://schemas.openxmlformats.org/drawingml/2006/main" l="-207" t="0" r="-207" b="0"/>
          <a:stretch xmlns:a="http://schemas.openxmlformats.org/drawingml/2006/main"/>
        </p:blipFill>
        <p:spPr>
          <a:xfrm xmlns:a="http://schemas.openxmlformats.org/drawingml/2006/main">
            <a:off x="0" y="0"/>
            <a:ext cx="2667305" cy="75895"/>
          </a:xfrm>
          <a:prstGeom xmlns:a="http://schemas.openxmlformats.org/drawingml/2006/main" prst="rect">
            <a:avLst/>
          </a:prstGeom>
        </p:spPr>
      </p:pic>
      <p:sp>
        <p:nvSpPr>
          <p:cNvPr id="6" name="Shape 0">
            <a:extLst xmlns:a="http://schemas.openxmlformats.org/drawingml/2006/main">
              <a:ext uri="{FF2B5EF4-FFF2-40B4-BE49-F238E27FC236}">
                <a16:creationId xmlns:a16="http://schemas.microsoft.com/office/drawing/2014/main" id="{3EA1E4C6-0D0F-41B9-9BFE-3C5F04D0E8C7}"/>
              </a:ext>
            </a:extLst>
          </p:cNvPr>
          <p:cNvSpPr>
            <a:spLocks xmlns:a="http://schemas.openxmlformats.org/drawingml/2006/main" noGrp="1"/>
          </p:cNvSpPr>
          <p:nvPr/>
        </p:nvSpPr>
        <p:spPr>
          <a:xfrm xmlns:a="http://schemas.openxmlformats.org/drawingml/2006/main">
            <a:off x="12954305" y="3238805"/>
            <a:ext cx="4401007" cy="3829507"/>
          </a:xfrm>
          <a:prstGeom xmlns:a="http://schemas.openxmlformats.org/drawingml/2006/main" prst="roundRect">
            <a:avLst>
              <a:gd name="adj" fmla="val 501"/>
            </a:avLst>
          </a:prstGeom>
          <a:solidFill xmlns:a="http://schemas.openxmlformats.org/drawingml/2006/main">
            <a:srgbClr val="FFFFFF">
              <a:alpha val="4000"/>
            </a:srgbClr>
          </a:solidFill>
          <a:ln xmlns:a="http://schemas.openxmlformats.org/drawingml/2006/main" w="12700">
            <a:solidFill>
              <a:srgbClr val="FFFFFF">
                <a:alpha val="10000"/>
              </a:srgbClr>
            </a:solidFill>
            <a:prstDash val="solid"/>
          </a:ln>
        </p:spPr>
      </p:sp>
      <p:sp>
        <p:nvSpPr>
          <p:cNvPr id="7" name="Text 1">
            <a:extLst xmlns:a="http://schemas.openxmlformats.org/drawingml/2006/main">
              <a:ext uri="{FF2B5EF4-FFF2-40B4-BE49-F238E27FC236}">
                <a16:creationId xmlns:a16="http://schemas.microsoft.com/office/drawing/2014/main" id="{AD5C0D60-9440-4A1B-BA36-1632B60FC641}"/>
              </a:ext>
            </a:extLst>
          </p:cNvPr>
          <p:cNvSpPr>
            <a:spLocks xmlns:a="http://schemas.openxmlformats.org/drawingml/2006/main" noGrp="1"/>
          </p:cNvSpPr>
          <p:nvPr/>
        </p:nvSpPr>
        <p:spPr>
          <a:xfrm xmlns:a="http://schemas.openxmlformats.org/drawingml/2006/main">
            <a:off x="952805" y="761695"/>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 10 · Discussion</a:t>
            </a:r>
          </a:p>
        </p:txBody>
      </p:sp>
      <p:sp>
        <p:nvSpPr>
          <p:cNvPr id="8" name="Text 2">
            <a:extLst xmlns:a="http://schemas.openxmlformats.org/drawingml/2006/main">
              <a:ext uri="{FF2B5EF4-FFF2-40B4-BE49-F238E27FC236}">
                <a16:creationId xmlns:a16="http://schemas.microsoft.com/office/drawing/2014/main" id="{6A3759CE-299E-4E2D-903F-A8E13E8886F7}"/>
              </a:ext>
            </a:extLst>
          </p:cNvPr>
          <p:cNvSpPr>
            <a:spLocks xmlns:a="http://schemas.openxmlformats.org/drawingml/2006/main" noGrp="1"/>
          </p:cNvSpPr>
          <p:nvPr/>
        </p:nvSpPr>
        <p:spPr>
          <a:xfrm xmlns:a="http://schemas.openxmlformats.org/drawingml/2006/main">
            <a:off x="15240305" y="761695"/>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FFFFFF">
                    <a:alpha val="55000"/>
                  </a:srgbClr>
                </a:solidFill>
                <a:latin typeface="JetBrains Mono"/>
                <a:ea typeface="JetBrains Mono"/>
                <a:cs typeface="JetBrains Mono"/>
              </a:rPr>
              <a:t>18 / 20</a:t>
            </a:r>
          </a:p>
        </p:txBody>
      </p:sp>
      <p:sp>
        <p:nvSpPr>
          <p:cNvPr id="9" name="Text 3">
            <a:extLst xmlns:a="http://schemas.openxmlformats.org/drawingml/2006/main">
              <a:ext uri="{FF2B5EF4-FFF2-40B4-BE49-F238E27FC236}">
                <a16:creationId xmlns:a16="http://schemas.microsoft.com/office/drawing/2014/main" id="{62F006FD-EA69-4115-8B2B-45797E658BBF}"/>
              </a:ext>
            </a:extLst>
          </p:cNvPr>
          <p:cNvSpPr>
            <a:spLocks xmlns:a="http://schemas.openxmlformats.org/drawingml/2006/main" noGrp="1"/>
          </p:cNvSpPr>
          <p:nvPr/>
        </p:nvSpPr>
        <p:spPr>
          <a:xfrm xmlns:a="http://schemas.openxmlformats.org/drawingml/2006/main">
            <a:off x="952805" y="1904695"/>
            <a:ext cx="13335610" cy="24003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1000" i="1">
                <a:solidFill>
                  <a:srgbClr val="FFFFFF">
                    <a:alpha val="10000"/>
                  </a:srgbClr>
                </a:solidFill>
                <a:latin typeface="Source Serif Pro"/>
                <a:ea typeface="Source Serif Pro"/>
                <a:cs typeface="Source Serif Pro"/>
              </a:rPr>
              <a:t>Q&amp;A</a:t>
            </a:r>
          </a:p>
        </p:txBody>
      </p:sp>
      <p:sp>
        <p:nvSpPr>
          <p:cNvPr id="10" name="Text 4">
            <a:extLst xmlns:a="http://schemas.openxmlformats.org/drawingml/2006/main">
              <a:ext uri="{FF2B5EF4-FFF2-40B4-BE49-F238E27FC236}">
                <a16:creationId xmlns:a16="http://schemas.microsoft.com/office/drawing/2014/main" id="{3B672DA6-ABEC-4516-ABE1-A4FEB0DD6DA3}"/>
              </a:ext>
            </a:extLst>
          </p:cNvPr>
          <p:cNvSpPr>
            <a:spLocks xmlns:a="http://schemas.openxmlformats.org/drawingml/2006/main" noGrp="1"/>
          </p:cNvSpPr>
          <p:nvPr/>
        </p:nvSpPr>
        <p:spPr>
          <a:xfrm xmlns:a="http://schemas.openxmlformats.org/drawingml/2006/main">
            <a:off x="952805" y="5524805"/>
            <a:ext cx="11430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5CA0"/>
                </a:solidFill>
                <a:latin typeface="JetBrains Mono"/>
                <a:ea typeface="JetBrains Mono"/>
                <a:cs typeface="JetBrains Mono"/>
              </a:rPr>
              <a:t>Five minutes for discussion</a:t>
            </a:r>
          </a:p>
        </p:txBody>
      </p:sp>
      <p:sp>
        <p:nvSpPr>
          <p:cNvPr id="11" name="Text 5">
            <a:extLst xmlns:a="http://schemas.openxmlformats.org/drawingml/2006/main">
              <a:ext uri="{FF2B5EF4-FFF2-40B4-BE49-F238E27FC236}">
                <a16:creationId xmlns:a16="http://schemas.microsoft.com/office/drawing/2014/main" id="{E9C74FAE-76A2-4458-921B-B9B3588D4984}"/>
              </a:ext>
            </a:extLst>
          </p:cNvPr>
          <p:cNvSpPr>
            <a:spLocks xmlns:a="http://schemas.openxmlformats.org/drawingml/2006/main" noGrp="1"/>
          </p:cNvSpPr>
          <p:nvPr/>
        </p:nvSpPr>
        <p:spPr>
          <a:xfrm xmlns:a="http://schemas.openxmlformats.org/drawingml/2006/main">
            <a:off x="952805" y="5905195"/>
            <a:ext cx="13376758" cy="9144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7200" b="1">
                <a:solidFill>
                  <a:srgbClr val="FFFFFF"/>
                </a:solidFill>
                <a:latin typeface="Inter"/>
                <a:ea typeface="Inter"/>
                <a:cs typeface="Inter"/>
              </a:rPr>
              <a:t>Questions and Discussion</a:t>
            </a:r>
          </a:p>
        </p:txBody>
      </p:sp>
      <p:sp>
        <p:nvSpPr>
          <p:cNvPr id="12" name="Text 6">
            <a:extLst xmlns:a="http://schemas.openxmlformats.org/drawingml/2006/main">
              <a:ext uri="{FF2B5EF4-FFF2-40B4-BE49-F238E27FC236}">
                <a16:creationId xmlns:a16="http://schemas.microsoft.com/office/drawing/2014/main" id="{7F8065DA-EBFC-4182-B896-8A4C6BE39992}"/>
              </a:ext>
            </a:extLst>
          </p:cNvPr>
          <p:cNvSpPr>
            <a:spLocks xmlns:a="http://schemas.openxmlformats.org/drawingml/2006/main" noGrp="1"/>
          </p:cNvSpPr>
          <p:nvPr/>
        </p:nvSpPr>
        <p:spPr>
          <a:xfrm xmlns:a="http://schemas.openxmlformats.org/drawingml/2006/main">
            <a:off x="952805" y="7125005"/>
            <a:ext cx="11430000" cy="7342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800" b="1">
                <a:solidFill>
                  <a:srgbClr val="FF5CA0"/>
                </a:solidFill>
                <a:latin typeface="Inter"/>
                <a:ea typeface="Inter"/>
                <a:cs typeface="Inter"/>
              </a:rPr>
              <a:t>Questions?</a:t>
            </a:r>
          </a:p>
        </p:txBody>
      </p:sp>
      <p:sp>
        <p:nvSpPr>
          <p:cNvPr id="13" name="Text 7">
            <a:extLst xmlns:a="http://schemas.openxmlformats.org/drawingml/2006/main">
              <a:ext uri="{FF2B5EF4-FFF2-40B4-BE49-F238E27FC236}">
                <a16:creationId xmlns:a16="http://schemas.microsoft.com/office/drawing/2014/main" id="{DEC3C37D-8797-4FD5-B978-88536DF92469}"/>
              </a:ext>
            </a:extLst>
          </p:cNvPr>
          <p:cNvSpPr>
            <a:spLocks xmlns:a="http://schemas.openxmlformats.org/drawingml/2006/main" noGrp="1"/>
          </p:cNvSpPr>
          <p:nvPr/>
        </p:nvSpPr>
        <p:spPr>
          <a:xfrm xmlns:a="http://schemas.openxmlformats.org/drawingml/2006/main">
            <a:off x="952805" y="9239098"/>
            <a:ext cx="11430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FFFFFF">
                    <a:alpha val="70000"/>
                  </a:srgbClr>
                </a:solidFill>
                <a:latin typeface="JetBrains Mono"/>
                <a:ea typeface="JetBrains Mono"/>
                <a:cs typeface="JetBrains Mono"/>
              </a:rPr>
              <a:t>Suggested topics · methodology · threshold choice · explainability · fairness · pilot assumptions · limitations</a:t>
            </a:r>
          </a:p>
        </p:txBody>
      </p:sp>
      <p:sp>
        <p:nvSpPr>
          <p:cNvPr id="14" name="Text 8">
            <a:extLst xmlns:a="http://schemas.openxmlformats.org/drawingml/2006/main">
              <a:ext uri="{FF2B5EF4-FFF2-40B4-BE49-F238E27FC236}">
                <a16:creationId xmlns:a16="http://schemas.microsoft.com/office/drawing/2014/main" id="{96A86732-91DB-46AE-85F0-72770F0CAC21}"/>
              </a:ext>
            </a:extLst>
          </p:cNvPr>
          <p:cNvSpPr>
            <a:spLocks xmlns:a="http://schemas.openxmlformats.org/drawingml/2006/main" noGrp="1"/>
          </p:cNvSpPr>
          <p:nvPr/>
        </p:nvSpPr>
        <p:spPr>
          <a:xfrm xmlns:a="http://schemas.openxmlformats.org/drawingml/2006/main">
            <a:off x="13334695" y="3476549"/>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FFFF">
                    <a:alpha val="55000"/>
                  </a:srgbClr>
                </a:solidFill>
                <a:latin typeface="JetBrains Mono"/>
                <a:ea typeface="JetBrains Mono"/>
                <a:cs typeface="JetBrains Mono"/>
              </a:rPr>
              <a:t>Group 21</a:t>
            </a:r>
          </a:p>
        </p:txBody>
      </p:sp>
      <p:sp>
        <p:nvSpPr>
          <p:cNvPr id="15" name="Text 9">
            <a:extLst xmlns:a="http://schemas.openxmlformats.org/drawingml/2006/main">
              <a:ext uri="{FF2B5EF4-FFF2-40B4-BE49-F238E27FC236}">
                <a16:creationId xmlns:a16="http://schemas.microsoft.com/office/drawing/2014/main" id="{2F9133EF-123A-4170-86AA-3CC3D3E368EF}"/>
              </a:ext>
            </a:extLst>
          </p:cNvPr>
          <p:cNvSpPr>
            <a:spLocks xmlns:a="http://schemas.openxmlformats.org/drawingml/2006/main" noGrp="1"/>
          </p:cNvSpPr>
          <p:nvPr/>
        </p:nvSpPr>
        <p:spPr>
          <a:xfrm xmlns:a="http://schemas.openxmlformats.org/drawingml/2006/main">
            <a:off x="13334695" y="3706978"/>
            <a:ext cx="3715207" cy="779069"/>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940"/>
              </a:lnSpc>
              <a:buNone/>
            </a:pPr>
            <a:r>
              <a:rPr sz="2100" b="1">
                <a:solidFill>
                  <a:srgbClr val="FFFFFF"/>
                </a:solidFill>
                <a:latin typeface="Inter"/>
                <a:ea typeface="Inter"/>
                <a:cs typeface="Inter"/>
              </a:rPr>
              <a:t>Xinyu Wang</a:t>
            </a:r>
          </a:p>
          <a:p xmlns:a="http://schemas.openxmlformats.org/drawingml/2006/main">
            <a:pPr marL="0" indent="0" algn="l">
              <a:lnSpc>
                <a:spcPts val="2940"/>
              </a:lnSpc>
              <a:buNone/>
            </a:pPr>
            <a:r>
              <a:rPr sz="2100" b="1">
                <a:solidFill>
                  <a:srgbClr val="FFFFFF"/>
                </a:solidFill>
                <a:latin typeface="Inter"/>
                <a:ea typeface="Inter"/>
                <a:cs typeface="Inter"/>
              </a:rPr>
              <a:t>Wu Hanming</a:t>
            </a:r>
          </a:p>
        </p:txBody>
      </p:sp>
      <p:sp>
        <p:nvSpPr>
          <p:cNvPr id="16" name="Shape 10">
            <a:extLst xmlns:a="http://schemas.openxmlformats.org/drawingml/2006/main">
              <a:ext uri="{FF2B5EF4-FFF2-40B4-BE49-F238E27FC236}">
                <a16:creationId xmlns:a16="http://schemas.microsoft.com/office/drawing/2014/main" id="{DC1389AD-1452-4889-A32D-C4A51EC26C61}"/>
              </a:ext>
            </a:extLst>
          </p:cNvPr>
          <p:cNvSpPr>
            <a:spLocks xmlns:a="http://schemas.openxmlformats.org/drawingml/2006/main" noGrp="1"/>
          </p:cNvSpPr>
          <p:nvPr/>
        </p:nvSpPr>
        <p:spPr>
          <a:xfrm xmlns:a="http://schemas.openxmlformats.org/drawingml/2006/main">
            <a:off x="13334695" y="4785055"/>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7" name="Text 11">
            <a:extLst xmlns:a="http://schemas.openxmlformats.org/drawingml/2006/main">
              <a:ext uri="{FF2B5EF4-FFF2-40B4-BE49-F238E27FC236}">
                <a16:creationId xmlns:a16="http://schemas.microsoft.com/office/drawing/2014/main" id="{4CC6DD20-4831-4877-9D3E-1643366332B7}"/>
              </a:ext>
            </a:extLst>
          </p:cNvPr>
          <p:cNvSpPr>
            <a:spLocks xmlns:a="http://schemas.openxmlformats.org/drawingml/2006/main" noGrp="1"/>
          </p:cNvSpPr>
          <p:nvPr/>
        </p:nvSpPr>
        <p:spPr>
          <a:xfrm xmlns:a="http://schemas.openxmlformats.org/drawingml/2006/main">
            <a:off x="13334695" y="4937760"/>
            <a:ext cx="3715207" cy="10671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90500" tIns="0" rIns="190500" bIns="190500" anchor="t"/>
          <a:lstStyle xmlns:a="http://schemas.openxmlformats.org/drawingml/2006/main"/>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MBAI 5600G Capstone</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Faculty of Business and IT</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Ontario Tech University</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2026-08-10</a:t>
            </a:r>
          </a:p>
        </p:txBody>
      </p:sp>
      <p:sp>
        <p:nvSpPr>
          <p:cNvPr id="18" name="Shape 12">
            <a:extLst xmlns:a="http://schemas.openxmlformats.org/drawingml/2006/main">
              <a:ext uri="{FF2B5EF4-FFF2-40B4-BE49-F238E27FC236}">
                <a16:creationId xmlns:a16="http://schemas.microsoft.com/office/drawing/2014/main" id="{8625C5DB-58C6-4F1D-A3CB-61ECFCB8D99A}"/>
              </a:ext>
            </a:extLst>
          </p:cNvPr>
          <p:cNvSpPr>
            <a:spLocks xmlns:a="http://schemas.openxmlformats.org/drawingml/2006/main" noGrp="1"/>
          </p:cNvSpPr>
          <p:nvPr/>
        </p:nvSpPr>
        <p:spPr>
          <a:xfrm xmlns:a="http://schemas.openxmlformats.org/drawingml/2006/main">
            <a:off x="13334695" y="6227064"/>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9" name="Text 13">
            <a:extLst xmlns:a="http://schemas.openxmlformats.org/drawingml/2006/main">
              <a:ext uri="{FF2B5EF4-FFF2-40B4-BE49-F238E27FC236}">
                <a16:creationId xmlns:a16="http://schemas.microsoft.com/office/drawing/2014/main" id="{EF2DE8C1-EEF3-4E4D-A927-E8674C7F3316}"/>
              </a:ext>
            </a:extLst>
          </p:cNvPr>
          <p:cNvSpPr>
            <a:spLocks xmlns:a="http://schemas.openxmlformats.org/drawingml/2006/main" noGrp="1"/>
          </p:cNvSpPr>
          <p:nvPr/>
        </p:nvSpPr>
        <p:spPr>
          <a:xfrm xmlns:a="http://schemas.openxmlformats.org/drawingml/2006/main">
            <a:off x="13334695" y="6388913"/>
            <a:ext cx="3715207" cy="40050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All figures produced from the project pipeline. Full references on slide 20.</a:t>
            </a:r>
          </a:p>
        </p:txBody>
      </p:sp>
    </p:spTree>
    <p:extLst>
      <p:ext uri="{BB962C8B-B14F-4D97-AF65-F5344CB8AC3E}">
        <p14:creationId xmlns:p14="http://schemas.microsoft.com/office/powerpoint/2010/main" val="1154100330"/>
      </p:ext>
    </p:extLst>
  </p:cSld>
</p:sld>
</file>

<file path=ppt/slides/slide1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898d58baa7114bb4"/>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1C7CB7DE-BCDE-431F-B889-4F4A3BA234C0}"/>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886F26FD-D06A-4C6B-8379-63AF94E2B96B}"/>
              </a:ext>
            </a:extLst>
          </p:cNvPr>
          <p:cNvSpPr>
            <a:spLocks xmlns:a="http://schemas.openxmlformats.org/drawingml/2006/main" noGrp="1"/>
          </p:cNvSpPr>
          <p:nvPr/>
        </p:nvSpPr>
        <p:spPr>
          <a:xfrm xmlns:a="http://schemas.openxmlformats.org/drawingml/2006/main">
            <a:off x="9239098" y="2762402"/>
            <a:ext cx="8287207" cy="6476695"/>
          </a:xfrm>
          <a:prstGeom xmlns:a="http://schemas.openxmlformats.org/drawingml/2006/main" prst="roundRect">
            <a:avLst>
              <a:gd name="adj" fmla="val 296"/>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Text 2">
            <a:extLst xmlns:a="http://schemas.openxmlformats.org/drawingml/2006/main">
              <a:ext uri="{FF2B5EF4-FFF2-40B4-BE49-F238E27FC236}">
                <a16:creationId xmlns:a16="http://schemas.microsoft.com/office/drawing/2014/main" id="{BAF51B3B-8398-4B58-AADA-C1A2EF73A5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Appendix · Detailed assumptions (not spoken)</a:t>
            </a:r>
          </a:p>
        </p:txBody>
      </p:sp>
      <p:sp>
        <p:nvSpPr>
          <p:cNvPr id="6" name="Text 3">
            <a:extLst xmlns:a="http://schemas.openxmlformats.org/drawingml/2006/main">
              <a:ext uri="{FF2B5EF4-FFF2-40B4-BE49-F238E27FC236}">
                <a16:creationId xmlns:a16="http://schemas.microsoft.com/office/drawing/2014/main" id="{0305CB88-351D-46AD-BE09-50E2F9CA892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19 / 20</a:t>
            </a:r>
          </a:p>
        </p:txBody>
      </p:sp>
      <p:sp>
        <p:nvSpPr>
          <p:cNvPr id="7" name="Text 4">
            <a:extLst xmlns:a="http://schemas.openxmlformats.org/drawingml/2006/main">
              <a:ext uri="{FF2B5EF4-FFF2-40B4-BE49-F238E27FC236}">
                <a16:creationId xmlns:a16="http://schemas.microsoft.com/office/drawing/2014/main" id="{B1E223A2-34F7-489E-A141-94EC097F586C}"/>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Detailed assumptions &amp; evaluation criteria.</a:t>
            </a:r>
          </a:p>
        </p:txBody>
      </p:sp>
      <p:sp>
        <p:nvSpPr>
          <p:cNvPr id="8" name="Text 5">
            <a:extLst xmlns:a="http://schemas.openxmlformats.org/drawingml/2006/main">
              <a:ext uri="{FF2B5EF4-FFF2-40B4-BE49-F238E27FC236}">
                <a16:creationId xmlns:a16="http://schemas.microsoft.com/office/drawing/2014/main" id="{CA1C26BC-C394-493D-8D5A-50E9B72D670C}"/>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Reference material for the written submission and Q&amp;A — not part of the spoken talk.</a:t>
            </a:r>
          </a:p>
        </p:txBody>
      </p:sp>
      <p:sp>
        <p:nvSpPr>
          <p:cNvPr id="9" name="Text 6">
            <a:extLst xmlns:a="http://schemas.openxmlformats.org/drawingml/2006/main">
              <a:ext uri="{FF2B5EF4-FFF2-40B4-BE49-F238E27FC236}">
                <a16:creationId xmlns:a16="http://schemas.microsoft.com/office/drawing/2014/main" id="{AFF922E4-0D75-408F-B975-97E974FF4916}"/>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Working assumptions</a:t>
            </a:r>
          </a:p>
        </p:txBody>
      </p:sp>
      <p:sp>
        <p:nvSpPr>
          <p:cNvPr id="10" name="Text 7">
            <a:extLst xmlns:a="http://schemas.openxmlformats.org/drawingml/2006/main">
              <a:ext uri="{FF2B5EF4-FFF2-40B4-BE49-F238E27FC236}">
                <a16:creationId xmlns:a16="http://schemas.microsoft.com/office/drawing/2014/main" id="{53532896-9CF0-45C7-8B7A-430362A9180E}"/>
              </a:ext>
            </a:extLst>
          </p:cNvPr>
          <p:cNvSpPr>
            <a:spLocks xmlns:a="http://schemas.openxmlformats.org/drawingml/2006/main" noGrp="1"/>
          </p:cNvSpPr>
          <p:nvPr/>
        </p:nvSpPr>
        <p:spPr>
          <a:xfrm xmlns:a="http://schemas.openxmlformats.org/drawingml/2006/main">
            <a:off x="1143000"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has to hold for the results to be meaningful.</a:t>
            </a:r>
          </a:p>
        </p:txBody>
      </p:sp>
      <p:sp>
        <p:nvSpPr>
          <p:cNvPr id="11" name="Shape 8">
            <a:extLst xmlns:a="http://schemas.openxmlformats.org/drawingml/2006/main">
              <a:ext uri="{FF2B5EF4-FFF2-40B4-BE49-F238E27FC236}">
                <a16:creationId xmlns:a16="http://schemas.microsoft.com/office/drawing/2014/main" id="{DBEABBAD-B968-488E-83F0-743C761B79A1}"/>
              </a:ext>
            </a:extLst>
          </p:cNvPr>
          <p:cNvSpPr>
            <a:spLocks xmlns:a="http://schemas.openxmlformats.org/drawingml/2006/main" noGrp="1"/>
          </p:cNvSpPr>
          <p:nvPr/>
        </p:nvSpPr>
        <p:spPr>
          <a:xfrm xmlns:a="http://schemas.openxmlformats.org/drawingml/2006/main">
            <a:off x="1143000" y="3782873"/>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2" name="Text 9">
            <a:extLst xmlns:a="http://schemas.openxmlformats.org/drawingml/2006/main">
              <a:ext uri="{FF2B5EF4-FFF2-40B4-BE49-F238E27FC236}">
                <a16:creationId xmlns:a16="http://schemas.microsoft.com/office/drawing/2014/main" id="{D9763B12-3254-41C5-AF6C-1C919896CAD8}"/>
              </a:ext>
            </a:extLst>
          </p:cNvPr>
          <p:cNvSpPr>
            <a:spLocks xmlns:a="http://schemas.openxmlformats.org/drawingml/2006/main" noGrp="1"/>
          </p:cNvSpPr>
          <p:nvPr/>
        </p:nvSpPr>
        <p:spPr>
          <a:xfrm xmlns:a="http://schemas.openxmlformats.org/drawingml/2006/main">
            <a:off x="1143000" y="3983126"/>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A1</a:t>
            </a:r>
            <a:r>
              <a:rPr sz="1200">
                <a:solidFill>
                  <a:srgbClr val="2A2E4B"/>
                </a:solidFill>
                <a:latin typeface="Inter"/>
                <a:ea typeface="Inter"/>
                <a:cs typeface="Inter"/>
              </a:rPr>
              <a:t>Historical patterns are a fair proxy for the next cohort within the same institution.</a:t>
            </a:r>
          </a:p>
        </p:txBody>
      </p:sp>
      <p:sp>
        <p:nvSpPr>
          <p:cNvPr id="13" name="Text 10">
            <a:extLst xmlns:a="http://schemas.openxmlformats.org/drawingml/2006/main">
              <a:ext uri="{FF2B5EF4-FFF2-40B4-BE49-F238E27FC236}">
                <a16:creationId xmlns:a16="http://schemas.microsoft.com/office/drawing/2014/main" id="{8F1E6A98-D8AE-407B-9D3F-03D9D71508B6}"/>
              </a:ext>
            </a:extLst>
          </p:cNvPr>
          <p:cNvSpPr>
            <a:spLocks xmlns:a="http://schemas.openxmlformats.org/drawingml/2006/main" noGrp="1"/>
          </p:cNvSpPr>
          <p:nvPr/>
        </p:nvSpPr>
        <p:spPr>
          <a:xfrm xmlns:a="http://schemas.openxmlformats.org/drawingml/2006/main">
            <a:off x="1143000" y="444947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A2</a:t>
            </a:r>
            <a:r>
              <a:rPr sz="1200">
                <a:solidFill>
                  <a:srgbClr val="2A2E4B"/>
                </a:solidFill>
                <a:latin typeface="Inter"/>
                <a:ea typeface="Inter"/>
                <a:cs typeface="Inter"/>
              </a:rPr>
              <a:t>1st-semester (UCI) and first-75-day (OULAD) windows are institutionally actionable.</a:t>
            </a:r>
          </a:p>
        </p:txBody>
      </p:sp>
      <p:sp>
        <p:nvSpPr>
          <p:cNvPr id="14" name="Text 11">
            <a:extLst xmlns:a="http://schemas.openxmlformats.org/drawingml/2006/main">
              <a:ext uri="{FF2B5EF4-FFF2-40B4-BE49-F238E27FC236}">
                <a16:creationId xmlns:a16="http://schemas.microsoft.com/office/drawing/2014/main" id="{6E2A7488-1047-41CD-ACB7-F212DF52A249}"/>
              </a:ext>
            </a:extLst>
          </p:cNvPr>
          <p:cNvSpPr>
            <a:spLocks xmlns:a="http://schemas.openxmlformats.org/drawingml/2006/main" noGrp="1"/>
          </p:cNvSpPr>
          <p:nvPr/>
        </p:nvSpPr>
        <p:spPr>
          <a:xfrm xmlns:a="http://schemas.openxmlformats.org/drawingml/2006/main">
            <a:off x="1143000" y="491490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A3</a:t>
            </a:r>
            <a:r>
              <a:rPr sz="1200">
                <a:solidFill>
                  <a:srgbClr val="2A2E4B"/>
                </a:solidFill>
                <a:latin typeface="Inter"/>
                <a:ea typeface="Inter"/>
                <a:cs typeface="Inter"/>
              </a:rPr>
              <a:t>Withdrawal on OULAD is a reasonable proxy for dropout for early-warning purposes.</a:t>
            </a:r>
          </a:p>
        </p:txBody>
      </p:sp>
      <p:sp>
        <p:nvSpPr>
          <p:cNvPr id="15" name="Text 12">
            <a:extLst xmlns:a="http://schemas.openxmlformats.org/drawingml/2006/main">
              <a:ext uri="{FF2B5EF4-FFF2-40B4-BE49-F238E27FC236}">
                <a16:creationId xmlns:a16="http://schemas.microsoft.com/office/drawing/2014/main" id="{9434A96A-D1EE-4A17-9FCD-62CD70327C4F}"/>
              </a:ext>
            </a:extLst>
          </p:cNvPr>
          <p:cNvSpPr>
            <a:spLocks xmlns:a="http://schemas.openxmlformats.org/drawingml/2006/main" noGrp="1"/>
          </p:cNvSpPr>
          <p:nvPr/>
        </p:nvSpPr>
        <p:spPr>
          <a:xfrm xmlns:a="http://schemas.openxmlformats.org/drawingml/2006/main">
            <a:off x="1143000" y="5380330"/>
            <a:ext cx="75255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A4</a:t>
            </a:r>
            <a:r>
              <a:rPr sz="1200">
                <a:solidFill>
                  <a:srgbClr val="2A2E4B"/>
                </a:solidFill>
                <a:latin typeface="Inter"/>
                <a:ea typeface="Inter"/>
                <a:cs typeface="Inter"/>
              </a:rPr>
              <a:t>Advisors keep the loop closed — the model ranks, humans decide.</a:t>
            </a:r>
          </a:p>
        </p:txBody>
      </p:sp>
      <p:sp>
        <p:nvSpPr>
          <p:cNvPr id="16" name="Text 13">
            <a:extLst xmlns:a="http://schemas.openxmlformats.org/drawingml/2006/main">
              <a:ext uri="{FF2B5EF4-FFF2-40B4-BE49-F238E27FC236}">
                <a16:creationId xmlns:a16="http://schemas.microsoft.com/office/drawing/2014/main" id="{7FF2A26A-6A97-4607-8CD9-D90C8049CD6D}"/>
              </a:ext>
            </a:extLst>
          </p:cNvPr>
          <p:cNvSpPr>
            <a:spLocks xmlns:a="http://schemas.openxmlformats.org/drawingml/2006/main" noGrp="1"/>
          </p:cNvSpPr>
          <p:nvPr/>
        </p:nvSpPr>
        <p:spPr>
          <a:xfrm xmlns:a="http://schemas.openxmlformats.org/drawingml/2006/main">
            <a:off x="1143000" y="5846674"/>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A5</a:t>
            </a:r>
            <a:r>
              <a:rPr sz="1200">
                <a:solidFill>
                  <a:srgbClr val="2A2E4B"/>
                </a:solidFill>
                <a:latin typeface="Inter"/>
                <a:ea typeface="Inter"/>
                <a:cs typeface="Inter"/>
              </a:rPr>
              <a:t>Cost and value figures are illustrative planning assumptions, not audited numbers.</a:t>
            </a:r>
          </a:p>
        </p:txBody>
      </p:sp>
      <p:sp>
        <p:nvSpPr>
          <p:cNvPr id="17" name="Text 14">
            <a:extLst xmlns:a="http://schemas.openxmlformats.org/drawingml/2006/main">
              <a:ext uri="{FF2B5EF4-FFF2-40B4-BE49-F238E27FC236}">
                <a16:creationId xmlns:a16="http://schemas.microsoft.com/office/drawing/2014/main" id="{C3CE9D7B-4850-48A7-9706-2034D602651D}"/>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Evidence considered</a:t>
            </a:r>
          </a:p>
        </p:txBody>
      </p:sp>
      <p:sp>
        <p:nvSpPr>
          <p:cNvPr id="18" name="Text 15">
            <a:extLst xmlns:a="http://schemas.openxmlformats.org/drawingml/2006/main">
              <a:ext uri="{FF2B5EF4-FFF2-40B4-BE49-F238E27FC236}">
                <a16:creationId xmlns:a16="http://schemas.microsoft.com/office/drawing/2014/main" id="{1F4A3EF0-DD4D-472F-AC27-48419F7F304B}"/>
              </a:ext>
            </a:extLst>
          </p:cNvPr>
          <p:cNvSpPr>
            <a:spLocks xmlns:a="http://schemas.openxmlformats.org/drawingml/2006/main" noGrp="1"/>
          </p:cNvSpPr>
          <p:nvPr/>
        </p:nvSpPr>
        <p:spPr>
          <a:xfrm xmlns:a="http://schemas.openxmlformats.org/drawingml/2006/main">
            <a:off x="9620402"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Evidence considered before recommending a pilot.</a:t>
            </a:r>
          </a:p>
        </p:txBody>
      </p:sp>
      <p:sp>
        <p:nvSpPr>
          <p:cNvPr id="19" name="Shape 16">
            <a:extLst xmlns:a="http://schemas.openxmlformats.org/drawingml/2006/main">
              <a:ext uri="{FF2B5EF4-FFF2-40B4-BE49-F238E27FC236}">
                <a16:creationId xmlns:a16="http://schemas.microsoft.com/office/drawing/2014/main" id="{5C913664-A5E7-481E-9A89-32A4A90CB840}"/>
              </a:ext>
            </a:extLst>
          </p:cNvPr>
          <p:cNvSpPr>
            <a:spLocks xmlns:a="http://schemas.openxmlformats.org/drawingml/2006/main" noGrp="1"/>
          </p:cNvSpPr>
          <p:nvPr/>
        </p:nvSpPr>
        <p:spPr>
          <a:xfrm xmlns:a="http://schemas.openxmlformats.org/drawingml/2006/main">
            <a:off x="9620402" y="3782873"/>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20" name="Text 17">
            <a:extLst xmlns:a="http://schemas.openxmlformats.org/drawingml/2006/main">
              <a:ext uri="{FF2B5EF4-FFF2-40B4-BE49-F238E27FC236}">
                <a16:creationId xmlns:a16="http://schemas.microsoft.com/office/drawing/2014/main" id="{6210712A-26C3-487B-950D-70AE07127BA5}"/>
              </a:ext>
            </a:extLst>
          </p:cNvPr>
          <p:cNvSpPr>
            <a:spLocks xmlns:a="http://schemas.openxmlformats.org/drawingml/2006/main" noGrp="1"/>
          </p:cNvSpPr>
          <p:nvPr/>
        </p:nvSpPr>
        <p:spPr>
          <a:xfrm xmlns:a="http://schemas.openxmlformats.org/drawingml/2006/main">
            <a:off x="9620402" y="4002329"/>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Statistical</a:t>
            </a:r>
          </a:p>
        </p:txBody>
      </p:sp>
      <p:sp>
        <p:nvSpPr>
          <p:cNvPr id="21" name="Text 18">
            <a:extLst xmlns:a="http://schemas.openxmlformats.org/drawingml/2006/main">
              <a:ext uri="{FF2B5EF4-FFF2-40B4-BE49-F238E27FC236}">
                <a16:creationId xmlns:a16="http://schemas.microsoft.com/office/drawing/2014/main" id="{C34716C5-6EC1-41F7-BA55-F22CDE744AEF}"/>
              </a:ext>
            </a:extLst>
          </p:cNvPr>
          <p:cNvSpPr>
            <a:spLocks xmlns:a="http://schemas.openxmlformats.org/drawingml/2006/main" noGrp="1"/>
          </p:cNvSpPr>
          <p:nvPr/>
        </p:nvSpPr>
        <p:spPr>
          <a:xfrm xmlns:a="http://schemas.openxmlformats.org/drawingml/2006/main">
            <a:off x="9620402" y="4202582"/>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Held-out F1, recall, precision, ROC-AUC; comparison with baseline.</a:t>
            </a:r>
          </a:p>
        </p:txBody>
      </p:sp>
      <p:sp>
        <p:nvSpPr>
          <p:cNvPr id="22" name="Text 19">
            <a:extLst xmlns:a="http://schemas.openxmlformats.org/drawingml/2006/main">
              <a:ext uri="{FF2B5EF4-FFF2-40B4-BE49-F238E27FC236}">
                <a16:creationId xmlns:a16="http://schemas.microsoft.com/office/drawing/2014/main" id="{AB7D4FF3-FF8C-4FF3-88E0-FF12BBA7104E}"/>
              </a:ext>
            </a:extLst>
          </p:cNvPr>
          <p:cNvSpPr>
            <a:spLocks xmlns:a="http://schemas.openxmlformats.org/drawingml/2006/main" noGrp="1"/>
          </p:cNvSpPr>
          <p:nvPr/>
        </p:nvSpPr>
        <p:spPr>
          <a:xfrm xmlns:a="http://schemas.openxmlformats.org/drawingml/2006/main">
            <a:off x="9620402" y="4662526"/>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Operational</a:t>
            </a:r>
          </a:p>
        </p:txBody>
      </p:sp>
      <p:sp>
        <p:nvSpPr>
          <p:cNvPr id="23" name="Text 20">
            <a:extLst xmlns:a="http://schemas.openxmlformats.org/drawingml/2006/main">
              <a:ext uri="{FF2B5EF4-FFF2-40B4-BE49-F238E27FC236}">
                <a16:creationId xmlns:a16="http://schemas.microsoft.com/office/drawing/2014/main" id="{5280E9B3-E6B8-4CD5-BD27-96DB39860EAF}"/>
              </a:ext>
            </a:extLst>
          </p:cNvPr>
          <p:cNvSpPr>
            <a:spLocks xmlns:a="http://schemas.openxmlformats.org/drawingml/2006/main" noGrp="1"/>
          </p:cNvSpPr>
          <p:nvPr/>
        </p:nvSpPr>
        <p:spPr>
          <a:xfrm xmlns:a="http://schemas.openxmlformats.org/drawingml/2006/main">
            <a:off x="9620402" y="4862779"/>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Alerts and missed at-risk students per 1,000.</a:t>
            </a:r>
          </a:p>
        </p:txBody>
      </p:sp>
      <p:sp>
        <p:nvSpPr>
          <p:cNvPr id="24" name="Text 21">
            <a:extLst xmlns:a="http://schemas.openxmlformats.org/drawingml/2006/main">
              <a:ext uri="{FF2B5EF4-FFF2-40B4-BE49-F238E27FC236}">
                <a16:creationId xmlns:a16="http://schemas.microsoft.com/office/drawing/2014/main" id="{3A3FBAF0-00F9-4BAB-8626-DB5BBC0CBC3E}"/>
              </a:ext>
            </a:extLst>
          </p:cNvPr>
          <p:cNvSpPr>
            <a:spLocks xmlns:a="http://schemas.openxmlformats.org/drawingml/2006/main" noGrp="1"/>
          </p:cNvSpPr>
          <p:nvPr/>
        </p:nvSpPr>
        <p:spPr>
          <a:xfrm xmlns:a="http://schemas.openxmlformats.org/drawingml/2006/main">
            <a:off x="9620402" y="5323637"/>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Fairness</a:t>
            </a:r>
          </a:p>
        </p:txBody>
      </p:sp>
      <p:sp>
        <p:nvSpPr>
          <p:cNvPr id="25" name="Text 22">
            <a:extLst xmlns:a="http://schemas.openxmlformats.org/drawingml/2006/main">
              <a:ext uri="{FF2B5EF4-FFF2-40B4-BE49-F238E27FC236}">
                <a16:creationId xmlns:a16="http://schemas.microsoft.com/office/drawing/2014/main" id="{397ACCBA-D56C-44C9-A143-40722E52C8CE}"/>
              </a:ext>
            </a:extLst>
          </p:cNvPr>
          <p:cNvSpPr>
            <a:spLocks xmlns:a="http://schemas.openxmlformats.org/drawingml/2006/main" noGrp="1"/>
          </p:cNvSpPr>
          <p:nvPr/>
        </p:nvSpPr>
        <p:spPr>
          <a:xfrm xmlns:a="http://schemas.openxmlformats.org/drawingml/2006/main">
            <a:off x="9620402" y="5522976"/>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Initial subgroup recall review; no formal parity claim.</a:t>
            </a:r>
          </a:p>
        </p:txBody>
      </p:sp>
      <p:sp>
        <p:nvSpPr>
          <p:cNvPr id="26" name="Text 23">
            <a:extLst xmlns:a="http://schemas.openxmlformats.org/drawingml/2006/main">
              <a:ext uri="{FF2B5EF4-FFF2-40B4-BE49-F238E27FC236}">
                <a16:creationId xmlns:a16="http://schemas.microsoft.com/office/drawing/2014/main" id="{F3A571CC-BE09-4615-8614-517CB4853BB8}"/>
              </a:ext>
            </a:extLst>
          </p:cNvPr>
          <p:cNvSpPr>
            <a:spLocks xmlns:a="http://schemas.openxmlformats.org/drawingml/2006/main" noGrp="1"/>
          </p:cNvSpPr>
          <p:nvPr/>
        </p:nvSpPr>
        <p:spPr>
          <a:xfrm xmlns:a="http://schemas.openxmlformats.org/drawingml/2006/main">
            <a:off x="9620402" y="5983834"/>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Robustness</a:t>
            </a:r>
          </a:p>
        </p:txBody>
      </p:sp>
      <p:sp>
        <p:nvSpPr>
          <p:cNvPr id="27" name="Text 24">
            <a:extLst xmlns:a="http://schemas.openxmlformats.org/drawingml/2006/main">
              <a:ext uri="{FF2B5EF4-FFF2-40B4-BE49-F238E27FC236}">
                <a16:creationId xmlns:a16="http://schemas.microsoft.com/office/drawing/2014/main" id="{A3B86138-72EB-4588-91E9-C6FD0F01146B}"/>
              </a:ext>
            </a:extLst>
          </p:cNvPr>
          <p:cNvSpPr>
            <a:spLocks xmlns:a="http://schemas.openxmlformats.org/drawingml/2006/main" noGrp="1"/>
          </p:cNvSpPr>
          <p:nvPr/>
        </p:nvSpPr>
        <p:spPr>
          <a:xfrm xmlns:a="http://schemas.openxmlformats.org/drawingml/2006/main">
            <a:off x="9620402" y="6184087"/>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Repeated splits, missingness sensitivity, numeric-noise sensitivity.</a:t>
            </a:r>
          </a:p>
        </p:txBody>
      </p:sp>
    </p:spTree>
    <p:extLst>
      <p:ext uri="{BB962C8B-B14F-4D97-AF65-F5344CB8AC3E}">
        <p14:creationId xmlns:p14="http://schemas.microsoft.com/office/powerpoint/2010/main" val="1727159421"/>
      </p:ext>
    </p:extLst>
  </p:cSld>
</p:sld>
</file>

<file path=ppt/slides/slide2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508f42fa0ff4436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4915CC32-86E8-40BB-9978-80B1802D4B0D}"/>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E47B3416-A0BC-408A-A570-BF38CBF4C611}"/>
              </a:ext>
            </a:extLst>
          </p:cNvPr>
          <p:cNvSpPr>
            <a:spLocks xmlns:a="http://schemas.openxmlformats.org/drawingml/2006/main" noGrp="1"/>
          </p:cNvSpPr>
          <p:nvPr/>
        </p:nvSpPr>
        <p:spPr>
          <a:xfrm xmlns:a="http://schemas.openxmlformats.org/drawingml/2006/main">
            <a:off x="9239098"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5" name="Text 2">
            <a:extLst xmlns:a="http://schemas.openxmlformats.org/drawingml/2006/main">
              <a:ext uri="{FF2B5EF4-FFF2-40B4-BE49-F238E27FC236}">
                <a16:creationId xmlns:a16="http://schemas.microsoft.com/office/drawing/2014/main" id="{A83F5886-9141-47C6-A99D-4CF77D6D01E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Appendix · References (not spoken)</a:t>
            </a:r>
          </a:p>
        </p:txBody>
      </p:sp>
      <p:sp>
        <p:nvSpPr>
          <p:cNvPr id="6" name="Text 3">
            <a:extLst xmlns:a="http://schemas.openxmlformats.org/drawingml/2006/main">
              <a:ext uri="{FF2B5EF4-FFF2-40B4-BE49-F238E27FC236}">
                <a16:creationId xmlns:a16="http://schemas.microsoft.com/office/drawing/2014/main" id="{6D672A9B-D3F3-4D9B-B1C6-B1720EDBC51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20 / 20</a:t>
            </a:r>
          </a:p>
        </p:txBody>
      </p:sp>
      <p:sp>
        <p:nvSpPr>
          <p:cNvPr id="7" name="Text 4">
            <a:extLst xmlns:a="http://schemas.openxmlformats.org/drawingml/2006/main">
              <a:ext uri="{FF2B5EF4-FFF2-40B4-BE49-F238E27FC236}">
                <a16:creationId xmlns:a16="http://schemas.microsoft.com/office/drawing/2014/main" id="{3CDA930A-188E-471B-A58C-C0B1ADAB7BC2}"/>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References</a:t>
            </a:r>
          </a:p>
        </p:txBody>
      </p:sp>
      <p:sp>
        <p:nvSpPr>
          <p:cNvPr id="8" name="Text 5">
            <a:extLst xmlns:a="http://schemas.openxmlformats.org/drawingml/2006/main">
              <a:ext uri="{FF2B5EF4-FFF2-40B4-BE49-F238E27FC236}">
                <a16:creationId xmlns:a16="http://schemas.microsoft.com/office/drawing/2014/main" id="{7CC31A86-968B-4670-B102-BD9B71D7E12F}"/>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IEEE style · appendix for the written submission</a:t>
            </a:r>
          </a:p>
        </p:txBody>
      </p:sp>
      <p:sp>
        <p:nvSpPr>
          <p:cNvPr id="9" name="Text 6">
            <a:extLst xmlns:a="http://schemas.openxmlformats.org/drawingml/2006/main">
              <a:ext uri="{FF2B5EF4-FFF2-40B4-BE49-F238E27FC236}">
                <a16:creationId xmlns:a16="http://schemas.microsoft.com/office/drawing/2014/main" id="{3CD11F9A-BBA5-43FC-8409-FF611EE6CA2A}"/>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Primary literature &amp; datasets</a:t>
            </a:r>
          </a:p>
        </p:txBody>
      </p:sp>
      <p:sp>
        <p:nvSpPr>
          <p:cNvPr id="10" name="Shape 7">
            <a:extLst xmlns:a="http://schemas.openxmlformats.org/drawingml/2006/main">
              <a:ext uri="{FF2B5EF4-FFF2-40B4-BE49-F238E27FC236}">
                <a16:creationId xmlns:a16="http://schemas.microsoft.com/office/drawing/2014/main" id="{EB1BACE4-06CE-4BD9-A4B9-2F1529640FDA}"/>
              </a:ext>
            </a:extLst>
          </p:cNvPr>
          <p:cNvSpPr>
            <a:spLocks xmlns:a="http://schemas.openxmlformats.org/drawingml/2006/main" noGrp="1"/>
          </p:cNvSpPr>
          <p:nvPr/>
        </p:nvSpPr>
        <p:spPr>
          <a:xfrm xmlns:a="http://schemas.openxmlformats.org/drawingml/2006/main">
            <a:off x="1143000"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1" name="Text 8">
            <a:extLst xmlns:a="http://schemas.openxmlformats.org/drawingml/2006/main">
              <a:ext uri="{FF2B5EF4-FFF2-40B4-BE49-F238E27FC236}">
                <a16:creationId xmlns:a16="http://schemas.microsoft.com/office/drawing/2014/main" id="{E2E54BC4-0B33-4DC2-8F1C-F7FF12F03955}"/>
              </a:ext>
            </a:extLst>
          </p:cNvPr>
          <p:cNvSpPr>
            <a:spLocks xmlns:a="http://schemas.openxmlformats.org/drawingml/2006/main" noGrp="1"/>
          </p:cNvSpPr>
          <p:nvPr/>
        </p:nvSpPr>
        <p:spPr>
          <a:xfrm xmlns:a="http://schemas.openxmlformats.org/drawingml/2006/main">
            <a:off x="1143000" y="3534156"/>
            <a:ext cx="4197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[1]</a:t>
            </a:r>
          </a:p>
        </p:txBody>
      </p:sp>
      <p:sp>
        <p:nvSpPr>
          <p:cNvPr id="12" name="Text 9">
            <a:extLst xmlns:a="http://schemas.openxmlformats.org/drawingml/2006/main">
              <a:ext uri="{FF2B5EF4-FFF2-40B4-BE49-F238E27FC236}">
                <a16:creationId xmlns:a16="http://schemas.microsoft.com/office/drawing/2014/main" id="{15AFF8ED-4EDD-4B67-8DB2-9B6F6DD83347}"/>
              </a:ext>
            </a:extLst>
          </p:cNvPr>
          <p:cNvSpPr>
            <a:spLocks xmlns:a="http://schemas.openxmlformats.org/drawingml/2006/main" noGrp="1"/>
          </p:cNvSpPr>
          <p:nvPr/>
        </p:nvSpPr>
        <p:spPr>
          <a:xfrm xmlns:a="http://schemas.openxmlformats.org/drawingml/2006/main">
            <a:off x="1638605" y="3534156"/>
            <a:ext cx="7029907"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M. M. Islam et al., "The integration of explainable AI in Educational Data Mining for student academic performance prediction and support system," </a:t>
            </a:r>
            <a:r>
              <a:rPr sz="1200" i="1">
                <a:solidFill>
                  <a:srgbClr val="2A2E4B"/>
                </a:solidFill>
                <a:latin typeface="Inter"/>
                <a:ea typeface="Inter"/>
                <a:cs typeface="Inter"/>
              </a:rPr>
              <a:t>Telematics and Informatics Reports</a:t>
            </a:r>
            <a:r>
              <a:rPr sz="1200">
                <a:solidFill>
                  <a:srgbClr val="2A2E4B"/>
                </a:solidFill>
                <a:latin typeface="Inter"/>
                <a:ea typeface="Inter"/>
                <a:cs typeface="Inter"/>
              </a:rPr>
              <a:t>, vol. 18, Art. no. 100203, 2025.</a:t>
            </a:r>
          </a:p>
        </p:txBody>
      </p:sp>
      <p:sp>
        <p:nvSpPr>
          <p:cNvPr id="13" name="Text 10">
            <a:extLst xmlns:a="http://schemas.openxmlformats.org/drawingml/2006/main">
              <a:ext uri="{FF2B5EF4-FFF2-40B4-BE49-F238E27FC236}">
                <a16:creationId xmlns:a16="http://schemas.microsoft.com/office/drawing/2014/main" id="{6D5C5CC4-DA2A-49CB-81E8-D24DD97EFA16}"/>
              </a:ext>
            </a:extLst>
          </p:cNvPr>
          <p:cNvSpPr>
            <a:spLocks xmlns:a="http://schemas.openxmlformats.org/drawingml/2006/main" noGrp="1"/>
          </p:cNvSpPr>
          <p:nvPr/>
        </p:nvSpPr>
        <p:spPr>
          <a:xfrm xmlns:a="http://schemas.openxmlformats.org/drawingml/2006/main">
            <a:off x="1143000" y="4413809"/>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[2]</a:t>
            </a:r>
          </a:p>
        </p:txBody>
      </p:sp>
      <p:sp>
        <p:nvSpPr>
          <p:cNvPr id="14" name="Text 11">
            <a:extLst xmlns:a="http://schemas.openxmlformats.org/drawingml/2006/main">
              <a:ext uri="{FF2B5EF4-FFF2-40B4-BE49-F238E27FC236}">
                <a16:creationId xmlns:a16="http://schemas.microsoft.com/office/drawing/2014/main" id="{064B8C6F-CBEA-46C2-B6B9-B86487F3E9AE}"/>
              </a:ext>
            </a:extLst>
          </p:cNvPr>
          <p:cNvSpPr>
            <a:spLocks xmlns:a="http://schemas.openxmlformats.org/drawingml/2006/main" noGrp="1"/>
          </p:cNvSpPr>
          <p:nvPr/>
        </p:nvSpPr>
        <p:spPr>
          <a:xfrm xmlns:a="http://schemas.openxmlformats.org/drawingml/2006/main">
            <a:off x="1638605" y="4413809"/>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"Predicting Student Dropout and Academic Success," </a:t>
            </a:r>
            <a:r>
              <a:rPr sz="1200" i="1">
                <a:solidFill>
                  <a:srgbClr val="2A2E4B"/>
                </a:solidFill>
                <a:latin typeface="Inter"/>
                <a:ea typeface="Inter"/>
                <a:cs typeface="Inter"/>
              </a:rPr>
              <a:t>Data</a:t>
            </a:r>
            <a:r>
              <a:rPr sz="1200">
                <a:solidFill>
                  <a:srgbClr val="2A2E4B"/>
                </a:solidFill>
                <a:latin typeface="Inter"/>
                <a:ea typeface="Inter"/>
                <a:cs typeface="Inter"/>
              </a:rPr>
              <a:t>, vol. 7, no. 11, Art. no. 146, 2022.</a:t>
            </a:r>
          </a:p>
        </p:txBody>
      </p:sp>
      <p:sp>
        <p:nvSpPr>
          <p:cNvPr id="15" name="Text 12">
            <a:extLst xmlns:a="http://schemas.openxmlformats.org/drawingml/2006/main">
              <a:ext uri="{FF2B5EF4-FFF2-40B4-BE49-F238E27FC236}">
                <a16:creationId xmlns:a16="http://schemas.microsoft.com/office/drawing/2014/main" id="{21FE9CFC-AD55-4A67-801F-437201E51A83}"/>
              </a:ext>
            </a:extLst>
          </p:cNvPr>
          <p:cNvSpPr>
            <a:spLocks xmlns:a="http://schemas.openxmlformats.org/drawingml/2006/main" noGrp="1"/>
          </p:cNvSpPr>
          <p:nvPr/>
        </p:nvSpPr>
        <p:spPr>
          <a:xfrm xmlns:a="http://schemas.openxmlformats.org/drawingml/2006/main">
            <a:off x="1143000" y="5057546"/>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[3]</a:t>
            </a:r>
          </a:p>
        </p:txBody>
      </p:sp>
      <p:sp>
        <p:nvSpPr>
          <p:cNvPr id="16" name="Text 13">
            <a:extLst xmlns:a="http://schemas.openxmlformats.org/drawingml/2006/main">
              <a:ext uri="{FF2B5EF4-FFF2-40B4-BE49-F238E27FC236}">
                <a16:creationId xmlns:a16="http://schemas.microsoft.com/office/drawing/2014/main" id="{1D424695-1737-4E22-BE19-FC9D098612D3}"/>
              </a:ext>
            </a:extLst>
          </p:cNvPr>
          <p:cNvSpPr>
            <a:spLocks xmlns:a="http://schemas.openxmlformats.org/drawingml/2006/main" noGrp="1"/>
          </p:cNvSpPr>
          <p:nvPr/>
        </p:nvSpPr>
        <p:spPr>
          <a:xfrm xmlns:a="http://schemas.openxmlformats.org/drawingml/2006/main">
            <a:off x="1638605" y="5057546"/>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a:t>
            </a:r>
            <a:r>
              <a:rPr sz="1200" i="1">
                <a:solidFill>
                  <a:srgbClr val="2A2E4B"/>
                </a:solidFill>
                <a:latin typeface="Inter"/>
                <a:ea typeface="Inter"/>
                <a:cs typeface="Inter"/>
              </a:rPr>
              <a:t>Predict Students' Dropout and Academic Success</a:t>
            </a:r>
            <a:r>
              <a:rPr sz="1200">
                <a:solidFill>
                  <a:srgbClr val="2A2E4B"/>
                </a:solidFill>
                <a:latin typeface="Inter"/>
                <a:ea typeface="Inter"/>
                <a:cs typeface="Inter"/>
              </a:rPr>
              <a:t>, UCI Machine Learning Repository, 2021.</a:t>
            </a:r>
          </a:p>
        </p:txBody>
      </p:sp>
      <p:sp>
        <p:nvSpPr>
          <p:cNvPr id="17" name="Text 14">
            <a:extLst xmlns:a="http://schemas.openxmlformats.org/drawingml/2006/main">
              <a:ext uri="{FF2B5EF4-FFF2-40B4-BE49-F238E27FC236}">
                <a16:creationId xmlns:a16="http://schemas.microsoft.com/office/drawing/2014/main" id="{4AB1EA9F-B45A-470F-BC5B-89DD38E9BD05}"/>
              </a:ext>
            </a:extLst>
          </p:cNvPr>
          <p:cNvSpPr>
            <a:spLocks xmlns:a="http://schemas.openxmlformats.org/drawingml/2006/main" noGrp="1"/>
          </p:cNvSpPr>
          <p:nvPr/>
        </p:nvSpPr>
        <p:spPr>
          <a:xfrm xmlns:a="http://schemas.openxmlformats.org/drawingml/2006/main">
            <a:off x="1143000" y="570128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[4]</a:t>
            </a:r>
          </a:p>
        </p:txBody>
      </p:sp>
      <p:sp>
        <p:nvSpPr>
          <p:cNvPr id="18" name="Text 15">
            <a:extLst xmlns:a="http://schemas.openxmlformats.org/drawingml/2006/main">
              <a:ext uri="{FF2B5EF4-FFF2-40B4-BE49-F238E27FC236}">
                <a16:creationId xmlns:a16="http://schemas.microsoft.com/office/drawing/2014/main" id="{42A0F141-FA1B-46DD-B4C6-E41D8E9B5A08}"/>
              </a:ext>
            </a:extLst>
          </p:cNvPr>
          <p:cNvSpPr>
            <a:spLocks xmlns:a="http://schemas.openxmlformats.org/drawingml/2006/main" noGrp="1"/>
          </p:cNvSpPr>
          <p:nvPr/>
        </p:nvSpPr>
        <p:spPr>
          <a:xfrm xmlns:a="http://schemas.openxmlformats.org/drawingml/2006/main">
            <a:off x="1638605" y="570128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J. Kuzilek, M. Hlosta, and Z. Zdrahal, "Open University Learning Analytics dataset," </a:t>
            </a:r>
            <a:r>
              <a:rPr sz="1200" i="1">
                <a:solidFill>
                  <a:srgbClr val="2A2E4B"/>
                </a:solidFill>
                <a:latin typeface="Inter"/>
                <a:ea typeface="Inter"/>
                <a:cs typeface="Inter"/>
              </a:rPr>
              <a:t>Scientific Data</a:t>
            </a:r>
            <a:r>
              <a:rPr sz="1200">
                <a:solidFill>
                  <a:srgbClr val="2A2E4B"/>
                </a:solidFill>
                <a:latin typeface="Inter"/>
                <a:ea typeface="Inter"/>
                <a:cs typeface="Inter"/>
              </a:rPr>
              <a:t>, vol. 4, Art. no. 170171, 2017.</a:t>
            </a:r>
          </a:p>
        </p:txBody>
      </p:sp>
      <p:sp>
        <p:nvSpPr>
          <p:cNvPr id="19" name="Text 16">
            <a:extLst xmlns:a="http://schemas.openxmlformats.org/drawingml/2006/main">
              <a:ext uri="{FF2B5EF4-FFF2-40B4-BE49-F238E27FC236}">
                <a16:creationId xmlns:a16="http://schemas.microsoft.com/office/drawing/2014/main" id="{3CFD3A47-C1C4-4EF7-8CBA-51EFFC948956}"/>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Methods &amp; external benchmark</a:t>
            </a:r>
          </a:p>
        </p:txBody>
      </p:sp>
      <p:sp>
        <p:nvSpPr>
          <p:cNvPr id="20" name="Shape 17">
            <a:extLst xmlns:a="http://schemas.openxmlformats.org/drawingml/2006/main">
              <a:ext uri="{FF2B5EF4-FFF2-40B4-BE49-F238E27FC236}">
                <a16:creationId xmlns:a16="http://schemas.microsoft.com/office/drawing/2014/main" id="{25B902B2-7A81-4656-8948-DDE29FBD9870}"/>
              </a:ext>
            </a:extLst>
          </p:cNvPr>
          <p:cNvSpPr>
            <a:spLocks xmlns:a="http://schemas.openxmlformats.org/drawingml/2006/main" noGrp="1"/>
          </p:cNvSpPr>
          <p:nvPr/>
        </p:nvSpPr>
        <p:spPr>
          <a:xfrm xmlns:a="http://schemas.openxmlformats.org/drawingml/2006/main">
            <a:off x="9620402"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1" name="Text 18">
            <a:extLst xmlns:a="http://schemas.openxmlformats.org/drawingml/2006/main">
              <a:ext uri="{FF2B5EF4-FFF2-40B4-BE49-F238E27FC236}">
                <a16:creationId xmlns:a16="http://schemas.microsoft.com/office/drawing/2014/main" id="{0F7351A4-463E-4C38-89F7-F1FE1A9040CD}"/>
              </a:ext>
            </a:extLst>
          </p:cNvPr>
          <p:cNvSpPr>
            <a:spLocks xmlns:a="http://schemas.openxmlformats.org/drawingml/2006/main" noGrp="1"/>
          </p:cNvSpPr>
          <p:nvPr/>
        </p:nvSpPr>
        <p:spPr>
          <a:xfrm xmlns:a="http://schemas.openxmlformats.org/drawingml/2006/main">
            <a:off x="9620402" y="3534156"/>
            <a:ext cx="4197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[5]</a:t>
            </a:r>
          </a:p>
        </p:txBody>
      </p:sp>
      <p:sp>
        <p:nvSpPr>
          <p:cNvPr id="22" name="Text 19">
            <a:extLst xmlns:a="http://schemas.openxmlformats.org/drawingml/2006/main">
              <a:ext uri="{FF2B5EF4-FFF2-40B4-BE49-F238E27FC236}">
                <a16:creationId xmlns:a16="http://schemas.microsoft.com/office/drawing/2014/main" id="{B835DB80-09F1-408C-8448-2648FC16AB15}"/>
              </a:ext>
            </a:extLst>
          </p:cNvPr>
          <p:cNvSpPr>
            <a:spLocks xmlns:a="http://schemas.openxmlformats.org/drawingml/2006/main" noGrp="1"/>
          </p:cNvSpPr>
          <p:nvPr/>
        </p:nvSpPr>
        <p:spPr>
          <a:xfrm xmlns:a="http://schemas.openxmlformats.org/drawingml/2006/main">
            <a:off x="10116007" y="3534156"/>
            <a:ext cx="77157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 Chen and C. Guestrin, "XGBoost: A scalable tree boosting system," </a:t>
            </a:r>
            <a:r>
              <a:rPr sz="1200" i="1">
                <a:solidFill>
                  <a:srgbClr val="2A2E4B"/>
                </a:solidFill>
                <a:latin typeface="Inter"/>
                <a:ea typeface="Inter"/>
                <a:cs typeface="Inter"/>
              </a:rPr>
              <a:t>Proc. ACM SIGKDD</a:t>
            </a:r>
            <a:r>
              <a:rPr sz="1200">
                <a:solidFill>
                  <a:srgbClr val="2A2E4B"/>
                </a:solidFill>
                <a:latin typeface="Inter"/>
                <a:ea typeface="Inter"/>
                <a:cs typeface="Inter"/>
              </a:rPr>
              <a:t>, 2016.</a:t>
            </a:r>
          </a:p>
        </p:txBody>
      </p:sp>
      <p:sp>
        <p:nvSpPr>
          <p:cNvPr id="23" name="Text 20">
            <a:extLst xmlns:a="http://schemas.openxmlformats.org/drawingml/2006/main">
              <a:ext uri="{FF2B5EF4-FFF2-40B4-BE49-F238E27FC236}">
                <a16:creationId xmlns:a16="http://schemas.microsoft.com/office/drawing/2014/main" id="{7B995A66-90EF-45C6-A040-32CB01A434E8}"/>
              </a:ext>
            </a:extLst>
          </p:cNvPr>
          <p:cNvSpPr>
            <a:spLocks xmlns:a="http://schemas.openxmlformats.org/drawingml/2006/main" noGrp="1"/>
          </p:cNvSpPr>
          <p:nvPr/>
        </p:nvSpPr>
        <p:spPr>
          <a:xfrm xmlns:a="http://schemas.openxmlformats.org/drawingml/2006/main">
            <a:off x="9620402" y="394106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[6]</a:t>
            </a:r>
          </a:p>
        </p:txBody>
      </p:sp>
      <p:sp>
        <p:nvSpPr>
          <p:cNvPr id="24" name="Text 21">
            <a:extLst xmlns:a="http://schemas.openxmlformats.org/drawingml/2006/main">
              <a:ext uri="{FF2B5EF4-FFF2-40B4-BE49-F238E27FC236}">
                <a16:creationId xmlns:a16="http://schemas.microsoft.com/office/drawing/2014/main" id="{F7A03887-80B3-4C68-B509-D90276C69675}"/>
              </a:ext>
            </a:extLst>
          </p:cNvPr>
          <p:cNvSpPr>
            <a:spLocks xmlns:a="http://schemas.openxmlformats.org/drawingml/2006/main" noGrp="1"/>
          </p:cNvSpPr>
          <p:nvPr/>
        </p:nvSpPr>
        <p:spPr>
          <a:xfrm xmlns:a="http://schemas.openxmlformats.org/drawingml/2006/main">
            <a:off x="10116007" y="394106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S. M. Lundberg and S.-I. Lee, "A unified approach to interpreting model predictions," </a:t>
            </a:r>
            <a:r>
              <a:rPr sz="1200" i="1">
                <a:solidFill>
                  <a:srgbClr val="2A2E4B"/>
                </a:solidFill>
                <a:latin typeface="Inter"/>
                <a:ea typeface="Inter"/>
                <a:cs typeface="Inter"/>
              </a:rPr>
              <a:t>NeurIPS</a:t>
            </a:r>
            <a:r>
              <a:rPr sz="1200">
                <a:solidFill>
                  <a:srgbClr val="2A2E4B"/>
                </a:solidFill>
                <a:latin typeface="Inter"/>
                <a:ea typeface="Inter"/>
                <a:cs typeface="Inter"/>
              </a:rPr>
              <a:t>, 2017.</a:t>
            </a:r>
          </a:p>
        </p:txBody>
      </p:sp>
      <p:sp>
        <p:nvSpPr>
          <p:cNvPr id="25" name="Text 22">
            <a:extLst xmlns:a="http://schemas.openxmlformats.org/drawingml/2006/main">
              <a:ext uri="{FF2B5EF4-FFF2-40B4-BE49-F238E27FC236}">
                <a16:creationId xmlns:a16="http://schemas.microsoft.com/office/drawing/2014/main" id="{7DBB5208-E8B2-43CD-AB98-09689DC9F144}"/>
              </a:ext>
            </a:extLst>
          </p:cNvPr>
          <p:cNvSpPr>
            <a:spLocks xmlns:a="http://schemas.openxmlformats.org/drawingml/2006/main" noGrp="1"/>
          </p:cNvSpPr>
          <p:nvPr/>
        </p:nvSpPr>
        <p:spPr>
          <a:xfrm xmlns:a="http://schemas.openxmlformats.org/drawingml/2006/main">
            <a:off x="9620402" y="4584802"/>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[7]</a:t>
            </a:r>
          </a:p>
        </p:txBody>
      </p:sp>
      <p:sp>
        <p:nvSpPr>
          <p:cNvPr id="26" name="Text 23">
            <a:extLst xmlns:a="http://schemas.openxmlformats.org/drawingml/2006/main">
              <a:ext uri="{FF2B5EF4-FFF2-40B4-BE49-F238E27FC236}">
                <a16:creationId xmlns:a16="http://schemas.microsoft.com/office/drawing/2014/main" id="{91F6B3DF-422F-44A9-BE12-53B480713885}"/>
              </a:ext>
            </a:extLst>
          </p:cNvPr>
          <p:cNvSpPr>
            <a:spLocks xmlns:a="http://schemas.openxmlformats.org/drawingml/2006/main" noGrp="1"/>
          </p:cNvSpPr>
          <p:nvPr/>
        </p:nvSpPr>
        <p:spPr>
          <a:xfrm xmlns:a="http://schemas.openxmlformats.org/drawingml/2006/main">
            <a:off x="10116007" y="4584802"/>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D. Zhou et al., "Comparative Performance of Machine Learning Models for Predicting At-Risk Students Using the OULAD Dataset," </a:t>
            </a:r>
            <a:r>
              <a:rPr sz="1200" i="1">
                <a:solidFill>
                  <a:srgbClr val="2A2E4B"/>
                </a:solidFill>
                <a:latin typeface="Inter"/>
                <a:ea typeface="Inter"/>
                <a:cs typeface="Inter"/>
              </a:rPr>
              <a:t>IECA</a:t>
            </a:r>
            <a:r>
              <a:rPr sz="1200">
                <a:solidFill>
                  <a:srgbClr val="2A2E4B"/>
                </a:solidFill>
                <a:latin typeface="Inter"/>
                <a:ea typeface="Inter"/>
                <a:cs typeface="Inter"/>
              </a:rPr>
              <a:t>, 2026, doi: 10.1145/3802133.3802174.</a:t>
            </a:r>
          </a:p>
        </p:txBody>
      </p:sp>
      <p:sp>
        <p:nvSpPr>
          <p:cNvPr id="27" name="Text 24">
            <a:extLst xmlns:a="http://schemas.openxmlformats.org/drawingml/2006/main">
              <a:ext uri="{FF2B5EF4-FFF2-40B4-BE49-F238E27FC236}">
                <a16:creationId xmlns:a16="http://schemas.microsoft.com/office/drawing/2014/main" id="{41A015EB-9D15-4568-BCB5-235CBE5E576B}"/>
              </a:ext>
            </a:extLst>
          </p:cNvPr>
          <p:cNvSpPr>
            <a:spLocks xmlns:a="http://schemas.openxmlformats.org/drawingml/2006/main" noGrp="1"/>
          </p:cNvSpPr>
          <p:nvPr/>
        </p:nvSpPr>
        <p:spPr>
          <a:xfrm xmlns:a="http://schemas.openxmlformats.org/drawingml/2006/main">
            <a:off x="9620402" y="522945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[8]</a:t>
            </a:r>
          </a:p>
        </p:txBody>
      </p:sp>
      <p:sp>
        <p:nvSpPr>
          <p:cNvPr id="28" name="Text 25">
            <a:extLst xmlns:a="http://schemas.openxmlformats.org/drawingml/2006/main">
              <a:ext uri="{FF2B5EF4-FFF2-40B4-BE49-F238E27FC236}">
                <a16:creationId xmlns:a16="http://schemas.microsoft.com/office/drawing/2014/main" id="{295F6AB0-3596-43F6-A93E-C46D3660A5EB}"/>
              </a:ext>
            </a:extLst>
          </p:cNvPr>
          <p:cNvSpPr>
            <a:spLocks xmlns:a="http://schemas.openxmlformats.org/drawingml/2006/main" noGrp="1"/>
          </p:cNvSpPr>
          <p:nvPr/>
        </p:nvSpPr>
        <p:spPr>
          <a:xfrm xmlns:a="http://schemas.openxmlformats.org/drawingml/2006/main">
            <a:off x="10116007" y="522945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 Kuznetsov, "OULAD Early Warning System: Interpretable Student Risk Detection," GitHub, 2025. github.com/KuznetsovKarazin/oulad-early-warning</a:t>
            </a:r>
          </a:p>
        </p:txBody>
      </p:sp>
      <p:sp>
        <p:nvSpPr>
          <p:cNvPr id="29" name="Shape 26">
            <a:extLst xmlns:a="http://schemas.openxmlformats.org/drawingml/2006/main">
              <a:ext uri="{FF2B5EF4-FFF2-40B4-BE49-F238E27FC236}">
                <a16:creationId xmlns:a16="http://schemas.microsoft.com/office/drawing/2014/main" id="{312DC4D2-3FD0-44A4-8A80-7DB76FC3AD95}"/>
              </a:ext>
            </a:extLst>
          </p:cNvPr>
          <p:cNvSpPr>
            <a:spLocks xmlns:a="http://schemas.openxmlformats.org/drawingml/2006/main" noGrp="1"/>
          </p:cNvSpPr>
          <p:nvPr/>
        </p:nvSpPr>
        <p:spPr>
          <a:xfrm xmlns:a="http://schemas.openxmlformats.org/drawingml/2006/main">
            <a:off x="9620402" y="5873191"/>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7">
            <a:extLst xmlns:a="http://schemas.openxmlformats.org/drawingml/2006/main">
              <a:ext uri="{FF2B5EF4-FFF2-40B4-BE49-F238E27FC236}">
                <a16:creationId xmlns:a16="http://schemas.microsoft.com/office/drawing/2014/main" id="{AF64ACED-9B11-4CF4-8804-A84FEAE28E87}"/>
              </a:ext>
            </a:extLst>
          </p:cNvPr>
          <p:cNvSpPr>
            <a:spLocks xmlns:a="http://schemas.openxmlformats.org/drawingml/2006/main" noGrp="1"/>
          </p:cNvSpPr>
          <p:nvPr/>
        </p:nvSpPr>
        <p:spPr>
          <a:xfrm xmlns:a="http://schemas.openxmlformats.org/drawingml/2006/main">
            <a:off x="9620402" y="6035040"/>
            <a:ext cx="7525512" cy="448056"/>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References [7]–[8] are the external OULAD comparators discussed on slide 15. Their target definitions and observation windows differ from ours; metrics are not directly comparable.</a:t>
            </a:r>
          </a:p>
        </p:txBody>
      </p:sp>
    </p:spTree>
    <p:extLst>
      <p:ext uri="{BB962C8B-B14F-4D97-AF65-F5344CB8AC3E}">
        <p14:creationId xmlns:p14="http://schemas.microsoft.com/office/powerpoint/2010/main" val="12471610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2026-07-24T02:56:19.1200000Z</dcterms:created>
  <dcterms:modified xsi:type="dcterms:W3CDTF">2026-07-24T02:56:19.1200000Z</dcterms:modified>
</coreProperties>
</file>